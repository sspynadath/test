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8" r:id="rId5"/>
  </p:sldMasterIdLst>
  <p:notesMasterIdLst>
    <p:notesMasterId r:id="rId34"/>
  </p:notesMasterIdLst>
  <p:sldIdLst>
    <p:sldId id="266" r:id="rId6"/>
    <p:sldId id="261" r:id="rId7"/>
    <p:sldId id="256" r:id="rId8"/>
    <p:sldId id="264" r:id="rId9"/>
    <p:sldId id="2147482321" r:id="rId10"/>
    <p:sldId id="275" r:id="rId11"/>
    <p:sldId id="267" r:id="rId12"/>
    <p:sldId id="2147483646" r:id="rId13"/>
    <p:sldId id="280" r:id="rId14"/>
    <p:sldId id="257" r:id="rId15"/>
    <p:sldId id="2147483645" r:id="rId16"/>
    <p:sldId id="260" r:id="rId17"/>
    <p:sldId id="271" r:id="rId18"/>
    <p:sldId id="269" r:id="rId19"/>
    <p:sldId id="268" r:id="rId20"/>
    <p:sldId id="258" r:id="rId21"/>
    <p:sldId id="272" r:id="rId22"/>
    <p:sldId id="270" r:id="rId23"/>
    <p:sldId id="263" r:id="rId24"/>
    <p:sldId id="265" r:id="rId25"/>
    <p:sldId id="273" r:id="rId26"/>
    <p:sldId id="262" r:id="rId27"/>
    <p:sldId id="274" r:id="rId28"/>
    <p:sldId id="2147483647" r:id="rId29"/>
    <p:sldId id="276" r:id="rId30"/>
    <p:sldId id="277" r:id="rId31"/>
    <p:sldId id="278" r:id="rId32"/>
    <p:sldId id="25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5B42B7-E150-44F2-BE30-664109542346}"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B2CA673A-ADF7-41C9-8680-0EDD7011AE77}">
      <dgm:prSet phldrT="[Text]" custT="1"/>
      <dgm:spPr>
        <a:solidFill>
          <a:schemeClr val="bg1">
            <a:lumMod val="95000"/>
          </a:schemeClr>
        </a:solidFill>
      </dgm:spPr>
      <dgm:t>
        <a:bodyPr/>
        <a:lstStyle/>
        <a:p>
          <a:r>
            <a:rPr lang="en-US" sz="1200" b="1">
              <a:solidFill>
                <a:schemeClr val="tx2"/>
              </a:solidFill>
            </a:rPr>
            <a:t>INFRASTRUCTURE</a:t>
          </a:r>
        </a:p>
      </dgm:t>
    </dgm:pt>
    <dgm:pt modelId="{D5E2B2C4-7115-4B39-8CA7-2DB805BAA25A}" type="parTrans" cxnId="{F8CD1DCD-BEB6-43BA-A89E-1CE1C7E0F636}">
      <dgm:prSet/>
      <dgm:spPr/>
      <dgm:t>
        <a:bodyPr/>
        <a:lstStyle/>
        <a:p>
          <a:endParaRPr lang="en-US" sz="1100" b="0"/>
        </a:p>
      </dgm:t>
    </dgm:pt>
    <dgm:pt modelId="{E4166977-C097-497B-AC96-96ED753960E9}" type="sibTrans" cxnId="{F8CD1DCD-BEB6-43BA-A89E-1CE1C7E0F636}">
      <dgm:prSet/>
      <dgm:spPr/>
      <dgm:t>
        <a:bodyPr/>
        <a:lstStyle/>
        <a:p>
          <a:endParaRPr lang="en-US" sz="1100" b="0"/>
        </a:p>
      </dgm:t>
    </dgm:pt>
    <dgm:pt modelId="{124771D6-EA45-4B39-8BD2-4BF92619E73C}">
      <dgm:prSet phldrT="[Text]" custT="1"/>
      <dgm:spPr/>
      <dgm:t>
        <a:bodyPr/>
        <a:lstStyle/>
        <a:p>
          <a:r>
            <a:rPr lang="en-US" sz="1200" b="0"/>
            <a:t>Storage Infrastructure</a:t>
          </a:r>
        </a:p>
      </dgm:t>
    </dgm:pt>
    <dgm:pt modelId="{E101A181-CD61-4FD6-B043-965E2DF8F157}" type="parTrans" cxnId="{A6C4F1E3-319A-4FC6-B4C3-A6FB6D7813E6}">
      <dgm:prSet/>
      <dgm:spPr/>
      <dgm:t>
        <a:bodyPr/>
        <a:lstStyle/>
        <a:p>
          <a:endParaRPr lang="en-US" sz="1100" b="0"/>
        </a:p>
      </dgm:t>
    </dgm:pt>
    <dgm:pt modelId="{7ED77A3D-901E-498F-A80E-04EFC66F5462}" type="sibTrans" cxnId="{A6C4F1E3-319A-4FC6-B4C3-A6FB6D7813E6}">
      <dgm:prSet/>
      <dgm:spPr/>
      <dgm:t>
        <a:bodyPr/>
        <a:lstStyle/>
        <a:p>
          <a:endParaRPr lang="en-US" sz="1100" b="0"/>
        </a:p>
      </dgm:t>
    </dgm:pt>
    <dgm:pt modelId="{D7B17AE4-0CED-480F-9022-ACA76E59773B}">
      <dgm:prSet phldrT="[Text]" custT="1"/>
      <dgm:spPr>
        <a:solidFill>
          <a:schemeClr val="bg1">
            <a:lumMod val="95000"/>
          </a:schemeClr>
        </a:solidFill>
      </dgm:spPr>
      <dgm:t>
        <a:bodyPr/>
        <a:lstStyle/>
        <a:p>
          <a:r>
            <a:rPr lang="en-US" sz="1200" b="1">
              <a:solidFill>
                <a:schemeClr val="tx2"/>
              </a:solidFill>
            </a:rPr>
            <a:t>ARCHITECTURE</a:t>
          </a:r>
        </a:p>
      </dgm:t>
    </dgm:pt>
    <dgm:pt modelId="{203DA69B-62CE-44F8-959A-A7E8B6BB4CEB}" type="parTrans" cxnId="{00DEC805-3EFC-4221-8784-390AAC8E3D6B}">
      <dgm:prSet/>
      <dgm:spPr/>
      <dgm:t>
        <a:bodyPr/>
        <a:lstStyle/>
        <a:p>
          <a:endParaRPr lang="en-US" sz="1100" b="0"/>
        </a:p>
      </dgm:t>
    </dgm:pt>
    <dgm:pt modelId="{9C95D4FD-5C99-4AF5-BCE6-50DCF8F01FB9}" type="sibTrans" cxnId="{00DEC805-3EFC-4221-8784-390AAC8E3D6B}">
      <dgm:prSet/>
      <dgm:spPr/>
      <dgm:t>
        <a:bodyPr/>
        <a:lstStyle/>
        <a:p>
          <a:endParaRPr lang="en-US" sz="1100" b="0"/>
        </a:p>
      </dgm:t>
    </dgm:pt>
    <dgm:pt modelId="{3C13D931-4B34-45CA-8BBD-4BE8E361E18A}">
      <dgm:prSet phldrT="[Text]" custT="1"/>
      <dgm:spPr/>
      <dgm:t>
        <a:bodyPr/>
        <a:lstStyle/>
        <a:p>
          <a:r>
            <a:rPr lang="en-US" sz="1200" b="0"/>
            <a:t>Cloud Data Platforms</a:t>
          </a:r>
        </a:p>
      </dgm:t>
    </dgm:pt>
    <dgm:pt modelId="{0DF51AAC-DE7C-43FB-B232-59C996CE9937}" type="parTrans" cxnId="{16260D31-8676-4117-86A4-82D23FA29320}">
      <dgm:prSet/>
      <dgm:spPr/>
      <dgm:t>
        <a:bodyPr/>
        <a:lstStyle/>
        <a:p>
          <a:endParaRPr lang="en-US" sz="1100" b="0"/>
        </a:p>
      </dgm:t>
    </dgm:pt>
    <dgm:pt modelId="{3B573CE6-4F69-4EAD-8936-A7A25EB83109}" type="sibTrans" cxnId="{16260D31-8676-4117-86A4-82D23FA29320}">
      <dgm:prSet/>
      <dgm:spPr/>
      <dgm:t>
        <a:bodyPr/>
        <a:lstStyle/>
        <a:p>
          <a:endParaRPr lang="en-US" sz="1100" b="0"/>
        </a:p>
      </dgm:t>
    </dgm:pt>
    <dgm:pt modelId="{2EA9A78C-CFDF-4B26-B985-4FAE6A7572DB}">
      <dgm:prSet phldrT="[Text]" custT="1"/>
      <dgm:spPr>
        <a:solidFill>
          <a:schemeClr val="bg1">
            <a:lumMod val="95000"/>
          </a:schemeClr>
        </a:solidFill>
      </dgm:spPr>
      <dgm:t>
        <a:bodyPr/>
        <a:lstStyle/>
        <a:p>
          <a:r>
            <a:rPr lang="en-US" sz="1200" b="1">
              <a:solidFill>
                <a:schemeClr val="tx2"/>
              </a:solidFill>
            </a:rPr>
            <a:t>MODEL</a:t>
          </a:r>
        </a:p>
      </dgm:t>
    </dgm:pt>
    <dgm:pt modelId="{6A30CEE2-6781-434F-9782-F9B4B72E4F1D}" type="parTrans" cxnId="{1F858BDE-179B-4A71-8765-6F80863640C2}">
      <dgm:prSet/>
      <dgm:spPr/>
      <dgm:t>
        <a:bodyPr/>
        <a:lstStyle/>
        <a:p>
          <a:endParaRPr lang="en-US" sz="1100" b="0"/>
        </a:p>
      </dgm:t>
    </dgm:pt>
    <dgm:pt modelId="{C77BADE1-0E2F-4BA6-BB57-B79A22164511}" type="sibTrans" cxnId="{1F858BDE-179B-4A71-8765-6F80863640C2}">
      <dgm:prSet/>
      <dgm:spPr/>
      <dgm:t>
        <a:bodyPr/>
        <a:lstStyle/>
        <a:p>
          <a:endParaRPr lang="en-US" sz="1100" b="0"/>
        </a:p>
      </dgm:t>
    </dgm:pt>
    <dgm:pt modelId="{33F1362F-2855-4441-A029-D243644002A4}">
      <dgm:prSet phldrT="[Text]" custT="1"/>
      <dgm:spPr>
        <a:solidFill>
          <a:schemeClr val="bg1">
            <a:lumMod val="95000"/>
          </a:schemeClr>
        </a:solidFill>
      </dgm:spPr>
      <dgm:t>
        <a:bodyPr/>
        <a:lstStyle/>
        <a:p>
          <a:r>
            <a:rPr lang="en-US" sz="1200" b="1">
              <a:solidFill>
                <a:schemeClr val="tx2"/>
              </a:solidFill>
            </a:rPr>
            <a:t>DATA</a:t>
          </a:r>
        </a:p>
      </dgm:t>
    </dgm:pt>
    <dgm:pt modelId="{F9FABD39-D965-44E7-9646-7E34CCE54913}" type="parTrans" cxnId="{5B225690-1CEE-41A2-B151-3C3398893F88}">
      <dgm:prSet/>
      <dgm:spPr/>
      <dgm:t>
        <a:bodyPr/>
        <a:lstStyle/>
        <a:p>
          <a:endParaRPr lang="en-US" sz="1100" b="0"/>
        </a:p>
      </dgm:t>
    </dgm:pt>
    <dgm:pt modelId="{DB08A261-DFC6-47A1-9C1C-5506ABF4AB77}" type="sibTrans" cxnId="{5B225690-1CEE-41A2-B151-3C3398893F88}">
      <dgm:prSet/>
      <dgm:spPr/>
      <dgm:t>
        <a:bodyPr/>
        <a:lstStyle/>
        <a:p>
          <a:endParaRPr lang="en-US" sz="1100" b="0"/>
        </a:p>
      </dgm:t>
    </dgm:pt>
    <dgm:pt modelId="{CAC7BED0-A353-4F47-AAA1-1ADC59FA13E5}">
      <dgm:prSet phldrT="[Text]" custT="1"/>
      <dgm:spPr/>
      <dgm:t>
        <a:bodyPr/>
        <a:lstStyle/>
        <a:p>
          <a:r>
            <a:rPr lang="en-US" sz="1200" b="0"/>
            <a:t>Enterprise AI  Architecture</a:t>
          </a:r>
        </a:p>
      </dgm:t>
    </dgm:pt>
    <dgm:pt modelId="{AC6BCEBD-2DC9-4550-AE1E-E6DA1BE3A3D3}" type="parTrans" cxnId="{DAADABFC-AB24-4E85-8B26-C8C4C97E9D7B}">
      <dgm:prSet/>
      <dgm:spPr/>
      <dgm:t>
        <a:bodyPr/>
        <a:lstStyle/>
        <a:p>
          <a:endParaRPr lang="en-US" sz="1100" b="0"/>
        </a:p>
      </dgm:t>
    </dgm:pt>
    <dgm:pt modelId="{F59114E1-1777-4E64-9F82-C0CE7C7671E9}" type="sibTrans" cxnId="{DAADABFC-AB24-4E85-8B26-C8C4C97E9D7B}">
      <dgm:prSet/>
      <dgm:spPr/>
      <dgm:t>
        <a:bodyPr/>
        <a:lstStyle/>
        <a:p>
          <a:endParaRPr lang="en-US" sz="1100" b="0"/>
        </a:p>
      </dgm:t>
    </dgm:pt>
    <dgm:pt modelId="{30057CF9-73EE-4F2E-BF15-A182AE07C38C}">
      <dgm:prSet phldrT="[Text]" custT="1"/>
      <dgm:spPr/>
      <dgm:t>
        <a:bodyPr/>
        <a:lstStyle/>
        <a:p>
          <a:r>
            <a:rPr lang="en-US" sz="1200" b="0"/>
            <a:t>Feature Engineering</a:t>
          </a:r>
        </a:p>
      </dgm:t>
    </dgm:pt>
    <dgm:pt modelId="{1CB014CE-2139-40FC-BB2B-5687493CC372}" type="parTrans" cxnId="{69D1D32C-FB79-451B-9C90-39A20C4A8600}">
      <dgm:prSet/>
      <dgm:spPr/>
      <dgm:t>
        <a:bodyPr/>
        <a:lstStyle/>
        <a:p>
          <a:endParaRPr lang="en-US" sz="1100" b="0"/>
        </a:p>
      </dgm:t>
    </dgm:pt>
    <dgm:pt modelId="{40314990-45B4-44FB-AF21-5A8A99F25CA8}" type="sibTrans" cxnId="{69D1D32C-FB79-451B-9C90-39A20C4A8600}">
      <dgm:prSet/>
      <dgm:spPr/>
      <dgm:t>
        <a:bodyPr/>
        <a:lstStyle/>
        <a:p>
          <a:endParaRPr lang="en-US" sz="1100" b="0"/>
        </a:p>
      </dgm:t>
    </dgm:pt>
    <dgm:pt modelId="{EC355119-997C-46D3-AF8B-FFCF9E3D9E77}">
      <dgm:prSet custT="1"/>
      <dgm:spPr/>
      <dgm:t>
        <a:bodyPr/>
        <a:lstStyle/>
        <a:p>
          <a:r>
            <a:rPr lang="en-US" sz="1200" b="0"/>
            <a:t>Model Observability &amp; Monitoring</a:t>
          </a:r>
        </a:p>
      </dgm:t>
    </dgm:pt>
    <dgm:pt modelId="{8CB7CDBB-E664-4FDC-850B-FDACE871E0E3}" type="parTrans" cxnId="{45502373-C693-4A06-BD05-301C62E1E2AE}">
      <dgm:prSet/>
      <dgm:spPr/>
      <dgm:t>
        <a:bodyPr/>
        <a:lstStyle/>
        <a:p>
          <a:endParaRPr lang="en-US" sz="1200" b="0"/>
        </a:p>
      </dgm:t>
    </dgm:pt>
    <dgm:pt modelId="{22F09D50-78BA-4B6D-86E8-2DFB61FEAD72}" type="sibTrans" cxnId="{45502373-C693-4A06-BD05-301C62E1E2AE}">
      <dgm:prSet/>
      <dgm:spPr/>
      <dgm:t>
        <a:bodyPr/>
        <a:lstStyle/>
        <a:p>
          <a:endParaRPr lang="en-US" sz="1200" b="0"/>
        </a:p>
      </dgm:t>
    </dgm:pt>
    <dgm:pt modelId="{B2830BBF-89E9-48FB-BCEB-587C562842C6}">
      <dgm:prSet custT="1"/>
      <dgm:spPr/>
      <dgm:t>
        <a:bodyPr/>
        <a:lstStyle/>
        <a:p>
          <a:r>
            <a:rPr lang="en-US" sz="1200" b="0"/>
            <a:t>Real-Time Data</a:t>
          </a:r>
        </a:p>
      </dgm:t>
    </dgm:pt>
    <dgm:pt modelId="{1D8DE897-0F4E-41C6-A4CA-67A6F105CDC5}" type="parTrans" cxnId="{1FE4565A-73DC-4B36-A5CD-CB55DD1D5495}">
      <dgm:prSet/>
      <dgm:spPr/>
      <dgm:t>
        <a:bodyPr/>
        <a:lstStyle/>
        <a:p>
          <a:endParaRPr lang="en-US" sz="1600" b="0"/>
        </a:p>
      </dgm:t>
    </dgm:pt>
    <dgm:pt modelId="{4990281F-4E33-4268-9474-7004BBEFF01C}" type="sibTrans" cxnId="{1FE4565A-73DC-4B36-A5CD-CB55DD1D5495}">
      <dgm:prSet/>
      <dgm:spPr/>
      <dgm:t>
        <a:bodyPr/>
        <a:lstStyle/>
        <a:p>
          <a:endParaRPr lang="en-US" sz="1600" b="0"/>
        </a:p>
      </dgm:t>
    </dgm:pt>
    <dgm:pt modelId="{95A5151D-D2E7-43AA-A61C-430447AB6FBF}">
      <dgm:prSet custT="1"/>
      <dgm:spPr/>
      <dgm:t>
        <a:bodyPr/>
        <a:lstStyle/>
        <a:p>
          <a:r>
            <a:rPr lang="en-US" sz="1200" b="0"/>
            <a:t>Data Quality and Lineage</a:t>
          </a:r>
        </a:p>
      </dgm:t>
    </dgm:pt>
    <dgm:pt modelId="{F78E152B-2F8F-40B0-A553-E04B12F0EA5C}" type="parTrans" cxnId="{083A8C70-7521-4B6E-AAA3-1E3D3B9E31E6}">
      <dgm:prSet/>
      <dgm:spPr/>
      <dgm:t>
        <a:bodyPr/>
        <a:lstStyle/>
        <a:p>
          <a:endParaRPr lang="en-US" sz="1600" b="0"/>
        </a:p>
      </dgm:t>
    </dgm:pt>
    <dgm:pt modelId="{0B334C80-BAB7-456F-B340-D5B8B5A15BB5}" type="sibTrans" cxnId="{083A8C70-7521-4B6E-AAA3-1E3D3B9E31E6}">
      <dgm:prSet/>
      <dgm:spPr/>
      <dgm:t>
        <a:bodyPr/>
        <a:lstStyle/>
        <a:p>
          <a:endParaRPr lang="en-US" sz="1600" b="0"/>
        </a:p>
      </dgm:t>
    </dgm:pt>
    <dgm:pt modelId="{9CD5B48F-EA96-4E93-9C55-B691E0EEB4BE}">
      <dgm:prSet phldrT="[Text]" custT="1"/>
      <dgm:spPr/>
      <dgm:t>
        <a:bodyPr/>
        <a:lstStyle/>
        <a:p>
          <a:r>
            <a:rPr lang="en-US" sz="1200" b="0"/>
            <a:t>Compute Infrastructure</a:t>
          </a:r>
        </a:p>
      </dgm:t>
    </dgm:pt>
    <dgm:pt modelId="{9A16E0F2-893B-4B58-9BC0-6FCE499DAB81}" type="parTrans" cxnId="{1A11AE35-9142-40BF-947F-B9B249BC4F44}">
      <dgm:prSet/>
      <dgm:spPr/>
      <dgm:t>
        <a:bodyPr/>
        <a:lstStyle/>
        <a:p>
          <a:endParaRPr lang="en-US" sz="1600" b="0"/>
        </a:p>
      </dgm:t>
    </dgm:pt>
    <dgm:pt modelId="{5AA620BA-4E92-4B28-A5BF-A5DB1CF98156}" type="sibTrans" cxnId="{1A11AE35-9142-40BF-947F-B9B249BC4F44}">
      <dgm:prSet/>
      <dgm:spPr/>
      <dgm:t>
        <a:bodyPr/>
        <a:lstStyle/>
        <a:p>
          <a:endParaRPr lang="en-US" sz="1600" b="0"/>
        </a:p>
      </dgm:t>
    </dgm:pt>
    <dgm:pt modelId="{EF276FDC-0984-43AF-94B4-29C747EBFDB7}">
      <dgm:prSet phldrT="[Text]" custT="1"/>
      <dgm:spPr/>
      <dgm:t>
        <a:bodyPr/>
        <a:lstStyle/>
        <a:p>
          <a:r>
            <a:rPr lang="en-US" sz="1200" b="0"/>
            <a:t>AI Experimentation Environments</a:t>
          </a:r>
        </a:p>
      </dgm:t>
    </dgm:pt>
    <dgm:pt modelId="{4FA64A4A-556D-4963-93E2-3B6C9384E328}" type="parTrans" cxnId="{F69E33E7-5A24-4093-822D-8B5C753F5845}">
      <dgm:prSet/>
      <dgm:spPr/>
      <dgm:t>
        <a:bodyPr/>
        <a:lstStyle/>
        <a:p>
          <a:endParaRPr lang="en-US" sz="1600" b="0"/>
        </a:p>
      </dgm:t>
    </dgm:pt>
    <dgm:pt modelId="{F176A784-64C4-4A13-9A62-4693F62E31D1}" type="sibTrans" cxnId="{F69E33E7-5A24-4093-822D-8B5C753F5845}">
      <dgm:prSet/>
      <dgm:spPr/>
      <dgm:t>
        <a:bodyPr/>
        <a:lstStyle/>
        <a:p>
          <a:endParaRPr lang="en-US" sz="1600" b="0"/>
        </a:p>
      </dgm:t>
    </dgm:pt>
    <dgm:pt modelId="{A02263B8-B0D3-4B09-89CB-62DBBA69892B}">
      <dgm:prSet phldrT="[Text]" custT="1"/>
      <dgm:spPr/>
      <dgm:t>
        <a:bodyPr/>
        <a:lstStyle/>
        <a:p>
          <a:r>
            <a:rPr lang="en-US" sz="1200" b="0"/>
            <a:t>Containerization and Orchestration</a:t>
          </a:r>
        </a:p>
      </dgm:t>
    </dgm:pt>
    <dgm:pt modelId="{567D6E2C-92C0-4B03-A9A2-A55124B1843F}" type="parTrans" cxnId="{89362986-B432-4C72-8C2C-0BBB70199ADE}">
      <dgm:prSet/>
      <dgm:spPr/>
      <dgm:t>
        <a:bodyPr/>
        <a:lstStyle/>
        <a:p>
          <a:endParaRPr lang="en-US" sz="1600" b="0"/>
        </a:p>
      </dgm:t>
    </dgm:pt>
    <dgm:pt modelId="{25A81DF8-8A87-432A-B4F5-3EE38DD4CD05}" type="sibTrans" cxnId="{89362986-B432-4C72-8C2C-0BBB70199ADE}">
      <dgm:prSet/>
      <dgm:spPr/>
      <dgm:t>
        <a:bodyPr/>
        <a:lstStyle/>
        <a:p>
          <a:endParaRPr lang="en-US" sz="1600" b="0"/>
        </a:p>
      </dgm:t>
    </dgm:pt>
    <dgm:pt modelId="{9BFDD588-5D40-4134-A77D-367E4F12D0D0}">
      <dgm:prSet phldrT="[Text]" custT="1"/>
      <dgm:spPr/>
      <dgm:t>
        <a:bodyPr/>
        <a:lstStyle/>
        <a:p>
          <a:r>
            <a:rPr lang="en-US" sz="1200" b="0"/>
            <a:t>Enterprise AI Tooling</a:t>
          </a:r>
        </a:p>
      </dgm:t>
    </dgm:pt>
    <dgm:pt modelId="{ED01C435-0212-43B7-8D7A-59F6AD34C3C9}" type="parTrans" cxnId="{FFD05D7E-E541-43E9-9266-B2E82B83A67F}">
      <dgm:prSet/>
      <dgm:spPr/>
      <dgm:t>
        <a:bodyPr/>
        <a:lstStyle/>
        <a:p>
          <a:endParaRPr lang="en-US" sz="1600" b="0"/>
        </a:p>
      </dgm:t>
    </dgm:pt>
    <dgm:pt modelId="{520DD512-0768-4297-9AB6-FA3D32BE9A39}" type="sibTrans" cxnId="{FFD05D7E-E541-43E9-9266-B2E82B83A67F}">
      <dgm:prSet/>
      <dgm:spPr/>
      <dgm:t>
        <a:bodyPr/>
        <a:lstStyle/>
        <a:p>
          <a:endParaRPr lang="en-US" sz="1600" b="0"/>
        </a:p>
      </dgm:t>
    </dgm:pt>
    <dgm:pt modelId="{E1944C2B-7436-4E32-9059-1A5E60829174}">
      <dgm:prSet phldrT="[Text]" custT="1"/>
      <dgm:spPr/>
      <dgm:t>
        <a:bodyPr/>
        <a:lstStyle/>
        <a:p>
          <a:r>
            <a:rPr lang="en-US" sz="1200" b="0"/>
            <a:t>AI Platform Build vs. Buy</a:t>
          </a:r>
        </a:p>
      </dgm:t>
    </dgm:pt>
    <dgm:pt modelId="{883EDC20-2984-4F67-A81F-F52B00D769E3}" type="parTrans" cxnId="{FEA7D2A2-0913-4096-A518-A9A868296420}">
      <dgm:prSet/>
      <dgm:spPr/>
      <dgm:t>
        <a:bodyPr/>
        <a:lstStyle/>
        <a:p>
          <a:endParaRPr lang="en-US" sz="1600" b="0"/>
        </a:p>
      </dgm:t>
    </dgm:pt>
    <dgm:pt modelId="{2E3678C3-9A98-439A-B7AF-5C060022FB53}" type="sibTrans" cxnId="{FEA7D2A2-0913-4096-A518-A9A868296420}">
      <dgm:prSet/>
      <dgm:spPr/>
      <dgm:t>
        <a:bodyPr/>
        <a:lstStyle/>
        <a:p>
          <a:endParaRPr lang="en-US" sz="1600" b="0"/>
        </a:p>
      </dgm:t>
    </dgm:pt>
    <dgm:pt modelId="{DF8DB2F1-DDBC-4E66-A073-C8902E9F1048}">
      <dgm:prSet phldrT="[Text]" custT="1"/>
      <dgm:spPr/>
      <dgm:t>
        <a:bodyPr/>
        <a:lstStyle/>
        <a:p>
          <a:r>
            <a:rPr lang="en-US" sz="1200" b="0"/>
            <a:t>Prompt Engineering &amp; RAG Development</a:t>
          </a:r>
        </a:p>
      </dgm:t>
    </dgm:pt>
    <dgm:pt modelId="{381F194C-2B29-400B-81B1-20EF148BCEAC}" type="parTrans" cxnId="{1E32C662-67E7-4F90-AC2F-E9A1C27826DA}">
      <dgm:prSet/>
      <dgm:spPr/>
      <dgm:t>
        <a:bodyPr/>
        <a:lstStyle/>
        <a:p>
          <a:endParaRPr lang="en-US" sz="1600" b="0"/>
        </a:p>
      </dgm:t>
    </dgm:pt>
    <dgm:pt modelId="{92F7A21F-68F7-4819-B054-275E61953DF0}" type="sibTrans" cxnId="{1E32C662-67E7-4F90-AC2F-E9A1C27826DA}">
      <dgm:prSet/>
      <dgm:spPr/>
      <dgm:t>
        <a:bodyPr/>
        <a:lstStyle/>
        <a:p>
          <a:endParaRPr lang="en-US" sz="1600" b="0"/>
        </a:p>
      </dgm:t>
    </dgm:pt>
    <dgm:pt modelId="{40D72555-CA31-489D-A004-623B4B126740}">
      <dgm:prSet custT="1"/>
      <dgm:spPr/>
      <dgm:t>
        <a:bodyPr/>
        <a:lstStyle/>
        <a:p>
          <a:r>
            <a:rPr lang="en-US" sz="1200" b="0"/>
            <a:t>Automated Data Integration</a:t>
          </a:r>
        </a:p>
      </dgm:t>
    </dgm:pt>
    <dgm:pt modelId="{90A5AC56-B642-410E-9361-0FAB103200FE}" type="parTrans" cxnId="{B2878C44-A5A9-434E-B015-B7E1A8A0B305}">
      <dgm:prSet/>
      <dgm:spPr/>
      <dgm:t>
        <a:bodyPr/>
        <a:lstStyle/>
        <a:p>
          <a:endParaRPr lang="en-US" sz="1600" b="0"/>
        </a:p>
      </dgm:t>
    </dgm:pt>
    <dgm:pt modelId="{B91B5D06-A51A-487A-9512-6D85E9CB04CE}" type="sibTrans" cxnId="{B2878C44-A5A9-434E-B015-B7E1A8A0B305}">
      <dgm:prSet/>
      <dgm:spPr/>
      <dgm:t>
        <a:bodyPr/>
        <a:lstStyle/>
        <a:p>
          <a:endParaRPr lang="en-US" sz="1600" b="0"/>
        </a:p>
      </dgm:t>
    </dgm:pt>
    <dgm:pt modelId="{3703CD75-E22B-41E8-8788-DD3AA44A6505}">
      <dgm:prSet custT="1"/>
      <dgm:spPr/>
      <dgm:t>
        <a:bodyPr/>
        <a:lstStyle/>
        <a:p>
          <a:r>
            <a:rPr lang="en-US" sz="1200" b="0"/>
            <a:t>AI Databases </a:t>
          </a:r>
        </a:p>
        <a:p>
          <a:r>
            <a:rPr lang="en-US" sz="1100" b="0"/>
            <a:t>(Vector DB, Graph DB)</a:t>
          </a:r>
          <a:endParaRPr lang="en-US" sz="1200" b="0"/>
        </a:p>
      </dgm:t>
    </dgm:pt>
    <dgm:pt modelId="{B4FC0824-CD74-4633-A222-5328E0953544}" type="parTrans" cxnId="{4944046E-01E9-4AA8-9C6C-60AA15EA9B1D}">
      <dgm:prSet/>
      <dgm:spPr/>
      <dgm:t>
        <a:bodyPr/>
        <a:lstStyle/>
        <a:p>
          <a:endParaRPr lang="en-US" sz="1600"/>
        </a:p>
      </dgm:t>
    </dgm:pt>
    <dgm:pt modelId="{A43E0800-08FF-43D8-B902-8EDD2FE6EF07}" type="sibTrans" cxnId="{4944046E-01E9-4AA8-9C6C-60AA15EA9B1D}">
      <dgm:prSet/>
      <dgm:spPr/>
      <dgm:t>
        <a:bodyPr/>
        <a:lstStyle/>
        <a:p>
          <a:endParaRPr lang="en-US" sz="1600"/>
        </a:p>
      </dgm:t>
    </dgm:pt>
    <dgm:pt modelId="{F2D9D648-9E0B-4739-83C1-B6BF1EA28C51}">
      <dgm:prSet custT="1"/>
      <dgm:spPr/>
      <dgm:t>
        <a:bodyPr/>
        <a:lstStyle/>
        <a:p>
          <a:r>
            <a:rPr lang="en-US" sz="1200" b="0"/>
            <a:t>Tokenization</a:t>
          </a:r>
        </a:p>
      </dgm:t>
    </dgm:pt>
    <dgm:pt modelId="{18084C35-2D2B-4C5D-B5EB-3EC7A56F7083}" type="parTrans" cxnId="{4ADF4911-E8B3-4CC0-8021-B7C29D4902FA}">
      <dgm:prSet/>
      <dgm:spPr/>
      <dgm:t>
        <a:bodyPr/>
        <a:lstStyle/>
        <a:p>
          <a:endParaRPr lang="en-US" sz="1600"/>
        </a:p>
      </dgm:t>
    </dgm:pt>
    <dgm:pt modelId="{46FB9E51-DA58-4D16-98A5-3CDDAF1E10F4}" type="sibTrans" cxnId="{4ADF4911-E8B3-4CC0-8021-B7C29D4902FA}">
      <dgm:prSet/>
      <dgm:spPr/>
      <dgm:t>
        <a:bodyPr/>
        <a:lstStyle/>
        <a:p>
          <a:endParaRPr lang="en-US" sz="1600"/>
        </a:p>
      </dgm:t>
    </dgm:pt>
    <dgm:pt modelId="{0C70A8A7-761E-40DC-A8E8-23EF230F6DC6}">
      <dgm:prSet custT="1"/>
      <dgm:spPr/>
      <dgm:t>
        <a:bodyPr/>
        <a:lstStyle/>
        <a:p>
          <a:r>
            <a:rPr lang="en-US" sz="1200" b="0"/>
            <a:t>Feature Store</a:t>
          </a:r>
        </a:p>
      </dgm:t>
    </dgm:pt>
    <dgm:pt modelId="{8689E367-A6E9-47BA-A0BD-FF50152B65C7}" type="parTrans" cxnId="{26C94B00-E71C-4D0E-BB31-A700728EBBAE}">
      <dgm:prSet/>
      <dgm:spPr/>
      <dgm:t>
        <a:bodyPr/>
        <a:lstStyle/>
        <a:p>
          <a:endParaRPr lang="en-US" sz="1600"/>
        </a:p>
      </dgm:t>
    </dgm:pt>
    <dgm:pt modelId="{52ADF9C4-D635-4114-9338-10370877858F}" type="sibTrans" cxnId="{26C94B00-E71C-4D0E-BB31-A700728EBBAE}">
      <dgm:prSet/>
      <dgm:spPr/>
      <dgm:t>
        <a:bodyPr/>
        <a:lstStyle/>
        <a:p>
          <a:endParaRPr lang="en-US" sz="1600"/>
        </a:p>
      </dgm:t>
    </dgm:pt>
    <dgm:pt modelId="{BD7467D4-FC61-431C-AE97-8B9BC8F42E35}">
      <dgm:prSet phldrT="[Text]" custT="1"/>
      <dgm:spPr/>
      <dgm:t>
        <a:bodyPr/>
        <a:lstStyle/>
        <a:p>
          <a:r>
            <a:rPr lang="en-US" sz="1200" b="0"/>
            <a:t>Model Training &amp; Testing Environment</a:t>
          </a:r>
        </a:p>
      </dgm:t>
    </dgm:pt>
    <dgm:pt modelId="{FA32B29C-4871-4C0E-834F-54DFE545744D}" type="parTrans" cxnId="{4EE5D240-CF43-4A3C-B13A-56A7BB812429}">
      <dgm:prSet/>
      <dgm:spPr/>
      <dgm:t>
        <a:bodyPr/>
        <a:lstStyle/>
        <a:p>
          <a:endParaRPr lang="en-US" sz="1600"/>
        </a:p>
      </dgm:t>
    </dgm:pt>
    <dgm:pt modelId="{89AFC48E-D9A8-41EB-98A2-1E5237A65145}" type="sibTrans" cxnId="{4EE5D240-CF43-4A3C-B13A-56A7BB812429}">
      <dgm:prSet/>
      <dgm:spPr/>
      <dgm:t>
        <a:bodyPr/>
        <a:lstStyle/>
        <a:p>
          <a:endParaRPr lang="en-US" sz="1600"/>
        </a:p>
      </dgm:t>
    </dgm:pt>
    <dgm:pt modelId="{3E765566-E1FE-4D37-8606-DA43F39159DA}">
      <dgm:prSet phldrT="[Text]" custT="1"/>
      <dgm:spPr/>
      <dgm:t>
        <a:bodyPr/>
        <a:lstStyle/>
        <a:p>
          <a:r>
            <a:rPr lang="en-US" sz="1200" b="0" err="1"/>
            <a:t>MLOps</a:t>
          </a:r>
          <a:r>
            <a:rPr lang="en-US" sz="1200" b="0"/>
            <a:t> &amp; </a:t>
          </a:r>
          <a:r>
            <a:rPr lang="en-US" sz="1200" b="0" err="1"/>
            <a:t>LLMOps</a:t>
          </a:r>
          <a:endParaRPr lang="en-US" sz="1200" b="0"/>
        </a:p>
      </dgm:t>
    </dgm:pt>
    <dgm:pt modelId="{AD738896-9784-4D83-AC21-74F7E4C2B9B5}" type="parTrans" cxnId="{88E2D3F9-A5B8-486B-9242-35052152485A}">
      <dgm:prSet/>
      <dgm:spPr/>
      <dgm:t>
        <a:bodyPr/>
        <a:lstStyle/>
        <a:p>
          <a:endParaRPr lang="en-US" sz="1600"/>
        </a:p>
      </dgm:t>
    </dgm:pt>
    <dgm:pt modelId="{978D8DD7-BE89-4610-94E0-F57D6B9AC410}" type="sibTrans" cxnId="{88E2D3F9-A5B8-486B-9242-35052152485A}">
      <dgm:prSet/>
      <dgm:spPr/>
      <dgm:t>
        <a:bodyPr/>
        <a:lstStyle/>
        <a:p>
          <a:endParaRPr lang="en-US" sz="1600"/>
        </a:p>
      </dgm:t>
    </dgm:pt>
    <dgm:pt modelId="{27CF52F8-390B-4F93-99F0-EE24CA28A5D3}">
      <dgm:prSet phldrT="[Text]" custT="1"/>
      <dgm:spPr/>
      <dgm:t>
        <a:bodyPr/>
        <a:lstStyle/>
        <a:p>
          <a:r>
            <a:rPr lang="en-US" sz="1200" b="0"/>
            <a:t>Model Registry</a:t>
          </a:r>
        </a:p>
      </dgm:t>
    </dgm:pt>
    <dgm:pt modelId="{0024C578-071A-49B5-97FC-EEE0672E1973}" type="parTrans" cxnId="{4F4E2B69-1B5A-409E-B60C-D88E04B72801}">
      <dgm:prSet/>
      <dgm:spPr/>
      <dgm:t>
        <a:bodyPr/>
        <a:lstStyle/>
        <a:p>
          <a:endParaRPr lang="en-US" sz="1600"/>
        </a:p>
      </dgm:t>
    </dgm:pt>
    <dgm:pt modelId="{DFF24194-1053-45C0-A949-5CECB24558E3}" type="sibTrans" cxnId="{4F4E2B69-1B5A-409E-B60C-D88E04B72801}">
      <dgm:prSet/>
      <dgm:spPr/>
      <dgm:t>
        <a:bodyPr/>
        <a:lstStyle/>
        <a:p>
          <a:endParaRPr lang="en-US" sz="1600"/>
        </a:p>
      </dgm:t>
    </dgm:pt>
    <dgm:pt modelId="{748F5384-8102-47D0-B840-E21E248D3893}" type="pres">
      <dgm:prSet presAssocID="{DA5B42B7-E150-44F2-BE30-664109542346}" presName="theList" presStyleCnt="0">
        <dgm:presLayoutVars>
          <dgm:dir/>
          <dgm:animLvl val="lvl"/>
          <dgm:resizeHandles val="exact"/>
        </dgm:presLayoutVars>
      </dgm:prSet>
      <dgm:spPr/>
    </dgm:pt>
    <dgm:pt modelId="{4A3C056D-E462-49CF-B3D5-9A9256825AD3}" type="pres">
      <dgm:prSet presAssocID="{B2CA673A-ADF7-41C9-8680-0EDD7011AE77}" presName="compNode" presStyleCnt="0"/>
      <dgm:spPr/>
    </dgm:pt>
    <dgm:pt modelId="{6ED8904B-8841-4F91-8815-68FD50945026}" type="pres">
      <dgm:prSet presAssocID="{B2CA673A-ADF7-41C9-8680-0EDD7011AE77}" presName="aNode" presStyleLbl="bgShp" presStyleIdx="0" presStyleCnt="4"/>
      <dgm:spPr/>
    </dgm:pt>
    <dgm:pt modelId="{EE112F8D-528F-4DC3-8A76-AF1414A08282}" type="pres">
      <dgm:prSet presAssocID="{B2CA673A-ADF7-41C9-8680-0EDD7011AE77}" presName="textNode" presStyleLbl="bgShp" presStyleIdx="0" presStyleCnt="4"/>
      <dgm:spPr/>
    </dgm:pt>
    <dgm:pt modelId="{BB3CB959-3353-49D5-9F74-5A54A45EE944}" type="pres">
      <dgm:prSet presAssocID="{B2CA673A-ADF7-41C9-8680-0EDD7011AE77}" presName="compChildNode" presStyleCnt="0"/>
      <dgm:spPr/>
    </dgm:pt>
    <dgm:pt modelId="{87429EFC-A892-418F-89F6-F64C2EE9D74D}" type="pres">
      <dgm:prSet presAssocID="{B2CA673A-ADF7-41C9-8680-0EDD7011AE77}" presName="theInnerList" presStyleCnt="0"/>
      <dgm:spPr/>
    </dgm:pt>
    <dgm:pt modelId="{BF6299C4-1F09-4F2B-AA12-B83E5FC68D21}" type="pres">
      <dgm:prSet presAssocID="{124771D6-EA45-4B39-8BD2-4BF92619E73C}" presName="childNode" presStyleLbl="node1" presStyleIdx="0" presStyleCnt="20">
        <dgm:presLayoutVars>
          <dgm:bulletEnabled val="1"/>
        </dgm:presLayoutVars>
      </dgm:prSet>
      <dgm:spPr/>
    </dgm:pt>
    <dgm:pt modelId="{2A413D6A-6CD3-4AD9-B8B5-147C14029E9E}" type="pres">
      <dgm:prSet presAssocID="{124771D6-EA45-4B39-8BD2-4BF92619E73C}" presName="aSpace2" presStyleCnt="0"/>
      <dgm:spPr/>
    </dgm:pt>
    <dgm:pt modelId="{B2750A58-5500-4236-952F-43D6496632EF}" type="pres">
      <dgm:prSet presAssocID="{9CD5B48F-EA96-4E93-9C55-B691E0EEB4BE}" presName="childNode" presStyleLbl="node1" presStyleIdx="1" presStyleCnt="20">
        <dgm:presLayoutVars>
          <dgm:bulletEnabled val="1"/>
        </dgm:presLayoutVars>
      </dgm:prSet>
      <dgm:spPr/>
    </dgm:pt>
    <dgm:pt modelId="{A0752889-EDE4-4CA4-8A27-706CA0BF6E53}" type="pres">
      <dgm:prSet presAssocID="{9CD5B48F-EA96-4E93-9C55-B691E0EEB4BE}" presName="aSpace2" presStyleCnt="0"/>
      <dgm:spPr/>
    </dgm:pt>
    <dgm:pt modelId="{B3BDD02F-C730-4688-A9FA-D318265D879F}" type="pres">
      <dgm:prSet presAssocID="{A02263B8-B0D3-4B09-89CB-62DBBA69892B}" presName="childNode" presStyleLbl="node1" presStyleIdx="2" presStyleCnt="20">
        <dgm:presLayoutVars>
          <dgm:bulletEnabled val="1"/>
        </dgm:presLayoutVars>
      </dgm:prSet>
      <dgm:spPr/>
    </dgm:pt>
    <dgm:pt modelId="{1ED75AA0-0565-4A12-BF09-F025AA3A9722}" type="pres">
      <dgm:prSet presAssocID="{A02263B8-B0D3-4B09-89CB-62DBBA69892B}" presName="aSpace2" presStyleCnt="0"/>
      <dgm:spPr/>
    </dgm:pt>
    <dgm:pt modelId="{0443A66A-F2D6-4DEE-BB1C-869D739CC8E9}" type="pres">
      <dgm:prSet presAssocID="{EF276FDC-0984-43AF-94B4-29C747EBFDB7}" presName="childNode" presStyleLbl="node1" presStyleIdx="3" presStyleCnt="20">
        <dgm:presLayoutVars>
          <dgm:bulletEnabled val="1"/>
        </dgm:presLayoutVars>
      </dgm:prSet>
      <dgm:spPr/>
    </dgm:pt>
    <dgm:pt modelId="{7FFA3ABA-56B2-40E0-B8DD-5E1BE0F3C67B}" type="pres">
      <dgm:prSet presAssocID="{B2CA673A-ADF7-41C9-8680-0EDD7011AE77}" presName="aSpace" presStyleCnt="0"/>
      <dgm:spPr/>
    </dgm:pt>
    <dgm:pt modelId="{C2A8BC83-8B22-4E35-9C36-D62135049659}" type="pres">
      <dgm:prSet presAssocID="{D7B17AE4-0CED-480F-9022-ACA76E59773B}" presName="compNode" presStyleCnt="0"/>
      <dgm:spPr/>
    </dgm:pt>
    <dgm:pt modelId="{39594A9B-7C7E-4136-82EC-1D15ED8E72C6}" type="pres">
      <dgm:prSet presAssocID="{D7B17AE4-0CED-480F-9022-ACA76E59773B}" presName="aNode" presStyleLbl="bgShp" presStyleIdx="1" presStyleCnt="4"/>
      <dgm:spPr/>
    </dgm:pt>
    <dgm:pt modelId="{C57D1CC0-9EAA-49F0-A20F-8734838D9CB1}" type="pres">
      <dgm:prSet presAssocID="{D7B17AE4-0CED-480F-9022-ACA76E59773B}" presName="textNode" presStyleLbl="bgShp" presStyleIdx="1" presStyleCnt="4"/>
      <dgm:spPr/>
    </dgm:pt>
    <dgm:pt modelId="{817C979A-1E81-4EF4-A764-30C69A788668}" type="pres">
      <dgm:prSet presAssocID="{D7B17AE4-0CED-480F-9022-ACA76E59773B}" presName="compChildNode" presStyleCnt="0"/>
      <dgm:spPr/>
    </dgm:pt>
    <dgm:pt modelId="{71558B3D-DE1C-4F97-BECF-C1D1918F5A2A}" type="pres">
      <dgm:prSet presAssocID="{D7B17AE4-0CED-480F-9022-ACA76E59773B}" presName="theInnerList" presStyleCnt="0"/>
      <dgm:spPr/>
    </dgm:pt>
    <dgm:pt modelId="{306AF65F-E4C8-4E2C-A5E1-067CBD247D7A}" type="pres">
      <dgm:prSet presAssocID="{CAC7BED0-A353-4F47-AAA1-1ADC59FA13E5}" presName="childNode" presStyleLbl="node1" presStyleIdx="4" presStyleCnt="20">
        <dgm:presLayoutVars>
          <dgm:bulletEnabled val="1"/>
        </dgm:presLayoutVars>
      </dgm:prSet>
      <dgm:spPr/>
    </dgm:pt>
    <dgm:pt modelId="{C7AA2494-624B-4ECD-A34D-6AFFD656EAF6}" type="pres">
      <dgm:prSet presAssocID="{CAC7BED0-A353-4F47-AAA1-1ADC59FA13E5}" presName="aSpace2" presStyleCnt="0"/>
      <dgm:spPr/>
    </dgm:pt>
    <dgm:pt modelId="{66F1036F-750B-4779-BE7F-604598148F75}" type="pres">
      <dgm:prSet presAssocID="{9BFDD588-5D40-4134-A77D-367E4F12D0D0}" presName="childNode" presStyleLbl="node1" presStyleIdx="5" presStyleCnt="20">
        <dgm:presLayoutVars>
          <dgm:bulletEnabled val="1"/>
        </dgm:presLayoutVars>
      </dgm:prSet>
      <dgm:spPr/>
    </dgm:pt>
    <dgm:pt modelId="{D41FD62F-7CBD-4B62-9621-2E324AE21CDF}" type="pres">
      <dgm:prSet presAssocID="{9BFDD588-5D40-4134-A77D-367E4F12D0D0}" presName="aSpace2" presStyleCnt="0"/>
      <dgm:spPr/>
    </dgm:pt>
    <dgm:pt modelId="{19A096F5-EC83-4091-870D-46D5F775F102}" type="pres">
      <dgm:prSet presAssocID="{E1944C2B-7436-4E32-9059-1A5E60829174}" presName="childNode" presStyleLbl="node1" presStyleIdx="6" presStyleCnt="20">
        <dgm:presLayoutVars>
          <dgm:bulletEnabled val="1"/>
        </dgm:presLayoutVars>
      </dgm:prSet>
      <dgm:spPr/>
    </dgm:pt>
    <dgm:pt modelId="{E1BBD6DD-62BF-4B9D-A83E-7B1D062AC541}" type="pres">
      <dgm:prSet presAssocID="{D7B17AE4-0CED-480F-9022-ACA76E59773B}" presName="aSpace" presStyleCnt="0"/>
      <dgm:spPr/>
    </dgm:pt>
    <dgm:pt modelId="{DA2737CB-EBEF-429D-9E30-FFD223E15FE7}" type="pres">
      <dgm:prSet presAssocID="{33F1362F-2855-4441-A029-D243644002A4}" presName="compNode" presStyleCnt="0"/>
      <dgm:spPr/>
    </dgm:pt>
    <dgm:pt modelId="{02B4CA73-3604-42D8-8E7F-BC26523BA155}" type="pres">
      <dgm:prSet presAssocID="{33F1362F-2855-4441-A029-D243644002A4}" presName="aNode" presStyleLbl="bgShp" presStyleIdx="2" presStyleCnt="4"/>
      <dgm:spPr/>
    </dgm:pt>
    <dgm:pt modelId="{A647B452-AF5F-411A-A599-A00D7A831AA7}" type="pres">
      <dgm:prSet presAssocID="{33F1362F-2855-4441-A029-D243644002A4}" presName="textNode" presStyleLbl="bgShp" presStyleIdx="2" presStyleCnt="4"/>
      <dgm:spPr/>
    </dgm:pt>
    <dgm:pt modelId="{5B3F6313-3384-487D-BEEA-F2F585F344C9}" type="pres">
      <dgm:prSet presAssocID="{33F1362F-2855-4441-A029-D243644002A4}" presName="compChildNode" presStyleCnt="0"/>
      <dgm:spPr/>
    </dgm:pt>
    <dgm:pt modelId="{41292B08-07FB-48D5-A52D-354B4B0CE9B8}" type="pres">
      <dgm:prSet presAssocID="{33F1362F-2855-4441-A029-D243644002A4}" presName="theInnerList" presStyleCnt="0"/>
      <dgm:spPr/>
    </dgm:pt>
    <dgm:pt modelId="{2A0E86E6-0BF2-4683-836E-D919645AF3A4}" type="pres">
      <dgm:prSet presAssocID="{3C13D931-4B34-45CA-8BBD-4BE8E361E18A}" presName="childNode" presStyleLbl="node1" presStyleIdx="7" presStyleCnt="20">
        <dgm:presLayoutVars>
          <dgm:bulletEnabled val="1"/>
        </dgm:presLayoutVars>
      </dgm:prSet>
      <dgm:spPr/>
    </dgm:pt>
    <dgm:pt modelId="{9F09F0D3-A592-4C86-BDCA-627BC3458FBA}" type="pres">
      <dgm:prSet presAssocID="{3C13D931-4B34-45CA-8BBD-4BE8E361E18A}" presName="aSpace2" presStyleCnt="0"/>
      <dgm:spPr/>
    </dgm:pt>
    <dgm:pt modelId="{661053F2-D235-4C0C-B2B9-533025FE61E4}" type="pres">
      <dgm:prSet presAssocID="{B2830BBF-89E9-48FB-BCEB-587C562842C6}" presName="childNode" presStyleLbl="node1" presStyleIdx="8" presStyleCnt="20">
        <dgm:presLayoutVars>
          <dgm:bulletEnabled val="1"/>
        </dgm:presLayoutVars>
      </dgm:prSet>
      <dgm:spPr/>
    </dgm:pt>
    <dgm:pt modelId="{6213FA86-E7DA-41FB-800E-94114CEDEE01}" type="pres">
      <dgm:prSet presAssocID="{B2830BBF-89E9-48FB-BCEB-587C562842C6}" presName="aSpace2" presStyleCnt="0"/>
      <dgm:spPr/>
    </dgm:pt>
    <dgm:pt modelId="{AA8874A7-E4E2-41D0-BB36-89EF0A40152A}" type="pres">
      <dgm:prSet presAssocID="{40D72555-CA31-489D-A004-623B4B126740}" presName="childNode" presStyleLbl="node1" presStyleIdx="9" presStyleCnt="20">
        <dgm:presLayoutVars>
          <dgm:bulletEnabled val="1"/>
        </dgm:presLayoutVars>
      </dgm:prSet>
      <dgm:spPr/>
    </dgm:pt>
    <dgm:pt modelId="{193CC0CF-55A4-4FB7-A426-F65E5888D551}" type="pres">
      <dgm:prSet presAssocID="{40D72555-CA31-489D-A004-623B4B126740}" presName="aSpace2" presStyleCnt="0"/>
      <dgm:spPr/>
    </dgm:pt>
    <dgm:pt modelId="{846ECC95-0251-4FB6-9A84-7623AD29FDA9}" type="pres">
      <dgm:prSet presAssocID="{95A5151D-D2E7-43AA-A61C-430447AB6FBF}" presName="childNode" presStyleLbl="node1" presStyleIdx="10" presStyleCnt="20">
        <dgm:presLayoutVars>
          <dgm:bulletEnabled val="1"/>
        </dgm:presLayoutVars>
      </dgm:prSet>
      <dgm:spPr/>
    </dgm:pt>
    <dgm:pt modelId="{EEA87821-6DFA-4603-A68D-1AFC966369E0}" type="pres">
      <dgm:prSet presAssocID="{95A5151D-D2E7-43AA-A61C-430447AB6FBF}" presName="aSpace2" presStyleCnt="0"/>
      <dgm:spPr/>
    </dgm:pt>
    <dgm:pt modelId="{54E20A71-C8E0-4CC2-B95F-ED382FA3E0F3}" type="pres">
      <dgm:prSet presAssocID="{3703CD75-E22B-41E8-8788-DD3AA44A6505}" presName="childNode" presStyleLbl="node1" presStyleIdx="11" presStyleCnt="20">
        <dgm:presLayoutVars>
          <dgm:bulletEnabled val="1"/>
        </dgm:presLayoutVars>
      </dgm:prSet>
      <dgm:spPr/>
    </dgm:pt>
    <dgm:pt modelId="{B2AA3C08-16EE-466B-9725-E72FD07D47F4}" type="pres">
      <dgm:prSet presAssocID="{3703CD75-E22B-41E8-8788-DD3AA44A6505}" presName="aSpace2" presStyleCnt="0"/>
      <dgm:spPr/>
    </dgm:pt>
    <dgm:pt modelId="{051E70FD-4003-40FA-AD15-24947C65ABD3}" type="pres">
      <dgm:prSet presAssocID="{F2D9D648-9E0B-4739-83C1-B6BF1EA28C51}" presName="childNode" presStyleLbl="node1" presStyleIdx="12" presStyleCnt="20">
        <dgm:presLayoutVars>
          <dgm:bulletEnabled val="1"/>
        </dgm:presLayoutVars>
      </dgm:prSet>
      <dgm:spPr/>
    </dgm:pt>
    <dgm:pt modelId="{A1A8B2B3-6A54-4E4B-B814-B316C021778F}" type="pres">
      <dgm:prSet presAssocID="{F2D9D648-9E0B-4739-83C1-B6BF1EA28C51}" presName="aSpace2" presStyleCnt="0"/>
      <dgm:spPr/>
    </dgm:pt>
    <dgm:pt modelId="{B0538E94-BEAD-4B3D-818E-94F63F384897}" type="pres">
      <dgm:prSet presAssocID="{0C70A8A7-761E-40DC-A8E8-23EF230F6DC6}" presName="childNode" presStyleLbl="node1" presStyleIdx="13" presStyleCnt="20">
        <dgm:presLayoutVars>
          <dgm:bulletEnabled val="1"/>
        </dgm:presLayoutVars>
      </dgm:prSet>
      <dgm:spPr/>
    </dgm:pt>
    <dgm:pt modelId="{2374A28B-376B-41C7-A2E5-1B0BA1E76A51}" type="pres">
      <dgm:prSet presAssocID="{33F1362F-2855-4441-A029-D243644002A4}" presName="aSpace" presStyleCnt="0"/>
      <dgm:spPr/>
    </dgm:pt>
    <dgm:pt modelId="{5CDCE615-1A5C-4F07-BD7C-6909CD4BE82D}" type="pres">
      <dgm:prSet presAssocID="{2EA9A78C-CFDF-4B26-B985-4FAE6A7572DB}" presName="compNode" presStyleCnt="0"/>
      <dgm:spPr/>
    </dgm:pt>
    <dgm:pt modelId="{86FEB584-39F5-4DF0-8DB1-1FB7AB60E06E}" type="pres">
      <dgm:prSet presAssocID="{2EA9A78C-CFDF-4B26-B985-4FAE6A7572DB}" presName="aNode" presStyleLbl="bgShp" presStyleIdx="3" presStyleCnt="4"/>
      <dgm:spPr/>
    </dgm:pt>
    <dgm:pt modelId="{13655035-FC5A-41B0-849A-B1DD04927908}" type="pres">
      <dgm:prSet presAssocID="{2EA9A78C-CFDF-4B26-B985-4FAE6A7572DB}" presName="textNode" presStyleLbl="bgShp" presStyleIdx="3" presStyleCnt="4"/>
      <dgm:spPr/>
    </dgm:pt>
    <dgm:pt modelId="{86DBEC56-6AC7-47E5-9CA0-9B14D969D0CD}" type="pres">
      <dgm:prSet presAssocID="{2EA9A78C-CFDF-4B26-B985-4FAE6A7572DB}" presName="compChildNode" presStyleCnt="0"/>
      <dgm:spPr/>
    </dgm:pt>
    <dgm:pt modelId="{E1F63065-BC35-49D3-A2FB-E15F9A15B57D}" type="pres">
      <dgm:prSet presAssocID="{2EA9A78C-CFDF-4B26-B985-4FAE6A7572DB}" presName="theInnerList" presStyleCnt="0"/>
      <dgm:spPr/>
    </dgm:pt>
    <dgm:pt modelId="{5B1A8B2A-A21A-4E7E-8C0D-F3A52A458A78}" type="pres">
      <dgm:prSet presAssocID="{30057CF9-73EE-4F2E-BF15-A182AE07C38C}" presName="childNode" presStyleLbl="node1" presStyleIdx="14" presStyleCnt="20">
        <dgm:presLayoutVars>
          <dgm:bulletEnabled val="1"/>
        </dgm:presLayoutVars>
      </dgm:prSet>
      <dgm:spPr/>
    </dgm:pt>
    <dgm:pt modelId="{46D89FF4-BC85-42AD-841C-4BD436CAA800}" type="pres">
      <dgm:prSet presAssocID="{30057CF9-73EE-4F2E-BF15-A182AE07C38C}" presName="aSpace2" presStyleCnt="0"/>
      <dgm:spPr/>
    </dgm:pt>
    <dgm:pt modelId="{D5A0FF26-1011-421C-A824-10BD7E9F0DE3}" type="pres">
      <dgm:prSet presAssocID="{BD7467D4-FC61-431C-AE97-8B9BC8F42E35}" presName="childNode" presStyleLbl="node1" presStyleIdx="15" presStyleCnt="20">
        <dgm:presLayoutVars>
          <dgm:bulletEnabled val="1"/>
        </dgm:presLayoutVars>
      </dgm:prSet>
      <dgm:spPr/>
    </dgm:pt>
    <dgm:pt modelId="{BBF1AE2C-1981-44A2-8A67-4F45BAA5912F}" type="pres">
      <dgm:prSet presAssocID="{BD7467D4-FC61-431C-AE97-8B9BC8F42E35}" presName="aSpace2" presStyleCnt="0"/>
      <dgm:spPr/>
    </dgm:pt>
    <dgm:pt modelId="{38AA2610-5EEA-4E4B-B228-C14FDCB908E6}" type="pres">
      <dgm:prSet presAssocID="{3E765566-E1FE-4D37-8606-DA43F39159DA}" presName="childNode" presStyleLbl="node1" presStyleIdx="16" presStyleCnt="20">
        <dgm:presLayoutVars>
          <dgm:bulletEnabled val="1"/>
        </dgm:presLayoutVars>
      </dgm:prSet>
      <dgm:spPr/>
    </dgm:pt>
    <dgm:pt modelId="{3E061665-EBEA-43B0-A0C7-68EFF577007D}" type="pres">
      <dgm:prSet presAssocID="{3E765566-E1FE-4D37-8606-DA43F39159DA}" presName="aSpace2" presStyleCnt="0"/>
      <dgm:spPr/>
    </dgm:pt>
    <dgm:pt modelId="{7E6DBA65-FEBE-4293-9023-3CFC3D8D72B5}" type="pres">
      <dgm:prSet presAssocID="{EC355119-997C-46D3-AF8B-FFCF9E3D9E77}" presName="childNode" presStyleLbl="node1" presStyleIdx="17" presStyleCnt="20">
        <dgm:presLayoutVars>
          <dgm:bulletEnabled val="1"/>
        </dgm:presLayoutVars>
      </dgm:prSet>
      <dgm:spPr/>
    </dgm:pt>
    <dgm:pt modelId="{A67B47C0-BED3-477B-92DD-8E267D9CA2D1}" type="pres">
      <dgm:prSet presAssocID="{EC355119-997C-46D3-AF8B-FFCF9E3D9E77}" presName="aSpace2" presStyleCnt="0"/>
      <dgm:spPr/>
    </dgm:pt>
    <dgm:pt modelId="{4BC01984-52F8-4A1E-9A10-C8A7D794AF1E}" type="pres">
      <dgm:prSet presAssocID="{DF8DB2F1-DDBC-4E66-A073-C8902E9F1048}" presName="childNode" presStyleLbl="node1" presStyleIdx="18" presStyleCnt="20">
        <dgm:presLayoutVars>
          <dgm:bulletEnabled val="1"/>
        </dgm:presLayoutVars>
      </dgm:prSet>
      <dgm:spPr/>
    </dgm:pt>
    <dgm:pt modelId="{E14E12BF-90DB-417D-8F36-A8F80EB68513}" type="pres">
      <dgm:prSet presAssocID="{DF8DB2F1-DDBC-4E66-A073-C8902E9F1048}" presName="aSpace2" presStyleCnt="0"/>
      <dgm:spPr/>
    </dgm:pt>
    <dgm:pt modelId="{2DA380B9-5375-4E2D-8414-F00495E5E8E8}" type="pres">
      <dgm:prSet presAssocID="{27CF52F8-390B-4F93-99F0-EE24CA28A5D3}" presName="childNode" presStyleLbl="node1" presStyleIdx="19" presStyleCnt="20">
        <dgm:presLayoutVars>
          <dgm:bulletEnabled val="1"/>
        </dgm:presLayoutVars>
      </dgm:prSet>
      <dgm:spPr/>
    </dgm:pt>
  </dgm:ptLst>
  <dgm:cxnLst>
    <dgm:cxn modelId="{26C94B00-E71C-4D0E-BB31-A700728EBBAE}" srcId="{33F1362F-2855-4441-A029-D243644002A4}" destId="{0C70A8A7-761E-40DC-A8E8-23EF230F6DC6}" srcOrd="6" destOrd="0" parTransId="{8689E367-A6E9-47BA-A0BD-FF50152B65C7}" sibTransId="{52ADF9C4-D635-4114-9338-10370877858F}"/>
    <dgm:cxn modelId="{00DEC805-3EFC-4221-8784-390AAC8E3D6B}" srcId="{DA5B42B7-E150-44F2-BE30-664109542346}" destId="{D7B17AE4-0CED-480F-9022-ACA76E59773B}" srcOrd="1" destOrd="0" parTransId="{203DA69B-62CE-44F8-959A-A7E8B6BB4CEB}" sibTransId="{9C95D4FD-5C99-4AF5-BCE6-50DCF8F01FB9}"/>
    <dgm:cxn modelId="{9B68F406-98E0-409A-8BC0-39AD2628F02A}" type="presOf" srcId="{B2830BBF-89E9-48FB-BCEB-587C562842C6}" destId="{661053F2-D235-4C0C-B2B9-533025FE61E4}" srcOrd="0" destOrd="0" presId="urn:microsoft.com/office/officeart/2005/8/layout/lProcess2"/>
    <dgm:cxn modelId="{965B870B-CD6B-4ADA-8EDE-426E72C9B286}" type="presOf" srcId="{95A5151D-D2E7-43AA-A61C-430447AB6FBF}" destId="{846ECC95-0251-4FB6-9A84-7623AD29FDA9}" srcOrd="0" destOrd="0" presId="urn:microsoft.com/office/officeart/2005/8/layout/lProcess2"/>
    <dgm:cxn modelId="{C13DC90C-D929-427E-94EA-96410FCE7F5B}" type="presOf" srcId="{27CF52F8-390B-4F93-99F0-EE24CA28A5D3}" destId="{2DA380B9-5375-4E2D-8414-F00495E5E8E8}" srcOrd="0" destOrd="0" presId="urn:microsoft.com/office/officeart/2005/8/layout/lProcess2"/>
    <dgm:cxn modelId="{3CAFD60C-AF12-4BAB-8E24-3A400AEE409A}" type="presOf" srcId="{E1944C2B-7436-4E32-9059-1A5E60829174}" destId="{19A096F5-EC83-4091-870D-46D5F775F102}" srcOrd="0" destOrd="0" presId="urn:microsoft.com/office/officeart/2005/8/layout/lProcess2"/>
    <dgm:cxn modelId="{695D560D-459F-4617-BDBA-F1640E1D491F}" type="presOf" srcId="{33F1362F-2855-4441-A029-D243644002A4}" destId="{A647B452-AF5F-411A-A599-A00D7A831AA7}" srcOrd="1" destOrd="0" presId="urn:microsoft.com/office/officeart/2005/8/layout/lProcess2"/>
    <dgm:cxn modelId="{4ADF4911-E8B3-4CC0-8021-B7C29D4902FA}" srcId="{33F1362F-2855-4441-A029-D243644002A4}" destId="{F2D9D648-9E0B-4739-83C1-B6BF1EA28C51}" srcOrd="5" destOrd="0" parTransId="{18084C35-2D2B-4C5D-B5EB-3EC7A56F7083}" sibTransId="{46FB9E51-DA58-4D16-98A5-3CDDAF1E10F4}"/>
    <dgm:cxn modelId="{CB3BC313-CEDF-4A10-B4A2-B9616CC05A94}" type="presOf" srcId="{F2D9D648-9E0B-4739-83C1-B6BF1EA28C51}" destId="{051E70FD-4003-40FA-AD15-24947C65ABD3}" srcOrd="0" destOrd="0" presId="urn:microsoft.com/office/officeart/2005/8/layout/lProcess2"/>
    <dgm:cxn modelId="{D570811B-D24A-4008-8454-EA60577089F5}" type="presOf" srcId="{3703CD75-E22B-41E8-8788-DD3AA44A6505}" destId="{54E20A71-C8E0-4CC2-B95F-ED382FA3E0F3}" srcOrd="0" destOrd="0" presId="urn:microsoft.com/office/officeart/2005/8/layout/lProcess2"/>
    <dgm:cxn modelId="{B6D0C61E-8BF2-4FAD-A7C9-1F3424AD942D}" type="presOf" srcId="{0C70A8A7-761E-40DC-A8E8-23EF230F6DC6}" destId="{B0538E94-BEAD-4B3D-818E-94F63F384897}" srcOrd="0" destOrd="0" presId="urn:microsoft.com/office/officeart/2005/8/layout/lProcess2"/>
    <dgm:cxn modelId="{69D1D32C-FB79-451B-9C90-39A20C4A8600}" srcId="{2EA9A78C-CFDF-4B26-B985-4FAE6A7572DB}" destId="{30057CF9-73EE-4F2E-BF15-A182AE07C38C}" srcOrd="0" destOrd="0" parTransId="{1CB014CE-2139-40FC-BB2B-5687493CC372}" sibTransId="{40314990-45B4-44FB-AF21-5A8A99F25CA8}"/>
    <dgm:cxn modelId="{16260D31-8676-4117-86A4-82D23FA29320}" srcId="{33F1362F-2855-4441-A029-D243644002A4}" destId="{3C13D931-4B34-45CA-8BBD-4BE8E361E18A}" srcOrd="0" destOrd="0" parTransId="{0DF51AAC-DE7C-43FB-B232-59C996CE9937}" sibTransId="{3B573CE6-4F69-4EAD-8936-A7A25EB83109}"/>
    <dgm:cxn modelId="{1A11AE35-9142-40BF-947F-B9B249BC4F44}" srcId="{B2CA673A-ADF7-41C9-8680-0EDD7011AE77}" destId="{9CD5B48F-EA96-4E93-9C55-B691E0EEB4BE}" srcOrd="1" destOrd="0" parTransId="{9A16E0F2-893B-4B58-9BC0-6FCE499DAB81}" sibTransId="{5AA620BA-4E92-4B28-A5BF-A5DB1CF98156}"/>
    <dgm:cxn modelId="{F5BE8B3C-5B25-4B96-985A-A7E6D13C0EEF}" type="presOf" srcId="{EC355119-997C-46D3-AF8B-FFCF9E3D9E77}" destId="{7E6DBA65-FEBE-4293-9023-3CFC3D8D72B5}" srcOrd="0" destOrd="0" presId="urn:microsoft.com/office/officeart/2005/8/layout/lProcess2"/>
    <dgm:cxn modelId="{227FBA3E-7FB7-4644-A34C-07307A2803F8}" type="presOf" srcId="{BD7467D4-FC61-431C-AE97-8B9BC8F42E35}" destId="{D5A0FF26-1011-421C-A824-10BD7E9F0DE3}" srcOrd="0" destOrd="0" presId="urn:microsoft.com/office/officeart/2005/8/layout/lProcess2"/>
    <dgm:cxn modelId="{4EE5D240-CF43-4A3C-B13A-56A7BB812429}" srcId="{2EA9A78C-CFDF-4B26-B985-4FAE6A7572DB}" destId="{BD7467D4-FC61-431C-AE97-8B9BC8F42E35}" srcOrd="1" destOrd="0" parTransId="{FA32B29C-4871-4C0E-834F-54DFE545744D}" sibTransId="{89AFC48E-D9A8-41EB-98A2-1E5237A65145}"/>
    <dgm:cxn modelId="{BCD92E41-CE80-4024-A906-6A7F85BCEB74}" type="presOf" srcId="{3E765566-E1FE-4D37-8606-DA43F39159DA}" destId="{38AA2610-5EEA-4E4B-B228-C14FDCB908E6}" srcOrd="0" destOrd="0" presId="urn:microsoft.com/office/officeart/2005/8/layout/lProcess2"/>
    <dgm:cxn modelId="{1E32C662-67E7-4F90-AC2F-E9A1C27826DA}" srcId="{2EA9A78C-CFDF-4B26-B985-4FAE6A7572DB}" destId="{DF8DB2F1-DDBC-4E66-A073-C8902E9F1048}" srcOrd="4" destOrd="0" parTransId="{381F194C-2B29-400B-81B1-20EF148BCEAC}" sibTransId="{92F7A21F-68F7-4819-B054-275E61953DF0}"/>
    <dgm:cxn modelId="{B2878C44-A5A9-434E-B015-B7E1A8A0B305}" srcId="{33F1362F-2855-4441-A029-D243644002A4}" destId="{40D72555-CA31-489D-A004-623B4B126740}" srcOrd="2" destOrd="0" parTransId="{90A5AC56-B642-410E-9361-0FAB103200FE}" sibTransId="{B91B5D06-A51A-487A-9512-6D85E9CB04CE}"/>
    <dgm:cxn modelId="{482C8C67-A72A-4DD5-8F79-1AA68A4CFA91}" type="presOf" srcId="{2EA9A78C-CFDF-4B26-B985-4FAE6A7572DB}" destId="{86FEB584-39F5-4DF0-8DB1-1FB7AB60E06E}" srcOrd="0" destOrd="0" presId="urn:microsoft.com/office/officeart/2005/8/layout/lProcess2"/>
    <dgm:cxn modelId="{4F4E2B69-1B5A-409E-B60C-D88E04B72801}" srcId="{2EA9A78C-CFDF-4B26-B985-4FAE6A7572DB}" destId="{27CF52F8-390B-4F93-99F0-EE24CA28A5D3}" srcOrd="5" destOrd="0" parTransId="{0024C578-071A-49B5-97FC-EEE0672E1973}" sibTransId="{DFF24194-1053-45C0-A949-5CECB24558E3}"/>
    <dgm:cxn modelId="{E329164C-16C2-4941-BE5E-A7ED1F52C4AD}" type="presOf" srcId="{9CD5B48F-EA96-4E93-9C55-B691E0EEB4BE}" destId="{B2750A58-5500-4236-952F-43D6496632EF}" srcOrd="0" destOrd="0" presId="urn:microsoft.com/office/officeart/2005/8/layout/lProcess2"/>
    <dgm:cxn modelId="{25BEB74C-B75C-4869-9BEF-FD77E0D02ECC}" type="presOf" srcId="{DF8DB2F1-DDBC-4E66-A073-C8902E9F1048}" destId="{4BC01984-52F8-4A1E-9A10-C8A7D794AF1E}" srcOrd="0" destOrd="0" presId="urn:microsoft.com/office/officeart/2005/8/layout/lProcess2"/>
    <dgm:cxn modelId="{234AF74D-E847-4721-BE78-14645582E42B}" type="presOf" srcId="{DA5B42B7-E150-44F2-BE30-664109542346}" destId="{748F5384-8102-47D0-B840-E21E248D3893}" srcOrd="0" destOrd="0" presId="urn:microsoft.com/office/officeart/2005/8/layout/lProcess2"/>
    <dgm:cxn modelId="{4944046E-01E9-4AA8-9C6C-60AA15EA9B1D}" srcId="{33F1362F-2855-4441-A029-D243644002A4}" destId="{3703CD75-E22B-41E8-8788-DD3AA44A6505}" srcOrd="4" destOrd="0" parTransId="{B4FC0824-CD74-4633-A222-5328E0953544}" sibTransId="{A43E0800-08FF-43D8-B902-8EDD2FE6EF07}"/>
    <dgm:cxn modelId="{083A8C70-7521-4B6E-AAA3-1E3D3B9E31E6}" srcId="{33F1362F-2855-4441-A029-D243644002A4}" destId="{95A5151D-D2E7-43AA-A61C-430447AB6FBF}" srcOrd="3" destOrd="0" parTransId="{F78E152B-2F8F-40B0-A553-E04B12F0EA5C}" sibTransId="{0B334C80-BAB7-456F-B340-D5B8B5A15BB5}"/>
    <dgm:cxn modelId="{DEB96C71-E46A-43BA-8037-7FCCEEB3BB18}" type="presOf" srcId="{30057CF9-73EE-4F2E-BF15-A182AE07C38C}" destId="{5B1A8B2A-A21A-4E7E-8C0D-F3A52A458A78}" srcOrd="0" destOrd="0" presId="urn:microsoft.com/office/officeart/2005/8/layout/lProcess2"/>
    <dgm:cxn modelId="{45502373-C693-4A06-BD05-301C62E1E2AE}" srcId="{2EA9A78C-CFDF-4B26-B985-4FAE6A7572DB}" destId="{EC355119-997C-46D3-AF8B-FFCF9E3D9E77}" srcOrd="3" destOrd="0" parTransId="{8CB7CDBB-E664-4FDC-850B-FDACE871E0E3}" sibTransId="{22F09D50-78BA-4B6D-86E8-2DFB61FEAD72}"/>
    <dgm:cxn modelId="{4A164673-4D27-4080-9B59-28C4F79779EF}" type="presOf" srcId="{124771D6-EA45-4B39-8BD2-4BF92619E73C}" destId="{BF6299C4-1F09-4F2B-AA12-B83E5FC68D21}" srcOrd="0" destOrd="0" presId="urn:microsoft.com/office/officeart/2005/8/layout/lProcess2"/>
    <dgm:cxn modelId="{287D5556-8AB1-4043-898C-01C00B7DC868}" type="presOf" srcId="{EF276FDC-0984-43AF-94B4-29C747EBFDB7}" destId="{0443A66A-F2D6-4DEE-BB1C-869D739CC8E9}" srcOrd="0" destOrd="0" presId="urn:microsoft.com/office/officeart/2005/8/layout/lProcess2"/>
    <dgm:cxn modelId="{1FE4565A-73DC-4B36-A5CD-CB55DD1D5495}" srcId="{33F1362F-2855-4441-A029-D243644002A4}" destId="{B2830BBF-89E9-48FB-BCEB-587C562842C6}" srcOrd="1" destOrd="0" parTransId="{1D8DE897-0F4E-41C6-A4CA-67A6F105CDC5}" sibTransId="{4990281F-4E33-4268-9474-7004BBEFF01C}"/>
    <dgm:cxn modelId="{E079707B-C30D-4E57-8E04-F12B19F90A68}" type="presOf" srcId="{CAC7BED0-A353-4F47-AAA1-1ADC59FA13E5}" destId="{306AF65F-E4C8-4E2C-A5E1-067CBD247D7A}" srcOrd="0" destOrd="0" presId="urn:microsoft.com/office/officeart/2005/8/layout/lProcess2"/>
    <dgm:cxn modelId="{FFD05D7E-E541-43E9-9266-B2E82B83A67F}" srcId="{D7B17AE4-0CED-480F-9022-ACA76E59773B}" destId="{9BFDD588-5D40-4134-A77D-367E4F12D0D0}" srcOrd="1" destOrd="0" parTransId="{ED01C435-0212-43B7-8D7A-59F6AD34C3C9}" sibTransId="{520DD512-0768-4297-9AB6-FA3D32BE9A39}"/>
    <dgm:cxn modelId="{61983B85-DB86-457F-8376-F5B95642AB59}" type="presOf" srcId="{A02263B8-B0D3-4B09-89CB-62DBBA69892B}" destId="{B3BDD02F-C730-4688-A9FA-D318265D879F}" srcOrd="0" destOrd="0" presId="urn:microsoft.com/office/officeart/2005/8/layout/lProcess2"/>
    <dgm:cxn modelId="{89362986-B432-4C72-8C2C-0BBB70199ADE}" srcId="{B2CA673A-ADF7-41C9-8680-0EDD7011AE77}" destId="{A02263B8-B0D3-4B09-89CB-62DBBA69892B}" srcOrd="2" destOrd="0" parTransId="{567D6E2C-92C0-4B03-A9A2-A55124B1843F}" sibTransId="{25A81DF8-8A87-432A-B4F5-3EE38DD4CD05}"/>
    <dgm:cxn modelId="{8747DC8D-1856-4977-B708-23A5021649E6}" type="presOf" srcId="{40D72555-CA31-489D-A004-623B4B126740}" destId="{AA8874A7-E4E2-41D0-BB36-89EF0A40152A}" srcOrd="0" destOrd="0" presId="urn:microsoft.com/office/officeart/2005/8/layout/lProcess2"/>
    <dgm:cxn modelId="{9CDCAA8F-9D4B-4BDE-A272-3FD0A209D2E5}" type="presOf" srcId="{D7B17AE4-0CED-480F-9022-ACA76E59773B}" destId="{C57D1CC0-9EAA-49F0-A20F-8734838D9CB1}" srcOrd="1" destOrd="0" presId="urn:microsoft.com/office/officeart/2005/8/layout/lProcess2"/>
    <dgm:cxn modelId="{5B225690-1CEE-41A2-B151-3C3398893F88}" srcId="{DA5B42B7-E150-44F2-BE30-664109542346}" destId="{33F1362F-2855-4441-A029-D243644002A4}" srcOrd="2" destOrd="0" parTransId="{F9FABD39-D965-44E7-9646-7E34CCE54913}" sibTransId="{DB08A261-DFC6-47A1-9C1C-5506ABF4AB77}"/>
    <dgm:cxn modelId="{49CFAA96-B466-4A60-B86F-289A1CC52CE8}" type="presOf" srcId="{3C13D931-4B34-45CA-8BBD-4BE8E361E18A}" destId="{2A0E86E6-0BF2-4683-836E-D919645AF3A4}" srcOrd="0" destOrd="0" presId="urn:microsoft.com/office/officeart/2005/8/layout/lProcess2"/>
    <dgm:cxn modelId="{A8817A97-4004-490E-AAF2-29AAD5CDCC48}" type="presOf" srcId="{B2CA673A-ADF7-41C9-8680-0EDD7011AE77}" destId="{6ED8904B-8841-4F91-8815-68FD50945026}" srcOrd="0" destOrd="0" presId="urn:microsoft.com/office/officeart/2005/8/layout/lProcess2"/>
    <dgm:cxn modelId="{2574509B-274C-4D40-B5AE-A8A746B9C4B0}" type="presOf" srcId="{33F1362F-2855-4441-A029-D243644002A4}" destId="{02B4CA73-3604-42D8-8E7F-BC26523BA155}" srcOrd="0" destOrd="0" presId="urn:microsoft.com/office/officeart/2005/8/layout/lProcess2"/>
    <dgm:cxn modelId="{FEA7D2A2-0913-4096-A518-A9A868296420}" srcId="{D7B17AE4-0CED-480F-9022-ACA76E59773B}" destId="{E1944C2B-7436-4E32-9059-1A5E60829174}" srcOrd="2" destOrd="0" parTransId="{883EDC20-2984-4F67-A81F-F52B00D769E3}" sibTransId="{2E3678C3-9A98-439A-B7AF-5C060022FB53}"/>
    <dgm:cxn modelId="{E6388BAD-E606-4792-8D9C-03B38D23977E}" type="presOf" srcId="{D7B17AE4-0CED-480F-9022-ACA76E59773B}" destId="{39594A9B-7C7E-4136-82EC-1D15ED8E72C6}" srcOrd="0" destOrd="0" presId="urn:microsoft.com/office/officeart/2005/8/layout/lProcess2"/>
    <dgm:cxn modelId="{F8CD1DCD-BEB6-43BA-A89E-1CE1C7E0F636}" srcId="{DA5B42B7-E150-44F2-BE30-664109542346}" destId="{B2CA673A-ADF7-41C9-8680-0EDD7011AE77}" srcOrd="0" destOrd="0" parTransId="{D5E2B2C4-7115-4B39-8CA7-2DB805BAA25A}" sibTransId="{E4166977-C097-497B-AC96-96ED753960E9}"/>
    <dgm:cxn modelId="{E43879D8-744E-465A-B6B2-FBFF3CDE52A4}" type="presOf" srcId="{2EA9A78C-CFDF-4B26-B985-4FAE6A7572DB}" destId="{13655035-FC5A-41B0-849A-B1DD04927908}" srcOrd="1" destOrd="0" presId="urn:microsoft.com/office/officeart/2005/8/layout/lProcess2"/>
    <dgm:cxn modelId="{1F858BDE-179B-4A71-8765-6F80863640C2}" srcId="{DA5B42B7-E150-44F2-BE30-664109542346}" destId="{2EA9A78C-CFDF-4B26-B985-4FAE6A7572DB}" srcOrd="3" destOrd="0" parTransId="{6A30CEE2-6781-434F-9782-F9B4B72E4F1D}" sibTransId="{C77BADE1-0E2F-4BA6-BB57-B79A22164511}"/>
    <dgm:cxn modelId="{A6C4F1E3-319A-4FC6-B4C3-A6FB6D7813E6}" srcId="{B2CA673A-ADF7-41C9-8680-0EDD7011AE77}" destId="{124771D6-EA45-4B39-8BD2-4BF92619E73C}" srcOrd="0" destOrd="0" parTransId="{E101A181-CD61-4FD6-B043-965E2DF8F157}" sibTransId="{7ED77A3D-901E-498F-A80E-04EFC66F5462}"/>
    <dgm:cxn modelId="{F69E33E7-5A24-4093-822D-8B5C753F5845}" srcId="{B2CA673A-ADF7-41C9-8680-0EDD7011AE77}" destId="{EF276FDC-0984-43AF-94B4-29C747EBFDB7}" srcOrd="3" destOrd="0" parTransId="{4FA64A4A-556D-4963-93E2-3B6C9384E328}" sibTransId="{F176A784-64C4-4A13-9A62-4693F62E31D1}"/>
    <dgm:cxn modelId="{B0FA84EE-8AC9-4B15-939A-55E98CA42200}" type="presOf" srcId="{B2CA673A-ADF7-41C9-8680-0EDD7011AE77}" destId="{EE112F8D-528F-4DC3-8A76-AF1414A08282}" srcOrd="1" destOrd="0" presId="urn:microsoft.com/office/officeart/2005/8/layout/lProcess2"/>
    <dgm:cxn modelId="{88E2D3F9-A5B8-486B-9242-35052152485A}" srcId="{2EA9A78C-CFDF-4B26-B985-4FAE6A7572DB}" destId="{3E765566-E1FE-4D37-8606-DA43F39159DA}" srcOrd="2" destOrd="0" parTransId="{AD738896-9784-4D83-AC21-74F7E4C2B9B5}" sibTransId="{978D8DD7-BE89-4610-94E0-F57D6B9AC410}"/>
    <dgm:cxn modelId="{4FB781FB-4F09-4B91-9D44-F198E899C258}" type="presOf" srcId="{9BFDD588-5D40-4134-A77D-367E4F12D0D0}" destId="{66F1036F-750B-4779-BE7F-604598148F75}" srcOrd="0" destOrd="0" presId="urn:microsoft.com/office/officeart/2005/8/layout/lProcess2"/>
    <dgm:cxn modelId="{DAADABFC-AB24-4E85-8B26-C8C4C97E9D7B}" srcId="{D7B17AE4-0CED-480F-9022-ACA76E59773B}" destId="{CAC7BED0-A353-4F47-AAA1-1ADC59FA13E5}" srcOrd="0" destOrd="0" parTransId="{AC6BCEBD-2DC9-4550-AE1E-E6DA1BE3A3D3}" sibTransId="{F59114E1-1777-4E64-9F82-C0CE7C7671E9}"/>
    <dgm:cxn modelId="{ABC83112-4273-4C1A-96D5-B82ADDF42D48}" type="presParOf" srcId="{748F5384-8102-47D0-B840-E21E248D3893}" destId="{4A3C056D-E462-49CF-B3D5-9A9256825AD3}" srcOrd="0" destOrd="0" presId="urn:microsoft.com/office/officeart/2005/8/layout/lProcess2"/>
    <dgm:cxn modelId="{DC002B49-B791-44C1-8A10-6B7F9669F662}" type="presParOf" srcId="{4A3C056D-E462-49CF-B3D5-9A9256825AD3}" destId="{6ED8904B-8841-4F91-8815-68FD50945026}" srcOrd="0" destOrd="0" presId="urn:microsoft.com/office/officeart/2005/8/layout/lProcess2"/>
    <dgm:cxn modelId="{320A204D-0F94-4911-B8B7-AEFAE1A59FF2}" type="presParOf" srcId="{4A3C056D-E462-49CF-B3D5-9A9256825AD3}" destId="{EE112F8D-528F-4DC3-8A76-AF1414A08282}" srcOrd="1" destOrd="0" presId="urn:microsoft.com/office/officeart/2005/8/layout/lProcess2"/>
    <dgm:cxn modelId="{10326A1A-C1F7-492E-AFD5-D1112398FB45}" type="presParOf" srcId="{4A3C056D-E462-49CF-B3D5-9A9256825AD3}" destId="{BB3CB959-3353-49D5-9F74-5A54A45EE944}" srcOrd="2" destOrd="0" presId="urn:microsoft.com/office/officeart/2005/8/layout/lProcess2"/>
    <dgm:cxn modelId="{EE6AF2EF-A43B-4477-B98B-FC810CECD375}" type="presParOf" srcId="{BB3CB959-3353-49D5-9F74-5A54A45EE944}" destId="{87429EFC-A892-418F-89F6-F64C2EE9D74D}" srcOrd="0" destOrd="0" presId="urn:microsoft.com/office/officeart/2005/8/layout/lProcess2"/>
    <dgm:cxn modelId="{14BDA412-DF24-4F10-9C21-A73A0326F647}" type="presParOf" srcId="{87429EFC-A892-418F-89F6-F64C2EE9D74D}" destId="{BF6299C4-1F09-4F2B-AA12-B83E5FC68D21}" srcOrd="0" destOrd="0" presId="urn:microsoft.com/office/officeart/2005/8/layout/lProcess2"/>
    <dgm:cxn modelId="{9B75E7BC-C0C6-4840-8890-3D7C242F579A}" type="presParOf" srcId="{87429EFC-A892-418F-89F6-F64C2EE9D74D}" destId="{2A413D6A-6CD3-4AD9-B8B5-147C14029E9E}" srcOrd="1" destOrd="0" presId="urn:microsoft.com/office/officeart/2005/8/layout/lProcess2"/>
    <dgm:cxn modelId="{F277E9C0-4E53-4898-AC4F-D4D025E6B52C}" type="presParOf" srcId="{87429EFC-A892-418F-89F6-F64C2EE9D74D}" destId="{B2750A58-5500-4236-952F-43D6496632EF}" srcOrd="2" destOrd="0" presId="urn:microsoft.com/office/officeart/2005/8/layout/lProcess2"/>
    <dgm:cxn modelId="{516C27CB-ADE8-40FF-80F8-A190A324615B}" type="presParOf" srcId="{87429EFC-A892-418F-89F6-F64C2EE9D74D}" destId="{A0752889-EDE4-4CA4-8A27-706CA0BF6E53}" srcOrd="3" destOrd="0" presId="urn:microsoft.com/office/officeart/2005/8/layout/lProcess2"/>
    <dgm:cxn modelId="{704C879E-1726-45BA-9DBF-32CAD9C8BFD5}" type="presParOf" srcId="{87429EFC-A892-418F-89F6-F64C2EE9D74D}" destId="{B3BDD02F-C730-4688-A9FA-D318265D879F}" srcOrd="4" destOrd="0" presId="urn:microsoft.com/office/officeart/2005/8/layout/lProcess2"/>
    <dgm:cxn modelId="{937DE5C3-72A8-44F5-8A4B-6F8E3D4BF15E}" type="presParOf" srcId="{87429EFC-A892-418F-89F6-F64C2EE9D74D}" destId="{1ED75AA0-0565-4A12-BF09-F025AA3A9722}" srcOrd="5" destOrd="0" presId="urn:microsoft.com/office/officeart/2005/8/layout/lProcess2"/>
    <dgm:cxn modelId="{C094CEE6-178D-46B0-B8B1-C741DF15485D}" type="presParOf" srcId="{87429EFC-A892-418F-89F6-F64C2EE9D74D}" destId="{0443A66A-F2D6-4DEE-BB1C-869D739CC8E9}" srcOrd="6" destOrd="0" presId="urn:microsoft.com/office/officeart/2005/8/layout/lProcess2"/>
    <dgm:cxn modelId="{D30F51B4-3DCE-47F4-9F4C-4F7FC2547685}" type="presParOf" srcId="{748F5384-8102-47D0-B840-E21E248D3893}" destId="{7FFA3ABA-56B2-40E0-B8DD-5E1BE0F3C67B}" srcOrd="1" destOrd="0" presId="urn:microsoft.com/office/officeart/2005/8/layout/lProcess2"/>
    <dgm:cxn modelId="{6FE7067E-4AA8-4850-93DE-4DBF052D8F42}" type="presParOf" srcId="{748F5384-8102-47D0-B840-E21E248D3893}" destId="{C2A8BC83-8B22-4E35-9C36-D62135049659}" srcOrd="2" destOrd="0" presId="urn:microsoft.com/office/officeart/2005/8/layout/lProcess2"/>
    <dgm:cxn modelId="{E53BE98E-7A30-4EE3-8376-CEC5DFEC3D82}" type="presParOf" srcId="{C2A8BC83-8B22-4E35-9C36-D62135049659}" destId="{39594A9B-7C7E-4136-82EC-1D15ED8E72C6}" srcOrd="0" destOrd="0" presId="urn:microsoft.com/office/officeart/2005/8/layout/lProcess2"/>
    <dgm:cxn modelId="{50FF4CDE-04F2-490C-9979-19DF5BB81E58}" type="presParOf" srcId="{C2A8BC83-8B22-4E35-9C36-D62135049659}" destId="{C57D1CC0-9EAA-49F0-A20F-8734838D9CB1}" srcOrd="1" destOrd="0" presId="urn:microsoft.com/office/officeart/2005/8/layout/lProcess2"/>
    <dgm:cxn modelId="{3FD756F5-1C25-47FA-AF17-C1A59D5DBF95}" type="presParOf" srcId="{C2A8BC83-8B22-4E35-9C36-D62135049659}" destId="{817C979A-1E81-4EF4-A764-30C69A788668}" srcOrd="2" destOrd="0" presId="urn:microsoft.com/office/officeart/2005/8/layout/lProcess2"/>
    <dgm:cxn modelId="{21C2A1A5-E92C-48E8-8111-318777A5D803}" type="presParOf" srcId="{817C979A-1E81-4EF4-A764-30C69A788668}" destId="{71558B3D-DE1C-4F97-BECF-C1D1918F5A2A}" srcOrd="0" destOrd="0" presId="urn:microsoft.com/office/officeart/2005/8/layout/lProcess2"/>
    <dgm:cxn modelId="{FBC3A462-CDCA-420A-A412-E238DE3EAE0D}" type="presParOf" srcId="{71558B3D-DE1C-4F97-BECF-C1D1918F5A2A}" destId="{306AF65F-E4C8-4E2C-A5E1-067CBD247D7A}" srcOrd="0" destOrd="0" presId="urn:microsoft.com/office/officeart/2005/8/layout/lProcess2"/>
    <dgm:cxn modelId="{66AF0204-A006-4623-A331-9CD91B9A5FC9}" type="presParOf" srcId="{71558B3D-DE1C-4F97-BECF-C1D1918F5A2A}" destId="{C7AA2494-624B-4ECD-A34D-6AFFD656EAF6}" srcOrd="1" destOrd="0" presId="urn:microsoft.com/office/officeart/2005/8/layout/lProcess2"/>
    <dgm:cxn modelId="{CFBDDFF3-E3E1-4005-B8FA-EE64E6FEA034}" type="presParOf" srcId="{71558B3D-DE1C-4F97-BECF-C1D1918F5A2A}" destId="{66F1036F-750B-4779-BE7F-604598148F75}" srcOrd="2" destOrd="0" presId="urn:microsoft.com/office/officeart/2005/8/layout/lProcess2"/>
    <dgm:cxn modelId="{1711AB7F-95C0-435F-846A-E0E09C17829C}" type="presParOf" srcId="{71558B3D-DE1C-4F97-BECF-C1D1918F5A2A}" destId="{D41FD62F-7CBD-4B62-9621-2E324AE21CDF}" srcOrd="3" destOrd="0" presId="urn:microsoft.com/office/officeart/2005/8/layout/lProcess2"/>
    <dgm:cxn modelId="{ABA7C67E-8385-45CD-AE90-1DAA8D0C4F68}" type="presParOf" srcId="{71558B3D-DE1C-4F97-BECF-C1D1918F5A2A}" destId="{19A096F5-EC83-4091-870D-46D5F775F102}" srcOrd="4" destOrd="0" presId="urn:microsoft.com/office/officeart/2005/8/layout/lProcess2"/>
    <dgm:cxn modelId="{FCC84F6A-08B5-488C-809E-57FB30943C84}" type="presParOf" srcId="{748F5384-8102-47D0-B840-E21E248D3893}" destId="{E1BBD6DD-62BF-4B9D-A83E-7B1D062AC541}" srcOrd="3" destOrd="0" presId="urn:microsoft.com/office/officeart/2005/8/layout/lProcess2"/>
    <dgm:cxn modelId="{5F8DAE00-0704-4E64-BC5B-9011CAF59C9A}" type="presParOf" srcId="{748F5384-8102-47D0-B840-E21E248D3893}" destId="{DA2737CB-EBEF-429D-9E30-FFD223E15FE7}" srcOrd="4" destOrd="0" presId="urn:microsoft.com/office/officeart/2005/8/layout/lProcess2"/>
    <dgm:cxn modelId="{6EBC0587-F225-4565-B323-DDD7F9FE2230}" type="presParOf" srcId="{DA2737CB-EBEF-429D-9E30-FFD223E15FE7}" destId="{02B4CA73-3604-42D8-8E7F-BC26523BA155}" srcOrd="0" destOrd="0" presId="urn:microsoft.com/office/officeart/2005/8/layout/lProcess2"/>
    <dgm:cxn modelId="{EE456C15-9C46-4677-AF8E-6D1210473B73}" type="presParOf" srcId="{DA2737CB-EBEF-429D-9E30-FFD223E15FE7}" destId="{A647B452-AF5F-411A-A599-A00D7A831AA7}" srcOrd="1" destOrd="0" presId="urn:microsoft.com/office/officeart/2005/8/layout/lProcess2"/>
    <dgm:cxn modelId="{9DF86CB5-A1F2-44E8-B3F2-D446ADAB1CCC}" type="presParOf" srcId="{DA2737CB-EBEF-429D-9E30-FFD223E15FE7}" destId="{5B3F6313-3384-487D-BEEA-F2F585F344C9}" srcOrd="2" destOrd="0" presId="urn:microsoft.com/office/officeart/2005/8/layout/lProcess2"/>
    <dgm:cxn modelId="{D9E7B2EF-7A2A-4469-BC73-DAF0FEA25FFE}" type="presParOf" srcId="{5B3F6313-3384-487D-BEEA-F2F585F344C9}" destId="{41292B08-07FB-48D5-A52D-354B4B0CE9B8}" srcOrd="0" destOrd="0" presId="urn:microsoft.com/office/officeart/2005/8/layout/lProcess2"/>
    <dgm:cxn modelId="{F5FA5499-1117-48D3-A0B0-6B79FD469DC7}" type="presParOf" srcId="{41292B08-07FB-48D5-A52D-354B4B0CE9B8}" destId="{2A0E86E6-0BF2-4683-836E-D919645AF3A4}" srcOrd="0" destOrd="0" presId="urn:microsoft.com/office/officeart/2005/8/layout/lProcess2"/>
    <dgm:cxn modelId="{38ED1344-10EB-4F56-A225-E217F37F5CBA}" type="presParOf" srcId="{41292B08-07FB-48D5-A52D-354B4B0CE9B8}" destId="{9F09F0D3-A592-4C86-BDCA-627BC3458FBA}" srcOrd="1" destOrd="0" presId="urn:microsoft.com/office/officeart/2005/8/layout/lProcess2"/>
    <dgm:cxn modelId="{11E85AAC-EE33-4695-991B-F358E37CFABF}" type="presParOf" srcId="{41292B08-07FB-48D5-A52D-354B4B0CE9B8}" destId="{661053F2-D235-4C0C-B2B9-533025FE61E4}" srcOrd="2" destOrd="0" presId="urn:microsoft.com/office/officeart/2005/8/layout/lProcess2"/>
    <dgm:cxn modelId="{3D492395-1E04-4DB5-B771-EBE90CCC87F2}" type="presParOf" srcId="{41292B08-07FB-48D5-A52D-354B4B0CE9B8}" destId="{6213FA86-E7DA-41FB-800E-94114CEDEE01}" srcOrd="3" destOrd="0" presId="urn:microsoft.com/office/officeart/2005/8/layout/lProcess2"/>
    <dgm:cxn modelId="{9076F2C8-A507-4E53-9985-B8F1E8EE69CE}" type="presParOf" srcId="{41292B08-07FB-48D5-A52D-354B4B0CE9B8}" destId="{AA8874A7-E4E2-41D0-BB36-89EF0A40152A}" srcOrd="4" destOrd="0" presId="urn:microsoft.com/office/officeart/2005/8/layout/lProcess2"/>
    <dgm:cxn modelId="{A8C6FADA-7627-4348-A9CC-7D65AD310741}" type="presParOf" srcId="{41292B08-07FB-48D5-A52D-354B4B0CE9B8}" destId="{193CC0CF-55A4-4FB7-A426-F65E5888D551}" srcOrd="5" destOrd="0" presId="urn:microsoft.com/office/officeart/2005/8/layout/lProcess2"/>
    <dgm:cxn modelId="{C1C83321-2458-45F0-B29E-DD693C59946F}" type="presParOf" srcId="{41292B08-07FB-48D5-A52D-354B4B0CE9B8}" destId="{846ECC95-0251-4FB6-9A84-7623AD29FDA9}" srcOrd="6" destOrd="0" presId="urn:microsoft.com/office/officeart/2005/8/layout/lProcess2"/>
    <dgm:cxn modelId="{120BA9D0-F392-4597-858D-6503B2ED1D1E}" type="presParOf" srcId="{41292B08-07FB-48D5-A52D-354B4B0CE9B8}" destId="{EEA87821-6DFA-4603-A68D-1AFC966369E0}" srcOrd="7" destOrd="0" presId="urn:microsoft.com/office/officeart/2005/8/layout/lProcess2"/>
    <dgm:cxn modelId="{55B8C0EA-1C05-415C-8772-A0B9ED708244}" type="presParOf" srcId="{41292B08-07FB-48D5-A52D-354B4B0CE9B8}" destId="{54E20A71-C8E0-4CC2-B95F-ED382FA3E0F3}" srcOrd="8" destOrd="0" presId="urn:microsoft.com/office/officeart/2005/8/layout/lProcess2"/>
    <dgm:cxn modelId="{8137AA69-53A6-48F5-B0CD-CECECD750D12}" type="presParOf" srcId="{41292B08-07FB-48D5-A52D-354B4B0CE9B8}" destId="{B2AA3C08-16EE-466B-9725-E72FD07D47F4}" srcOrd="9" destOrd="0" presId="urn:microsoft.com/office/officeart/2005/8/layout/lProcess2"/>
    <dgm:cxn modelId="{86E5EBC4-2349-40A0-9F87-D1DF22BA4824}" type="presParOf" srcId="{41292B08-07FB-48D5-A52D-354B4B0CE9B8}" destId="{051E70FD-4003-40FA-AD15-24947C65ABD3}" srcOrd="10" destOrd="0" presId="urn:microsoft.com/office/officeart/2005/8/layout/lProcess2"/>
    <dgm:cxn modelId="{D4177D1C-7C3F-479C-9D56-3B743BCFF299}" type="presParOf" srcId="{41292B08-07FB-48D5-A52D-354B4B0CE9B8}" destId="{A1A8B2B3-6A54-4E4B-B814-B316C021778F}" srcOrd="11" destOrd="0" presId="urn:microsoft.com/office/officeart/2005/8/layout/lProcess2"/>
    <dgm:cxn modelId="{6D15E13E-35A4-46D3-9CD2-366C66E4F584}" type="presParOf" srcId="{41292B08-07FB-48D5-A52D-354B4B0CE9B8}" destId="{B0538E94-BEAD-4B3D-818E-94F63F384897}" srcOrd="12" destOrd="0" presId="urn:microsoft.com/office/officeart/2005/8/layout/lProcess2"/>
    <dgm:cxn modelId="{78C95A85-803E-4513-A8F7-96AF38A41F77}" type="presParOf" srcId="{748F5384-8102-47D0-B840-E21E248D3893}" destId="{2374A28B-376B-41C7-A2E5-1B0BA1E76A51}" srcOrd="5" destOrd="0" presId="urn:microsoft.com/office/officeart/2005/8/layout/lProcess2"/>
    <dgm:cxn modelId="{7900DFC0-4323-4818-BC00-2D06ACE48348}" type="presParOf" srcId="{748F5384-8102-47D0-B840-E21E248D3893}" destId="{5CDCE615-1A5C-4F07-BD7C-6909CD4BE82D}" srcOrd="6" destOrd="0" presId="urn:microsoft.com/office/officeart/2005/8/layout/lProcess2"/>
    <dgm:cxn modelId="{98A75290-888E-4153-9993-17D2B72BED26}" type="presParOf" srcId="{5CDCE615-1A5C-4F07-BD7C-6909CD4BE82D}" destId="{86FEB584-39F5-4DF0-8DB1-1FB7AB60E06E}" srcOrd="0" destOrd="0" presId="urn:microsoft.com/office/officeart/2005/8/layout/lProcess2"/>
    <dgm:cxn modelId="{B4E9A6A9-4B4C-4FAE-A545-99BA5B634478}" type="presParOf" srcId="{5CDCE615-1A5C-4F07-BD7C-6909CD4BE82D}" destId="{13655035-FC5A-41B0-849A-B1DD04927908}" srcOrd="1" destOrd="0" presId="urn:microsoft.com/office/officeart/2005/8/layout/lProcess2"/>
    <dgm:cxn modelId="{B555705A-CF1B-48D1-9DE4-DDEDCAE54397}" type="presParOf" srcId="{5CDCE615-1A5C-4F07-BD7C-6909CD4BE82D}" destId="{86DBEC56-6AC7-47E5-9CA0-9B14D969D0CD}" srcOrd="2" destOrd="0" presId="urn:microsoft.com/office/officeart/2005/8/layout/lProcess2"/>
    <dgm:cxn modelId="{298F9C3D-04F7-45B2-8583-1D7A17AC459A}" type="presParOf" srcId="{86DBEC56-6AC7-47E5-9CA0-9B14D969D0CD}" destId="{E1F63065-BC35-49D3-A2FB-E15F9A15B57D}" srcOrd="0" destOrd="0" presId="urn:microsoft.com/office/officeart/2005/8/layout/lProcess2"/>
    <dgm:cxn modelId="{C1FFB5C1-6B68-4990-9FA8-932611B16C95}" type="presParOf" srcId="{E1F63065-BC35-49D3-A2FB-E15F9A15B57D}" destId="{5B1A8B2A-A21A-4E7E-8C0D-F3A52A458A78}" srcOrd="0" destOrd="0" presId="urn:microsoft.com/office/officeart/2005/8/layout/lProcess2"/>
    <dgm:cxn modelId="{3ED8F5C8-31D1-4C86-B00B-E07BD366C64A}" type="presParOf" srcId="{E1F63065-BC35-49D3-A2FB-E15F9A15B57D}" destId="{46D89FF4-BC85-42AD-841C-4BD436CAA800}" srcOrd="1" destOrd="0" presId="urn:microsoft.com/office/officeart/2005/8/layout/lProcess2"/>
    <dgm:cxn modelId="{77C67D17-1F64-496D-BEA8-78DE9EBCFCAF}" type="presParOf" srcId="{E1F63065-BC35-49D3-A2FB-E15F9A15B57D}" destId="{D5A0FF26-1011-421C-A824-10BD7E9F0DE3}" srcOrd="2" destOrd="0" presId="urn:microsoft.com/office/officeart/2005/8/layout/lProcess2"/>
    <dgm:cxn modelId="{C7AC9286-0159-438C-ABDC-9F1E8E1298D1}" type="presParOf" srcId="{E1F63065-BC35-49D3-A2FB-E15F9A15B57D}" destId="{BBF1AE2C-1981-44A2-8A67-4F45BAA5912F}" srcOrd="3" destOrd="0" presId="urn:microsoft.com/office/officeart/2005/8/layout/lProcess2"/>
    <dgm:cxn modelId="{3DB0F6A0-625D-406B-B13D-BC075A93F5D4}" type="presParOf" srcId="{E1F63065-BC35-49D3-A2FB-E15F9A15B57D}" destId="{38AA2610-5EEA-4E4B-B228-C14FDCB908E6}" srcOrd="4" destOrd="0" presId="urn:microsoft.com/office/officeart/2005/8/layout/lProcess2"/>
    <dgm:cxn modelId="{A60E6A35-0856-4B08-849A-C032FBFE4ED3}" type="presParOf" srcId="{E1F63065-BC35-49D3-A2FB-E15F9A15B57D}" destId="{3E061665-EBEA-43B0-A0C7-68EFF577007D}" srcOrd="5" destOrd="0" presId="urn:microsoft.com/office/officeart/2005/8/layout/lProcess2"/>
    <dgm:cxn modelId="{FB4F1B89-E206-4B3A-9570-49F2823CE870}" type="presParOf" srcId="{E1F63065-BC35-49D3-A2FB-E15F9A15B57D}" destId="{7E6DBA65-FEBE-4293-9023-3CFC3D8D72B5}" srcOrd="6" destOrd="0" presId="urn:microsoft.com/office/officeart/2005/8/layout/lProcess2"/>
    <dgm:cxn modelId="{6E8A0E5D-B6C3-48A4-A174-96F0C5BCE103}" type="presParOf" srcId="{E1F63065-BC35-49D3-A2FB-E15F9A15B57D}" destId="{A67B47C0-BED3-477B-92DD-8E267D9CA2D1}" srcOrd="7" destOrd="0" presId="urn:microsoft.com/office/officeart/2005/8/layout/lProcess2"/>
    <dgm:cxn modelId="{B5C30F5A-E7F7-4F15-A4AE-0C79F1BB1AA3}" type="presParOf" srcId="{E1F63065-BC35-49D3-A2FB-E15F9A15B57D}" destId="{4BC01984-52F8-4A1E-9A10-C8A7D794AF1E}" srcOrd="8" destOrd="0" presId="urn:microsoft.com/office/officeart/2005/8/layout/lProcess2"/>
    <dgm:cxn modelId="{4CD8C08C-626E-45EC-9FAF-C3BE8EBB92F0}" type="presParOf" srcId="{E1F63065-BC35-49D3-A2FB-E15F9A15B57D}" destId="{E14E12BF-90DB-417D-8F36-A8F80EB68513}" srcOrd="9" destOrd="0" presId="urn:microsoft.com/office/officeart/2005/8/layout/lProcess2"/>
    <dgm:cxn modelId="{C1966536-B901-4BF6-A3E8-6A7285A88A8A}" type="presParOf" srcId="{E1F63065-BC35-49D3-A2FB-E15F9A15B57D}" destId="{2DA380B9-5375-4E2D-8414-F00495E5E8E8}" srcOrd="1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8DE3A3-D5C8-4962-B2E5-05E321362732}" type="doc">
      <dgm:prSet loTypeId="urn:microsoft.com/office/officeart/2005/8/layout/cycle5" loCatId="cycle" qsTypeId="urn:microsoft.com/office/officeart/2005/8/quickstyle/simple2" qsCatId="simple" csTypeId="urn:microsoft.com/office/officeart/2005/8/colors/accent1_2" csCatId="accent1" phldr="1"/>
      <dgm:spPr/>
      <dgm:t>
        <a:bodyPr/>
        <a:lstStyle/>
        <a:p>
          <a:endParaRPr lang="en-US"/>
        </a:p>
      </dgm:t>
    </dgm:pt>
    <dgm:pt modelId="{CA2F1B0D-362F-4FD8-9F0A-C7A90C8EE667}">
      <dgm:prSet phldrT="[Text]" custT="1"/>
      <dgm:spPr/>
      <dgm:t>
        <a:bodyPr/>
        <a:lstStyle/>
        <a:p>
          <a:r>
            <a:rPr lang="en-US" sz="900" b="1"/>
            <a:t>(1) </a:t>
          </a:r>
        </a:p>
        <a:p>
          <a:r>
            <a:rPr lang="en-US" sz="900" b="1"/>
            <a:t>Data Engineering &amp; Preparation</a:t>
          </a:r>
        </a:p>
      </dgm:t>
    </dgm:pt>
    <dgm:pt modelId="{A9677041-16D0-4B2E-909C-48EFB5120A43}" type="parTrans" cxnId="{C3C27E61-7C7D-41E3-832F-608A14D8A62F}">
      <dgm:prSet/>
      <dgm:spPr/>
      <dgm:t>
        <a:bodyPr/>
        <a:lstStyle/>
        <a:p>
          <a:endParaRPr lang="en-US" sz="1400" b="1"/>
        </a:p>
      </dgm:t>
    </dgm:pt>
    <dgm:pt modelId="{D76B0BDD-24E6-4601-9447-541FF8BDBC35}" type="sibTrans" cxnId="{C3C27E61-7C7D-41E3-832F-608A14D8A62F}">
      <dgm:prSet/>
      <dgm:spPr/>
      <dgm:t>
        <a:bodyPr/>
        <a:lstStyle/>
        <a:p>
          <a:endParaRPr lang="en-US" sz="1400" b="1"/>
        </a:p>
      </dgm:t>
    </dgm:pt>
    <dgm:pt modelId="{A77379E2-E7C9-443D-824E-2D12D459D0E9}">
      <dgm:prSet phldrT="[Text]" custT="1"/>
      <dgm:spPr/>
      <dgm:t>
        <a:bodyPr/>
        <a:lstStyle/>
        <a:p>
          <a:r>
            <a:rPr lang="en-US" sz="900" b="1"/>
            <a:t>(3)</a:t>
          </a:r>
        </a:p>
        <a:p>
          <a:r>
            <a:rPr lang="en-US" sz="900" b="1"/>
            <a:t>Model Validation and Testing</a:t>
          </a:r>
        </a:p>
      </dgm:t>
    </dgm:pt>
    <dgm:pt modelId="{1F2C0AEE-A867-49A2-A27C-DC1185E931B7}" type="parTrans" cxnId="{304E4916-F20B-4A14-9ADD-D874EEED3A04}">
      <dgm:prSet/>
      <dgm:spPr/>
      <dgm:t>
        <a:bodyPr/>
        <a:lstStyle/>
        <a:p>
          <a:endParaRPr lang="en-US" sz="1400" b="1"/>
        </a:p>
      </dgm:t>
    </dgm:pt>
    <dgm:pt modelId="{4183039E-1AD8-4EFD-A6FC-8705A458C335}" type="sibTrans" cxnId="{304E4916-F20B-4A14-9ADD-D874EEED3A04}">
      <dgm:prSet/>
      <dgm:spPr/>
      <dgm:t>
        <a:bodyPr/>
        <a:lstStyle/>
        <a:p>
          <a:endParaRPr lang="en-US" sz="1400" b="1"/>
        </a:p>
      </dgm:t>
    </dgm:pt>
    <dgm:pt modelId="{F4488957-4445-40BC-B727-D77D3AC7645A}">
      <dgm:prSet phldrT="[Text]" custT="1"/>
      <dgm:spPr/>
      <dgm:t>
        <a:bodyPr/>
        <a:lstStyle/>
        <a:p>
          <a:r>
            <a:rPr lang="en-US" sz="900" b="1"/>
            <a:t>(4)</a:t>
          </a:r>
        </a:p>
        <a:p>
          <a:r>
            <a:rPr lang="en-US" sz="900" b="1"/>
            <a:t>Model Deployment and Operation</a:t>
          </a:r>
        </a:p>
      </dgm:t>
    </dgm:pt>
    <dgm:pt modelId="{1D379002-27DB-40A6-9426-2F8FD4F12FAD}" type="parTrans" cxnId="{055B697B-1E33-41EE-96C6-4A7D3E0D6661}">
      <dgm:prSet/>
      <dgm:spPr/>
      <dgm:t>
        <a:bodyPr/>
        <a:lstStyle/>
        <a:p>
          <a:endParaRPr lang="en-US" sz="1400" b="1"/>
        </a:p>
      </dgm:t>
    </dgm:pt>
    <dgm:pt modelId="{841DA239-58D6-4564-BE12-11AD637B9B6A}" type="sibTrans" cxnId="{055B697B-1E33-41EE-96C6-4A7D3E0D6661}">
      <dgm:prSet/>
      <dgm:spPr/>
      <dgm:t>
        <a:bodyPr/>
        <a:lstStyle/>
        <a:p>
          <a:endParaRPr lang="en-US" sz="1400" b="1"/>
        </a:p>
      </dgm:t>
    </dgm:pt>
    <dgm:pt modelId="{7C84C9F0-643C-4000-828F-0BBA6225FEF4}">
      <dgm:prSet phldrT="[Text]" custT="1"/>
      <dgm:spPr/>
      <dgm:t>
        <a:bodyPr/>
        <a:lstStyle/>
        <a:p>
          <a:r>
            <a:rPr lang="en-US" sz="900" b="1"/>
            <a:t>(5) </a:t>
          </a:r>
        </a:p>
        <a:p>
          <a:r>
            <a:rPr lang="en-US" sz="900" b="1"/>
            <a:t>Model Monitoring and Maintenance</a:t>
          </a:r>
        </a:p>
      </dgm:t>
    </dgm:pt>
    <dgm:pt modelId="{3E2BE8D1-51DD-4111-8249-93216DE88749}" type="parTrans" cxnId="{1CDD0771-10AF-44FE-91C6-3931ACB2EF12}">
      <dgm:prSet/>
      <dgm:spPr/>
      <dgm:t>
        <a:bodyPr/>
        <a:lstStyle/>
        <a:p>
          <a:endParaRPr lang="en-US" sz="1400" b="1"/>
        </a:p>
      </dgm:t>
    </dgm:pt>
    <dgm:pt modelId="{9A1CDCC3-9C7D-43D5-A343-C952B3B4E903}" type="sibTrans" cxnId="{1CDD0771-10AF-44FE-91C6-3931ACB2EF12}">
      <dgm:prSet/>
      <dgm:spPr/>
      <dgm:t>
        <a:bodyPr/>
        <a:lstStyle/>
        <a:p>
          <a:endParaRPr lang="en-US" sz="1400" b="1"/>
        </a:p>
      </dgm:t>
    </dgm:pt>
    <dgm:pt modelId="{DDA06048-353B-4AE8-902B-B3CAAB40774B}">
      <dgm:prSet phldrT="[Text]" custT="1"/>
      <dgm:spPr/>
      <dgm:t>
        <a:bodyPr/>
        <a:lstStyle/>
        <a:p>
          <a:r>
            <a:rPr lang="en-US" sz="900" b="1"/>
            <a:t>(6) </a:t>
          </a:r>
        </a:p>
        <a:p>
          <a:r>
            <a:rPr lang="en-US" sz="900" b="1"/>
            <a:t>Model Governance and Compliance</a:t>
          </a:r>
        </a:p>
      </dgm:t>
    </dgm:pt>
    <dgm:pt modelId="{E61D537F-E9DC-4874-8514-FBFA0AACC79F}" type="parTrans" cxnId="{1637F76C-C500-49CB-87DD-BA463AD92B5E}">
      <dgm:prSet/>
      <dgm:spPr/>
      <dgm:t>
        <a:bodyPr/>
        <a:lstStyle/>
        <a:p>
          <a:endParaRPr lang="en-US" sz="1400" b="1"/>
        </a:p>
      </dgm:t>
    </dgm:pt>
    <dgm:pt modelId="{FC4129BD-7AB5-4D0D-BFF6-2A8FD1376FD9}" type="sibTrans" cxnId="{1637F76C-C500-49CB-87DD-BA463AD92B5E}">
      <dgm:prSet/>
      <dgm:spPr/>
      <dgm:t>
        <a:bodyPr/>
        <a:lstStyle/>
        <a:p>
          <a:endParaRPr lang="en-US" sz="1400" b="1"/>
        </a:p>
      </dgm:t>
    </dgm:pt>
    <dgm:pt modelId="{98EEC427-9238-4887-B41D-6AB6AA794E40}">
      <dgm:prSet phldrT="[Text]" custT="1"/>
      <dgm:spPr/>
      <dgm:t>
        <a:bodyPr/>
        <a:lstStyle/>
        <a:p>
          <a:r>
            <a:rPr lang="en-US" sz="900" b="1"/>
            <a:t>(2) </a:t>
          </a:r>
        </a:p>
        <a:p>
          <a:r>
            <a:rPr lang="en-US" sz="900" b="1"/>
            <a:t>Model Development and Training</a:t>
          </a:r>
        </a:p>
      </dgm:t>
    </dgm:pt>
    <dgm:pt modelId="{99D8ECB3-09D9-47D3-A82B-93B735E15B8E}" type="parTrans" cxnId="{6478485A-E892-49AA-B1C2-B1C28B380C0C}">
      <dgm:prSet/>
      <dgm:spPr/>
      <dgm:t>
        <a:bodyPr/>
        <a:lstStyle/>
        <a:p>
          <a:endParaRPr lang="en-US"/>
        </a:p>
      </dgm:t>
    </dgm:pt>
    <dgm:pt modelId="{9BDA49D4-3C2C-4744-81A7-86647226C54C}" type="sibTrans" cxnId="{6478485A-E892-49AA-B1C2-B1C28B380C0C}">
      <dgm:prSet/>
      <dgm:spPr/>
      <dgm:t>
        <a:bodyPr/>
        <a:lstStyle/>
        <a:p>
          <a:endParaRPr lang="en-US"/>
        </a:p>
      </dgm:t>
    </dgm:pt>
    <dgm:pt modelId="{9444EC2E-38A8-423B-93E9-54E83BBF9B62}" type="pres">
      <dgm:prSet presAssocID="{248DE3A3-D5C8-4962-B2E5-05E321362732}" presName="cycle" presStyleCnt="0">
        <dgm:presLayoutVars>
          <dgm:dir/>
          <dgm:resizeHandles val="exact"/>
        </dgm:presLayoutVars>
      </dgm:prSet>
      <dgm:spPr/>
    </dgm:pt>
    <dgm:pt modelId="{E3CA0378-808F-4E2C-8388-DACEC2AA97A2}" type="pres">
      <dgm:prSet presAssocID="{CA2F1B0D-362F-4FD8-9F0A-C7A90C8EE667}" presName="node" presStyleLbl="node1" presStyleIdx="0" presStyleCnt="6">
        <dgm:presLayoutVars>
          <dgm:bulletEnabled val="1"/>
        </dgm:presLayoutVars>
      </dgm:prSet>
      <dgm:spPr/>
    </dgm:pt>
    <dgm:pt modelId="{23F62200-738A-4D38-AA2D-CCFAE064C220}" type="pres">
      <dgm:prSet presAssocID="{CA2F1B0D-362F-4FD8-9F0A-C7A90C8EE667}" presName="spNode" presStyleCnt="0"/>
      <dgm:spPr/>
    </dgm:pt>
    <dgm:pt modelId="{ED6DAA05-56A7-4B0A-8F91-2B30E7DA8E48}" type="pres">
      <dgm:prSet presAssocID="{D76B0BDD-24E6-4601-9447-541FF8BDBC35}" presName="sibTrans" presStyleLbl="sibTrans1D1" presStyleIdx="0" presStyleCnt="6"/>
      <dgm:spPr/>
    </dgm:pt>
    <dgm:pt modelId="{2C5C6691-12CC-4146-908D-31553B76FE4E}" type="pres">
      <dgm:prSet presAssocID="{98EEC427-9238-4887-B41D-6AB6AA794E40}" presName="node" presStyleLbl="node1" presStyleIdx="1" presStyleCnt="6">
        <dgm:presLayoutVars>
          <dgm:bulletEnabled val="1"/>
        </dgm:presLayoutVars>
      </dgm:prSet>
      <dgm:spPr/>
    </dgm:pt>
    <dgm:pt modelId="{ABA09897-6278-45BF-A12E-9D943466B5DC}" type="pres">
      <dgm:prSet presAssocID="{98EEC427-9238-4887-B41D-6AB6AA794E40}" presName="spNode" presStyleCnt="0"/>
      <dgm:spPr/>
    </dgm:pt>
    <dgm:pt modelId="{9299265F-750B-4183-9194-CE2FFA060FEE}" type="pres">
      <dgm:prSet presAssocID="{9BDA49D4-3C2C-4744-81A7-86647226C54C}" presName="sibTrans" presStyleLbl="sibTrans1D1" presStyleIdx="1" presStyleCnt="6"/>
      <dgm:spPr/>
    </dgm:pt>
    <dgm:pt modelId="{C1344AA1-442B-4223-957A-4F9BCF8451D3}" type="pres">
      <dgm:prSet presAssocID="{A77379E2-E7C9-443D-824E-2D12D459D0E9}" presName="node" presStyleLbl="node1" presStyleIdx="2" presStyleCnt="6">
        <dgm:presLayoutVars>
          <dgm:bulletEnabled val="1"/>
        </dgm:presLayoutVars>
      </dgm:prSet>
      <dgm:spPr/>
    </dgm:pt>
    <dgm:pt modelId="{A30D2C23-EACE-4B66-AA4B-A3EC11EF7400}" type="pres">
      <dgm:prSet presAssocID="{A77379E2-E7C9-443D-824E-2D12D459D0E9}" presName="spNode" presStyleCnt="0"/>
      <dgm:spPr/>
    </dgm:pt>
    <dgm:pt modelId="{046B7945-930E-42C2-8923-2363E6B77297}" type="pres">
      <dgm:prSet presAssocID="{4183039E-1AD8-4EFD-A6FC-8705A458C335}" presName="sibTrans" presStyleLbl="sibTrans1D1" presStyleIdx="2" presStyleCnt="6"/>
      <dgm:spPr/>
    </dgm:pt>
    <dgm:pt modelId="{8105236A-1ADD-478E-A87A-50592B73CA7E}" type="pres">
      <dgm:prSet presAssocID="{F4488957-4445-40BC-B727-D77D3AC7645A}" presName="node" presStyleLbl="node1" presStyleIdx="3" presStyleCnt="6">
        <dgm:presLayoutVars>
          <dgm:bulletEnabled val="1"/>
        </dgm:presLayoutVars>
      </dgm:prSet>
      <dgm:spPr/>
    </dgm:pt>
    <dgm:pt modelId="{8CEEAB30-CAB5-4476-BA66-FA2690F1DBE1}" type="pres">
      <dgm:prSet presAssocID="{F4488957-4445-40BC-B727-D77D3AC7645A}" presName="spNode" presStyleCnt="0"/>
      <dgm:spPr/>
    </dgm:pt>
    <dgm:pt modelId="{AF955EC4-919F-4F51-85D1-F405CF78DD05}" type="pres">
      <dgm:prSet presAssocID="{841DA239-58D6-4564-BE12-11AD637B9B6A}" presName="sibTrans" presStyleLbl="sibTrans1D1" presStyleIdx="3" presStyleCnt="6"/>
      <dgm:spPr/>
    </dgm:pt>
    <dgm:pt modelId="{30389534-7ACF-471E-B902-09DFF29CBF9C}" type="pres">
      <dgm:prSet presAssocID="{7C84C9F0-643C-4000-828F-0BBA6225FEF4}" presName="node" presStyleLbl="node1" presStyleIdx="4" presStyleCnt="6">
        <dgm:presLayoutVars>
          <dgm:bulletEnabled val="1"/>
        </dgm:presLayoutVars>
      </dgm:prSet>
      <dgm:spPr/>
    </dgm:pt>
    <dgm:pt modelId="{B4FE8347-9CD3-4D29-ADB5-31672F4B4267}" type="pres">
      <dgm:prSet presAssocID="{7C84C9F0-643C-4000-828F-0BBA6225FEF4}" presName="spNode" presStyleCnt="0"/>
      <dgm:spPr/>
    </dgm:pt>
    <dgm:pt modelId="{00E53DA0-8ADA-4831-8E0A-53EDA68C8170}" type="pres">
      <dgm:prSet presAssocID="{9A1CDCC3-9C7D-43D5-A343-C952B3B4E903}" presName="sibTrans" presStyleLbl="sibTrans1D1" presStyleIdx="4" presStyleCnt="6"/>
      <dgm:spPr/>
    </dgm:pt>
    <dgm:pt modelId="{57699F58-0652-44F4-95F7-C75FE84259AE}" type="pres">
      <dgm:prSet presAssocID="{DDA06048-353B-4AE8-902B-B3CAAB40774B}" presName="node" presStyleLbl="node1" presStyleIdx="5" presStyleCnt="6">
        <dgm:presLayoutVars>
          <dgm:bulletEnabled val="1"/>
        </dgm:presLayoutVars>
      </dgm:prSet>
      <dgm:spPr/>
    </dgm:pt>
    <dgm:pt modelId="{69AC4B51-EB99-4794-B668-F3ACE0CCCA2B}" type="pres">
      <dgm:prSet presAssocID="{DDA06048-353B-4AE8-902B-B3CAAB40774B}" presName="spNode" presStyleCnt="0"/>
      <dgm:spPr/>
    </dgm:pt>
    <dgm:pt modelId="{BC2220A6-D0A4-4199-8BAC-D57B50622F0C}" type="pres">
      <dgm:prSet presAssocID="{FC4129BD-7AB5-4D0D-BFF6-2A8FD1376FD9}" presName="sibTrans" presStyleLbl="sibTrans1D1" presStyleIdx="5" presStyleCnt="6"/>
      <dgm:spPr/>
    </dgm:pt>
  </dgm:ptLst>
  <dgm:cxnLst>
    <dgm:cxn modelId="{C4663114-31ED-497F-9EA0-8A557C27F80C}" type="presOf" srcId="{841DA239-58D6-4564-BE12-11AD637B9B6A}" destId="{AF955EC4-919F-4F51-85D1-F405CF78DD05}" srcOrd="0" destOrd="0" presId="urn:microsoft.com/office/officeart/2005/8/layout/cycle5"/>
    <dgm:cxn modelId="{304E4916-F20B-4A14-9ADD-D874EEED3A04}" srcId="{248DE3A3-D5C8-4962-B2E5-05E321362732}" destId="{A77379E2-E7C9-443D-824E-2D12D459D0E9}" srcOrd="2" destOrd="0" parTransId="{1F2C0AEE-A867-49A2-A27C-DC1185E931B7}" sibTransId="{4183039E-1AD8-4EFD-A6FC-8705A458C335}"/>
    <dgm:cxn modelId="{B9AE283D-57E4-45E7-A922-A025166019D6}" type="presOf" srcId="{A77379E2-E7C9-443D-824E-2D12D459D0E9}" destId="{C1344AA1-442B-4223-957A-4F9BCF8451D3}" srcOrd="0" destOrd="0" presId="urn:microsoft.com/office/officeart/2005/8/layout/cycle5"/>
    <dgm:cxn modelId="{C3C27E61-7C7D-41E3-832F-608A14D8A62F}" srcId="{248DE3A3-D5C8-4962-B2E5-05E321362732}" destId="{CA2F1B0D-362F-4FD8-9F0A-C7A90C8EE667}" srcOrd="0" destOrd="0" parTransId="{A9677041-16D0-4B2E-909C-48EFB5120A43}" sibTransId="{D76B0BDD-24E6-4601-9447-541FF8BDBC35}"/>
    <dgm:cxn modelId="{1637F76C-C500-49CB-87DD-BA463AD92B5E}" srcId="{248DE3A3-D5C8-4962-B2E5-05E321362732}" destId="{DDA06048-353B-4AE8-902B-B3CAAB40774B}" srcOrd="5" destOrd="0" parTransId="{E61D537F-E9DC-4874-8514-FBFA0AACC79F}" sibTransId="{FC4129BD-7AB5-4D0D-BFF6-2A8FD1376FD9}"/>
    <dgm:cxn modelId="{6826076E-5493-471B-A155-422B0DC37BA5}" type="presOf" srcId="{D76B0BDD-24E6-4601-9447-541FF8BDBC35}" destId="{ED6DAA05-56A7-4B0A-8F91-2B30E7DA8E48}" srcOrd="0" destOrd="0" presId="urn:microsoft.com/office/officeart/2005/8/layout/cycle5"/>
    <dgm:cxn modelId="{1CDD0771-10AF-44FE-91C6-3931ACB2EF12}" srcId="{248DE3A3-D5C8-4962-B2E5-05E321362732}" destId="{7C84C9F0-643C-4000-828F-0BBA6225FEF4}" srcOrd="4" destOrd="0" parTransId="{3E2BE8D1-51DD-4111-8249-93216DE88749}" sibTransId="{9A1CDCC3-9C7D-43D5-A343-C952B3B4E903}"/>
    <dgm:cxn modelId="{6478485A-E892-49AA-B1C2-B1C28B380C0C}" srcId="{248DE3A3-D5C8-4962-B2E5-05E321362732}" destId="{98EEC427-9238-4887-B41D-6AB6AA794E40}" srcOrd="1" destOrd="0" parTransId="{99D8ECB3-09D9-47D3-A82B-93B735E15B8E}" sibTransId="{9BDA49D4-3C2C-4744-81A7-86647226C54C}"/>
    <dgm:cxn modelId="{2637A95A-FD1C-44F8-B5E3-580B859DE008}" type="presOf" srcId="{4183039E-1AD8-4EFD-A6FC-8705A458C335}" destId="{046B7945-930E-42C2-8923-2363E6B77297}" srcOrd="0" destOrd="0" presId="urn:microsoft.com/office/officeart/2005/8/layout/cycle5"/>
    <dgm:cxn modelId="{055B697B-1E33-41EE-96C6-4A7D3E0D6661}" srcId="{248DE3A3-D5C8-4962-B2E5-05E321362732}" destId="{F4488957-4445-40BC-B727-D77D3AC7645A}" srcOrd="3" destOrd="0" parTransId="{1D379002-27DB-40A6-9426-2F8FD4F12FAD}" sibTransId="{841DA239-58D6-4564-BE12-11AD637B9B6A}"/>
    <dgm:cxn modelId="{F0FDA797-72C6-43DF-B1BD-DEBBD8BC6A38}" type="presOf" srcId="{98EEC427-9238-4887-B41D-6AB6AA794E40}" destId="{2C5C6691-12CC-4146-908D-31553B76FE4E}" srcOrd="0" destOrd="0" presId="urn:microsoft.com/office/officeart/2005/8/layout/cycle5"/>
    <dgm:cxn modelId="{73F7BBB0-4ACB-4053-9E68-628788858253}" type="presOf" srcId="{F4488957-4445-40BC-B727-D77D3AC7645A}" destId="{8105236A-1ADD-478E-A87A-50592B73CA7E}" srcOrd="0" destOrd="0" presId="urn:microsoft.com/office/officeart/2005/8/layout/cycle5"/>
    <dgm:cxn modelId="{5ADEF1B6-5285-4B01-8834-B45EAC0ADDFA}" type="presOf" srcId="{7C84C9F0-643C-4000-828F-0BBA6225FEF4}" destId="{30389534-7ACF-471E-B902-09DFF29CBF9C}" srcOrd="0" destOrd="0" presId="urn:microsoft.com/office/officeart/2005/8/layout/cycle5"/>
    <dgm:cxn modelId="{4BDC78D3-1772-493E-BBD1-8C669AC9C0F5}" type="presOf" srcId="{DDA06048-353B-4AE8-902B-B3CAAB40774B}" destId="{57699F58-0652-44F4-95F7-C75FE84259AE}" srcOrd="0" destOrd="0" presId="urn:microsoft.com/office/officeart/2005/8/layout/cycle5"/>
    <dgm:cxn modelId="{FB6C02D7-48ED-4DF8-A213-990255055531}" type="presOf" srcId="{FC4129BD-7AB5-4D0D-BFF6-2A8FD1376FD9}" destId="{BC2220A6-D0A4-4199-8BAC-D57B50622F0C}" srcOrd="0" destOrd="0" presId="urn:microsoft.com/office/officeart/2005/8/layout/cycle5"/>
    <dgm:cxn modelId="{82B567D9-BE22-458F-8E49-9AFE6F18851F}" type="presOf" srcId="{248DE3A3-D5C8-4962-B2E5-05E321362732}" destId="{9444EC2E-38A8-423B-93E9-54E83BBF9B62}" srcOrd="0" destOrd="0" presId="urn:microsoft.com/office/officeart/2005/8/layout/cycle5"/>
    <dgm:cxn modelId="{0BAB19E5-487A-42F4-BFFD-B6A778F9ED84}" type="presOf" srcId="{CA2F1B0D-362F-4FD8-9F0A-C7A90C8EE667}" destId="{E3CA0378-808F-4E2C-8388-DACEC2AA97A2}" srcOrd="0" destOrd="0" presId="urn:microsoft.com/office/officeart/2005/8/layout/cycle5"/>
    <dgm:cxn modelId="{BC322CFE-58E8-45C2-93B4-1EC27FB2BBE1}" type="presOf" srcId="{9BDA49D4-3C2C-4744-81A7-86647226C54C}" destId="{9299265F-750B-4183-9194-CE2FFA060FEE}" srcOrd="0" destOrd="0" presId="urn:microsoft.com/office/officeart/2005/8/layout/cycle5"/>
    <dgm:cxn modelId="{124338FE-4106-427D-8468-F36ACB4BF639}" type="presOf" srcId="{9A1CDCC3-9C7D-43D5-A343-C952B3B4E903}" destId="{00E53DA0-8ADA-4831-8E0A-53EDA68C8170}" srcOrd="0" destOrd="0" presId="urn:microsoft.com/office/officeart/2005/8/layout/cycle5"/>
    <dgm:cxn modelId="{74E0D911-F2A8-47F9-8D75-AE7EA50F99FD}" type="presParOf" srcId="{9444EC2E-38A8-423B-93E9-54E83BBF9B62}" destId="{E3CA0378-808F-4E2C-8388-DACEC2AA97A2}" srcOrd="0" destOrd="0" presId="urn:microsoft.com/office/officeart/2005/8/layout/cycle5"/>
    <dgm:cxn modelId="{F281A1E7-0692-4E2E-9263-FFC4069DDB0D}" type="presParOf" srcId="{9444EC2E-38A8-423B-93E9-54E83BBF9B62}" destId="{23F62200-738A-4D38-AA2D-CCFAE064C220}" srcOrd="1" destOrd="0" presId="urn:microsoft.com/office/officeart/2005/8/layout/cycle5"/>
    <dgm:cxn modelId="{E3CA174F-34AE-447F-BBB0-19AAB7452F4C}" type="presParOf" srcId="{9444EC2E-38A8-423B-93E9-54E83BBF9B62}" destId="{ED6DAA05-56A7-4B0A-8F91-2B30E7DA8E48}" srcOrd="2" destOrd="0" presId="urn:microsoft.com/office/officeart/2005/8/layout/cycle5"/>
    <dgm:cxn modelId="{C508D618-B51B-45F8-BCD8-5FDBBDE70ADB}" type="presParOf" srcId="{9444EC2E-38A8-423B-93E9-54E83BBF9B62}" destId="{2C5C6691-12CC-4146-908D-31553B76FE4E}" srcOrd="3" destOrd="0" presId="urn:microsoft.com/office/officeart/2005/8/layout/cycle5"/>
    <dgm:cxn modelId="{633CD6DE-A58A-40F8-9D57-745B98EA67E4}" type="presParOf" srcId="{9444EC2E-38A8-423B-93E9-54E83BBF9B62}" destId="{ABA09897-6278-45BF-A12E-9D943466B5DC}" srcOrd="4" destOrd="0" presId="urn:microsoft.com/office/officeart/2005/8/layout/cycle5"/>
    <dgm:cxn modelId="{861E5343-1570-4A08-9316-6D05B83AE2BD}" type="presParOf" srcId="{9444EC2E-38A8-423B-93E9-54E83BBF9B62}" destId="{9299265F-750B-4183-9194-CE2FFA060FEE}" srcOrd="5" destOrd="0" presId="urn:microsoft.com/office/officeart/2005/8/layout/cycle5"/>
    <dgm:cxn modelId="{748B27CA-E567-427B-BD7F-11C00C3C330F}" type="presParOf" srcId="{9444EC2E-38A8-423B-93E9-54E83BBF9B62}" destId="{C1344AA1-442B-4223-957A-4F9BCF8451D3}" srcOrd="6" destOrd="0" presId="urn:microsoft.com/office/officeart/2005/8/layout/cycle5"/>
    <dgm:cxn modelId="{5C7F3C4A-F4D9-45F6-86EB-5E594C1D8A03}" type="presParOf" srcId="{9444EC2E-38A8-423B-93E9-54E83BBF9B62}" destId="{A30D2C23-EACE-4B66-AA4B-A3EC11EF7400}" srcOrd="7" destOrd="0" presId="urn:microsoft.com/office/officeart/2005/8/layout/cycle5"/>
    <dgm:cxn modelId="{3EB480BB-4EBB-4336-B528-C217E11C95C3}" type="presParOf" srcId="{9444EC2E-38A8-423B-93E9-54E83BBF9B62}" destId="{046B7945-930E-42C2-8923-2363E6B77297}" srcOrd="8" destOrd="0" presId="urn:microsoft.com/office/officeart/2005/8/layout/cycle5"/>
    <dgm:cxn modelId="{632DE0DC-01E2-476D-B9E1-B414F3822701}" type="presParOf" srcId="{9444EC2E-38A8-423B-93E9-54E83BBF9B62}" destId="{8105236A-1ADD-478E-A87A-50592B73CA7E}" srcOrd="9" destOrd="0" presId="urn:microsoft.com/office/officeart/2005/8/layout/cycle5"/>
    <dgm:cxn modelId="{20ADD60A-091B-4AC8-A30D-3162A9EC0EC4}" type="presParOf" srcId="{9444EC2E-38A8-423B-93E9-54E83BBF9B62}" destId="{8CEEAB30-CAB5-4476-BA66-FA2690F1DBE1}" srcOrd="10" destOrd="0" presId="urn:microsoft.com/office/officeart/2005/8/layout/cycle5"/>
    <dgm:cxn modelId="{AF2D34F2-4BF5-4FA3-A29F-C7C14A210E82}" type="presParOf" srcId="{9444EC2E-38A8-423B-93E9-54E83BBF9B62}" destId="{AF955EC4-919F-4F51-85D1-F405CF78DD05}" srcOrd="11" destOrd="0" presId="urn:microsoft.com/office/officeart/2005/8/layout/cycle5"/>
    <dgm:cxn modelId="{B6B1A062-869D-45FC-815C-F1DEDB1B59DD}" type="presParOf" srcId="{9444EC2E-38A8-423B-93E9-54E83BBF9B62}" destId="{30389534-7ACF-471E-B902-09DFF29CBF9C}" srcOrd="12" destOrd="0" presId="urn:microsoft.com/office/officeart/2005/8/layout/cycle5"/>
    <dgm:cxn modelId="{B29BA613-806B-4885-976E-3F974204CE2D}" type="presParOf" srcId="{9444EC2E-38A8-423B-93E9-54E83BBF9B62}" destId="{B4FE8347-9CD3-4D29-ADB5-31672F4B4267}" srcOrd="13" destOrd="0" presId="urn:microsoft.com/office/officeart/2005/8/layout/cycle5"/>
    <dgm:cxn modelId="{D06E97E8-067C-454B-8F3A-DA566FBEFF5A}" type="presParOf" srcId="{9444EC2E-38A8-423B-93E9-54E83BBF9B62}" destId="{00E53DA0-8ADA-4831-8E0A-53EDA68C8170}" srcOrd="14" destOrd="0" presId="urn:microsoft.com/office/officeart/2005/8/layout/cycle5"/>
    <dgm:cxn modelId="{D89B11E4-24A6-4FB4-A3AD-9AF9C889B787}" type="presParOf" srcId="{9444EC2E-38A8-423B-93E9-54E83BBF9B62}" destId="{57699F58-0652-44F4-95F7-C75FE84259AE}" srcOrd="15" destOrd="0" presId="urn:microsoft.com/office/officeart/2005/8/layout/cycle5"/>
    <dgm:cxn modelId="{787CECC9-67CA-48F9-AED0-37221789D7C5}" type="presParOf" srcId="{9444EC2E-38A8-423B-93E9-54E83BBF9B62}" destId="{69AC4B51-EB99-4794-B668-F3ACE0CCCA2B}" srcOrd="16" destOrd="0" presId="urn:microsoft.com/office/officeart/2005/8/layout/cycle5"/>
    <dgm:cxn modelId="{669B638C-F691-4A11-8C59-004783603950}" type="presParOf" srcId="{9444EC2E-38A8-423B-93E9-54E83BBF9B62}" destId="{BC2220A6-D0A4-4199-8BAC-D57B50622F0C}" srcOrd="17"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FF9ADBF-6ED3-487F-828D-38229F4312CF}" type="doc">
      <dgm:prSet loTypeId="urn:microsoft.com/office/officeart/2005/8/layout/pyramid2" loCatId="list" qsTypeId="urn:microsoft.com/office/officeart/2005/8/quickstyle/simple1" qsCatId="simple" csTypeId="urn:microsoft.com/office/officeart/2005/8/colors/accent1_3" csCatId="accent1" phldr="1"/>
      <dgm:spPr/>
    </dgm:pt>
    <dgm:pt modelId="{C88234A5-7215-49BC-91DA-D01FA258A6DE}">
      <dgm:prSet phldrT="[Text]" custT="1"/>
      <dgm:spPr>
        <a:solidFill>
          <a:schemeClr val="bg2">
            <a:alpha val="90000"/>
          </a:schemeClr>
        </a:solidFill>
      </dgm:spPr>
      <dgm:t>
        <a:bodyPr/>
        <a:lstStyle/>
        <a:p>
          <a:r>
            <a:rPr lang="en-US" sz="1050" b="1">
              <a:solidFill>
                <a:schemeClr val="tx2"/>
              </a:solidFill>
            </a:rPr>
            <a:t>AI Center of Excellence Setup</a:t>
          </a:r>
        </a:p>
        <a:p>
          <a:r>
            <a:rPr lang="en-US" sz="1000" b="0">
              <a:solidFill>
                <a:schemeClr val="tx2"/>
              </a:solidFill>
            </a:rPr>
            <a:t>[CoE Operationalization – Innovation Lab]</a:t>
          </a:r>
        </a:p>
      </dgm:t>
    </dgm:pt>
    <dgm:pt modelId="{933C502B-621C-4078-9E39-238C1C5C6040}" type="parTrans" cxnId="{3CC0E6D5-EEAC-4B89-A1FF-CA8370EC9744}">
      <dgm:prSet/>
      <dgm:spPr/>
      <dgm:t>
        <a:bodyPr/>
        <a:lstStyle/>
        <a:p>
          <a:endParaRPr lang="en-US" sz="1050" b="1"/>
        </a:p>
      </dgm:t>
    </dgm:pt>
    <dgm:pt modelId="{D11A092A-B7F7-4BE6-A4DC-64CC4C67B40F}" type="sibTrans" cxnId="{3CC0E6D5-EEAC-4B89-A1FF-CA8370EC9744}">
      <dgm:prSet/>
      <dgm:spPr/>
      <dgm:t>
        <a:bodyPr/>
        <a:lstStyle/>
        <a:p>
          <a:endParaRPr lang="en-US" sz="1050" b="1"/>
        </a:p>
      </dgm:t>
    </dgm:pt>
    <dgm:pt modelId="{DD42063E-F23C-4199-A8AC-2C4A13FA2AAF}">
      <dgm:prSet phldrT="[Text]" custT="1"/>
      <dgm:spPr>
        <a:solidFill>
          <a:schemeClr val="bg2">
            <a:alpha val="90000"/>
          </a:schemeClr>
        </a:solidFill>
      </dgm:spPr>
      <dgm:t>
        <a:bodyPr/>
        <a:lstStyle/>
        <a:p>
          <a:r>
            <a:rPr lang="en-US" sz="1050" b="1">
              <a:solidFill>
                <a:schemeClr val="tx2"/>
              </a:solidFill>
            </a:rPr>
            <a:t>Stakeholder Alignment &amp; Collaboration</a:t>
          </a:r>
        </a:p>
        <a:p>
          <a:r>
            <a:rPr lang="en-US" sz="1000" b="0">
              <a:solidFill>
                <a:schemeClr val="tx2"/>
              </a:solidFill>
            </a:rPr>
            <a:t>[Cross-functional Workshops – KPI-led Value Realization - Communication]</a:t>
          </a:r>
          <a:endParaRPr lang="en-US" sz="1000" b="1">
            <a:solidFill>
              <a:schemeClr val="tx2"/>
            </a:solidFill>
          </a:endParaRPr>
        </a:p>
      </dgm:t>
    </dgm:pt>
    <dgm:pt modelId="{6CC5A15F-260D-4CE1-B9BA-48D1D346CF04}" type="parTrans" cxnId="{295AD0A8-4E8D-431A-B526-3E087BA68D57}">
      <dgm:prSet/>
      <dgm:spPr/>
      <dgm:t>
        <a:bodyPr/>
        <a:lstStyle/>
        <a:p>
          <a:endParaRPr lang="en-US" sz="1050" b="1"/>
        </a:p>
      </dgm:t>
    </dgm:pt>
    <dgm:pt modelId="{B8519CDE-300B-46DB-B70E-5FCA46F3D8C3}" type="sibTrans" cxnId="{295AD0A8-4E8D-431A-B526-3E087BA68D57}">
      <dgm:prSet/>
      <dgm:spPr/>
      <dgm:t>
        <a:bodyPr/>
        <a:lstStyle/>
        <a:p>
          <a:endParaRPr lang="en-US" sz="1050" b="1"/>
        </a:p>
      </dgm:t>
    </dgm:pt>
    <dgm:pt modelId="{7778D00C-3FF5-4DBB-86D1-DC4298CD6D0B}">
      <dgm:prSet phldrT="[Text]" custT="1"/>
      <dgm:spPr>
        <a:solidFill>
          <a:schemeClr val="bg2">
            <a:alpha val="90000"/>
          </a:schemeClr>
        </a:solidFill>
      </dgm:spPr>
      <dgm:t>
        <a:bodyPr/>
        <a:lstStyle/>
        <a:p>
          <a:r>
            <a:rPr lang="en-US" sz="1050" b="1">
              <a:solidFill>
                <a:schemeClr val="tx2"/>
              </a:solidFill>
            </a:rPr>
            <a:t>Cultural Transformation &amp; Change</a:t>
          </a:r>
        </a:p>
        <a:p>
          <a:r>
            <a:rPr lang="en-US" sz="1000" b="0">
              <a:solidFill>
                <a:schemeClr val="tx2"/>
              </a:solidFill>
            </a:rPr>
            <a:t>[Data-Driven Culture Programs - AI Adoption Playbooks - AI Champions Network]</a:t>
          </a:r>
          <a:endParaRPr lang="en-US" sz="1000" b="1">
            <a:solidFill>
              <a:schemeClr val="tx2"/>
            </a:solidFill>
          </a:endParaRPr>
        </a:p>
      </dgm:t>
    </dgm:pt>
    <dgm:pt modelId="{CB9C8763-8019-467B-B54F-37657E0B908B}" type="parTrans" cxnId="{B61F200C-1095-4607-A6A6-90D5D60098B0}">
      <dgm:prSet/>
      <dgm:spPr/>
      <dgm:t>
        <a:bodyPr/>
        <a:lstStyle/>
        <a:p>
          <a:endParaRPr lang="en-US" sz="1050" b="1"/>
        </a:p>
      </dgm:t>
    </dgm:pt>
    <dgm:pt modelId="{AB3EC213-8E20-4554-8686-E535FA44165E}" type="sibTrans" cxnId="{B61F200C-1095-4607-A6A6-90D5D60098B0}">
      <dgm:prSet/>
      <dgm:spPr/>
      <dgm:t>
        <a:bodyPr/>
        <a:lstStyle/>
        <a:p>
          <a:endParaRPr lang="en-US" sz="1050" b="1"/>
        </a:p>
      </dgm:t>
    </dgm:pt>
    <dgm:pt modelId="{DD358715-C5A2-432A-83A5-B5234C3A0DF2}">
      <dgm:prSet phldrT="[Text]" custT="1"/>
      <dgm:spPr>
        <a:solidFill>
          <a:schemeClr val="bg2">
            <a:alpha val="90000"/>
          </a:schemeClr>
        </a:solidFill>
      </dgm:spPr>
      <dgm:t>
        <a:bodyPr/>
        <a:lstStyle/>
        <a:p>
          <a:r>
            <a:rPr lang="en-US" sz="1050" b="1">
              <a:solidFill>
                <a:schemeClr val="tx2"/>
              </a:solidFill>
            </a:rPr>
            <a:t>Compliance Training &amp; Awareness</a:t>
          </a:r>
        </a:p>
        <a:p>
          <a:r>
            <a:rPr lang="en-US" sz="1000" b="0">
              <a:solidFill>
                <a:schemeClr val="tx2"/>
              </a:solidFill>
            </a:rPr>
            <a:t>[Compliance and Ethics Training]</a:t>
          </a:r>
          <a:endParaRPr lang="en-US" sz="1050" b="0">
            <a:solidFill>
              <a:schemeClr val="tx2"/>
            </a:solidFill>
          </a:endParaRPr>
        </a:p>
      </dgm:t>
    </dgm:pt>
    <dgm:pt modelId="{532C0153-A530-4989-81AF-756ED722C9DC}" type="parTrans" cxnId="{ADAD58FC-9A5B-4710-B65F-0398AA6E4C0C}">
      <dgm:prSet/>
      <dgm:spPr/>
      <dgm:t>
        <a:bodyPr/>
        <a:lstStyle/>
        <a:p>
          <a:endParaRPr lang="en-US" sz="1050" b="1"/>
        </a:p>
      </dgm:t>
    </dgm:pt>
    <dgm:pt modelId="{868A3732-0C1A-4838-A537-D76024277B2B}" type="sibTrans" cxnId="{ADAD58FC-9A5B-4710-B65F-0398AA6E4C0C}">
      <dgm:prSet/>
      <dgm:spPr/>
      <dgm:t>
        <a:bodyPr/>
        <a:lstStyle/>
        <a:p>
          <a:endParaRPr lang="en-US" sz="1050" b="1"/>
        </a:p>
      </dgm:t>
    </dgm:pt>
    <dgm:pt modelId="{7F7724B0-8D8E-4D3F-8F71-43D67E773641}">
      <dgm:prSet phldrT="[Text]" custT="1"/>
      <dgm:spPr>
        <a:solidFill>
          <a:schemeClr val="bg2">
            <a:alpha val="90000"/>
          </a:schemeClr>
        </a:solidFill>
      </dgm:spPr>
      <dgm:t>
        <a:bodyPr/>
        <a:lstStyle/>
        <a:p>
          <a:r>
            <a:rPr lang="en-US" sz="1050" b="1">
              <a:solidFill>
                <a:schemeClr val="tx2"/>
              </a:solidFill>
            </a:rPr>
            <a:t>Enterprise-wide AI Upskilling</a:t>
          </a:r>
        </a:p>
        <a:p>
          <a:r>
            <a:rPr lang="en-US" sz="1000" b="0">
              <a:solidFill>
                <a:schemeClr val="tx2"/>
              </a:solidFill>
            </a:rPr>
            <a:t>[AI Literacy Workshops - Role-based AI Training - Executive AI Bootcamps]</a:t>
          </a:r>
          <a:endParaRPr lang="en-US" sz="1000" b="1">
            <a:solidFill>
              <a:schemeClr val="tx2"/>
            </a:solidFill>
          </a:endParaRPr>
        </a:p>
      </dgm:t>
    </dgm:pt>
    <dgm:pt modelId="{58C8E43A-18F7-4666-B5A2-C91DF6FA28AA}" type="parTrans" cxnId="{77DD7464-607F-43A7-AE0D-97319A53956B}">
      <dgm:prSet/>
      <dgm:spPr/>
      <dgm:t>
        <a:bodyPr/>
        <a:lstStyle/>
        <a:p>
          <a:endParaRPr lang="en-US" sz="1200"/>
        </a:p>
      </dgm:t>
    </dgm:pt>
    <dgm:pt modelId="{200DBADD-1DF8-4E4C-8C22-E8532959250C}" type="sibTrans" cxnId="{77DD7464-607F-43A7-AE0D-97319A53956B}">
      <dgm:prSet/>
      <dgm:spPr/>
      <dgm:t>
        <a:bodyPr/>
        <a:lstStyle/>
        <a:p>
          <a:endParaRPr lang="en-US" sz="1200"/>
        </a:p>
      </dgm:t>
    </dgm:pt>
    <dgm:pt modelId="{3DA9AA68-7427-469F-AB97-23ADD1CA18A6}" type="pres">
      <dgm:prSet presAssocID="{4FF9ADBF-6ED3-487F-828D-38229F4312CF}" presName="compositeShape" presStyleCnt="0">
        <dgm:presLayoutVars>
          <dgm:dir/>
          <dgm:resizeHandles/>
        </dgm:presLayoutVars>
      </dgm:prSet>
      <dgm:spPr/>
    </dgm:pt>
    <dgm:pt modelId="{9B2D07EE-D060-4DEC-AD99-D52E58582CDA}" type="pres">
      <dgm:prSet presAssocID="{4FF9ADBF-6ED3-487F-828D-38229F4312CF}" presName="pyramid" presStyleLbl="node1" presStyleIdx="0" presStyleCnt="1"/>
      <dgm:spPr/>
    </dgm:pt>
    <dgm:pt modelId="{C90D3517-C4F2-445F-922C-DF36A17A8E22}" type="pres">
      <dgm:prSet presAssocID="{4FF9ADBF-6ED3-487F-828D-38229F4312CF}" presName="theList" presStyleCnt="0"/>
      <dgm:spPr/>
    </dgm:pt>
    <dgm:pt modelId="{011216C7-5CD8-4C81-ABF2-2328411011A8}" type="pres">
      <dgm:prSet presAssocID="{C88234A5-7215-49BC-91DA-D01FA258A6DE}" presName="aNode" presStyleLbl="fgAcc1" presStyleIdx="0" presStyleCnt="5">
        <dgm:presLayoutVars>
          <dgm:bulletEnabled val="1"/>
        </dgm:presLayoutVars>
      </dgm:prSet>
      <dgm:spPr/>
    </dgm:pt>
    <dgm:pt modelId="{A2579D83-949C-4E9C-9539-80F0D965A2FF}" type="pres">
      <dgm:prSet presAssocID="{C88234A5-7215-49BC-91DA-D01FA258A6DE}" presName="aSpace" presStyleCnt="0"/>
      <dgm:spPr/>
    </dgm:pt>
    <dgm:pt modelId="{8E4E78E5-0E65-48CB-BEC5-8D961314E4D1}" type="pres">
      <dgm:prSet presAssocID="{DD42063E-F23C-4199-A8AC-2C4A13FA2AAF}" presName="aNode" presStyleLbl="fgAcc1" presStyleIdx="1" presStyleCnt="5">
        <dgm:presLayoutVars>
          <dgm:bulletEnabled val="1"/>
        </dgm:presLayoutVars>
      </dgm:prSet>
      <dgm:spPr/>
    </dgm:pt>
    <dgm:pt modelId="{DB6C6ABA-D0E0-4989-B78A-BB04CE8AE5FB}" type="pres">
      <dgm:prSet presAssocID="{DD42063E-F23C-4199-A8AC-2C4A13FA2AAF}" presName="aSpace" presStyleCnt="0"/>
      <dgm:spPr/>
    </dgm:pt>
    <dgm:pt modelId="{C4246A71-3604-40A6-B17A-B24DE0CE0BBA}" type="pres">
      <dgm:prSet presAssocID="{7778D00C-3FF5-4DBB-86D1-DC4298CD6D0B}" presName="aNode" presStyleLbl="fgAcc1" presStyleIdx="2" presStyleCnt="5">
        <dgm:presLayoutVars>
          <dgm:bulletEnabled val="1"/>
        </dgm:presLayoutVars>
      </dgm:prSet>
      <dgm:spPr/>
    </dgm:pt>
    <dgm:pt modelId="{1B4787B4-154E-480B-82D4-27BB65E67A06}" type="pres">
      <dgm:prSet presAssocID="{7778D00C-3FF5-4DBB-86D1-DC4298CD6D0B}" presName="aSpace" presStyleCnt="0"/>
      <dgm:spPr/>
    </dgm:pt>
    <dgm:pt modelId="{DDE87C39-EDCB-4F39-9ECE-8CAE8A5385BD}" type="pres">
      <dgm:prSet presAssocID="{DD358715-C5A2-432A-83A5-B5234C3A0DF2}" presName="aNode" presStyleLbl="fgAcc1" presStyleIdx="3" presStyleCnt="5">
        <dgm:presLayoutVars>
          <dgm:bulletEnabled val="1"/>
        </dgm:presLayoutVars>
      </dgm:prSet>
      <dgm:spPr/>
    </dgm:pt>
    <dgm:pt modelId="{89A54992-72CA-4522-B43A-A5AA207DDCDF}" type="pres">
      <dgm:prSet presAssocID="{DD358715-C5A2-432A-83A5-B5234C3A0DF2}" presName="aSpace" presStyleCnt="0"/>
      <dgm:spPr/>
    </dgm:pt>
    <dgm:pt modelId="{B71B2CC0-C37A-4AB5-A3EF-A52232B11DA3}" type="pres">
      <dgm:prSet presAssocID="{7F7724B0-8D8E-4D3F-8F71-43D67E773641}" presName="aNode" presStyleLbl="fgAcc1" presStyleIdx="4" presStyleCnt="5">
        <dgm:presLayoutVars>
          <dgm:bulletEnabled val="1"/>
        </dgm:presLayoutVars>
      </dgm:prSet>
      <dgm:spPr/>
    </dgm:pt>
    <dgm:pt modelId="{5F65F7D6-EC1C-45EB-AC7E-35FFD0123E64}" type="pres">
      <dgm:prSet presAssocID="{7F7724B0-8D8E-4D3F-8F71-43D67E773641}" presName="aSpace" presStyleCnt="0"/>
      <dgm:spPr/>
    </dgm:pt>
  </dgm:ptLst>
  <dgm:cxnLst>
    <dgm:cxn modelId="{8BD47F01-6218-4E20-BD6A-539B727E56FE}" type="presOf" srcId="{C88234A5-7215-49BC-91DA-D01FA258A6DE}" destId="{011216C7-5CD8-4C81-ABF2-2328411011A8}" srcOrd="0" destOrd="0" presId="urn:microsoft.com/office/officeart/2005/8/layout/pyramid2"/>
    <dgm:cxn modelId="{B61F200C-1095-4607-A6A6-90D5D60098B0}" srcId="{4FF9ADBF-6ED3-487F-828D-38229F4312CF}" destId="{7778D00C-3FF5-4DBB-86D1-DC4298CD6D0B}" srcOrd="2" destOrd="0" parTransId="{CB9C8763-8019-467B-B54F-37657E0B908B}" sibTransId="{AB3EC213-8E20-4554-8686-E535FA44165E}"/>
    <dgm:cxn modelId="{9703942C-86BD-426A-B838-99C9C191F460}" type="presOf" srcId="{7778D00C-3FF5-4DBB-86D1-DC4298CD6D0B}" destId="{C4246A71-3604-40A6-B17A-B24DE0CE0BBA}" srcOrd="0" destOrd="0" presId="urn:microsoft.com/office/officeart/2005/8/layout/pyramid2"/>
    <dgm:cxn modelId="{77DD7464-607F-43A7-AE0D-97319A53956B}" srcId="{4FF9ADBF-6ED3-487F-828D-38229F4312CF}" destId="{7F7724B0-8D8E-4D3F-8F71-43D67E773641}" srcOrd="4" destOrd="0" parTransId="{58C8E43A-18F7-4666-B5A2-C91DF6FA28AA}" sibTransId="{200DBADD-1DF8-4E4C-8C22-E8532959250C}"/>
    <dgm:cxn modelId="{85C9F089-1F37-4023-8892-14513D46D003}" type="presOf" srcId="{4FF9ADBF-6ED3-487F-828D-38229F4312CF}" destId="{3DA9AA68-7427-469F-AB97-23ADD1CA18A6}" srcOrd="0" destOrd="0" presId="urn:microsoft.com/office/officeart/2005/8/layout/pyramid2"/>
    <dgm:cxn modelId="{295AD0A8-4E8D-431A-B526-3E087BA68D57}" srcId="{4FF9ADBF-6ED3-487F-828D-38229F4312CF}" destId="{DD42063E-F23C-4199-A8AC-2C4A13FA2AAF}" srcOrd="1" destOrd="0" parTransId="{6CC5A15F-260D-4CE1-B9BA-48D1D346CF04}" sibTransId="{B8519CDE-300B-46DB-B70E-5FCA46F3D8C3}"/>
    <dgm:cxn modelId="{C5ABEAC1-96C8-4796-A9D8-F9007AAE7C99}" type="presOf" srcId="{DD42063E-F23C-4199-A8AC-2C4A13FA2AAF}" destId="{8E4E78E5-0E65-48CB-BEC5-8D961314E4D1}" srcOrd="0" destOrd="0" presId="urn:microsoft.com/office/officeart/2005/8/layout/pyramid2"/>
    <dgm:cxn modelId="{BB5121C2-56AE-461D-981C-F36517C2A171}" type="presOf" srcId="{7F7724B0-8D8E-4D3F-8F71-43D67E773641}" destId="{B71B2CC0-C37A-4AB5-A3EF-A52232B11DA3}" srcOrd="0" destOrd="0" presId="urn:microsoft.com/office/officeart/2005/8/layout/pyramid2"/>
    <dgm:cxn modelId="{3CC0E6D5-EEAC-4B89-A1FF-CA8370EC9744}" srcId="{4FF9ADBF-6ED3-487F-828D-38229F4312CF}" destId="{C88234A5-7215-49BC-91DA-D01FA258A6DE}" srcOrd="0" destOrd="0" parTransId="{933C502B-621C-4078-9E39-238C1C5C6040}" sibTransId="{D11A092A-B7F7-4BE6-A4DC-64CC4C67B40F}"/>
    <dgm:cxn modelId="{A1AA5AD9-F716-48B7-874A-EE7381A333CE}" type="presOf" srcId="{DD358715-C5A2-432A-83A5-B5234C3A0DF2}" destId="{DDE87C39-EDCB-4F39-9ECE-8CAE8A5385BD}" srcOrd="0" destOrd="0" presId="urn:microsoft.com/office/officeart/2005/8/layout/pyramid2"/>
    <dgm:cxn modelId="{ADAD58FC-9A5B-4710-B65F-0398AA6E4C0C}" srcId="{4FF9ADBF-6ED3-487F-828D-38229F4312CF}" destId="{DD358715-C5A2-432A-83A5-B5234C3A0DF2}" srcOrd="3" destOrd="0" parTransId="{532C0153-A530-4989-81AF-756ED722C9DC}" sibTransId="{868A3732-0C1A-4838-A537-D76024277B2B}"/>
    <dgm:cxn modelId="{E3C5E95D-7071-4A0E-9A9C-C92DD7DE167B}" type="presParOf" srcId="{3DA9AA68-7427-469F-AB97-23ADD1CA18A6}" destId="{9B2D07EE-D060-4DEC-AD99-D52E58582CDA}" srcOrd="0" destOrd="0" presId="urn:microsoft.com/office/officeart/2005/8/layout/pyramid2"/>
    <dgm:cxn modelId="{8AF179A7-8E31-401F-BA65-9E3E52C82C69}" type="presParOf" srcId="{3DA9AA68-7427-469F-AB97-23ADD1CA18A6}" destId="{C90D3517-C4F2-445F-922C-DF36A17A8E22}" srcOrd="1" destOrd="0" presId="urn:microsoft.com/office/officeart/2005/8/layout/pyramid2"/>
    <dgm:cxn modelId="{1573E88B-2480-4232-9321-46DCE219AE15}" type="presParOf" srcId="{C90D3517-C4F2-445F-922C-DF36A17A8E22}" destId="{011216C7-5CD8-4C81-ABF2-2328411011A8}" srcOrd="0" destOrd="0" presId="urn:microsoft.com/office/officeart/2005/8/layout/pyramid2"/>
    <dgm:cxn modelId="{AF25826C-97A1-4ED0-B5EB-4BC828DC994E}" type="presParOf" srcId="{C90D3517-C4F2-445F-922C-DF36A17A8E22}" destId="{A2579D83-949C-4E9C-9539-80F0D965A2FF}" srcOrd="1" destOrd="0" presId="urn:microsoft.com/office/officeart/2005/8/layout/pyramid2"/>
    <dgm:cxn modelId="{D38BA981-87E5-4149-86C1-4C650196F641}" type="presParOf" srcId="{C90D3517-C4F2-445F-922C-DF36A17A8E22}" destId="{8E4E78E5-0E65-48CB-BEC5-8D961314E4D1}" srcOrd="2" destOrd="0" presId="urn:microsoft.com/office/officeart/2005/8/layout/pyramid2"/>
    <dgm:cxn modelId="{559D8285-4352-45E2-9FBD-6E5B60EDC9BD}" type="presParOf" srcId="{C90D3517-C4F2-445F-922C-DF36A17A8E22}" destId="{DB6C6ABA-D0E0-4989-B78A-BB04CE8AE5FB}" srcOrd="3" destOrd="0" presId="urn:microsoft.com/office/officeart/2005/8/layout/pyramid2"/>
    <dgm:cxn modelId="{7F6B5B8C-1864-428C-8823-7DF3656A1FC2}" type="presParOf" srcId="{C90D3517-C4F2-445F-922C-DF36A17A8E22}" destId="{C4246A71-3604-40A6-B17A-B24DE0CE0BBA}" srcOrd="4" destOrd="0" presId="urn:microsoft.com/office/officeart/2005/8/layout/pyramid2"/>
    <dgm:cxn modelId="{3587AB69-15FD-405A-BE4B-68586D2DB0CA}" type="presParOf" srcId="{C90D3517-C4F2-445F-922C-DF36A17A8E22}" destId="{1B4787B4-154E-480B-82D4-27BB65E67A06}" srcOrd="5" destOrd="0" presId="urn:microsoft.com/office/officeart/2005/8/layout/pyramid2"/>
    <dgm:cxn modelId="{CB97A479-1145-4A41-B24C-B4F116CFEB8E}" type="presParOf" srcId="{C90D3517-C4F2-445F-922C-DF36A17A8E22}" destId="{DDE87C39-EDCB-4F39-9ECE-8CAE8A5385BD}" srcOrd="6" destOrd="0" presId="urn:microsoft.com/office/officeart/2005/8/layout/pyramid2"/>
    <dgm:cxn modelId="{FF7B01E4-8E9C-4607-A85E-C1C2CE8AD803}" type="presParOf" srcId="{C90D3517-C4F2-445F-922C-DF36A17A8E22}" destId="{89A54992-72CA-4522-B43A-A5AA207DDCDF}" srcOrd="7" destOrd="0" presId="urn:microsoft.com/office/officeart/2005/8/layout/pyramid2"/>
    <dgm:cxn modelId="{644FDFD7-18C9-474C-924F-251A1C90AEEF}" type="presParOf" srcId="{C90D3517-C4F2-445F-922C-DF36A17A8E22}" destId="{B71B2CC0-C37A-4AB5-A3EF-A52232B11DA3}" srcOrd="8" destOrd="0" presId="urn:microsoft.com/office/officeart/2005/8/layout/pyramid2"/>
    <dgm:cxn modelId="{17958A30-E143-4434-9354-C5C97EC6901E}" type="presParOf" srcId="{C90D3517-C4F2-445F-922C-DF36A17A8E22}" destId="{5F65F7D6-EC1C-45EB-AC7E-35FFD0123E64}" srcOrd="9"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6B5EFDE-41C4-4BA1-9A70-0C3B51839B38}"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36962A56-4682-4B69-A7FD-89BE149ACA46}">
      <dgm:prSet phldrT="[Text]" custT="1"/>
      <dgm:spPr/>
      <dgm:t>
        <a:bodyPr/>
        <a:lstStyle/>
        <a:p>
          <a:r>
            <a:rPr lang="en-US" sz="1050" b="1"/>
            <a:t>Update on Evolving Regulations</a:t>
          </a:r>
        </a:p>
      </dgm:t>
    </dgm:pt>
    <dgm:pt modelId="{AFA1F17D-C49E-4792-B625-F4A35C469B1F}" type="parTrans" cxnId="{AE943232-7FF6-48D4-9600-1BCA187DC580}">
      <dgm:prSet/>
      <dgm:spPr/>
      <dgm:t>
        <a:bodyPr/>
        <a:lstStyle/>
        <a:p>
          <a:endParaRPr lang="en-US" sz="1050" b="1"/>
        </a:p>
      </dgm:t>
    </dgm:pt>
    <dgm:pt modelId="{B2BBBDC9-097D-4036-8306-CC9D330651C9}" type="sibTrans" cxnId="{AE943232-7FF6-48D4-9600-1BCA187DC580}">
      <dgm:prSet/>
      <dgm:spPr/>
      <dgm:t>
        <a:bodyPr/>
        <a:lstStyle/>
        <a:p>
          <a:endParaRPr lang="en-US" sz="1050" b="1"/>
        </a:p>
      </dgm:t>
    </dgm:pt>
    <dgm:pt modelId="{98B5797C-F6D3-431E-AB06-628381945173}">
      <dgm:prSet phldrT="[Text]" custT="1"/>
      <dgm:spPr>
        <a:solidFill>
          <a:schemeClr val="bg2">
            <a:alpha val="90000"/>
          </a:schemeClr>
        </a:solidFill>
      </dgm:spPr>
      <dgm:t>
        <a:bodyPr/>
        <a:lstStyle/>
        <a:p>
          <a:r>
            <a:rPr lang="en-US" sz="1050" b="0">
              <a:solidFill>
                <a:schemeClr val="tx2"/>
              </a:solidFill>
            </a:rPr>
            <a:t>Ensure AI-based decisions are transparent, explainable to regulators</a:t>
          </a:r>
        </a:p>
      </dgm:t>
    </dgm:pt>
    <dgm:pt modelId="{C8F2BEB6-C143-4ECB-9783-348787F97891}" type="parTrans" cxnId="{042D37C2-2B3F-4874-BD20-69FDDB203206}">
      <dgm:prSet/>
      <dgm:spPr/>
      <dgm:t>
        <a:bodyPr/>
        <a:lstStyle/>
        <a:p>
          <a:endParaRPr lang="en-US" sz="1050" b="1"/>
        </a:p>
      </dgm:t>
    </dgm:pt>
    <dgm:pt modelId="{005FA88D-73EA-4599-B07E-34DFD3AF0D60}" type="sibTrans" cxnId="{042D37C2-2B3F-4874-BD20-69FDDB203206}">
      <dgm:prSet/>
      <dgm:spPr/>
      <dgm:t>
        <a:bodyPr/>
        <a:lstStyle/>
        <a:p>
          <a:endParaRPr lang="en-US" sz="1050" b="1"/>
        </a:p>
      </dgm:t>
    </dgm:pt>
    <dgm:pt modelId="{C8550D3F-4CFB-44BA-9A17-6D1F71184027}">
      <dgm:prSet phldrT="[Text]" custT="1"/>
      <dgm:spPr/>
      <dgm:t>
        <a:bodyPr/>
        <a:lstStyle/>
        <a:p>
          <a:r>
            <a:rPr lang="en-US" sz="1050" b="1"/>
            <a:t>Continuous Monitoring and Auditing</a:t>
          </a:r>
        </a:p>
      </dgm:t>
    </dgm:pt>
    <dgm:pt modelId="{79DC3E12-C2DB-4C39-8C6F-3412443FFAAF}" type="parTrans" cxnId="{6E9A0A8A-9828-4B21-9E1E-11AB994CB04D}">
      <dgm:prSet/>
      <dgm:spPr/>
      <dgm:t>
        <a:bodyPr/>
        <a:lstStyle/>
        <a:p>
          <a:endParaRPr lang="en-US" sz="1050" b="1"/>
        </a:p>
      </dgm:t>
    </dgm:pt>
    <dgm:pt modelId="{64470DB9-45FD-41B3-8045-DC0BEE8C93E5}" type="sibTrans" cxnId="{6E9A0A8A-9828-4B21-9E1E-11AB994CB04D}">
      <dgm:prSet/>
      <dgm:spPr/>
      <dgm:t>
        <a:bodyPr/>
        <a:lstStyle/>
        <a:p>
          <a:endParaRPr lang="en-US" sz="1050" b="1"/>
        </a:p>
      </dgm:t>
    </dgm:pt>
    <dgm:pt modelId="{C81E004F-99F2-4F8B-B675-F940E1A49455}">
      <dgm:prSet phldrT="[Text]" custT="1"/>
      <dgm:spPr>
        <a:solidFill>
          <a:schemeClr val="bg2">
            <a:alpha val="90000"/>
          </a:schemeClr>
        </a:solidFill>
      </dgm:spPr>
      <dgm:t>
        <a:bodyPr/>
        <a:lstStyle/>
        <a:p>
          <a:r>
            <a:rPr lang="en-US" sz="1050" b="0">
              <a:solidFill>
                <a:schemeClr val="tx2"/>
              </a:solidFill>
            </a:rPr>
            <a:t>Conduct automated monitoring and auditing along with regular manual reviews</a:t>
          </a:r>
        </a:p>
      </dgm:t>
    </dgm:pt>
    <dgm:pt modelId="{C08DC2A6-B42B-4EA2-8E52-F818A1B1F651}" type="parTrans" cxnId="{B09C23AB-202F-4B60-A76E-78FE7C49FF68}">
      <dgm:prSet/>
      <dgm:spPr/>
      <dgm:t>
        <a:bodyPr/>
        <a:lstStyle/>
        <a:p>
          <a:endParaRPr lang="en-US" sz="1050" b="1"/>
        </a:p>
      </dgm:t>
    </dgm:pt>
    <dgm:pt modelId="{8C5D0380-AFC0-40D3-A55E-9881370FFD6E}" type="sibTrans" cxnId="{B09C23AB-202F-4B60-A76E-78FE7C49FF68}">
      <dgm:prSet/>
      <dgm:spPr/>
      <dgm:t>
        <a:bodyPr/>
        <a:lstStyle/>
        <a:p>
          <a:endParaRPr lang="en-US" sz="1050" b="1"/>
        </a:p>
      </dgm:t>
    </dgm:pt>
    <dgm:pt modelId="{23E387AE-62CA-48FD-BE5B-513342A15A69}">
      <dgm:prSet phldrT="[Text]" custT="1"/>
      <dgm:spPr/>
      <dgm:t>
        <a:bodyPr/>
        <a:lstStyle/>
        <a:p>
          <a:r>
            <a:rPr lang="en-US" sz="1050" b="1"/>
            <a:t>Establish AI Governance &amp; Compliance Frameworks</a:t>
          </a:r>
        </a:p>
      </dgm:t>
    </dgm:pt>
    <dgm:pt modelId="{83DB9205-34BB-4F46-BB16-B00DAF896FBF}" type="parTrans" cxnId="{5E260A0E-9C7C-402C-BCAF-6C3D3BB320B9}">
      <dgm:prSet/>
      <dgm:spPr/>
      <dgm:t>
        <a:bodyPr/>
        <a:lstStyle/>
        <a:p>
          <a:endParaRPr lang="en-US" sz="1050" b="1"/>
        </a:p>
      </dgm:t>
    </dgm:pt>
    <dgm:pt modelId="{ABF74734-8B84-4703-8092-E96F8197577A}" type="sibTrans" cxnId="{5E260A0E-9C7C-402C-BCAF-6C3D3BB320B9}">
      <dgm:prSet/>
      <dgm:spPr/>
      <dgm:t>
        <a:bodyPr/>
        <a:lstStyle/>
        <a:p>
          <a:endParaRPr lang="en-US" sz="1050" b="1"/>
        </a:p>
      </dgm:t>
    </dgm:pt>
    <dgm:pt modelId="{6EBFA317-74AC-402B-B386-1E41E13399E1}">
      <dgm:prSet phldrT="[Text]" custT="1"/>
      <dgm:spPr>
        <a:solidFill>
          <a:schemeClr val="bg2">
            <a:alpha val="90000"/>
          </a:schemeClr>
        </a:solidFill>
      </dgm:spPr>
      <dgm:t>
        <a:bodyPr/>
        <a:lstStyle/>
        <a:p>
          <a:r>
            <a:rPr lang="en-US" sz="1050" b="0">
              <a:solidFill>
                <a:schemeClr val="tx2"/>
              </a:solidFill>
            </a:rPr>
            <a:t>Support in defining policies and procedures in compliance with regulations like GDPR, EU AI, HIPAA</a:t>
          </a:r>
        </a:p>
      </dgm:t>
    </dgm:pt>
    <dgm:pt modelId="{47475E24-185D-4442-B8A0-F6434BC94B74}" type="parTrans" cxnId="{67812A03-B15A-448F-A972-7804BCF52FB5}">
      <dgm:prSet/>
      <dgm:spPr/>
      <dgm:t>
        <a:bodyPr/>
        <a:lstStyle/>
        <a:p>
          <a:endParaRPr lang="en-US" sz="1050" b="1"/>
        </a:p>
      </dgm:t>
    </dgm:pt>
    <dgm:pt modelId="{0E545AA7-0A1B-4750-B460-B60E321F8C9B}" type="sibTrans" cxnId="{67812A03-B15A-448F-A972-7804BCF52FB5}">
      <dgm:prSet/>
      <dgm:spPr/>
      <dgm:t>
        <a:bodyPr/>
        <a:lstStyle/>
        <a:p>
          <a:endParaRPr lang="en-US" sz="1050" b="1"/>
        </a:p>
      </dgm:t>
    </dgm:pt>
    <dgm:pt modelId="{B19CF3D1-181A-49AA-9CE7-6B6C0D478470}">
      <dgm:prSet phldrT="[Text]" custT="1"/>
      <dgm:spPr>
        <a:solidFill>
          <a:schemeClr val="bg2">
            <a:alpha val="90000"/>
          </a:schemeClr>
        </a:solidFill>
      </dgm:spPr>
      <dgm:t>
        <a:bodyPr/>
        <a:lstStyle/>
        <a:p>
          <a:r>
            <a:rPr lang="en-US" sz="1050" b="0">
              <a:solidFill>
                <a:schemeClr val="tx2"/>
              </a:solidFill>
            </a:rPr>
            <a:t>Provide oversight on AI initiatives</a:t>
          </a:r>
        </a:p>
      </dgm:t>
    </dgm:pt>
    <dgm:pt modelId="{B97EDED2-1DB1-48DC-AF96-FC849C3C914A}" type="parTrans" cxnId="{760B3ED2-0E34-489C-8892-D5B3CC5832C4}">
      <dgm:prSet/>
      <dgm:spPr/>
      <dgm:t>
        <a:bodyPr/>
        <a:lstStyle/>
        <a:p>
          <a:endParaRPr lang="en-US" sz="1050" b="1"/>
        </a:p>
      </dgm:t>
    </dgm:pt>
    <dgm:pt modelId="{101D81C3-2325-4061-B14C-8444C035DCE3}" type="sibTrans" cxnId="{760B3ED2-0E34-489C-8892-D5B3CC5832C4}">
      <dgm:prSet/>
      <dgm:spPr/>
      <dgm:t>
        <a:bodyPr/>
        <a:lstStyle/>
        <a:p>
          <a:endParaRPr lang="en-US" sz="1050" b="1"/>
        </a:p>
      </dgm:t>
    </dgm:pt>
    <dgm:pt modelId="{17DDCD90-9C05-4FE6-86CB-C1E7BE4519A8}">
      <dgm:prSet phldrT="[Text]" custT="1"/>
      <dgm:spPr/>
      <dgm:t>
        <a:bodyPr/>
        <a:lstStyle/>
        <a:p>
          <a:r>
            <a:rPr lang="en-US" sz="1050" b="1"/>
            <a:t>Documentation and Transparency</a:t>
          </a:r>
        </a:p>
      </dgm:t>
    </dgm:pt>
    <dgm:pt modelId="{E0922464-96C0-4C30-BFFB-5F6F3A58BE56}" type="parTrans" cxnId="{0EC1B00A-94F2-4191-A70F-944C64C9972D}">
      <dgm:prSet/>
      <dgm:spPr/>
      <dgm:t>
        <a:bodyPr/>
        <a:lstStyle/>
        <a:p>
          <a:endParaRPr lang="en-US" sz="1100"/>
        </a:p>
      </dgm:t>
    </dgm:pt>
    <dgm:pt modelId="{544453C4-EAE7-4D61-AE12-D5D3E8507BD9}" type="sibTrans" cxnId="{0EC1B00A-94F2-4191-A70F-944C64C9972D}">
      <dgm:prSet/>
      <dgm:spPr/>
      <dgm:t>
        <a:bodyPr/>
        <a:lstStyle/>
        <a:p>
          <a:endParaRPr lang="en-US" sz="1100"/>
        </a:p>
      </dgm:t>
    </dgm:pt>
    <dgm:pt modelId="{3F1569D1-4C0A-4724-B63B-1A37549B1C75}">
      <dgm:prSet phldrT="[Text]" custT="1"/>
      <dgm:spPr>
        <a:solidFill>
          <a:schemeClr val="bg2">
            <a:alpha val="90000"/>
          </a:schemeClr>
        </a:solidFill>
      </dgm:spPr>
      <dgm:t>
        <a:bodyPr/>
        <a:lstStyle/>
        <a:p>
          <a:r>
            <a:rPr lang="en-US" sz="1050" b="0">
              <a:solidFill>
                <a:schemeClr val="tx2"/>
              </a:solidFill>
            </a:rPr>
            <a:t>Continuous update, employee training on regulatory changes</a:t>
          </a:r>
        </a:p>
      </dgm:t>
    </dgm:pt>
    <dgm:pt modelId="{6A48771D-353E-45B1-874D-631B215559B9}" type="parTrans" cxnId="{D23DA576-71D9-4DE7-8AF3-F8B45D4F49AF}">
      <dgm:prSet/>
      <dgm:spPr/>
      <dgm:t>
        <a:bodyPr/>
        <a:lstStyle/>
        <a:p>
          <a:endParaRPr lang="en-US" sz="1100"/>
        </a:p>
      </dgm:t>
    </dgm:pt>
    <dgm:pt modelId="{B2794300-E44E-4642-BE29-AE0DD4177E47}" type="sibTrans" cxnId="{D23DA576-71D9-4DE7-8AF3-F8B45D4F49AF}">
      <dgm:prSet/>
      <dgm:spPr/>
      <dgm:t>
        <a:bodyPr/>
        <a:lstStyle/>
        <a:p>
          <a:endParaRPr lang="en-US" sz="1100"/>
        </a:p>
      </dgm:t>
    </dgm:pt>
    <dgm:pt modelId="{6B0CD0C0-93A3-4B86-9A6B-A194A73D31E6}">
      <dgm:prSet phldrT="[Text]" custT="1"/>
      <dgm:spPr>
        <a:solidFill>
          <a:schemeClr val="bg2">
            <a:alpha val="90000"/>
          </a:schemeClr>
        </a:solidFill>
      </dgm:spPr>
      <dgm:t>
        <a:bodyPr/>
        <a:lstStyle/>
        <a:p>
          <a:r>
            <a:rPr lang="en-US" sz="1050" b="0">
              <a:solidFill>
                <a:schemeClr val="tx2"/>
              </a:solidFill>
            </a:rPr>
            <a:t>Support with research &amp; POVs to help participate in industry events and forums</a:t>
          </a:r>
        </a:p>
      </dgm:t>
    </dgm:pt>
    <dgm:pt modelId="{0AABD253-78B0-4AC5-A6C2-62DC900DD870}" type="parTrans" cxnId="{6B6A8B25-3E8F-44EF-BA27-2710E8C59B3A}">
      <dgm:prSet/>
      <dgm:spPr/>
      <dgm:t>
        <a:bodyPr/>
        <a:lstStyle/>
        <a:p>
          <a:endParaRPr lang="en-US" sz="1100"/>
        </a:p>
      </dgm:t>
    </dgm:pt>
    <dgm:pt modelId="{166561DF-44C0-4A7C-B6EC-33D32D560252}" type="sibTrans" cxnId="{6B6A8B25-3E8F-44EF-BA27-2710E8C59B3A}">
      <dgm:prSet/>
      <dgm:spPr/>
      <dgm:t>
        <a:bodyPr/>
        <a:lstStyle/>
        <a:p>
          <a:endParaRPr lang="en-US" sz="1100"/>
        </a:p>
      </dgm:t>
    </dgm:pt>
    <dgm:pt modelId="{E72FC928-EE35-4F05-9414-1F1CCCBE1C88}">
      <dgm:prSet phldrT="[Text]" custT="1"/>
      <dgm:spPr/>
      <dgm:t>
        <a:bodyPr/>
        <a:lstStyle/>
        <a:p>
          <a:r>
            <a:rPr lang="en-US" sz="1050" b="1"/>
            <a:t>Risk Assessment &amp; Predictive Compliance</a:t>
          </a:r>
        </a:p>
      </dgm:t>
    </dgm:pt>
    <dgm:pt modelId="{08B5389C-BE01-435E-B8D4-53C8ADE36A5F}" type="parTrans" cxnId="{B4B98246-BB33-45AB-A216-BD16F14F14DD}">
      <dgm:prSet/>
      <dgm:spPr/>
      <dgm:t>
        <a:bodyPr/>
        <a:lstStyle/>
        <a:p>
          <a:endParaRPr lang="en-US" sz="1100"/>
        </a:p>
      </dgm:t>
    </dgm:pt>
    <dgm:pt modelId="{0F3AB94A-D5B0-4D85-A204-4CA85AFE4B54}" type="sibTrans" cxnId="{B4B98246-BB33-45AB-A216-BD16F14F14DD}">
      <dgm:prSet/>
      <dgm:spPr/>
      <dgm:t>
        <a:bodyPr/>
        <a:lstStyle/>
        <a:p>
          <a:endParaRPr lang="en-US" sz="1100"/>
        </a:p>
      </dgm:t>
    </dgm:pt>
    <dgm:pt modelId="{E1A1B847-C679-4329-8A08-28F9620B2FDA}">
      <dgm:prSet phldrT="[Text]" custT="1"/>
      <dgm:spPr>
        <a:solidFill>
          <a:schemeClr val="bg2">
            <a:alpha val="90000"/>
          </a:schemeClr>
        </a:solidFill>
      </dgm:spPr>
      <dgm:t>
        <a:bodyPr/>
        <a:lstStyle/>
        <a:p>
          <a:r>
            <a:rPr lang="en-US" sz="1050" b="0">
              <a:solidFill>
                <a:schemeClr val="tx2"/>
              </a:solidFill>
            </a:rPr>
            <a:t>Conduct assessments to identify compliance risks</a:t>
          </a:r>
        </a:p>
      </dgm:t>
    </dgm:pt>
    <dgm:pt modelId="{6B6C8EB4-B607-43CB-B1EB-05E81C54328C}" type="parTrans" cxnId="{0A6F62DD-7CE8-4D8C-A493-514A843CDBD6}">
      <dgm:prSet/>
      <dgm:spPr/>
      <dgm:t>
        <a:bodyPr/>
        <a:lstStyle/>
        <a:p>
          <a:endParaRPr lang="en-US" sz="1100"/>
        </a:p>
      </dgm:t>
    </dgm:pt>
    <dgm:pt modelId="{5E0EF044-B27B-4AD6-A55B-6C2D262B99C3}" type="sibTrans" cxnId="{0A6F62DD-7CE8-4D8C-A493-514A843CDBD6}">
      <dgm:prSet/>
      <dgm:spPr/>
      <dgm:t>
        <a:bodyPr/>
        <a:lstStyle/>
        <a:p>
          <a:endParaRPr lang="en-US" sz="1100"/>
        </a:p>
      </dgm:t>
    </dgm:pt>
    <dgm:pt modelId="{FC8D3590-0E9C-4C61-8549-AE62003D04DB}">
      <dgm:prSet phldrT="[Text]" custT="1"/>
      <dgm:spPr>
        <a:solidFill>
          <a:schemeClr val="bg2">
            <a:alpha val="90000"/>
          </a:schemeClr>
        </a:solidFill>
      </dgm:spPr>
      <dgm:t>
        <a:bodyPr/>
        <a:lstStyle/>
        <a:p>
          <a:r>
            <a:rPr lang="en-US" sz="1050" b="0">
              <a:solidFill>
                <a:schemeClr val="tx2"/>
              </a:solidFill>
            </a:rPr>
            <a:t>Use historical data to forecast compliance trends &amp; risks</a:t>
          </a:r>
        </a:p>
      </dgm:t>
    </dgm:pt>
    <dgm:pt modelId="{E8134E4A-135D-404C-9731-B175BCAA6E56}" type="parTrans" cxnId="{40B42D2E-5B5F-4D89-AD85-84DCCC717DD0}">
      <dgm:prSet/>
      <dgm:spPr/>
      <dgm:t>
        <a:bodyPr/>
        <a:lstStyle/>
        <a:p>
          <a:endParaRPr lang="en-US" sz="1200"/>
        </a:p>
      </dgm:t>
    </dgm:pt>
    <dgm:pt modelId="{6E039AAE-2994-4F87-9106-92401DA85A4A}" type="sibTrans" cxnId="{40B42D2E-5B5F-4D89-AD85-84DCCC717DD0}">
      <dgm:prSet/>
      <dgm:spPr/>
      <dgm:t>
        <a:bodyPr/>
        <a:lstStyle/>
        <a:p>
          <a:endParaRPr lang="en-US" sz="1200"/>
        </a:p>
      </dgm:t>
    </dgm:pt>
    <dgm:pt modelId="{A13B3ECE-DF5F-45AF-A810-5CC611F9D90B}">
      <dgm:prSet phldrT="[Text]" custT="1"/>
      <dgm:spPr>
        <a:solidFill>
          <a:schemeClr val="bg2">
            <a:alpha val="90000"/>
          </a:schemeClr>
        </a:solidFill>
      </dgm:spPr>
      <dgm:t>
        <a:bodyPr/>
        <a:lstStyle/>
        <a:p>
          <a:r>
            <a:rPr lang="en-US" sz="1050" b="0">
              <a:solidFill>
                <a:schemeClr val="tx2"/>
              </a:solidFill>
            </a:rPr>
            <a:t>Provide documentation support</a:t>
          </a:r>
        </a:p>
      </dgm:t>
    </dgm:pt>
    <dgm:pt modelId="{739D959C-79DF-4CB8-9F29-9EB5D64EA0AD}" type="parTrans" cxnId="{90D4617D-8CB8-471E-82B1-63C464004B07}">
      <dgm:prSet/>
      <dgm:spPr/>
      <dgm:t>
        <a:bodyPr/>
        <a:lstStyle/>
        <a:p>
          <a:endParaRPr lang="en-US" sz="1200"/>
        </a:p>
      </dgm:t>
    </dgm:pt>
    <dgm:pt modelId="{AF40F899-F337-437E-ADAA-F378DE6C8717}" type="sibTrans" cxnId="{90D4617D-8CB8-471E-82B1-63C464004B07}">
      <dgm:prSet/>
      <dgm:spPr/>
      <dgm:t>
        <a:bodyPr/>
        <a:lstStyle/>
        <a:p>
          <a:endParaRPr lang="en-US" sz="1200"/>
        </a:p>
      </dgm:t>
    </dgm:pt>
    <dgm:pt modelId="{74F6BE91-9CA1-48BB-821F-96E8B2198A90}" type="pres">
      <dgm:prSet presAssocID="{46B5EFDE-41C4-4BA1-9A70-0C3B51839B38}" presName="Name0" presStyleCnt="0">
        <dgm:presLayoutVars>
          <dgm:dir/>
          <dgm:animLvl val="lvl"/>
          <dgm:resizeHandles val="exact"/>
        </dgm:presLayoutVars>
      </dgm:prSet>
      <dgm:spPr/>
    </dgm:pt>
    <dgm:pt modelId="{AED41F23-9563-431C-B203-DFE6E77AAA33}" type="pres">
      <dgm:prSet presAssocID="{E72FC928-EE35-4F05-9414-1F1CCCBE1C88}" presName="linNode" presStyleCnt="0"/>
      <dgm:spPr/>
    </dgm:pt>
    <dgm:pt modelId="{4EF0EB78-8A76-4923-B963-60C5F4FAF7DC}" type="pres">
      <dgm:prSet presAssocID="{E72FC928-EE35-4F05-9414-1F1CCCBE1C88}" presName="parentText" presStyleLbl="node1" presStyleIdx="0" presStyleCnt="5">
        <dgm:presLayoutVars>
          <dgm:chMax val="1"/>
          <dgm:bulletEnabled val="1"/>
        </dgm:presLayoutVars>
      </dgm:prSet>
      <dgm:spPr/>
    </dgm:pt>
    <dgm:pt modelId="{17F1628B-8FC8-48EF-8732-CAF950946534}" type="pres">
      <dgm:prSet presAssocID="{E72FC928-EE35-4F05-9414-1F1CCCBE1C88}" presName="descendantText" presStyleLbl="alignAccFollowNode1" presStyleIdx="0" presStyleCnt="5">
        <dgm:presLayoutVars>
          <dgm:bulletEnabled val="1"/>
        </dgm:presLayoutVars>
      </dgm:prSet>
      <dgm:spPr/>
    </dgm:pt>
    <dgm:pt modelId="{9D65CC42-22BD-4C07-B52D-BEB82AAEAF84}" type="pres">
      <dgm:prSet presAssocID="{0F3AB94A-D5B0-4D85-A204-4CA85AFE4B54}" presName="sp" presStyleCnt="0"/>
      <dgm:spPr/>
    </dgm:pt>
    <dgm:pt modelId="{F0F85861-B74A-4A00-A541-6D1D206653AC}" type="pres">
      <dgm:prSet presAssocID="{36962A56-4682-4B69-A7FD-89BE149ACA46}" presName="linNode" presStyleCnt="0"/>
      <dgm:spPr/>
    </dgm:pt>
    <dgm:pt modelId="{F5FB06C1-A7BF-477E-9862-55421B1018BB}" type="pres">
      <dgm:prSet presAssocID="{36962A56-4682-4B69-A7FD-89BE149ACA46}" presName="parentText" presStyleLbl="node1" presStyleIdx="1" presStyleCnt="5">
        <dgm:presLayoutVars>
          <dgm:chMax val="1"/>
          <dgm:bulletEnabled val="1"/>
        </dgm:presLayoutVars>
      </dgm:prSet>
      <dgm:spPr/>
    </dgm:pt>
    <dgm:pt modelId="{917227AB-912C-439C-B578-946776429B7F}" type="pres">
      <dgm:prSet presAssocID="{36962A56-4682-4B69-A7FD-89BE149ACA46}" presName="descendantText" presStyleLbl="alignAccFollowNode1" presStyleIdx="1" presStyleCnt="5">
        <dgm:presLayoutVars>
          <dgm:bulletEnabled val="1"/>
        </dgm:presLayoutVars>
      </dgm:prSet>
      <dgm:spPr/>
    </dgm:pt>
    <dgm:pt modelId="{9C04AE63-CA03-4B5A-866D-FE9313EA8535}" type="pres">
      <dgm:prSet presAssocID="{B2BBBDC9-097D-4036-8306-CC9D330651C9}" presName="sp" presStyleCnt="0"/>
      <dgm:spPr/>
    </dgm:pt>
    <dgm:pt modelId="{2874734C-2D14-4912-8454-56430E9B0BE1}" type="pres">
      <dgm:prSet presAssocID="{17DDCD90-9C05-4FE6-86CB-C1E7BE4519A8}" presName="linNode" presStyleCnt="0"/>
      <dgm:spPr/>
    </dgm:pt>
    <dgm:pt modelId="{5C71EF53-CC67-4515-944C-B4E07CA5D6CE}" type="pres">
      <dgm:prSet presAssocID="{17DDCD90-9C05-4FE6-86CB-C1E7BE4519A8}" presName="parentText" presStyleLbl="node1" presStyleIdx="2" presStyleCnt="5">
        <dgm:presLayoutVars>
          <dgm:chMax val="1"/>
          <dgm:bulletEnabled val="1"/>
        </dgm:presLayoutVars>
      </dgm:prSet>
      <dgm:spPr/>
    </dgm:pt>
    <dgm:pt modelId="{D6B8DB90-9F46-4190-9BA4-5E06B0D0FD3B}" type="pres">
      <dgm:prSet presAssocID="{17DDCD90-9C05-4FE6-86CB-C1E7BE4519A8}" presName="descendantText" presStyleLbl="alignAccFollowNode1" presStyleIdx="2" presStyleCnt="5">
        <dgm:presLayoutVars>
          <dgm:bulletEnabled val="1"/>
        </dgm:presLayoutVars>
      </dgm:prSet>
      <dgm:spPr/>
    </dgm:pt>
    <dgm:pt modelId="{C26C34C4-9440-44B6-8A85-C59BFB6DD19F}" type="pres">
      <dgm:prSet presAssocID="{544453C4-EAE7-4D61-AE12-D5D3E8507BD9}" presName="sp" presStyleCnt="0"/>
      <dgm:spPr/>
    </dgm:pt>
    <dgm:pt modelId="{93FA2968-B688-4799-9757-7580A9379C24}" type="pres">
      <dgm:prSet presAssocID="{C8550D3F-4CFB-44BA-9A17-6D1F71184027}" presName="linNode" presStyleCnt="0"/>
      <dgm:spPr/>
    </dgm:pt>
    <dgm:pt modelId="{DA528B54-DA5B-4982-924B-6828A69E6609}" type="pres">
      <dgm:prSet presAssocID="{C8550D3F-4CFB-44BA-9A17-6D1F71184027}" presName="parentText" presStyleLbl="node1" presStyleIdx="3" presStyleCnt="5">
        <dgm:presLayoutVars>
          <dgm:chMax val="1"/>
          <dgm:bulletEnabled val="1"/>
        </dgm:presLayoutVars>
      </dgm:prSet>
      <dgm:spPr/>
    </dgm:pt>
    <dgm:pt modelId="{CAB2E287-7238-4B5B-A978-0B843F2B52F5}" type="pres">
      <dgm:prSet presAssocID="{C8550D3F-4CFB-44BA-9A17-6D1F71184027}" presName="descendantText" presStyleLbl="alignAccFollowNode1" presStyleIdx="3" presStyleCnt="5">
        <dgm:presLayoutVars>
          <dgm:bulletEnabled val="1"/>
        </dgm:presLayoutVars>
      </dgm:prSet>
      <dgm:spPr/>
    </dgm:pt>
    <dgm:pt modelId="{ADE70B13-D415-4A05-B205-4FD316DED479}" type="pres">
      <dgm:prSet presAssocID="{64470DB9-45FD-41B3-8045-DC0BEE8C93E5}" presName="sp" presStyleCnt="0"/>
      <dgm:spPr/>
    </dgm:pt>
    <dgm:pt modelId="{5F69F12E-00A9-4C1A-BEF5-038E2A692AC1}" type="pres">
      <dgm:prSet presAssocID="{23E387AE-62CA-48FD-BE5B-513342A15A69}" presName="linNode" presStyleCnt="0"/>
      <dgm:spPr/>
    </dgm:pt>
    <dgm:pt modelId="{1450F3AB-CCE1-48A1-AF2A-9BF9F68A4893}" type="pres">
      <dgm:prSet presAssocID="{23E387AE-62CA-48FD-BE5B-513342A15A69}" presName="parentText" presStyleLbl="node1" presStyleIdx="4" presStyleCnt="5">
        <dgm:presLayoutVars>
          <dgm:chMax val="1"/>
          <dgm:bulletEnabled val="1"/>
        </dgm:presLayoutVars>
      </dgm:prSet>
      <dgm:spPr/>
    </dgm:pt>
    <dgm:pt modelId="{9EF56E80-2125-4E38-844E-B2F485D9E1E0}" type="pres">
      <dgm:prSet presAssocID="{23E387AE-62CA-48FD-BE5B-513342A15A69}" presName="descendantText" presStyleLbl="alignAccFollowNode1" presStyleIdx="4" presStyleCnt="5">
        <dgm:presLayoutVars>
          <dgm:bulletEnabled val="1"/>
        </dgm:presLayoutVars>
      </dgm:prSet>
      <dgm:spPr/>
    </dgm:pt>
  </dgm:ptLst>
  <dgm:cxnLst>
    <dgm:cxn modelId="{67812A03-B15A-448F-A972-7804BCF52FB5}" srcId="{23E387AE-62CA-48FD-BE5B-513342A15A69}" destId="{6EBFA317-74AC-402B-B386-1E41E13399E1}" srcOrd="0" destOrd="0" parTransId="{47475E24-185D-4442-B8A0-F6434BC94B74}" sibTransId="{0E545AA7-0A1B-4750-B460-B60E321F8C9B}"/>
    <dgm:cxn modelId="{0EC1B00A-94F2-4191-A70F-944C64C9972D}" srcId="{46B5EFDE-41C4-4BA1-9A70-0C3B51839B38}" destId="{17DDCD90-9C05-4FE6-86CB-C1E7BE4519A8}" srcOrd="2" destOrd="0" parTransId="{E0922464-96C0-4C30-BFFB-5F6F3A58BE56}" sibTransId="{544453C4-EAE7-4D61-AE12-D5D3E8507BD9}"/>
    <dgm:cxn modelId="{5906EB0C-B653-4184-B770-3D74F0E900BB}" type="presOf" srcId="{46B5EFDE-41C4-4BA1-9A70-0C3B51839B38}" destId="{74F6BE91-9CA1-48BB-821F-96E8B2198A90}" srcOrd="0" destOrd="0" presId="urn:microsoft.com/office/officeart/2005/8/layout/vList5"/>
    <dgm:cxn modelId="{5E260A0E-9C7C-402C-BCAF-6C3D3BB320B9}" srcId="{46B5EFDE-41C4-4BA1-9A70-0C3B51839B38}" destId="{23E387AE-62CA-48FD-BE5B-513342A15A69}" srcOrd="4" destOrd="0" parTransId="{83DB9205-34BB-4F46-BB16-B00DAF896FBF}" sibTransId="{ABF74734-8B84-4703-8092-E96F8197577A}"/>
    <dgm:cxn modelId="{26108C1B-4A23-453E-A96C-D65DEBE03C79}" type="presOf" srcId="{FC8D3590-0E9C-4C61-8549-AE62003D04DB}" destId="{17F1628B-8FC8-48EF-8732-CAF950946534}" srcOrd="0" destOrd="1" presId="urn:microsoft.com/office/officeart/2005/8/layout/vList5"/>
    <dgm:cxn modelId="{6B6A8B25-3E8F-44EF-BA27-2710E8C59B3A}" srcId="{36962A56-4682-4B69-A7FD-89BE149ACA46}" destId="{6B0CD0C0-93A3-4B86-9A6B-A194A73D31E6}" srcOrd="1" destOrd="0" parTransId="{0AABD253-78B0-4AC5-A6C2-62DC900DD870}" sibTransId="{166561DF-44C0-4A7C-B6EC-33D32D560252}"/>
    <dgm:cxn modelId="{40B42D2E-5B5F-4D89-AD85-84DCCC717DD0}" srcId="{E72FC928-EE35-4F05-9414-1F1CCCBE1C88}" destId="{FC8D3590-0E9C-4C61-8549-AE62003D04DB}" srcOrd="1" destOrd="0" parTransId="{E8134E4A-135D-404C-9731-B175BCAA6E56}" sibTransId="{6E039AAE-2994-4F87-9106-92401DA85A4A}"/>
    <dgm:cxn modelId="{AE943232-7FF6-48D4-9600-1BCA187DC580}" srcId="{46B5EFDE-41C4-4BA1-9A70-0C3B51839B38}" destId="{36962A56-4682-4B69-A7FD-89BE149ACA46}" srcOrd="1" destOrd="0" parTransId="{AFA1F17D-C49E-4792-B625-F4A35C469B1F}" sibTransId="{B2BBBDC9-097D-4036-8306-CC9D330651C9}"/>
    <dgm:cxn modelId="{D7A04035-F66A-4771-839B-37128D5E5438}" type="presOf" srcId="{6B0CD0C0-93A3-4B86-9A6B-A194A73D31E6}" destId="{917227AB-912C-439C-B578-946776429B7F}" srcOrd="0" destOrd="1" presId="urn:microsoft.com/office/officeart/2005/8/layout/vList5"/>
    <dgm:cxn modelId="{B4B98246-BB33-45AB-A216-BD16F14F14DD}" srcId="{46B5EFDE-41C4-4BA1-9A70-0C3B51839B38}" destId="{E72FC928-EE35-4F05-9414-1F1CCCBE1C88}" srcOrd="0" destOrd="0" parTransId="{08B5389C-BE01-435E-B8D4-53C8ADE36A5F}" sibTransId="{0F3AB94A-D5B0-4D85-A204-4CA85AFE4B54}"/>
    <dgm:cxn modelId="{440CD66A-BDEE-4FA6-B57F-EAC13487A3FE}" type="presOf" srcId="{3F1569D1-4C0A-4724-B63B-1A37549B1C75}" destId="{917227AB-912C-439C-B578-946776429B7F}" srcOrd="0" destOrd="0" presId="urn:microsoft.com/office/officeart/2005/8/layout/vList5"/>
    <dgm:cxn modelId="{1BB33D6C-7DDA-49EE-A49D-97509033E5F2}" type="presOf" srcId="{C81E004F-99F2-4F8B-B675-F940E1A49455}" destId="{CAB2E287-7238-4B5B-A978-0B843F2B52F5}" srcOrd="0" destOrd="0" presId="urn:microsoft.com/office/officeart/2005/8/layout/vList5"/>
    <dgm:cxn modelId="{270C596D-7581-4C19-A2DA-3D77A0928D04}" type="presOf" srcId="{17DDCD90-9C05-4FE6-86CB-C1E7BE4519A8}" destId="{5C71EF53-CC67-4515-944C-B4E07CA5D6CE}" srcOrd="0" destOrd="0" presId="urn:microsoft.com/office/officeart/2005/8/layout/vList5"/>
    <dgm:cxn modelId="{8062DC70-08C9-4D78-8173-DF0CB5B85019}" type="presOf" srcId="{98B5797C-F6D3-431E-AB06-628381945173}" destId="{D6B8DB90-9F46-4190-9BA4-5E06B0D0FD3B}" srcOrd="0" destOrd="0" presId="urn:microsoft.com/office/officeart/2005/8/layout/vList5"/>
    <dgm:cxn modelId="{D23DA576-71D9-4DE7-8AF3-F8B45D4F49AF}" srcId="{36962A56-4682-4B69-A7FD-89BE149ACA46}" destId="{3F1569D1-4C0A-4724-B63B-1A37549B1C75}" srcOrd="0" destOrd="0" parTransId="{6A48771D-353E-45B1-874D-631B215559B9}" sibTransId="{B2794300-E44E-4642-BE29-AE0DD4177E47}"/>
    <dgm:cxn modelId="{DC6A597B-4E07-47FA-B802-BAC33F677B30}" type="presOf" srcId="{E72FC928-EE35-4F05-9414-1F1CCCBE1C88}" destId="{4EF0EB78-8A76-4923-B963-60C5F4FAF7DC}" srcOrd="0" destOrd="0" presId="urn:microsoft.com/office/officeart/2005/8/layout/vList5"/>
    <dgm:cxn modelId="{90D4617D-8CB8-471E-82B1-63C464004B07}" srcId="{17DDCD90-9C05-4FE6-86CB-C1E7BE4519A8}" destId="{A13B3ECE-DF5F-45AF-A810-5CC611F9D90B}" srcOrd="1" destOrd="0" parTransId="{739D959C-79DF-4CB8-9F29-9EB5D64EA0AD}" sibTransId="{AF40F899-F337-437E-ADAA-F378DE6C8717}"/>
    <dgm:cxn modelId="{6E9A0A8A-9828-4B21-9E1E-11AB994CB04D}" srcId="{46B5EFDE-41C4-4BA1-9A70-0C3B51839B38}" destId="{C8550D3F-4CFB-44BA-9A17-6D1F71184027}" srcOrd="3" destOrd="0" parTransId="{79DC3E12-C2DB-4C39-8C6F-3412443FFAAF}" sibTransId="{64470DB9-45FD-41B3-8045-DC0BEE8C93E5}"/>
    <dgm:cxn modelId="{B09C23AB-202F-4B60-A76E-78FE7C49FF68}" srcId="{C8550D3F-4CFB-44BA-9A17-6D1F71184027}" destId="{C81E004F-99F2-4F8B-B675-F940E1A49455}" srcOrd="0" destOrd="0" parTransId="{C08DC2A6-B42B-4EA2-8E52-F818A1B1F651}" sibTransId="{8C5D0380-AFC0-40D3-A55E-9881370FFD6E}"/>
    <dgm:cxn modelId="{6FDCA7BC-73A8-4780-AAE7-E0F8624D773D}" type="presOf" srcId="{36962A56-4682-4B69-A7FD-89BE149ACA46}" destId="{F5FB06C1-A7BF-477E-9862-55421B1018BB}" srcOrd="0" destOrd="0" presId="urn:microsoft.com/office/officeart/2005/8/layout/vList5"/>
    <dgm:cxn modelId="{042D37C2-2B3F-4874-BD20-69FDDB203206}" srcId="{17DDCD90-9C05-4FE6-86CB-C1E7BE4519A8}" destId="{98B5797C-F6D3-431E-AB06-628381945173}" srcOrd="0" destOrd="0" parTransId="{C8F2BEB6-C143-4ECB-9783-348787F97891}" sibTransId="{005FA88D-73EA-4599-B07E-34DFD3AF0D60}"/>
    <dgm:cxn modelId="{760B3ED2-0E34-489C-8892-D5B3CC5832C4}" srcId="{23E387AE-62CA-48FD-BE5B-513342A15A69}" destId="{B19CF3D1-181A-49AA-9CE7-6B6C0D478470}" srcOrd="1" destOrd="0" parTransId="{B97EDED2-1DB1-48DC-AF96-FC849C3C914A}" sibTransId="{101D81C3-2325-4061-B14C-8444C035DCE3}"/>
    <dgm:cxn modelId="{8C28C4D3-8458-4E59-BEFF-ED8A18BAA443}" type="presOf" srcId="{6EBFA317-74AC-402B-B386-1E41E13399E1}" destId="{9EF56E80-2125-4E38-844E-B2F485D9E1E0}" srcOrd="0" destOrd="0" presId="urn:microsoft.com/office/officeart/2005/8/layout/vList5"/>
    <dgm:cxn modelId="{0A6F62DD-7CE8-4D8C-A493-514A843CDBD6}" srcId="{E72FC928-EE35-4F05-9414-1F1CCCBE1C88}" destId="{E1A1B847-C679-4329-8A08-28F9620B2FDA}" srcOrd="0" destOrd="0" parTransId="{6B6C8EB4-B607-43CB-B1EB-05E81C54328C}" sibTransId="{5E0EF044-B27B-4AD6-A55B-6C2D262B99C3}"/>
    <dgm:cxn modelId="{D1388AE1-2A11-4C8B-9965-00EE9C498B02}" type="presOf" srcId="{A13B3ECE-DF5F-45AF-A810-5CC611F9D90B}" destId="{D6B8DB90-9F46-4190-9BA4-5E06B0D0FD3B}" srcOrd="0" destOrd="1" presId="urn:microsoft.com/office/officeart/2005/8/layout/vList5"/>
    <dgm:cxn modelId="{6817A5F4-8518-4C12-AE58-E2C9574903A3}" type="presOf" srcId="{C8550D3F-4CFB-44BA-9A17-6D1F71184027}" destId="{DA528B54-DA5B-4982-924B-6828A69E6609}" srcOrd="0" destOrd="0" presId="urn:microsoft.com/office/officeart/2005/8/layout/vList5"/>
    <dgm:cxn modelId="{B9747AF6-C913-415D-9078-60591731AA31}" type="presOf" srcId="{E1A1B847-C679-4329-8A08-28F9620B2FDA}" destId="{17F1628B-8FC8-48EF-8732-CAF950946534}" srcOrd="0" destOrd="0" presId="urn:microsoft.com/office/officeart/2005/8/layout/vList5"/>
    <dgm:cxn modelId="{838BADFA-6E2D-4B33-B69C-C542607E13CD}" type="presOf" srcId="{23E387AE-62CA-48FD-BE5B-513342A15A69}" destId="{1450F3AB-CCE1-48A1-AF2A-9BF9F68A4893}" srcOrd="0" destOrd="0" presId="urn:microsoft.com/office/officeart/2005/8/layout/vList5"/>
    <dgm:cxn modelId="{901655FE-1704-47A6-86D2-A0BFF8FA96AB}" type="presOf" srcId="{B19CF3D1-181A-49AA-9CE7-6B6C0D478470}" destId="{9EF56E80-2125-4E38-844E-B2F485D9E1E0}" srcOrd="0" destOrd="1" presId="urn:microsoft.com/office/officeart/2005/8/layout/vList5"/>
    <dgm:cxn modelId="{6A673913-8AF5-41CF-BC9D-E8A487166AF9}" type="presParOf" srcId="{74F6BE91-9CA1-48BB-821F-96E8B2198A90}" destId="{AED41F23-9563-431C-B203-DFE6E77AAA33}" srcOrd="0" destOrd="0" presId="urn:microsoft.com/office/officeart/2005/8/layout/vList5"/>
    <dgm:cxn modelId="{29918BAC-5FEF-4BD9-A33A-077B50F1FFC0}" type="presParOf" srcId="{AED41F23-9563-431C-B203-DFE6E77AAA33}" destId="{4EF0EB78-8A76-4923-B963-60C5F4FAF7DC}" srcOrd="0" destOrd="0" presId="urn:microsoft.com/office/officeart/2005/8/layout/vList5"/>
    <dgm:cxn modelId="{C8A661F5-166D-4807-B831-09D46A15A4BE}" type="presParOf" srcId="{AED41F23-9563-431C-B203-DFE6E77AAA33}" destId="{17F1628B-8FC8-48EF-8732-CAF950946534}" srcOrd="1" destOrd="0" presId="urn:microsoft.com/office/officeart/2005/8/layout/vList5"/>
    <dgm:cxn modelId="{7FADDCA3-B89A-49D6-B68A-197004781FBF}" type="presParOf" srcId="{74F6BE91-9CA1-48BB-821F-96E8B2198A90}" destId="{9D65CC42-22BD-4C07-B52D-BEB82AAEAF84}" srcOrd="1" destOrd="0" presId="urn:microsoft.com/office/officeart/2005/8/layout/vList5"/>
    <dgm:cxn modelId="{4F2F9988-4C62-4789-8252-6C78B1957946}" type="presParOf" srcId="{74F6BE91-9CA1-48BB-821F-96E8B2198A90}" destId="{F0F85861-B74A-4A00-A541-6D1D206653AC}" srcOrd="2" destOrd="0" presId="urn:microsoft.com/office/officeart/2005/8/layout/vList5"/>
    <dgm:cxn modelId="{1D084D35-3156-41E7-9582-1B716E49F2B9}" type="presParOf" srcId="{F0F85861-B74A-4A00-A541-6D1D206653AC}" destId="{F5FB06C1-A7BF-477E-9862-55421B1018BB}" srcOrd="0" destOrd="0" presId="urn:microsoft.com/office/officeart/2005/8/layout/vList5"/>
    <dgm:cxn modelId="{40861443-6D8F-41FE-BC6A-11D7B2D2795D}" type="presParOf" srcId="{F0F85861-B74A-4A00-A541-6D1D206653AC}" destId="{917227AB-912C-439C-B578-946776429B7F}" srcOrd="1" destOrd="0" presId="urn:microsoft.com/office/officeart/2005/8/layout/vList5"/>
    <dgm:cxn modelId="{D05DF14B-EA21-4F34-8B0E-3B77C58ED731}" type="presParOf" srcId="{74F6BE91-9CA1-48BB-821F-96E8B2198A90}" destId="{9C04AE63-CA03-4B5A-866D-FE9313EA8535}" srcOrd="3" destOrd="0" presId="urn:microsoft.com/office/officeart/2005/8/layout/vList5"/>
    <dgm:cxn modelId="{9AFA5451-A9AC-44FF-8EBE-CA8746963A36}" type="presParOf" srcId="{74F6BE91-9CA1-48BB-821F-96E8B2198A90}" destId="{2874734C-2D14-4912-8454-56430E9B0BE1}" srcOrd="4" destOrd="0" presId="urn:microsoft.com/office/officeart/2005/8/layout/vList5"/>
    <dgm:cxn modelId="{865E1D7B-F77D-4DA1-8ABF-7BF84068FB21}" type="presParOf" srcId="{2874734C-2D14-4912-8454-56430E9B0BE1}" destId="{5C71EF53-CC67-4515-944C-B4E07CA5D6CE}" srcOrd="0" destOrd="0" presId="urn:microsoft.com/office/officeart/2005/8/layout/vList5"/>
    <dgm:cxn modelId="{128C2F88-8830-41BB-B31C-28A3019DA2F5}" type="presParOf" srcId="{2874734C-2D14-4912-8454-56430E9B0BE1}" destId="{D6B8DB90-9F46-4190-9BA4-5E06B0D0FD3B}" srcOrd="1" destOrd="0" presId="urn:microsoft.com/office/officeart/2005/8/layout/vList5"/>
    <dgm:cxn modelId="{4E8EF36C-6B39-4A7C-9C00-999E6B321908}" type="presParOf" srcId="{74F6BE91-9CA1-48BB-821F-96E8B2198A90}" destId="{C26C34C4-9440-44B6-8A85-C59BFB6DD19F}" srcOrd="5" destOrd="0" presId="urn:microsoft.com/office/officeart/2005/8/layout/vList5"/>
    <dgm:cxn modelId="{6DEA9687-A05D-4AE8-9E4A-DA96BEAA0253}" type="presParOf" srcId="{74F6BE91-9CA1-48BB-821F-96E8B2198A90}" destId="{93FA2968-B688-4799-9757-7580A9379C24}" srcOrd="6" destOrd="0" presId="urn:microsoft.com/office/officeart/2005/8/layout/vList5"/>
    <dgm:cxn modelId="{69BB4E2A-FAF0-4538-BA63-540F9B2889A6}" type="presParOf" srcId="{93FA2968-B688-4799-9757-7580A9379C24}" destId="{DA528B54-DA5B-4982-924B-6828A69E6609}" srcOrd="0" destOrd="0" presId="urn:microsoft.com/office/officeart/2005/8/layout/vList5"/>
    <dgm:cxn modelId="{02B5F5B0-CF3B-4E28-8F30-D81E2DC724EF}" type="presParOf" srcId="{93FA2968-B688-4799-9757-7580A9379C24}" destId="{CAB2E287-7238-4B5B-A978-0B843F2B52F5}" srcOrd="1" destOrd="0" presId="urn:microsoft.com/office/officeart/2005/8/layout/vList5"/>
    <dgm:cxn modelId="{D4F6CDCE-AD02-4A22-9985-78A93B51141B}" type="presParOf" srcId="{74F6BE91-9CA1-48BB-821F-96E8B2198A90}" destId="{ADE70B13-D415-4A05-B205-4FD316DED479}" srcOrd="7" destOrd="0" presId="urn:microsoft.com/office/officeart/2005/8/layout/vList5"/>
    <dgm:cxn modelId="{2130CB18-DFBA-4238-B31F-E82C78053F36}" type="presParOf" srcId="{74F6BE91-9CA1-48BB-821F-96E8B2198A90}" destId="{5F69F12E-00A9-4C1A-BEF5-038E2A692AC1}" srcOrd="8" destOrd="0" presId="urn:microsoft.com/office/officeart/2005/8/layout/vList5"/>
    <dgm:cxn modelId="{229696A9-D082-477F-BA2D-FC47EC42E6DD}" type="presParOf" srcId="{5F69F12E-00A9-4C1A-BEF5-038E2A692AC1}" destId="{1450F3AB-CCE1-48A1-AF2A-9BF9F68A4893}" srcOrd="0" destOrd="0" presId="urn:microsoft.com/office/officeart/2005/8/layout/vList5"/>
    <dgm:cxn modelId="{4015404D-9F9D-4696-B7A2-7136E8CC4085}" type="presParOf" srcId="{5F69F12E-00A9-4C1A-BEF5-038E2A692AC1}" destId="{9EF56E80-2125-4E38-844E-B2F485D9E1E0}" srcOrd="1"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D8904B-8841-4F91-8815-68FD50945026}">
      <dsp:nvSpPr>
        <dsp:cNvPr id="0" name=""/>
        <dsp:cNvSpPr/>
      </dsp:nvSpPr>
      <dsp:spPr>
        <a:xfrm>
          <a:off x="1821" y="0"/>
          <a:ext cx="1786906" cy="3955461"/>
        </a:xfrm>
        <a:prstGeom prst="roundRect">
          <a:avLst>
            <a:gd name="adj" fmla="val 10000"/>
          </a:avLst>
        </a:prstGeom>
        <a:solidFill>
          <a:schemeClr val="bg1">
            <a:lumMod val="9500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tx2"/>
              </a:solidFill>
            </a:rPr>
            <a:t>INFRASTRUCTURE</a:t>
          </a:r>
        </a:p>
      </dsp:txBody>
      <dsp:txXfrm>
        <a:off x="1821" y="0"/>
        <a:ext cx="1786906" cy="1186638"/>
      </dsp:txXfrm>
    </dsp:sp>
    <dsp:sp modelId="{BF6299C4-1F09-4F2B-AA12-B83E5FC68D21}">
      <dsp:nvSpPr>
        <dsp:cNvPr id="0" name=""/>
        <dsp:cNvSpPr/>
      </dsp:nvSpPr>
      <dsp:spPr>
        <a:xfrm>
          <a:off x="180511" y="1186734"/>
          <a:ext cx="1429525" cy="57622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Storage Infrastructure</a:t>
          </a:r>
        </a:p>
      </dsp:txBody>
      <dsp:txXfrm>
        <a:off x="197388" y="1203611"/>
        <a:ext cx="1395771" cy="542472"/>
      </dsp:txXfrm>
    </dsp:sp>
    <dsp:sp modelId="{B2750A58-5500-4236-952F-43D6496632EF}">
      <dsp:nvSpPr>
        <dsp:cNvPr id="0" name=""/>
        <dsp:cNvSpPr/>
      </dsp:nvSpPr>
      <dsp:spPr>
        <a:xfrm>
          <a:off x="180511" y="1851611"/>
          <a:ext cx="1429525" cy="57622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Compute Infrastructure</a:t>
          </a:r>
        </a:p>
      </dsp:txBody>
      <dsp:txXfrm>
        <a:off x="197388" y="1868488"/>
        <a:ext cx="1395771" cy="542472"/>
      </dsp:txXfrm>
    </dsp:sp>
    <dsp:sp modelId="{B3BDD02F-C730-4688-A9FA-D318265D879F}">
      <dsp:nvSpPr>
        <dsp:cNvPr id="0" name=""/>
        <dsp:cNvSpPr/>
      </dsp:nvSpPr>
      <dsp:spPr>
        <a:xfrm>
          <a:off x="180511" y="2516488"/>
          <a:ext cx="1429525" cy="57622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Containerization and Orchestration</a:t>
          </a:r>
        </a:p>
      </dsp:txBody>
      <dsp:txXfrm>
        <a:off x="197388" y="2533365"/>
        <a:ext cx="1395771" cy="542472"/>
      </dsp:txXfrm>
    </dsp:sp>
    <dsp:sp modelId="{0443A66A-F2D6-4DEE-BB1C-869D739CC8E9}">
      <dsp:nvSpPr>
        <dsp:cNvPr id="0" name=""/>
        <dsp:cNvSpPr/>
      </dsp:nvSpPr>
      <dsp:spPr>
        <a:xfrm>
          <a:off x="180511" y="3181364"/>
          <a:ext cx="1429525" cy="57622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AI Experimentation Environments</a:t>
          </a:r>
        </a:p>
      </dsp:txBody>
      <dsp:txXfrm>
        <a:off x="197388" y="3198241"/>
        <a:ext cx="1395771" cy="542472"/>
      </dsp:txXfrm>
    </dsp:sp>
    <dsp:sp modelId="{39594A9B-7C7E-4136-82EC-1D15ED8E72C6}">
      <dsp:nvSpPr>
        <dsp:cNvPr id="0" name=""/>
        <dsp:cNvSpPr/>
      </dsp:nvSpPr>
      <dsp:spPr>
        <a:xfrm>
          <a:off x="1922746" y="0"/>
          <a:ext cx="1786906" cy="3955461"/>
        </a:xfrm>
        <a:prstGeom prst="roundRect">
          <a:avLst>
            <a:gd name="adj" fmla="val 10000"/>
          </a:avLst>
        </a:prstGeom>
        <a:solidFill>
          <a:schemeClr val="bg1">
            <a:lumMod val="9500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tx2"/>
              </a:solidFill>
            </a:rPr>
            <a:t>ARCHITECTURE</a:t>
          </a:r>
        </a:p>
      </dsp:txBody>
      <dsp:txXfrm>
        <a:off x="1922746" y="0"/>
        <a:ext cx="1786906" cy="1186638"/>
      </dsp:txXfrm>
    </dsp:sp>
    <dsp:sp modelId="{306AF65F-E4C8-4E2C-A5E1-067CBD247D7A}">
      <dsp:nvSpPr>
        <dsp:cNvPr id="0" name=""/>
        <dsp:cNvSpPr/>
      </dsp:nvSpPr>
      <dsp:spPr>
        <a:xfrm>
          <a:off x="2101436" y="1186976"/>
          <a:ext cx="1429525" cy="77708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Enterprise AI  Architecture</a:t>
          </a:r>
        </a:p>
      </dsp:txBody>
      <dsp:txXfrm>
        <a:off x="2124196" y="1209736"/>
        <a:ext cx="1384005" cy="731569"/>
      </dsp:txXfrm>
    </dsp:sp>
    <dsp:sp modelId="{66F1036F-750B-4779-BE7F-604598148F75}">
      <dsp:nvSpPr>
        <dsp:cNvPr id="0" name=""/>
        <dsp:cNvSpPr/>
      </dsp:nvSpPr>
      <dsp:spPr>
        <a:xfrm>
          <a:off x="2101436" y="2083618"/>
          <a:ext cx="1429525" cy="77708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Enterprise AI Tooling</a:t>
          </a:r>
        </a:p>
      </dsp:txBody>
      <dsp:txXfrm>
        <a:off x="2124196" y="2106378"/>
        <a:ext cx="1384005" cy="731569"/>
      </dsp:txXfrm>
    </dsp:sp>
    <dsp:sp modelId="{19A096F5-EC83-4091-870D-46D5F775F102}">
      <dsp:nvSpPr>
        <dsp:cNvPr id="0" name=""/>
        <dsp:cNvSpPr/>
      </dsp:nvSpPr>
      <dsp:spPr>
        <a:xfrm>
          <a:off x="2101436" y="2980260"/>
          <a:ext cx="1429525" cy="77708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AI Platform Build vs. Buy</a:t>
          </a:r>
        </a:p>
      </dsp:txBody>
      <dsp:txXfrm>
        <a:off x="2124196" y="3003020"/>
        <a:ext cx="1384005" cy="731569"/>
      </dsp:txXfrm>
    </dsp:sp>
    <dsp:sp modelId="{02B4CA73-3604-42D8-8E7F-BC26523BA155}">
      <dsp:nvSpPr>
        <dsp:cNvPr id="0" name=""/>
        <dsp:cNvSpPr/>
      </dsp:nvSpPr>
      <dsp:spPr>
        <a:xfrm>
          <a:off x="3843671" y="0"/>
          <a:ext cx="1786906" cy="3955461"/>
        </a:xfrm>
        <a:prstGeom prst="roundRect">
          <a:avLst>
            <a:gd name="adj" fmla="val 10000"/>
          </a:avLst>
        </a:prstGeom>
        <a:solidFill>
          <a:schemeClr val="bg1">
            <a:lumMod val="9500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tx2"/>
              </a:solidFill>
            </a:rPr>
            <a:t>DATA</a:t>
          </a:r>
        </a:p>
      </dsp:txBody>
      <dsp:txXfrm>
        <a:off x="3843671" y="0"/>
        <a:ext cx="1786906" cy="1186638"/>
      </dsp:txXfrm>
    </dsp:sp>
    <dsp:sp modelId="{2A0E86E6-0BF2-4683-836E-D919645AF3A4}">
      <dsp:nvSpPr>
        <dsp:cNvPr id="0" name=""/>
        <dsp:cNvSpPr/>
      </dsp:nvSpPr>
      <dsp:spPr>
        <a:xfrm>
          <a:off x="4022361" y="1189052"/>
          <a:ext cx="1429525" cy="323891"/>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Cloud Data Platforms</a:t>
          </a:r>
        </a:p>
      </dsp:txBody>
      <dsp:txXfrm>
        <a:off x="4031847" y="1198538"/>
        <a:ext cx="1410553" cy="304919"/>
      </dsp:txXfrm>
    </dsp:sp>
    <dsp:sp modelId="{661053F2-D235-4C0C-B2B9-533025FE61E4}">
      <dsp:nvSpPr>
        <dsp:cNvPr id="0" name=""/>
        <dsp:cNvSpPr/>
      </dsp:nvSpPr>
      <dsp:spPr>
        <a:xfrm>
          <a:off x="4022361" y="1562774"/>
          <a:ext cx="1429525" cy="323891"/>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Real-Time Data</a:t>
          </a:r>
        </a:p>
      </dsp:txBody>
      <dsp:txXfrm>
        <a:off x="4031847" y="1572260"/>
        <a:ext cx="1410553" cy="304919"/>
      </dsp:txXfrm>
    </dsp:sp>
    <dsp:sp modelId="{AA8874A7-E4E2-41D0-BB36-89EF0A40152A}">
      <dsp:nvSpPr>
        <dsp:cNvPr id="0" name=""/>
        <dsp:cNvSpPr/>
      </dsp:nvSpPr>
      <dsp:spPr>
        <a:xfrm>
          <a:off x="4022361" y="1936495"/>
          <a:ext cx="1429525" cy="323891"/>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Automated Data Integration</a:t>
          </a:r>
        </a:p>
      </dsp:txBody>
      <dsp:txXfrm>
        <a:off x="4031847" y="1945981"/>
        <a:ext cx="1410553" cy="304919"/>
      </dsp:txXfrm>
    </dsp:sp>
    <dsp:sp modelId="{846ECC95-0251-4FB6-9A84-7623AD29FDA9}">
      <dsp:nvSpPr>
        <dsp:cNvPr id="0" name=""/>
        <dsp:cNvSpPr/>
      </dsp:nvSpPr>
      <dsp:spPr>
        <a:xfrm>
          <a:off x="4022361" y="2310217"/>
          <a:ext cx="1429525" cy="323891"/>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Data Quality and Lineage</a:t>
          </a:r>
        </a:p>
      </dsp:txBody>
      <dsp:txXfrm>
        <a:off x="4031847" y="2319703"/>
        <a:ext cx="1410553" cy="304919"/>
      </dsp:txXfrm>
    </dsp:sp>
    <dsp:sp modelId="{54E20A71-C8E0-4CC2-B95F-ED382FA3E0F3}">
      <dsp:nvSpPr>
        <dsp:cNvPr id="0" name=""/>
        <dsp:cNvSpPr/>
      </dsp:nvSpPr>
      <dsp:spPr>
        <a:xfrm>
          <a:off x="4022361" y="2683938"/>
          <a:ext cx="1429525" cy="323891"/>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AI Databases </a:t>
          </a:r>
        </a:p>
        <a:p>
          <a:pPr marL="0" lvl="0" indent="0" algn="ctr" defTabSz="533400">
            <a:lnSpc>
              <a:spcPct val="90000"/>
            </a:lnSpc>
            <a:spcBef>
              <a:spcPct val="0"/>
            </a:spcBef>
            <a:spcAft>
              <a:spcPct val="35000"/>
            </a:spcAft>
            <a:buNone/>
          </a:pPr>
          <a:r>
            <a:rPr lang="en-US" sz="1100" b="0" kern="1200"/>
            <a:t>(Vector DB, Graph DB)</a:t>
          </a:r>
          <a:endParaRPr lang="en-US" sz="1200" b="0" kern="1200"/>
        </a:p>
      </dsp:txBody>
      <dsp:txXfrm>
        <a:off x="4031847" y="2693424"/>
        <a:ext cx="1410553" cy="304919"/>
      </dsp:txXfrm>
    </dsp:sp>
    <dsp:sp modelId="{051E70FD-4003-40FA-AD15-24947C65ABD3}">
      <dsp:nvSpPr>
        <dsp:cNvPr id="0" name=""/>
        <dsp:cNvSpPr/>
      </dsp:nvSpPr>
      <dsp:spPr>
        <a:xfrm>
          <a:off x="4022361" y="3057660"/>
          <a:ext cx="1429525" cy="323891"/>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Tokenization</a:t>
          </a:r>
        </a:p>
      </dsp:txBody>
      <dsp:txXfrm>
        <a:off x="4031847" y="3067146"/>
        <a:ext cx="1410553" cy="304919"/>
      </dsp:txXfrm>
    </dsp:sp>
    <dsp:sp modelId="{B0538E94-BEAD-4B3D-818E-94F63F384897}">
      <dsp:nvSpPr>
        <dsp:cNvPr id="0" name=""/>
        <dsp:cNvSpPr/>
      </dsp:nvSpPr>
      <dsp:spPr>
        <a:xfrm>
          <a:off x="4022361" y="3431381"/>
          <a:ext cx="1429525" cy="323891"/>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Feature Store</a:t>
          </a:r>
        </a:p>
      </dsp:txBody>
      <dsp:txXfrm>
        <a:off x="4031847" y="3440867"/>
        <a:ext cx="1410553" cy="304919"/>
      </dsp:txXfrm>
    </dsp:sp>
    <dsp:sp modelId="{86FEB584-39F5-4DF0-8DB1-1FB7AB60E06E}">
      <dsp:nvSpPr>
        <dsp:cNvPr id="0" name=""/>
        <dsp:cNvSpPr/>
      </dsp:nvSpPr>
      <dsp:spPr>
        <a:xfrm>
          <a:off x="5764596" y="0"/>
          <a:ext cx="1786906" cy="3955461"/>
        </a:xfrm>
        <a:prstGeom prst="roundRect">
          <a:avLst>
            <a:gd name="adj" fmla="val 10000"/>
          </a:avLst>
        </a:prstGeom>
        <a:solidFill>
          <a:schemeClr val="bg1">
            <a:lumMod val="9500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tx2"/>
              </a:solidFill>
            </a:rPr>
            <a:t>MODEL</a:t>
          </a:r>
        </a:p>
      </dsp:txBody>
      <dsp:txXfrm>
        <a:off x="5764596" y="0"/>
        <a:ext cx="1786906" cy="1186638"/>
      </dsp:txXfrm>
    </dsp:sp>
    <dsp:sp modelId="{5B1A8B2A-A21A-4E7E-8C0D-F3A52A458A78}">
      <dsp:nvSpPr>
        <dsp:cNvPr id="0" name=""/>
        <dsp:cNvSpPr/>
      </dsp:nvSpPr>
      <dsp:spPr>
        <a:xfrm>
          <a:off x="5943286" y="1186831"/>
          <a:ext cx="1429525" cy="37975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Feature Engineering</a:t>
          </a:r>
        </a:p>
      </dsp:txBody>
      <dsp:txXfrm>
        <a:off x="5954409" y="1197954"/>
        <a:ext cx="1407279" cy="357511"/>
      </dsp:txXfrm>
    </dsp:sp>
    <dsp:sp modelId="{D5A0FF26-1011-421C-A824-10BD7E9F0DE3}">
      <dsp:nvSpPr>
        <dsp:cNvPr id="0" name=""/>
        <dsp:cNvSpPr/>
      </dsp:nvSpPr>
      <dsp:spPr>
        <a:xfrm>
          <a:off x="5943286" y="1625012"/>
          <a:ext cx="1429525" cy="37975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Model Training &amp; Testing Environment</a:t>
          </a:r>
        </a:p>
      </dsp:txBody>
      <dsp:txXfrm>
        <a:off x="5954409" y="1636135"/>
        <a:ext cx="1407279" cy="357511"/>
      </dsp:txXfrm>
    </dsp:sp>
    <dsp:sp modelId="{38AA2610-5EEA-4E4B-B228-C14FDCB908E6}">
      <dsp:nvSpPr>
        <dsp:cNvPr id="0" name=""/>
        <dsp:cNvSpPr/>
      </dsp:nvSpPr>
      <dsp:spPr>
        <a:xfrm>
          <a:off x="5943286" y="2063193"/>
          <a:ext cx="1429525" cy="37975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err="1"/>
            <a:t>MLOps</a:t>
          </a:r>
          <a:r>
            <a:rPr lang="en-US" sz="1200" b="0" kern="1200"/>
            <a:t> &amp; </a:t>
          </a:r>
          <a:r>
            <a:rPr lang="en-US" sz="1200" b="0" kern="1200" err="1"/>
            <a:t>LLMOps</a:t>
          </a:r>
          <a:endParaRPr lang="en-US" sz="1200" b="0" kern="1200"/>
        </a:p>
      </dsp:txBody>
      <dsp:txXfrm>
        <a:off x="5954409" y="2074316"/>
        <a:ext cx="1407279" cy="357511"/>
      </dsp:txXfrm>
    </dsp:sp>
    <dsp:sp modelId="{7E6DBA65-FEBE-4293-9023-3CFC3D8D72B5}">
      <dsp:nvSpPr>
        <dsp:cNvPr id="0" name=""/>
        <dsp:cNvSpPr/>
      </dsp:nvSpPr>
      <dsp:spPr>
        <a:xfrm>
          <a:off x="5943286" y="2501375"/>
          <a:ext cx="1429525" cy="37975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Model Observability &amp; Monitoring</a:t>
          </a:r>
        </a:p>
      </dsp:txBody>
      <dsp:txXfrm>
        <a:off x="5954409" y="2512498"/>
        <a:ext cx="1407279" cy="357511"/>
      </dsp:txXfrm>
    </dsp:sp>
    <dsp:sp modelId="{4BC01984-52F8-4A1E-9A10-C8A7D794AF1E}">
      <dsp:nvSpPr>
        <dsp:cNvPr id="0" name=""/>
        <dsp:cNvSpPr/>
      </dsp:nvSpPr>
      <dsp:spPr>
        <a:xfrm>
          <a:off x="5943286" y="2939556"/>
          <a:ext cx="1429525" cy="37975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Prompt Engineering &amp; RAG Development</a:t>
          </a:r>
        </a:p>
      </dsp:txBody>
      <dsp:txXfrm>
        <a:off x="5954409" y="2950679"/>
        <a:ext cx="1407279" cy="357511"/>
      </dsp:txXfrm>
    </dsp:sp>
    <dsp:sp modelId="{2DA380B9-5375-4E2D-8414-F00495E5E8E8}">
      <dsp:nvSpPr>
        <dsp:cNvPr id="0" name=""/>
        <dsp:cNvSpPr/>
      </dsp:nvSpPr>
      <dsp:spPr>
        <a:xfrm>
          <a:off x="5943286" y="3377737"/>
          <a:ext cx="1429525" cy="37975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a:lnSpc>
              <a:spcPct val="90000"/>
            </a:lnSpc>
            <a:spcBef>
              <a:spcPct val="0"/>
            </a:spcBef>
            <a:spcAft>
              <a:spcPct val="35000"/>
            </a:spcAft>
            <a:buNone/>
          </a:pPr>
          <a:r>
            <a:rPr lang="en-US" sz="1200" b="0" kern="1200"/>
            <a:t>Model Registry</a:t>
          </a:r>
        </a:p>
      </dsp:txBody>
      <dsp:txXfrm>
        <a:off x="5954409" y="3388860"/>
        <a:ext cx="1407279" cy="3575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CA0378-808F-4E2C-8388-DACEC2AA97A2}">
      <dsp:nvSpPr>
        <dsp:cNvPr id="0" name=""/>
        <dsp:cNvSpPr/>
      </dsp:nvSpPr>
      <dsp:spPr>
        <a:xfrm>
          <a:off x="2645829" y="1131"/>
          <a:ext cx="1132358" cy="73603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(1) </a:t>
          </a:r>
        </a:p>
        <a:p>
          <a:pPr marL="0" lvl="0" indent="0" algn="ctr" defTabSz="400050">
            <a:lnSpc>
              <a:spcPct val="90000"/>
            </a:lnSpc>
            <a:spcBef>
              <a:spcPct val="0"/>
            </a:spcBef>
            <a:spcAft>
              <a:spcPct val="35000"/>
            </a:spcAft>
            <a:buNone/>
          </a:pPr>
          <a:r>
            <a:rPr lang="en-US" sz="900" b="1" kern="1200"/>
            <a:t>Data Engineering &amp; Preparation</a:t>
          </a:r>
        </a:p>
      </dsp:txBody>
      <dsp:txXfrm>
        <a:off x="2681759" y="37061"/>
        <a:ext cx="1060498" cy="664173"/>
      </dsp:txXfrm>
    </dsp:sp>
    <dsp:sp modelId="{ED6DAA05-56A7-4B0A-8F91-2B30E7DA8E48}">
      <dsp:nvSpPr>
        <dsp:cNvPr id="0" name=""/>
        <dsp:cNvSpPr/>
      </dsp:nvSpPr>
      <dsp:spPr>
        <a:xfrm>
          <a:off x="1477239" y="369148"/>
          <a:ext cx="3469538" cy="3469538"/>
        </a:xfrm>
        <a:custGeom>
          <a:avLst/>
          <a:gdLst/>
          <a:ahLst/>
          <a:cxnLst/>
          <a:rect l="0" t="0" r="0" b="0"/>
          <a:pathLst>
            <a:path>
              <a:moveTo>
                <a:pt x="2443539" y="151396"/>
              </a:moveTo>
              <a:arcTo wR="1734769" hR="1734769" stAng="17646892" swAng="924571"/>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2C5C6691-12CC-4146-908D-31553B76FE4E}">
      <dsp:nvSpPr>
        <dsp:cNvPr id="0" name=""/>
        <dsp:cNvSpPr/>
      </dsp:nvSpPr>
      <dsp:spPr>
        <a:xfrm>
          <a:off x="4148183" y="868516"/>
          <a:ext cx="1132358" cy="73603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(2) </a:t>
          </a:r>
        </a:p>
        <a:p>
          <a:pPr marL="0" lvl="0" indent="0" algn="ctr" defTabSz="400050">
            <a:lnSpc>
              <a:spcPct val="90000"/>
            </a:lnSpc>
            <a:spcBef>
              <a:spcPct val="0"/>
            </a:spcBef>
            <a:spcAft>
              <a:spcPct val="35000"/>
            </a:spcAft>
            <a:buNone/>
          </a:pPr>
          <a:r>
            <a:rPr lang="en-US" sz="900" b="1" kern="1200"/>
            <a:t>Model Development and Training</a:t>
          </a:r>
        </a:p>
      </dsp:txBody>
      <dsp:txXfrm>
        <a:off x="4184113" y="904446"/>
        <a:ext cx="1060498" cy="664173"/>
      </dsp:txXfrm>
    </dsp:sp>
    <dsp:sp modelId="{9299265F-750B-4183-9194-CE2FFA060FEE}">
      <dsp:nvSpPr>
        <dsp:cNvPr id="0" name=""/>
        <dsp:cNvSpPr/>
      </dsp:nvSpPr>
      <dsp:spPr>
        <a:xfrm>
          <a:off x="1477239" y="369148"/>
          <a:ext cx="3469538" cy="3469538"/>
        </a:xfrm>
        <a:custGeom>
          <a:avLst/>
          <a:gdLst/>
          <a:ahLst/>
          <a:cxnLst/>
          <a:rect l="0" t="0" r="0" b="0"/>
          <a:pathLst>
            <a:path>
              <a:moveTo>
                <a:pt x="3442481" y="1429577"/>
              </a:moveTo>
              <a:arcTo wR="1734769" hR="1734769" stAng="20992046" swAng="1215907"/>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C1344AA1-442B-4223-957A-4F9BCF8451D3}">
      <dsp:nvSpPr>
        <dsp:cNvPr id="0" name=""/>
        <dsp:cNvSpPr/>
      </dsp:nvSpPr>
      <dsp:spPr>
        <a:xfrm>
          <a:off x="4148183" y="2603285"/>
          <a:ext cx="1132358" cy="73603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(3)</a:t>
          </a:r>
        </a:p>
        <a:p>
          <a:pPr marL="0" lvl="0" indent="0" algn="ctr" defTabSz="400050">
            <a:lnSpc>
              <a:spcPct val="90000"/>
            </a:lnSpc>
            <a:spcBef>
              <a:spcPct val="0"/>
            </a:spcBef>
            <a:spcAft>
              <a:spcPct val="35000"/>
            </a:spcAft>
            <a:buNone/>
          </a:pPr>
          <a:r>
            <a:rPr lang="en-US" sz="900" b="1" kern="1200"/>
            <a:t>Model Validation and Testing</a:t>
          </a:r>
        </a:p>
      </dsp:txBody>
      <dsp:txXfrm>
        <a:off x="4184113" y="2639215"/>
        <a:ext cx="1060498" cy="664173"/>
      </dsp:txXfrm>
    </dsp:sp>
    <dsp:sp modelId="{046B7945-930E-42C2-8923-2363E6B77297}">
      <dsp:nvSpPr>
        <dsp:cNvPr id="0" name=""/>
        <dsp:cNvSpPr/>
      </dsp:nvSpPr>
      <dsp:spPr>
        <a:xfrm>
          <a:off x="1477239" y="369148"/>
          <a:ext cx="3469538" cy="3469538"/>
        </a:xfrm>
        <a:custGeom>
          <a:avLst/>
          <a:gdLst/>
          <a:ahLst/>
          <a:cxnLst/>
          <a:rect l="0" t="0" r="0" b="0"/>
          <a:pathLst>
            <a:path>
              <a:moveTo>
                <a:pt x="2838787" y="3072889"/>
              </a:moveTo>
              <a:arcTo wR="1734769" hR="1734769" stAng="3028536" swAng="924571"/>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8105236A-1ADD-478E-A87A-50592B73CA7E}">
      <dsp:nvSpPr>
        <dsp:cNvPr id="0" name=""/>
        <dsp:cNvSpPr/>
      </dsp:nvSpPr>
      <dsp:spPr>
        <a:xfrm>
          <a:off x="2645829" y="3470670"/>
          <a:ext cx="1132358" cy="73603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(4)</a:t>
          </a:r>
        </a:p>
        <a:p>
          <a:pPr marL="0" lvl="0" indent="0" algn="ctr" defTabSz="400050">
            <a:lnSpc>
              <a:spcPct val="90000"/>
            </a:lnSpc>
            <a:spcBef>
              <a:spcPct val="0"/>
            </a:spcBef>
            <a:spcAft>
              <a:spcPct val="35000"/>
            </a:spcAft>
            <a:buNone/>
          </a:pPr>
          <a:r>
            <a:rPr lang="en-US" sz="900" b="1" kern="1200"/>
            <a:t>Model Deployment and Operation</a:t>
          </a:r>
        </a:p>
      </dsp:txBody>
      <dsp:txXfrm>
        <a:off x="2681759" y="3506600"/>
        <a:ext cx="1060498" cy="664173"/>
      </dsp:txXfrm>
    </dsp:sp>
    <dsp:sp modelId="{AF955EC4-919F-4F51-85D1-F405CF78DD05}">
      <dsp:nvSpPr>
        <dsp:cNvPr id="0" name=""/>
        <dsp:cNvSpPr/>
      </dsp:nvSpPr>
      <dsp:spPr>
        <a:xfrm>
          <a:off x="1477239" y="369148"/>
          <a:ext cx="3469538" cy="3469538"/>
        </a:xfrm>
        <a:custGeom>
          <a:avLst/>
          <a:gdLst/>
          <a:ahLst/>
          <a:cxnLst/>
          <a:rect l="0" t="0" r="0" b="0"/>
          <a:pathLst>
            <a:path>
              <a:moveTo>
                <a:pt x="1025998" y="3318141"/>
              </a:moveTo>
              <a:arcTo wR="1734769" hR="1734769" stAng="6846892" swAng="924571"/>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0389534-7ACF-471E-B902-09DFF29CBF9C}">
      <dsp:nvSpPr>
        <dsp:cNvPr id="0" name=""/>
        <dsp:cNvSpPr/>
      </dsp:nvSpPr>
      <dsp:spPr>
        <a:xfrm>
          <a:off x="1143475" y="2603285"/>
          <a:ext cx="1132358" cy="73603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(5) </a:t>
          </a:r>
        </a:p>
        <a:p>
          <a:pPr marL="0" lvl="0" indent="0" algn="ctr" defTabSz="400050">
            <a:lnSpc>
              <a:spcPct val="90000"/>
            </a:lnSpc>
            <a:spcBef>
              <a:spcPct val="0"/>
            </a:spcBef>
            <a:spcAft>
              <a:spcPct val="35000"/>
            </a:spcAft>
            <a:buNone/>
          </a:pPr>
          <a:r>
            <a:rPr lang="en-US" sz="900" b="1" kern="1200"/>
            <a:t>Model Monitoring and Maintenance</a:t>
          </a:r>
        </a:p>
      </dsp:txBody>
      <dsp:txXfrm>
        <a:off x="1179405" y="2639215"/>
        <a:ext cx="1060498" cy="664173"/>
      </dsp:txXfrm>
    </dsp:sp>
    <dsp:sp modelId="{00E53DA0-8ADA-4831-8E0A-53EDA68C8170}">
      <dsp:nvSpPr>
        <dsp:cNvPr id="0" name=""/>
        <dsp:cNvSpPr/>
      </dsp:nvSpPr>
      <dsp:spPr>
        <a:xfrm>
          <a:off x="1477239" y="369148"/>
          <a:ext cx="3469538" cy="3469538"/>
        </a:xfrm>
        <a:custGeom>
          <a:avLst/>
          <a:gdLst/>
          <a:ahLst/>
          <a:cxnLst/>
          <a:rect l="0" t="0" r="0" b="0"/>
          <a:pathLst>
            <a:path>
              <a:moveTo>
                <a:pt x="27056" y="2039960"/>
              </a:moveTo>
              <a:arcTo wR="1734769" hR="1734769" stAng="10192046" swAng="1215907"/>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57699F58-0652-44F4-95F7-C75FE84259AE}">
      <dsp:nvSpPr>
        <dsp:cNvPr id="0" name=""/>
        <dsp:cNvSpPr/>
      </dsp:nvSpPr>
      <dsp:spPr>
        <a:xfrm>
          <a:off x="1143475" y="868516"/>
          <a:ext cx="1132358" cy="73603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(6) </a:t>
          </a:r>
        </a:p>
        <a:p>
          <a:pPr marL="0" lvl="0" indent="0" algn="ctr" defTabSz="400050">
            <a:lnSpc>
              <a:spcPct val="90000"/>
            </a:lnSpc>
            <a:spcBef>
              <a:spcPct val="0"/>
            </a:spcBef>
            <a:spcAft>
              <a:spcPct val="35000"/>
            </a:spcAft>
            <a:buNone/>
          </a:pPr>
          <a:r>
            <a:rPr lang="en-US" sz="900" b="1" kern="1200"/>
            <a:t>Model Governance and Compliance</a:t>
          </a:r>
        </a:p>
      </dsp:txBody>
      <dsp:txXfrm>
        <a:off x="1179405" y="904446"/>
        <a:ext cx="1060498" cy="664173"/>
      </dsp:txXfrm>
    </dsp:sp>
    <dsp:sp modelId="{BC2220A6-D0A4-4199-8BAC-D57B50622F0C}">
      <dsp:nvSpPr>
        <dsp:cNvPr id="0" name=""/>
        <dsp:cNvSpPr/>
      </dsp:nvSpPr>
      <dsp:spPr>
        <a:xfrm>
          <a:off x="1477239" y="369148"/>
          <a:ext cx="3469538" cy="3469538"/>
        </a:xfrm>
        <a:custGeom>
          <a:avLst/>
          <a:gdLst/>
          <a:ahLst/>
          <a:cxnLst/>
          <a:rect l="0" t="0" r="0" b="0"/>
          <a:pathLst>
            <a:path>
              <a:moveTo>
                <a:pt x="630750" y="396648"/>
              </a:moveTo>
              <a:arcTo wR="1734769" hR="1734769" stAng="13828536" swAng="924571"/>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2D07EE-D060-4DEC-AD99-D52E58582CDA}">
      <dsp:nvSpPr>
        <dsp:cNvPr id="0" name=""/>
        <dsp:cNvSpPr/>
      </dsp:nvSpPr>
      <dsp:spPr>
        <a:xfrm>
          <a:off x="482229" y="0"/>
          <a:ext cx="4252383" cy="4252383"/>
        </a:xfrm>
        <a:prstGeom prst="triangle">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1216C7-5CD8-4C81-ABF2-2328411011A8}">
      <dsp:nvSpPr>
        <dsp:cNvPr id="0" name=""/>
        <dsp:cNvSpPr/>
      </dsp:nvSpPr>
      <dsp:spPr>
        <a:xfrm>
          <a:off x="2608421" y="425653"/>
          <a:ext cx="2764048" cy="604635"/>
        </a:xfrm>
        <a:prstGeom prst="roundRect">
          <a:avLst/>
        </a:prstGeom>
        <a:solidFill>
          <a:schemeClr val="bg2">
            <a:alpha val="9000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a:solidFill>
                <a:schemeClr val="tx2"/>
              </a:solidFill>
            </a:rPr>
            <a:t>AI Center of Excellence Setup</a:t>
          </a:r>
        </a:p>
        <a:p>
          <a:pPr marL="0" lvl="0" indent="0" algn="ctr" defTabSz="466725">
            <a:lnSpc>
              <a:spcPct val="90000"/>
            </a:lnSpc>
            <a:spcBef>
              <a:spcPct val="0"/>
            </a:spcBef>
            <a:spcAft>
              <a:spcPct val="35000"/>
            </a:spcAft>
            <a:buNone/>
          </a:pPr>
          <a:r>
            <a:rPr lang="en-US" sz="1000" b="0" kern="1200">
              <a:solidFill>
                <a:schemeClr val="tx2"/>
              </a:solidFill>
            </a:rPr>
            <a:t>[CoE Operationalization – Innovation Lab]</a:t>
          </a:r>
        </a:p>
      </dsp:txBody>
      <dsp:txXfrm>
        <a:off x="2637937" y="455169"/>
        <a:ext cx="2705016" cy="545603"/>
      </dsp:txXfrm>
    </dsp:sp>
    <dsp:sp modelId="{8E4E78E5-0E65-48CB-BEC5-8D961314E4D1}">
      <dsp:nvSpPr>
        <dsp:cNvPr id="0" name=""/>
        <dsp:cNvSpPr/>
      </dsp:nvSpPr>
      <dsp:spPr>
        <a:xfrm>
          <a:off x="2608421" y="1105868"/>
          <a:ext cx="2764048" cy="604635"/>
        </a:xfrm>
        <a:prstGeom prst="roundRect">
          <a:avLst/>
        </a:prstGeom>
        <a:solidFill>
          <a:schemeClr val="bg2">
            <a:alpha val="90000"/>
          </a:schemeClr>
        </a:solidFill>
        <a:ln w="12700" cap="flat" cmpd="sng" algn="ctr">
          <a:solidFill>
            <a:schemeClr val="accent1">
              <a:shade val="80000"/>
              <a:hueOff val="159811"/>
              <a:satOff val="-19049"/>
              <a:lumOff val="1188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a:solidFill>
                <a:schemeClr val="tx2"/>
              </a:solidFill>
            </a:rPr>
            <a:t>Stakeholder Alignment &amp; Collaboration</a:t>
          </a:r>
        </a:p>
        <a:p>
          <a:pPr marL="0" lvl="0" indent="0" algn="ctr" defTabSz="466725">
            <a:lnSpc>
              <a:spcPct val="90000"/>
            </a:lnSpc>
            <a:spcBef>
              <a:spcPct val="0"/>
            </a:spcBef>
            <a:spcAft>
              <a:spcPct val="35000"/>
            </a:spcAft>
            <a:buNone/>
          </a:pPr>
          <a:r>
            <a:rPr lang="en-US" sz="1000" b="0" kern="1200">
              <a:solidFill>
                <a:schemeClr val="tx2"/>
              </a:solidFill>
            </a:rPr>
            <a:t>[Cross-functional Workshops – KPI-led Value Realization - Communication]</a:t>
          </a:r>
          <a:endParaRPr lang="en-US" sz="1000" b="1" kern="1200">
            <a:solidFill>
              <a:schemeClr val="tx2"/>
            </a:solidFill>
          </a:endParaRPr>
        </a:p>
      </dsp:txBody>
      <dsp:txXfrm>
        <a:off x="2637937" y="1135384"/>
        <a:ext cx="2705016" cy="545603"/>
      </dsp:txXfrm>
    </dsp:sp>
    <dsp:sp modelId="{C4246A71-3604-40A6-B17A-B24DE0CE0BBA}">
      <dsp:nvSpPr>
        <dsp:cNvPr id="0" name=""/>
        <dsp:cNvSpPr/>
      </dsp:nvSpPr>
      <dsp:spPr>
        <a:xfrm>
          <a:off x="2608421" y="1786083"/>
          <a:ext cx="2764048" cy="604635"/>
        </a:xfrm>
        <a:prstGeom prst="roundRect">
          <a:avLst/>
        </a:prstGeom>
        <a:solidFill>
          <a:schemeClr val="bg2">
            <a:alpha val="90000"/>
          </a:schemeClr>
        </a:solidFill>
        <a:ln w="12700" cap="flat" cmpd="sng" algn="ctr">
          <a:solidFill>
            <a:schemeClr val="accent1">
              <a:shade val="80000"/>
              <a:hueOff val="319622"/>
              <a:satOff val="-38099"/>
              <a:lumOff val="2377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a:solidFill>
                <a:schemeClr val="tx2"/>
              </a:solidFill>
            </a:rPr>
            <a:t>Cultural Transformation &amp; Change</a:t>
          </a:r>
        </a:p>
        <a:p>
          <a:pPr marL="0" lvl="0" indent="0" algn="ctr" defTabSz="466725">
            <a:lnSpc>
              <a:spcPct val="90000"/>
            </a:lnSpc>
            <a:spcBef>
              <a:spcPct val="0"/>
            </a:spcBef>
            <a:spcAft>
              <a:spcPct val="35000"/>
            </a:spcAft>
            <a:buNone/>
          </a:pPr>
          <a:r>
            <a:rPr lang="en-US" sz="1000" b="0" kern="1200">
              <a:solidFill>
                <a:schemeClr val="tx2"/>
              </a:solidFill>
            </a:rPr>
            <a:t>[Data-Driven Culture Programs - AI Adoption Playbooks - AI Champions Network]</a:t>
          </a:r>
          <a:endParaRPr lang="en-US" sz="1000" b="1" kern="1200">
            <a:solidFill>
              <a:schemeClr val="tx2"/>
            </a:solidFill>
          </a:endParaRPr>
        </a:p>
      </dsp:txBody>
      <dsp:txXfrm>
        <a:off x="2637937" y="1815599"/>
        <a:ext cx="2705016" cy="545603"/>
      </dsp:txXfrm>
    </dsp:sp>
    <dsp:sp modelId="{DDE87C39-EDCB-4F39-9ECE-8CAE8A5385BD}">
      <dsp:nvSpPr>
        <dsp:cNvPr id="0" name=""/>
        <dsp:cNvSpPr/>
      </dsp:nvSpPr>
      <dsp:spPr>
        <a:xfrm>
          <a:off x="2608421" y="2466299"/>
          <a:ext cx="2764048" cy="604635"/>
        </a:xfrm>
        <a:prstGeom prst="roundRect">
          <a:avLst/>
        </a:prstGeom>
        <a:solidFill>
          <a:schemeClr val="bg2">
            <a:alpha val="90000"/>
          </a:schemeClr>
        </a:solidFill>
        <a:ln w="12700" cap="flat" cmpd="sng" algn="ctr">
          <a:solidFill>
            <a:schemeClr val="accent1">
              <a:shade val="80000"/>
              <a:hueOff val="479432"/>
              <a:satOff val="-57148"/>
              <a:lumOff val="356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a:solidFill>
                <a:schemeClr val="tx2"/>
              </a:solidFill>
            </a:rPr>
            <a:t>Compliance Training &amp; Awareness</a:t>
          </a:r>
        </a:p>
        <a:p>
          <a:pPr marL="0" lvl="0" indent="0" algn="ctr" defTabSz="466725">
            <a:lnSpc>
              <a:spcPct val="90000"/>
            </a:lnSpc>
            <a:spcBef>
              <a:spcPct val="0"/>
            </a:spcBef>
            <a:spcAft>
              <a:spcPct val="35000"/>
            </a:spcAft>
            <a:buNone/>
          </a:pPr>
          <a:r>
            <a:rPr lang="en-US" sz="1000" b="0" kern="1200">
              <a:solidFill>
                <a:schemeClr val="tx2"/>
              </a:solidFill>
            </a:rPr>
            <a:t>[Compliance and Ethics Training]</a:t>
          </a:r>
          <a:endParaRPr lang="en-US" sz="1050" b="0" kern="1200">
            <a:solidFill>
              <a:schemeClr val="tx2"/>
            </a:solidFill>
          </a:endParaRPr>
        </a:p>
      </dsp:txBody>
      <dsp:txXfrm>
        <a:off x="2637937" y="2495815"/>
        <a:ext cx="2705016" cy="545603"/>
      </dsp:txXfrm>
    </dsp:sp>
    <dsp:sp modelId="{B71B2CC0-C37A-4AB5-A3EF-A52232B11DA3}">
      <dsp:nvSpPr>
        <dsp:cNvPr id="0" name=""/>
        <dsp:cNvSpPr/>
      </dsp:nvSpPr>
      <dsp:spPr>
        <a:xfrm>
          <a:off x="2608421" y="3146514"/>
          <a:ext cx="2764048" cy="604635"/>
        </a:xfrm>
        <a:prstGeom prst="roundRect">
          <a:avLst/>
        </a:prstGeom>
        <a:solidFill>
          <a:schemeClr val="bg2">
            <a:alpha val="90000"/>
          </a:schemeClr>
        </a:solidFill>
        <a:ln w="12700" cap="flat" cmpd="sng" algn="ctr">
          <a:solidFill>
            <a:schemeClr val="accent1">
              <a:shade val="80000"/>
              <a:hueOff val="639243"/>
              <a:satOff val="-76198"/>
              <a:lumOff val="4755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a:solidFill>
                <a:schemeClr val="tx2"/>
              </a:solidFill>
            </a:rPr>
            <a:t>Enterprise-wide AI Upskilling</a:t>
          </a:r>
        </a:p>
        <a:p>
          <a:pPr marL="0" lvl="0" indent="0" algn="ctr" defTabSz="466725">
            <a:lnSpc>
              <a:spcPct val="90000"/>
            </a:lnSpc>
            <a:spcBef>
              <a:spcPct val="0"/>
            </a:spcBef>
            <a:spcAft>
              <a:spcPct val="35000"/>
            </a:spcAft>
            <a:buNone/>
          </a:pPr>
          <a:r>
            <a:rPr lang="en-US" sz="1000" b="0" kern="1200">
              <a:solidFill>
                <a:schemeClr val="tx2"/>
              </a:solidFill>
            </a:rPr>
            <a:t>[AI Literacy Workshops - Role-based AI Training - Executive AI Bootcamps]</a:t>
          </a:r>
          <a:endParaRPr lang="en-US" sz="1000" b="1" kern="1200">
            <a:solidFill>
              <a:schemeClr val="tx2"/>
            </a:solidFill>
          </a:endParaRPr>
        </a:p>
      </dsp:txBody>
      <dsp:txXfrm>
        <a:off x="2637937" y="3176030"/>
        <a:ext cx="2705016" cy="5456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F1628B-8FC8-48EF-8732-CAF950946534}">
      <dsp:nvSpPr>
        <dsp:cNvPr id="0" name=""/>
        <dsp:cNvSpPr/>
      </dsp:nvSpPr>
      <dsp:spPr>
        <a:xfrm rot="5400000">
          <a:off x="3741683" y="-1509221"/>
          <a:ext cx="640837" cy="3823155"/>
        </a:xfrm>
        <a:prstGeom prst="round2SameRect">
          <a:avLst/>
        </a:prstGeom>
        <a:solidFill>
          <a:schemeClr val="bg2">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66725">
            <a:lnSpc>
              <a:spcPct val="90000"/>
            </a:lnSpc>
            <a:spcBef>
              <a:spcPct val="0"/>
            </a:spcBef>
            <a:spcAft>
              <a:spcPct val="15000"/>
            </a:spcAft>
            <a:buChar char="•"/>
          </a:pPr>
          <a:r>
            <a:rPr lang="en-US" sz="1050" b="0" kern="1200">
              <a:solidFill>
                <a:schemeClr val="tx2"/>
              </a:solidFill>
            </a:rPr>
            <a:t>Conduct assessments to identify compliance risks</a:t>
          </a:r>
        </a:p>
        <a:p>
          <a:pPr marL="57150" lvl="1" indent="-57150" algn="l" defTabSz="466725">
            <a:lnSpc>
              <a:spcPct val="90000"/>
            </a:lnSpc>
            <a:spcBef>
              <a:spcPct val="0"/>
            </a:spcBef>
            <a:spcAft>
              <a:spcPct val="15000"/>
            </a:spcAft>
            <a:buChar char="•"/>
          </a:pPr>
          <a:r>
            <a:rPr lang="en-US" sz="1050" b="0" kern="1200">
              <a:solidFill>
                <a:schemeClr val="tx2"/>
              </a:solidFill>
            </a:rPr>
            <a:t>Use historical data to forecast compliance trends &amp; risks</a:t>
          </a:r>
        </a:p>
      </dsp:txBody>
      <dsp:txXfrm rot="-5400000">
        <a:off x="2150525" y="113220"/>
        <a:ext cx="3791872" cy="578271"/>
      </dsp:txXfrm>
    </dsp:sp>
    <dsp:sp modelId="{4EF0EB78-8A76-4923-B963-60C5F4FAF7DC}">
      <dsp:nvSpPr>
        <dsp:cNvPr id="0" name=""/>
        <dsp:cNvSpPr/>
      </dsp:nvSpPr>
      <dsp:spPr>
        <a:xfrm>
          <a:off x="0" y="1832"/>
          <a:ext cx="2150524" cy="8010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66725">
            <a:lnSpc>
              <a:spcPct val="90000"/>
            </a:lnSpc>
            <a:spcBef>
              <a:spcPct val="0"/>
            </a:spcBef>
            <a:spcAft>
              <a:spcPct val="35000"/>
            </a:spcAft>
            <a:buNone/>
          </a:pPr>
          <a:r>
            <a:rPr lang="en-US" sz="1050" b="1" kern="1200"/>
            <a:t>Risk Assessment &amp; Predictive Compliance</a:t>
          </a:r>
        </a:p>
      </dsp:txBody>
      <dsp:txXfrm>
        <a:off x="39104" y="40936"/>
        <a:ext cx="2072316" cy="722839"/>
      </dsp:txXfrm>
    </dsp:sp>
    <dsp:sp modelId="{917227AB-912C-439C-B578-946776429B7F}">
      <dsp:nvSpPr>
        <dsp:cNvPr id="0" name=""/>
        <dsp:cNvSpPr/>
      </dsp:nvSpPr>
      <dsp:spPr>
        <a:xfrm rot="5400000">
          <a:off x="3741683" y="-668122"/>
          <a:ext cx="640837" cy="3823155"/>
        </a:xfrm>
        <a:prstGeom prst="round2SameRect">
          <a:avLst/>
        </a:prstGeom>
        <a:solidFill>
          <a:schemeClr val="bg2">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66725">
            <a:lnSpc>
              <a:spcPct val="90000"/>
            </a:lnSpc>
            <a:spcBef>
              <a:spcPct val="0"/>
            </a:spcBef>
            <a:spcAft>
              <a:spcPct val="15000"/>
            </a:spcAft>
            <a:buChar char="•"/>
          </a:pPr>
          <a:r>
            <a:rPr lang="en-US" sz="1050" b="0" kern="1200">
              <a:solidFill>
                <a:schemeClr val="tx2"/>
              </a:solidFill>
            </a:rPr>
            <a:t>Continuous update, employee training on regulatory changes</a:t>
          </a:r>
        </a:p>
        <a:p>
          <a:pPr marL="57150" lvl="1" indent="-57150" algn="l" defTabSz="466725">
            <a:lnSpc>
              <a:spcPct val="90000"/>
            </a:lnSpc>
            <a:spcBef>
              <a:spcPct val="0"/>
            </a:spcBef>
            <a:spcAft>
              <a:spcPct val="15000"/>
            </a:spcAft>
            <a:buChar char="•"/>
          </a:pPr>
          <a:r>
            <a:rPr lang="en-US" sz="1050" b="0" kern="1200">
              <a:solidFill>
                <a:schemeClr val="tx2"/>
              </a:solidFill>
            </a:rPr>
            <a:t>Support with research &amp; POVs to help participate in industry events and forums</a:t>
          </a:r>
        </a:p>
      </dsp:txBody>
      <dsp:txXfrm rot="-5400000">
        <a:off x="2150525" y="954319"/>
        <a:ext cx="3791872" cy="578271"/>
      </dsp:txXfrm>
    </dsp:sp>
    <dsp:sp modelId="{F5FB06C1-A7BF-477E-9862-55421B1018BB}">
      <dsp:nvSpPr>
        <dsp:cNvPr id="0" name=""/>
        <dsp:cNvSpPr/>
      </dsp:nvSpPr>
      <dsp:spPr>
        <a:xfrm>
          <a:off x="0" y="842931"/>
          <a:ext cx="2150524" cy="8010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66725">
            <a:lnSpc>
              <a:spcPct val="90000"/>
            </a:lnSpc>
            <a:spcBef>
              <a:spcPct val="0"/>
            </a:spcBef>
            <a:spcAft>
              <a:spcPct val="35000"/>
            </a:spcAft>
            <a:buNone/>
          </a:pPr>
          <a:r>
            <a:rPr lang="en-US" sz="1050" b="1" kern="1200"/>
            <a:t>Update on Evolving Regulations</a:t>
          </a:r>
        </a:p>
      </dsp:txBody>
      <dsp:txXfrm>
        <a:off x="39104" y="882035"/>
        <a:ext cx="2072316" cy="722839"/>
      </dsp:txXfrm>
    </dsp:sp>
    <dsp:sp modelId="{D6B8DB90-9F46-4190-9BA4-5E06B0D0FD3B}">
      <dsp:nvSpPr>
        <dsp:cNvPr id="0" name=""/>
        <dsp:cNvSpPr/>
      </dsp:nvSpPr>
      <dsp:spPr>
        <a:xfrm rot="5400000">
          <a:off x="3741683" y="172977"/>
          <a:ext cx="640837" cy="3823155"/>
        </a:xfrm>
        <a:prstGeom prst="round2SameRect">
          <a:avLst/>
        </a:prstGeom>
        <a:solidFill>
          <a:schemeClr val="bg2">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66725">
            <a:lnSpc>
              <a:spcPct val="90000"/>
            </a:lnSpc>
            <a:spcBef>
              <a:spcPct val="0"/>
            </a:spcBef>
            <a:spcAft>
              <a:spcPct val="15000"/>
            </a:spcAft>
            <a:buChar char="•"/>
          </a:pPr>
          <a:r>
            <a:rPr lang="en-US" sz="1050" b="0" kern="1200">
              <a:solidFill>
                <a:schemeClr val="tx2"/>
              </a:solidFill>
            </a:rPr>
            <a:t>Ensure AI-based decisions are transparent, explainable to regulators</a:t>
          </a:r>
        </a:p>
        <a:p>
          <a:pPr marL="57150" lvl="1" indent="-57150" algn="l" defTabSz="466725">
            <a:lnSpc>
              <a:spcPct val="90000"/>
            </a:lnSpc>
            <a:spcBef>
              <a:spcPct val="0"/>
            </a:spcBef>
            <a:spcAft>
              <a:spcPct val="15000"/>
            </a:spcAft>
            <a:buChar char="•"/>
          </a:pPr>
          <a:r>
            <a:rPr lang="en-US" sz="1050" b="0" kern="1200">
              <a:solidFill>
                <a:schemeClr val="tx2"/>
              </a:solidFill>
            </a:rPr>
            <a:t>Provide documentation support</a:t>
          </a:r>
        </a:p>
      </dsp:txBody>
      <dsp:txXfrm rot="-5400000">
        <a:off x="2150525" y="1795419"/>
        <a:ext cx="3791872" cy="578271"/>
      </dsp:txXfrm>
    </dsp:sp>
    <dsp:sp modelId="{5C71EF53-CC67-4515-944C-B4E07CA5D6CE}">
      <dsp:nvSpPr>
        <dsp:cNvPr id="0" name=""/>
        <dsp:cNvSpPr/>
      </dsp:nvSpPr>
      <dsp:spPr>
        <a:xfrm>
          <a:off x="0" y="1684031"/>
          <a:ext cx="2150524" cy="8010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66725">
            <a:lnSpc>
              <a:spcPct val="90000"/>
            </a:lnSpc>
            <a:spcBef>
              <a:spcPct val="0"/>
            </a:spcBef>
            <a:spcAft>
              <a:spcPct val="35000"/>
            </a:spcAft>
            <a:buNone/>
          </a:pPr>
          <a:r>
            <a:rPr lang="en-US" sz="1050" b="1" kern="1200"/>
            <a:t>Documentation and Transparency</a:t>
          </a:r>
        </a:p>
      </dsp:txBody>
      <dsp:txXfrm>
        <a:off x="39104" y="1723135"/>
        <a:ext cx="2072316" cy="722839"/>
      </dsp:txXfrm>
    </dsp:sp>
    <dsp:sp modelId="{CAB2E287-7238-4B5B-A978-0B843F2B52F5}">
      <dsp:nvSpPr>
        <dsp:cNvPr id="0" name=""/>
        <dsp:cNvSpPr/>
      </dsp:nvSpPr>
      <dsp:spPr>
        <a:xfrm rot="5400000">
          <a:off x="3741683" y="1014077"/>
          <a:ext cx="640837" cy="3823155"/>
        </a:xfrm>
        <a:prstGeom prst="round2SameRect">
          <a:avLst/>
        </a:prstGeom>
        <a:solidFill>
          <a:schemeClr val="bg2">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66725">
            <a:lnSpc>
              <a:spcPct val="90000"/>
            </a:lnSpc>
            <a:spcBef>
              <a:spcPct val="0"/>
            </a:spcBef>
            <a:spcAft>
              <a:spcPct val="15000"/>
            </a:spcAft>
            <a:buChar char="•"/>
          </a:pPr>
          <a:r>
            <a:rPr lang="en-US" sz="1050" b="0" kern="1200">
              <a:solidFill>
                <a:schemeClr val="tx2"/>
              </a:solidFill>
            </a:rPr>
            <a:t>Conduct automated monitoring and auditing along with regular manual reviews</a:t>
          </a:r>
        </a:p>
      </dsp:txBody>
      <dsp:txXfrm rot="-5400000">
        <a:off x="2150525" y="2636519"/>
        <a:ext cx="3791872" cy="578271"/>
      </dsp:txXfrm>
    </dsp:sp>
    <dsp:sp modelId="{DA528B54-DA5B-4982-924B-6828A69E6609}">
      <dsp:nvSpPr>
        <dsp:cNvPr id="0" name=""/>
        <dsp:cNvSpPr/>
      </dsp:nvSpPr>
      <dsp:spPr>
        <a:xfrm>
          <a:off x="0" y="2525130"/>
          <a:ext cx="2150524" cy="8010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66725">
            <a:lnSpc>
              <a:spcPct val="90000"/>
            </a:lnSpc>
            <a:spcBef>
              <a:spcPct val="0"/>
            </a:spcBef>
            <a:spcAft>
              <a:spcPct val="35000"/>
            </a:spcAft>
            <a:buNone/>
          </a:pPr>
          <a:r>
            <a:rPr lang="en-US" sz="1050" b="1" kern="1200"/>
            <a:t>Continuous Monitoring and Auditing</a:t>
          </a:r>
        </a:p>
      </dsp:txBody>
      <dsp:txXfrm>
        <a:off x="39104" y="2564234"/>
        <a:ext cx="2072316" cy="722839"/>
      </dsp:txXfrm>
    </dsp:sp>
    <dsp:sp modelId="{9EF56E80-2125-4E38-844E-B2F485D9E1E0}">
      <dsp:nvSpPr>
        <dsp:cNvPr id="0" name=""/>
        <dsp:cNvSpPr/>
      </dsp:nvSpPr>
      <dsp:spPr>
        <a:xfrm rot="5400000">
          <a:off x="3741683" y="1855176"/>
          <a:ext cx="640837" cy="3823155"/>
        </a:xfrm>
        <a:prstGeom prst="round2SameRect">
          <a:avLst/>
        </a:prstGeom>
        <a:solidFill>
          <a:schemeClr val="bg2">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66725">
            <a:lnSpc>
              <a:spcPct val="90000"/>
            </a:lnSpc>
            <a:spcBef>
              <a:spcPct val="0"/>
            </a:spcBef>
            <a:spcAft>
              <a:spcPct val="15000"/>
            </a:spcAft>
            <a:buChar char="•"/>
          </a:pPr>
          <a:r>
            <a:rPr lang="en-US" sz="1050" b="0" kern="1200">
              <a:solidFill>
                <a:schemeClr val="tx2"/>
              </a:solidFill>
            </a:rPr>
            <a:t>Support in defining policies and procedures in compliance with regulations like GDPR, EU AI, HIPAA</a:t>
          </a:r>
        </a:p>
        <a:p>
          <a:pPr marL="57150" lvl="1" indent="-57150" algn="l" defTabSz="466725">
            <a:lnSpc>
              <a:spcPct val="90000"/>
            </a:lnSpc>
            <a:spcBef>
              <a:spcPct val="0"/>
            </a:spcBef>
            <a:spcAft>
              <a:spcPct val="15000"/>
            </a:spcAft>
            <a:buChar char="•"/>
          </a:pPr>
          <a:r>
            <a:rPr lang="en-US" sz="1050" b="0" kern="1200">
              <a:solidFill>
                <a:schemeClr val="tx2"/>
              </a:solidFill>
            </a:rPr>
            <a:t>Provide oversight on AI initiatives</a:t>
          </a:r>
        </a:p>
      </dsp:txBody>
      <dsp:txXfrm rot="-5400000">
        <a:off x="2150525" y="3477618"/>
        <a:ext cx="3791872" cy="578271"/>
      </dsp:txXfrm>
    </dsp:sp>
    <dsp:sp modelId="{1450F3AB-CCE1-48A1-AF2A-9BF9F68A4893}">
      <dsp:nvSpPr>
        <dsp:cNvPr id="0" name=""/>
        <dsp:cNvSpPr/>
      </dsp:nvSpPr>
      <dsp:spPr>
        <a:xfrm>
          <a:off x="0" y="3366230"/>
          <a:ext cx="2150524" cy="8010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66725">
            <a:lnSpc>
              <a:spcPct val="90000"/>
            </a:lnSpc>
            <a:spcBef>
              <a:spcPct val="0"/>
            </a:spcBef>
            <a:spcAft>
              <a:spcPct val="35000"/>
            </a:spcAft>
            <a:buNone/>
          </a:pPr>
          <a:r>
            <a:rPr lang="en-US" sz="1050" b="1" kern="1200"/>
            <a:t>Establish AI Governance &amp; Compliance Frameworks</a:t>
          </a:r>
        </a:p>
      </dsp:txBody>
      <dsp:txXfrm>
        <a:off x="39104" y="3405334"/>
        <a:ext cx="2072316" cy="722839"/>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69B6EC-25A5-4D90-8751-6380D83FB0F2}" type="datetimeFigureOut">
              <a:rPr lang="en-IN" smtClean="0"/>
              <a:t>09-09-2026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EDCD05-8A12-4470-852E-EA5FA6F5F914}" type="slidenum">
              <a:rPr lang="en-IN" smtClean="0"/>
              <a:t>‹#›</a:t>
            </a:fld>
            <a:endParaRPr lang="en-IN"/>
          </a:p>
        </p:txBody>
      </p:sp>
    </p:spTree>
    <p:extLst>
      <p:ext uri="{BB962C8B-B14F-4D97-AF65-F5344CB8AC3E}">
        <p14:creationId xmlns:p14="http://schemas.microsoft.com/office/powerpoint/2010/main" val="1829417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9907F-18CC-71CA-2243-AD58980293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2CD03-EDF0-E007-9A08-D652521EFA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66F40B-53F4-7B7B-59E7-0E7764952A94}"/>
              </a:ext>
            </a:extLst>
          </p:cNvPr>
          <p:cNvSpPr>
            <a:spLocks noGrp="1"/>
          </p:cNvSpPr>
          <p:nvPr>
            <p:ph type="body" idx="1"/>
          </p:nvPr>
        </p:nvSpPr>
        <p:spPr/>
        <p:txBody>
          <a:bodyPr/>
          <a:lstStyle/>
          <a:p>
            <a:r>
              <a:rPr lang="en-US"/>
              <a:t>Use Deepak </a:t>
            </a:r>
          </a:p>
        </p:txBody>
      </p:sp>
      <p:sp>
        <p:nvSpPr>
          <p:cNvPr id="4" name="Slide Number Placeholder 3">
            <a:extLst>
              <a:ext uri="{FF2B5EF4-FFF2-40B4-BE49-F238E27FC236}">
                <a16:creationId xmlns:a16="http://schemas.microsoft.com/office/drawing/2014/main" id="{43E3A62D-9444-A7A4-B843-94A490316C55}"/>
              </a:ext>
            </a:extLst>
          </p:cNvPr>
          <p:cNvSpPr>
            <a:spLocks noGrp="1"/>
          </p:cNvSpPr>
          <p:nvPr>
            <p:ph type="sldNum" sz="quarter" idx="5"/>
          </p:nvPr>
        </p:nvSpPr>
        <p:spPr/>
        <p:txBody>
          <a:bodyPr/>
          <a:lstStyle/>
          <a:p>
            <a:fld id="{4A6591AB-3F63-4C1F-AC34-7B6F854495FB}" type="slidenum">
              <a:rPr lang="en-GB" smtClean="0"/>
              <a:pPr/>
              <a:t>4</a:t>
            </a:fld>
            <a:endParaRPr lang="en-GB"/>
          </a:p>
        </p:txBody>
      </p:sp>
    </p:spTree>
    <p:extLst>
      <p:ext uri="{BB962C8B-B14F-4D97-AF65-F5344CB8AC3E}">
        <p14:creationId xmlns:p14="http://schemas.microsoft.com/office/powerpoint/2010/main" val="1965223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A6591AB-3F63-4C1F-AC34-7B6F854495FB}" type="slidenum">
              <a:rPr lang="en-GB" smtClean="0"/>
              <a:pPr/>
              <a:t>9</a:t>
            </a:fld>
            <a:endParaRPr lang="en-GB"/>
          </a:p>
        </p:txBody>
      </p:sp>
    </p:spTree>
    <p:extLst>
      <p:ext uri="{BB962C8B-B14F-4D97-AF65-F5344CB8AC3E}">
        <p14:creationId xmlns:p14="http://schemas.microsoft.com/office/powerpoint/2010/main" val="14893092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92F78-087B-D78C-E63C-A0359E7B89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E75F91-0132-917F-4C7D-66407517A6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FF7557-CD33-B4A2-5B10-75279D50CD7C}"/>
              </a:ext>
            </a:extLst>
          </p:cNvPr>
          <p:cNvSpPr>
            <a:spLocks noGrp="1"/>
          </p:cNvSpPr>
          <p:nvPr>
            <p:ph type="body" idx="1"/>
          </p:nvPr>
        </p:nvSpPr>
        <p:spPr/>
        <p:txBody>
          <a:bodyPr/>
          <a:lstStyle/>
          <a:p>
            <a:r>
              <a:rPr lang="en-US">
                <a:solidFill>
                  <a:schemeClr val="tx2"/>
                </a:solidFill>
              </a:rPr>
              <a:t>Integrating various tools and techniques to ensure AI systems operate within ethical, legal, and technical boundaries</a:t>
            </a:r>
          </a:p>
          <a:p>
            <a:r>
              <a:rPr lang="en-US">
                <a:solidFill>
                  <a:schemeClr val="tx2"/>
                </a:solidFill>
              </a:rPr>
              <a:t>Data Quality Security &amp; Privacy</a:t>
            </a:r>
          </a:p>
          <a:p>
            <a:r>
              <a:rPr lang="en-US">
                <a:solidFill>
                  <a:schemeClr val="tx2"/>
                </a:solidFill>
              </a:rPr>
              <a:t>Model Explainability</a:t>
            </a:r>
          </a:p>
          <a:p>
            <a:r>
              <a:rPr lang="en-US">
                <a:solidFill>
                  <a:schemeClr val="tx2"/>
                </a:solidFill>
              </a:rPr>
              <a:t>Bias Detection &amp; Mitigation</a:t>
            </a:r>
          </a:p>
          <a:p>
            <a:endParaRPr lang="en-US">
              <a:solidFill>
                <a:schemeClr val="tx2"/>
              </a:solidFill>
            </a:endParaRPr>
          </a:p>
          <a:p>
            <a:r>
              <a:rPr lang="en-US">
                <a:solidFill>
                  <a:schemeClr val="tx2"/>
                </a:solidFill>
              </a:rPr>
              <a:t>Ethical AI Controls Frameworks</a:t>
            </a:r>
          </a:p>
          <a:p>
            <a:r>
              <a:rPr lang="en-US">
                <a:solidFill>
                  <a:schemeClr val="tx2"/>
                </a:solidFill>
              </a:rPr>
              <a:t>API Gateways</a:t>
            </a:r>
          </a:p>
          <a:p>
            <a:r>
              <a:rPr lang="en-US">
                <a:solidFill>
                  <a:schemeClr val="tx2"/>
                </a:solidFill>
              </a:rPr>
              <a:t>Monitoring &amp; Observability</a:t>
            </a:r>
          </a:p>
          <a:p>
            <a:endParaRPr lang="en-US">
              <a:solidFill>
                <a:schemeClr val="tx2"/>
              </a:solidFill>
            </a:endParaRPr>
          </a:p>
          <a:p>
            <a:endParaRPr lang="en-US"/>
          </a:p>
        </p:txBody>
      </p:sp>
      <p:sp>
        <p:nvSpPr>
          <p:cNvPr id="4" name="Slide Number Placeholder 3">
            <a:extLst>
              <a:ext uri="{FF2B5EF4-FFF2-40B4-BE49-F238E27FC236}">
                <a16:creationId xmlns:a16="http://schemas.microsoft.com/office/drawing/2014/main" id="{05F09147-B6BA-EB62-6EAF-43F5C3027C78}"/>
              </a:ext>
            </a:extLst>
          </p:cNvPr>
          <p:cNvSpPr>
            <a:spLocks noGrp="1"/>
          </p:cNvSpPr>
          <p:nvPr>
            <p:ph type="sldNum" sz="quarter" idx="5"/>
          </p:nvPr>
        </p:nvSpPr>
        <p:spPr/>
        <p:txBody>
          <a:bodyPr/>
          <a:lstStyle/>
          <a:p>
            <a:fld id="{4A6591AB-3F63-4C1F-AC34-7B6F854495FB}" type="slidenum">
              <a:rPr lang="en-GB" smtClean="0"/>
              <a:pPr/>
              <a:t>14</a:t>
            </a:fld>
            <a:endParaRPr lang="en-GB"/>
          </a:p>
        </p:txBody>
      </p:sp>
    </p:spTree>
    <p:extLst>
      <p:ext uri="{BB962C8B-B14F-4D97-AF65-F5344CB8AC3E}">
        <p14:creationId xmlns:p14="http://schemas.microsoft.com/office/powerpoint/2010/main" val="4129619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F2C42-2C72-002E-1AC3-DF6E22078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87B171-E411-F906-505D-F15D65EE10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DB06A7-DB12-15BA-F200-C7510057BF08}"/>
              </a:ext>
            </a:extLst>
          </p:cNvPr>
          <p:cNvSpPr>
            <a:spLocks noGrp="1"/>
          </p:cNvSpPr>
          <p:nvPr>
            <p:ph type="body" idx="1"/>
          </p:nvPr>
        </p:nvSpPr>
        <p:spPr/>
        <p:txBody>
          <a:bodyPr/>
          <a:lstStyle/>
          <a:p>
            <a:r>
              <a:rPr lang="en-US">
                <a:solidFill>
                  <a:schemeClr val="tx2"/>
                </a:solidFill>
              </a:rPr>
              <a:t>Integrating various tools and techniques to ensure AI systems operate within ethical, legal, and technical boundaries</a:t>
            </a:r>
          </a:p>
          <a:p>
            <a:r>
              <a:rPr lang="en-US">
                <a:solidFill>
                  <a:schemeClr val="tx2"/>
                </a:solidFill>
              </a:rPr>
              <a:t>Data Quality Security &amp; Privacy</a:t>
            </a:r>
          </a:p>
          <a:p>
            <a:r>
              <a:rPr lang="en-US">
                <a:solidFill>
                  <a:schemeClr val="tx2"/>
                </a:solidFill>
              </a:rPr>
              <a:t>Model Explainability</a:t>
            </a:r>
          </a:p>
          <a:p>
            <a:r>
              <a:rPr lang="en-US">
                <a:solidFill>
                  <a:schemeClr val="tx2"/>
                </a:solidFill>
              </a:rPr>
              <a:t>Bias Detection &amp; Mitigation</a:t>
            </a:r>
          </a:p>
          <a:p>
            <a:endParaRPr lang="en-US">
              <a:solidFill>
                <a:schemeClr val="tx2"/>
              </a:solidFill>
            </a:endParaRPr>
          </a:p>
          <a:p>
            <a:r>
              <a:rPr lang="en-US">
                <a:solidFill>
                  <a:schemeClr val="tx2"/>
                </a:solidFill>
              </a:rPr>
              <a:t>Ethical AI Controls Frameworks</a:t>
            </a:r>
          </a:p>
          <a:p>
            <a:r>
              <a:rPr lang="en-US">
                <a:solidFill>
                  <a:schemeClr val="tx2"/>
                </a:solidFill>
              </a:rPr>
              <a:t>API Gateways</a:t>
            </a:r>
          </a:p>
          <a:p>
            <a:r>
              <a:rPr lang="en-US">
                <a:solidFill>
                  <a:schemeClr val="tx2"/>
                </a:solidFill>
              </a:rPr>
              <a:t>Monitoring &amp; Observability</a:t>
            </a:r>
          </a:p>
          <a:p>
            <a:endParaRPr lang="en-US">
              <a:solidFill>
                <a:schemeClr val="tx2"/>
              </a:solidFill>
            </a:endParaRPr>
          </a:p>
          <a:p>
            <a:endParaRPr lang="en-US"/>
          </a:p>
        </p:txBody>
      </p:sp>
      <p:sp>
        <p:nvSpPr>
          <p:cNvPr id="4" name="Slide Number Placeholder 3">
            <a:extLst>
              <a:ext uri="{FF2B5EF4-FFF2-40B4-BE49-F238E27FC236}">
                <a16:creationId xmlns:a16="http://schemas.microsoft.com/office/drawing/2014/main" id="{36414E9E-E9A1-CA25-FE41-D47973F2D6AC}"/>
              </a:ext>
            </a:extLst>
          </p:cNvPr>
          <p:cNvSpPr>
            <a:spLocks noGrp="1"/>
          </p:cNvSpPr>
          <p:nvPr>
            <p:ph type="sldNum" sz="quarter" idx="5"/>
          </p:nvPr>
        </p:nvSpPr>
        <p:spPr/>
        <p:txBody>
          <a:bodyPr/>
          <a:lstStyle/>
          <a:p>
            <a:fld id="{4A6591AB-3F63-4C1F-AC34-7B6F854495FB}" type="slidenum">
              <a:rPr lang="en-GB" smtClean="0"/>
              <a:pPr/>
              <a:t>15</a:t>
            </a:fld>
            <a:endParaRPr lang="en-GB"/>
          </a:p>
        </p:txBody>
      </p:sp>
    </p:spTree>
    <p:extLst>
      <p:ext uri="{BB962C8B-B14F-4D97-AF65-F5344CB8AC3E}">
        <p14:creationId xmlns:p14="http://schemas.microsoft.com/office/powerpoint/2010/main" val="22854580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14009-840B-21E9-A543-87D23DF75A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B6B16A-C1D8-62F0-1427-2A7921C71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053E46-3611-D4FC-26C1-AE8F216A72B7}"/>
              </a:ext>
            </a:extLst>
          </p:cNvPr>
          <p:cNvSpPr>
            <a:spLocks noGrp="1"/>
          </p:cNvSpPr>
          <p:nvPr>
            <p:ph type="body" idx="1"/>
          </p:nvPr>
        </p:nvSpPr>
        <p:spPr/>
        <p:txBody>
          <a:bodyPr/>
          <a:lstStyle/>
          <a:p>
            <a:pPr marL="171450" marR="0" lvl="0" indent="-171450" algn="l" defTabSz="913879"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400" b="1">
              <a:cs typeface="Graphik Bold"/>
            </a:endParaRPr>
          </a:p>
          <a:p>
            <a:pPr marL="171450" marR="0" lvl="0" indent="-171450" algn="l" defTabSz="91387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b="1"/>
              <a:t>Defend:</a:t>
            </a:r>
            <a:r>
              <a:rPr lang="en-US" sz="2800"/>
              <a:t> This involves leveraging AI to protect and optimize existing business models and revenue streams. The focus is on enhancing efficiency, improving customer retention, and mitigating risks. AI applications in this category typically offer incremental improvements. </a:t>
            </a:r>
          </a:p>
          <a:p>
            <a:pPr marL="171450" marR="0" lvl="0" indent="-171450" algn="l" defTabSz="91387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Extend:</a:t>
            </a:r>
            <a:r>
              <a:rPr lang="en-US"/>
              <a:t> This focuses on using AI to enhance existing products, services, and processes to create new value for customers and gain a competitive edge. AI solutions here often lead to improved customer experience, new feature offerings, and process differentiation. </a:t>
            </a:r>
            <a:endParaRPr lang="en-US" sz="2800"/>
          </a:p>
          <a:p>
            <a:pPr marL="171450" marR="0" lvl="0" indent="-171450" algn="l" defTabSz="91387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Upend:</a:t>
            </a:r>
            <a:r>
              <a:rPr lang="en-US"/>
              <a:t> This involves employing AI to create entirely new business models, products, or services that disrupt existing markets or create new ones. These are often high-risk, high-reward initiatives with the potential for significant impact.</a:t>
            </a:r>
          </a:p>
          <a:p>
            <a:pPr marL="0" marR="0" lvl="0" indent="0" algn="l" defTabSz="913879"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a:cs typeface="Graphik Regular"/>
            </a:endParaRPr>
          </a:p>
          <a:p>
            <a:pPr marL="171450" indent="-171450" algn="l">
              <a:buFont typeface="Arial" panose="020B0604020202020204" pitchFamily="34" charset="0"/>
              <a:buChar char="•"/>
            </a:pPr>
            <a:endParaRPr lang="en-US" sz="1200" b="1">
              <a:cs typeface="Graphik Bold"/>
            </a:endParaRPr>
          </a:p>
        </p:txBody>
      </p:sp>
      <p:sp>
        <p:nvSpPr>
          <p:cNvPr id="4" name="Slide Number Placeholder 3">
            <a:extLst>
              <a:ext uri="{FF2B5EF4-FFF2-40B4-BE49-F238E27FC236}">
                <a16:creationId xmlns:a16="http://schemas.microsoft.com/office/drawing/2014/main" id="{FBA85ADB-5814-3B28-C490-028102A11806}"/>
              </a:ext>
            </a:extLst>
          </p:cNvPr>
          <p:cNvSpPr>
            <a:spLocks noGrp="1"/>
          </p:cNvSpPr>
          <p:nvPr>
            <p:ph type="sldNum" sz="quarter" idx="5"/>
          </p:nvPr>
        </p:nvSpPr>
        <p:spPr/>
        <p:txBody>
          <a:bodyPr/>
          <a:lstStyle/>
          <a:p>
            <a:pPr marL="0" marR="0" lvl="0" indent="0" algn="r" defTabSz="913879" rtl="0" eaLnBrk="1" fontAlgn="auto" latinLnBrk="0" hangingPunct="1">
              <a:lnSpc>
                <a:spcPct val="100000"/>
              </a:lnSpc>
              <a:spcBef>
                <a:spcPts val="0"/>
              </a:spcBef>
              <a:spcAft>
                <a:spcPts val="0"/>
              </a:spcAft>
              <a:buClrTx/>
              <a:buSzTx/>
              <a:buFontTx/>
              <a:buNone/>
              <a:tabLst/>
              <a:defRPr/>
            </a:pPr>
            <a:fld id="{C7EEAC2A-1292-4069-BB70-8744CA23D51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3879"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7861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Southwest Airlines, where they aimed to build a solution for estimating off-block time to optimize flight operations. Traditionally done manually, this process resulted in increased costs. The team, along with Southwest's Data Science team, developed a sophisticated decision-making engine powered by AWS </a:t>
            </a:r>
            <a:r>
              <a:rPr lang="en-US" err="1"/>
              <a:t>Sagemaker</a:t>
            </a:r>
            <a:r>
              <a:rPr lang="en-US"/>
              <a:t>. The algorithm processes real-time data from two key sources, the Passenger Event System (PES) and Wolf, one hour before flight departure. This model, deployed in five airports, has shown a 4-6% reduction in fuel consumption, estimated annual savings of 2-4 million dollars, and a 15% improvement in gate utilization</a:t>
            </a:r>
          </a:p>
        </p:txBody>
      </p:sp>
      <p:sp>
        <p:nvSpPr>
          <p:cNvPr id="4" name="Slide Number Placeholder 3"/>
          <p:cNvSpPr>
            <a:spLocks noGrp="1"/>
          </p:cNvSpPr>
          <p:nvPr>
            <p:ph type="sldNum" sz="quarter" idx="5"/>
          </p:nvPr>
        </p:nvSpPr>
        <p:spPr/>
        <p:txBody>
          <a:bodyPr/>
          <a:lstStyle/>
          <a:p>
            <a:fld id="{4A6591AB-3F63-4C1F-AC34-7B6F854495FB}" type="slidenum">
              <a:rPr lang="en-GB" smtClean="0"/>
              <a:pPr/>
              <a:t>23</a:t>
            </a:fld>
            <a:endParaRPr lang="en-GB"/>
          </a:p>
        </p:txBody>
      </p:sp>
    </p:spTree>
    <p:extLst>
      <p:ext uri="{BB962C8B-B14F-4D97-AF65-F5344CB8AC3E}">
        <p14:creationId xmlns:p14="http://schemas.microsoft.com/office/powerpoint/2010/main" val="741742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5" name="Text Placeholder 8">
            <a:extLst>
              <a:ext uri="{FF2B5EF4-FFF2-40B4-BE49-F238E27FC236}">
                <a16:creationId xmlns:a16="http://schemas.microsoft.com/office/drawing/2014/main" id="{7480C507-6EB2-CCF9-870C-8684AC412484}"/>
              </a:ext>
            </a:extLst>
          </p:cNvPr>
          <p:cNvSpPr>
            <a:spLocks noGrp="1"/>
          </p:cNvSpPr>
          <p:nvPr>
            <p:ph type="body" sz="quarter" idx="12"/>
          </p:nvPr>
        </p:nvSpPr>
        <p:spPr>
          <a:xfrm>
            <a:off x="586304" y="1353312"/>
            <a:ext cx="11335821" cy="4856988"/>
          </a:xfrm>
        </p:spPr>
        <p:txBody>
          <a:bodyPr>
            <a:normAutofit/>
          </a:bodyPr>
          <a:lstStyle>
            <a:lvl1pPr>
              <a:defRPr sz="1800"/>
            </a:lvl1pPr>
            <a:lvl2pPr>
              <a:defRPr sz="1800"/>
            </a:lvl2pPr>
            <a:lvl3pPr>
              <a:defRPr sz="18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 name="Title Placeholder 1">
            <a:extLst>
              <a:ext uri="{FF2B5EF4-FFF2-40B4-BE49-F238E27FC236}">
                <a16:creationId xmlns:a16="http://schemas.microsoft.com/office/drawing/2014/main" id="{AAFF2628-ED62-950D-2E66-69E4E6F3A1E0}"/>
              </a:ext>
            </a:extLst>
          </p:cNvPr>
          <p:cNvSpPr>
            <a:spLocks noGrp="1"/>
          </p:cNvSpPr>
          <p:nvPr>
            <p:ph type="title"/>
          </p:nvPr>
        </p:nvSpPr>
        <p:spPr>
          <a:xfrm>
            <a:off x="586305" y="163731"/>
            <a:ext cx="11335249" cy="945514"/>
          </a:xfrm>
          <a:prstGeom prst="rect">
            <a:avLst/>
          </a:prstGeom>
        </p:spPr>
        <p:txBody>
          <a:bodyPr vert="horz" lIns="0" tIns="45720" rIns="91440" bIns="45720" rtlCol="0" anchor="ctr">
            <a:normAutofit/>
          </a:bodyPr>
          <a:lstStyle/>
          <a:p>
            <a:r>
              <a:rPr lang="en-US"/>
              <a:t>Click to edit Master title style</a:t>
            </a:r>
            <a:endParaRPr lang="en-IN"/>
          </a:p>
        </p:txBody>
      </p:sp>
    </p:spTree>
    <p:extLst>
      <p:ext uri="{BB962C8B-B14F-4D97-AF65-F5344CB8AC3E}">
        <p14:creationId xmlns:p14="http://schemas.microsoft.com/office/powerpoint/2010/main" val="3299346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6A9610-6B18-4138-A598-3C974F238399}"/>
              </a:ext>
            </a:extLst>
          </p:cNvPr>
          <p:cNvSpPr>
            <a:spLocks noGrp="1"/>
          </p:cNvSpPr>
          <p:nvPr>
            <p:ph type="title"/>
          </p:nvPr>
        </p:nvSpPr>
        <p:spPr>
          <a:xfrm>
            <a:off x="214338" y="163730"/>
            <a:ext cx="11335249" cy="945514"/>
          </a:xfrm>
          <a:prstGeom prst="rect">
            <a:avLst/>
          </a:prstGeom>
        </p:spPr>
        <p:txBody>
          <a:bodyPr vert="horz" lIns="0" tIns="45720" rIns="91440" bIns="45720" rtlCol="0" anchor="ctr">
            <a:normAutofit/>
          </a:bodyPr>
          <a:lstStyle>
            <a:lvl1pPr>
              <a:defRPr sz="2400">
                <a:latin typeface="+mj-lt"/>
              </a:defRPr>
            </a:lvl1pPr>
          </a:lstStyle>
          <a:p>
            <a:r>
              <a:rPr lang="en-US"/>
              <a:t>Click to edit Master title style</a:t>
            </a:r>
            <a:endParaRPr lang="en-IN"/>
          </a:p>
        </p:txBody>
      </p:sp>
    </p:spTree>
    <p:extLst>
      <p:ext uri="{BB962C8B-B14F-4D97-AF65-F5344CB8AC3E}">
        <p14:creationId xmlns:p14="http://schemas.microsoft.com/office/powerpoint/2010/main" val="2532774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rcRect/>
          <a:stretch/>
        </p:blipFill>
        <p:spPr>
          <a:xfrm>
            <a:off x="5381250" y="435890"/>
            <a:ext cx="6810750" cy="5986220"/>
          </a:xfrm>
          <a:prstGeom prst="rect">
            <a:avLst/>
          </a:prstGeom>
        </p:spPr>
      </p:pic>
      <p:pic>
        <p:nvPicPr>
          <p:cNvPr id="7" name="Picture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7381" y="389912"/>
            <a:ext cx="1600423" cy="406774"/>
          </a:xfrm>
          <a:prstGeom prst="rect">
            <a:avLst/>
          </a:prstGeom>
        </p:spPr>
      </p:pic>
    </p:spTree>
    <p:extLst>
      <p:ext uri="{BB962C8B-B14F-4D97-AF65-F5344CB8AC3E}">
        <p14:creationId xmlns:p14="http://schemas.microsoft.com/office/powerpoint/2010/main" val="2865792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_Default slide">
    <p:spTree>
      <p:nvGrpSpPr>
        <p:cNvPr id="1" name=""/>
        <p:cNvGrpSpPr/>
        <p:nvPr/>
      </p:nvGrpSpPr>
      <p:grpSpPr>
        <a:xfrm>
          <a:off x="0" y="0"/>
          <a:ext cx="0" cy="0"/>
          <a:chOff x="0" y="0"/>
          <a:chExt cx="0" cy="0"/>
        </a:xfrm>
      </p:grpSpPr>
      <p:grpSp>
        <p:nvGrpSpPr>
          <p:cNvPr id="9" name="Group 8"/>
          <p:cNvGrpSpPr/>
          <p:nvPr/>
        </p:nvGrpSpPr>
        <p:grpSpPr>
          <a:xfrm>
            <a:off x="534399" y="5551122"/>
            <a:ext cx="1933985" cy="388746"/>
            <a:chOff x="534398" y="5551122"/>
            <a:chExt cx="1933985" cy="388746"/>
          </a:xfrm>
        </p:grpSpPr>
        <p:grpSp>
          <p:nvGrpSpPr>
            <p:cNvPr id="10" name="Group 9"/>
            <p:cNvGrpSpPr/>
            <p:nvPr/>
          </p:nvGrpSpPr>
          <p:grpSpPr>
            <a:xfrm>
              <a:off x="1562087" y="5551122"/>
              <a:ext cx="390864" cy="388746"/>
              <a:chOff x="2762051" y="6326352"/>
              <a:chExt cx="515226" cy="512434"/>
            </a:xfrm>
            <a:solidFill>
              <a:srgbClr val="CB2026"/>
            </a:solidFill>
          </p:grpSpPr>
          <p:sp>
            <p:nvSpPr>
              <p:cNvPr id="19" name="Freeform 18"/>
              <p:cNvSpPr>
                <a:spLocks noEditPoints="1"/>
              </p:cNvSpPr>
              <p:nvPr/>
            </p:nvSpPr>
            <p:spPr bwMode="auto">
              <a:xfrm>
                <a:off x="2762051" y="6326352"/>
                <a:ext cx="515226" cy="512434"/>
              </a:xfrm>
              <a:custGeom>
                <a:avLst/>
                <a:gdLst>
                  <a:gd name="T0" fmla="*/ 93 w 186"/>
                  <a:gd name="T1" fmla="*/ 0 h 185"/>
                  <a:gd name="T2" fmla="*/ 0 w 186"/>
                  <a:gd name="T3" fmla="*/ 93 h 185"/>
                  <a:gd name="T4" fmla="*/ 93 w 186"/>
                  <a:gd name="T5" fmla="*/ 185 h 185"/>
                  <a:gd name="T6" fmla="*/ 186 w 186"/>
                  <a:gd name="T7" fmla="*/ 93 h 185"/>
                  <a:gd name="T8" fmla="*/ 93 w 186"/>
                  <a:gd name="T9" fmla="*/ 0 h 185"/>
                  <a:gd name="T10" fmla="*/ 154 w 186"/>
                  <a:gd name="T11" fmla="*/ 94 h 185"/>
                  <a:gd name="T12" fmla="*/ 153 w 186"/>
                  <a:gd name="T13" fmla="*/ 114 h 185"/>
                  <a:gd name="T14" fmla="*/ 148 w 186"/>
                  <a:gd name="T15" fmla="*/ 126 h 185"/>
                  <a:gd name="T16" fmla="*/ 136 w 186"/>
                  <a:gd name="T17" fmla="*/ 131 h 185"/>
                  <a:gd name="T18" fmla="*/ 94 w 186"/>
                  <a:gd name="T19" fmla="*/ 132 h 185"/>
                  <a:gd name="T20" fmla="*/ 53 w 186"/>
                  <a:gd name="T21" fmla="*/ 131 h 185"/>
                  <a:gd name="T22" fmla="*/ 40 w 186"/>
                  <a:gd name="T23" fmla="*/ 126 h 185"/>
                  <a:gd name="T24" fmla="*/ 35 w 186"/>
                  <a:gd name="T25" fmla="*/ 114 h 185"/>
                  <a:gd name="T26" fmla="*/ 34 w 186"/>
                  <a:gd name="T27" fmla="*/ 94 h 185"/>
                  <a:gd name="T28" fmla="*/ 34 w 186"/>
                  <a:gd name="T29" fmla="*/ 85 h 185"/>
                  <a:gd name="T30" fmla="*/ 35 w 186"/>
                  <a:gd name="T31" fmla="*/ 66 h 185"/>
                  <a:gd name="T32" fmla="*/ 40 w 186"/>
                  <a:gd name="T33" fmla="*/ 54 h 185"/>
                  <a:gd name="T34" fmla="*/ 52 w 186"/>
                  <a:gd name="T35" fmla="*/ 49 h 185"/>
                  <a:gd name="T36" fmla="*/ 94 w 186"/>
                  <a:gd name="T37" fmla="*/ 47 h 185"/>
                  <a:gd name="T38" fmla="*/ 94 w 186"/>
                  <a:gd name="T39" fmla="*/ 47 h 185"/>
                  <a:gd name="T40" fmla="*/ 136 w 186"/>
                  <a:gd name="T41" fmla="*/ 49 h 185"/>
                  <a:gd name="T42" fmla="*/ 148 w 186"/>
                  <a:gd name="T43" fmla="*/ 54 h 185"/>
                  <a:gd name="T44" fmla="*/ 153 w 186"/>
                  <a:gd name="T45" fmla="*/ 66 h 185"/>
                  <a:gd name="T46" fmla="*/ 154 w 186"/>
                  <a:gd name="T47" fmla="*/ 85 h 185"/>
                  <a:gd name="T48" fmla="*/ 154 w 186"/>
                  <a:gd name="T49" fmla="*/ 94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6" h="185">
                    <a:moveTo>
                      <a:pt x="93" y="0"/>
                    </a:moveTo>
                    <a:cubicBezTo>
                      <a:pt x="42" y="0"/>
                      <a:pt x="0" y="41"/>
                      <a:pt x="0" y="93"/>
                    </a:cubicBezTo>
                    <a:cubicBezTo>
                      <a:pt x="0" y="144"/>
                      <a:pt x="42" y="185"/>
                      <a:pt x="93" y="185"/>
                    </a:cubicBezTo>
                    <a:cubicBezTo>
                      <a:pt x="144" y="185"/>
                      <a:pt x="186" y="144"/>
                      <a:pt x="186" y="93"/>
                    </a:cubicBezTo>
                    <a:cubicBezTo>
                      <a:pt x="186" y="41"/>
                      <a:pt x="144" y="0"/>
                      <a:pt x="93" y="0"/>
                    </a:cubicBezTo>
                    <a:close/>
                    <a:moveTo>
                      <a:pt x="154" y="94"/>
                    </a:moveTo>
                    <a:cubicBezTo>
                      <a:pt x="154" y="104"/>
                      <a:pt x="153" y="114"/>
                      <a:pt x="153" y="114"/>
                    </a:cubicBezTo>
                    <a:cubicBezTo>
                      <a:pt x="153" y="114"/>
                      <a:pt x="152" y="122"/>
                      <a:pt x="148" y="126"/>
                    </a:cubicBezTo>
                    <a:cubicBezTo>
                      <a:pt x="143" y="130"/>
                      <a:pt x="138" y="130"/>
                      <a:pt x="136" y="131"/>
                    </a:cubicBezTo>
                    <a:cubicBezTo>
                      <a:pt x="119" y="132"/>
                      <a:pt x="94" y="132"/>
                      <a:pt x="94" y="132"/>
                    </a:cubicBezTo>
                    <a:cubicBezTo>
                      <a:pt x="94" y="132"/>
                      <a:pt x="62" y="132"/>
                      <a:pt x="53" y="131"/>
                    </a:cubicBezTo>
                    <a:cubicBezTo>
                      <a:pt x="50" y="130"/>
                      <a:pt x="44" y="130"/>
                      <a:pt x="40" y="126"/>
                    </a:cubicBezTo>
                    <a:cubicBezTo>
                      <a:pt x="36" y="122"/>
                      <a:pt x="35" y="114"/>
                      <a:pt x="35" y="114"/>
                    </a:cubicBezTo>
                    <a:cubicBezTo>
                      <a:pt x="35" y="114"/>
                      <a:pt x="34" y="104"/>
                      <a:pt x="34" y="94"/>
                    </a:cubicBezTo>
                    <a:cubicBezTo>
                      <a:pt x="34" y="85"/>
                      <a:pt x="34" y="85"/>
                      <a:pt x="34" y="85"/>
                    </a:cubicBezTo>
                    <a:cubicBezTo>
                      <a:pt x="34" y="75"/>
                      <a:pt x="35" y="66"/>
                      <a:pt x="35" y="66"/>
                    </a:cubicBezTo>
                    <a:cubicBezTo>
                      <a:pt x="35" y="66"/>
                      <a:pt x="36" y="57"/>
                      <a:pt x="40" y="54"/>
                    </a:cubicBezTo>
                    <a:cubicBezTo>
                      <a:pt x="44" y="49"/>
                      <a:pt x="49" y="49"/>
                      <a:pt x="52" y="49"/>
                    </a:cubicBezTo>
                    <a:cubicBezTo>
                      <a:pt x="68" y="47"/>
                      <a:pt x="94" y="47"/>
                      <a:pt x="94" y="47"/>
                    </a:cubicBezTo>
                    <a:cubicBezTo>
                      <a:pt x="94" y="47"/>
                      <a:pt x="94" y="47"/>
                      <a:pt x="94" y="47"/>
                    </a:cubicBezTo>
                    <a:cubicBezTo>
                      <a:pt x="94" y="47"/>
                      <a:pt x="119" y="47"/>
                      <a:pt x="136" y="49"/>
                    </a:cubicBezTo>
                    <a:cubicBezTo>
                      <a:pt x="138" y="49"/>
                      <a:pt x="143" y="49"/>
                      <a:pt x="148" y="54"/>
                    </a:cubicBezTo>
                    <a:cubicBezTo>
                      <a:pt x="152" y="57"/>
                      <a:pt x="153" y="66"/>
                      <a:pt x="153" y="66"/>
                    </a:cubicBezTo>
                    <a:cubicBezTo>
                      <a:pt x="153" y="66"/>
                      <a:pt x="154" y="75"/>
                      <a:pt x="154" y="85"/>
                    </a:cubicBezTo>
                    <a:lnTo>
                      <a:pt x="154" y="94"/>
                    </a:lnTo>
                    <a:close/>
                  </a:path>
                </a:pathLst>
              </a:custGeom>
              <a:grpFill/>
              <a:ln>
                <a:noFill/>
              </a:ln>
            </p:spPr>
            <p:txBody>
              <a:bodyPr vert="horz" wrap="square" lIns="91440" tIns="45720" rIns="91440" bIns="45720" numCol="1" anchor="t" anchorCtr="0" compatLnSpc="1">
                <a:prstTxWarp prst="textNoShape">
                  <a:avLst/>
                </a:prstTxWarp>
              </a:bodyPr>
              <a:lstStyle/>
              <a:p>
                <a:endParaRPr lang="en-IN" sz="1800"/>
              </a:p>
            </p:txBody>
          </p:sp>
          <p:sp>
            <p:nvSpPr>
              <p:cNvPr id="20" name="Oval 19"/>
              <p:cNvSpPr/>
              <p:nvPr/>
            </p:nvSpPr>
            <p:spPr>
              <a:xfrm>
                <a:off x="2811892" y="6424507"/>
                <a:ext cx="415544" cy="3149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grpSp>
        <p:sp>
          <p:nvSpPr>
            <p:cNvPr id="11" name="Freeform 10"/>
            <p:cNvSpPr>
              <a:spLocks noEditPoints="1"/>
            </p:cNvSpPr>
            <p:nvPr/>
          </p:nvSpPr>
          <p:spPr bwMode="auto">
            <a:xfrm>
              <a:off x="534398" y="5551122"/>
              <a:ext cx="388746" cy="388746"/>
            </a:xfrm>
            <a:custGeom>
              <a:avLst/>
              <a:gdLst>
                <a:gd name="T0" fmla="*/ 93 w 185"/>
                <a:gd name="T1" fmla="*/ 0 h 185"/>
                <a:gd name="T2" fmla="*/ 0 w 185"/>
                <a:gd name="T3" fmla="*/ 93 h 185"/>
                <a:gd name="T4" fmla="*/ 93 w 185"/>
                <a:gd name="T5" fmla="*/ 185 h 185"/>
                <a:gd name="T6" fmla="*/ 185 w 185"/>
                <a:gd name="T7" fmla="*/ 93 h 185"/>
                <a:gd name="T8" fmla="*/ 93 w 185"/>
                <a:gd name="T9" fmla="*/ 0 h 185"/>
                <a:gd name="T10" fmla="*/ 118 w 185"/>
                <a:gd name="T11" fmla="*/ 72 h 185"/>
                <a:gd name="T12" fmla="*/ 118 w 185"/>
                <a:gd name="T13" fmla="*/ 91 h 185"/>
                <a:gd name="T14" fmla="*/ 100 w 185"/>
                <a:gd name="T15" fmla="*/ 91 h 185"/>
                <a:gd name="T16" fmla="*/ 100 w 185"/>
                <a:gd name="T17" fmla="*/ 155 h 185"/>
                <a:gd name="T18" fmla="*/ 74 w 185"/>
                <a:gd name="T19" fmla="*/ 155 h 185"/>
                <a:gd name="T20" fmla="*/ 74 w 185"/>
                <a:gd name="T21" fmla="*/ 91 h 185"/>
                <a:gd name="T22" fmla="*/ 61 w 185"/>
                <a:gd name="T23" fmla="*/ 91 h 185"/>
                <a:gd name="T24" fmla="*/ 61 w 185"/>
                <a:gd name="T25" fmla="*/ 72 h 185"/>
                <a:gd name="T26" fmla="*/ 73 w 185"/>
                <a:gd name="T27" fmla="*/ 72 h 185"/>
                <a:gd name="T28" fmla="*/ 81 w 185"/>
                <a:gd name="T29" fmla="*/ 35 h 185"/>
                <a:gd name="T30" fmla="*/ 121 w 185"/>
                <a:gd name="T31" fmla="*/ 31 h 185"/>
                <a:gd name="T32" fmla="*/ 118 w 185"/>
                <a:gd name="T33" fmla="*/ 50 h 185"/>
                <a:gd name="T34" fmla="*/ 107 w 185"/>
                <a:gd name="T35" fmla="*/ 49 h 185"/>
                <a:gd name="T36" fmla="*/ 100 w 185"/>
                <a:gd name="T37" fmla="*/ 56 h 185"/>
                <a:gd name="T38" fmla="*/ 100 w 185"/>
                <a:gd name="T39" fmla="*/ 72 h 185"/>
                <a:gd name="T40" fmla="*/ 118 w 185"/>
                <a:gd name="T41" fmla="*/ 72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85">
                  <a:moveTo>
                    <a:pt x="93" y="0"/>
                  </a:moveTo>
                  <a:cubicBezTo>
                    <a:pt x="42" y="0"/>
                    <a:pt x="0" y="41"/>
                    <a:pt x="0" y="93"/>
                  </a:cubicBezTo>
                  <a:cubicBezTo>
                    <a:pt x="0" y="144"/>
                    <a:pt x="42" y="185"/>
                    <a:pt x="93" y="185"/>
                  </a:cubicBezTo>
                  <a:cubicBezTo>
                    <a:pt x="144" y="185"/>
                    <a:pt x="185" y="144"/>
                    <a:pt x="185" y="93"/>
                  </a:cubicBezTo>
                  <a:cubicBezTo>
                    <a:pt x="185" y="41"/>
                    <a:pt x="144" y="0"/>
                    <a:pt x="93" y="0"/>
                  </a:cubicBezTo>
                  <a:close/>
                  <a:moveTo>
                    <a:pt x="118" y="72"/>
                  </a:moveTo>
                  <a:cubicBezTo>
                    <a:pt x="118" y="91"/>
                    <a:pt x="118" y="91"/>
                    <a:pt x="118" y="91"/>
                  </a:cubicBezTo>
                  <a:cubicBezTo>
                    <a:pt x="100" y="91"/>
                    <a:pt x="100" y="91"/>
                    <a:pt x="100" y="91"/>
                  </a:cubicBezTo>
                  <a:cubicBezTo>
                    <a:pt x="100" y="155"/>
                    <a:pt x="100" y="155"/>
                    <a:pt x="100" y="155"/>
                  </a:cubicBezTo>
                  <a:cubicBezTo>
                    <a:pt x="74" y="155"/>
                    <a:pt x="74" y="155"/>
                    <a:pt x="74" y="155"/>
                  </a:cubicBezTo>
                  <a:cubicBezTo>
                    <a:pt x="74" y="91"/>
                    <a:pt x="74" y="91"/>
                    <a:pt x="74" y="91"/>
                  </a:cubicBezTo>
                  <a:cubicBezTo>
                    <a:pt x="61" y="91"/>
                    <a:pt x="61" y="91"/>
                    <a:pt x="61" y="91"/>
                  </a:cubicBezTo>
                  <a:cubicBezTo>
                    <a:pt x="61" y="72"/>
                    <a:pt x="61" y="72"/>
                    <a:pt x="61" y="72"/>
                  </a:cubicBezTo>
                  <a:cubicBezTo>
                    <a:pt x="73" y="72"/>
                    <a:pt x="73" y="72"/>
                    <a:pt x="73" y="72"/>
                  </a:cubicBezTo>
                  <a:cubicBezTo>
                    <a:pt x="73" y="63"/>
                    <a:pt x="71" y="42"/>
                    <a:pt x="81" y="35"/>
                  </a:cubicBezTo>
                  <a:cubicBezTo>
                    <a:pt x="95" y="24"/>
                    <a:pt x="121" y="31"/>
                    <a:pt x="121" y="31"/>
                  </a:cubicBezTo>
                  <a:cubicBezTo>
                    <a:pt x="118" y="50"/>
                    <a:pt x="118" y="50"/>
                    <a:pt x="118" y="50"/>
                  </a:cubicBezTo>
                  <a:cubicBezTo>
                    <a:pt x="118" y="50"/>
                    <a:pt x="109" y="49"/>
                    <a:pt x="107" y="49"/>
                  </a:cubicBezTo>
                  <a:cubicBezTo>
                    <a:pt x="105" y="49"/>
                    <a:pt x="100" y="50"/>
                    <a:pt x="100" y="56"/>
                  </a:cubicBezTo>
                  <a:cubicBezTo>
                    <a:pt x="100" y="72"/>
                    <a:pt x="100" y="72"/>
                    <a:pt x="100" y="72"/>
                  </a:cubicBezTo>
                  <a:lnTo>
                    <a:pt x="118" y="72"/>
                  </a:lnTo>
                  <a:close/>
                </a:path>
              </a:pathLst>
            </a:custGeom>
            <a:solidFill>
              <a:srgbClr val="CB2026"/>
            </a:solidFill>
            <a:ln>
              <a:noFill/>
            </a:ln>
          </p:spPr>
          <p:txBody>
            <a:bodyPr vert="horz" wrap="square" lIns="91440" tIns="45720" rIns="91440" bIns="45720" numCol="1" anchor="t" anchorCtr="0" compatLnSpc="1">
              <a:prstTxWarp prst="textNoShape">
                <a:avLst/>
              </a:prstTxWarp>
            </a:bodyPr>
            <a:lstStyle/>
            <a:p>
              <a:endParaRPr lang="en-IN" sz="1800"/>
            </a:p>
          </p:txBody>
        </p:sp>
        <p:grpSp>
          <p:nvGrpSpPr>
            <p:cNvPr id="12" name="Group 11"/>
            <p:cNvGrpSpPr/>
            <p:nvPr/>
          </p:nvGrpSpPr>
          <p:grpSpPr>
            <a:xfrm>
              <a:off x="2077519" y="5551122"/>
              <a:ext cx="390864" cy="388746"/>
              <a:chOff x="1836674" y="5551122"/>
              <a:chExt cx="390864" cy="388746"/>
            </a:xfrm>
            <a:solidFill>
              <a:srgbClr val="CB2026"/>
            </a:solidFill>
          </p:grpSpPr>
          <p:sp>
            <p:nvSpPr>
              <p:cNvPr id="17" name="Freeform 16"/>
              <p:cNvSpPr>
                <a:spLocks/>
              </p:cNvSpPr>
              <p:nvPr/>
            </p:nvSpPr>
            <p:spPr bwMode="auto">
              <a:xfrm>
                <a:off x="2007213" y="5700477"/>
                <a:ext cx="68851" cy="70970"/>
              </a:xfrm>
              <a:custGeom>
                <a:avLst/>
                <a:gdLst>
                  <a:gd name="T0" fmla="*/ 0 w 65"/>
                  <a:gd name="T1" fmla="*/ 67 h 67"/>
                  <a:gd name="T2" fmla="*/ 65 w 65"/>
                  <a:gd name="T3" fmla="*/ 34 h 67"/>
                  <a:gd name="T4" fmla="*/ 0 w 65"/>
                  <a:gd name="T5" fmla="*/ 0 h 67"/>
                  <a:gd name="T6" fmla="*/ 0 w 65"/>
                  <a:gd name="T7" fmla="*/ 67 h 67"/>
                </a:gdLst>
                <a:ahLst/>
                <a:cxnLst>
                  <a:cxn ang="0">
                    <a:pos x="T0" y="T1"/>
                  </a:cxn>
                  <a:cxn ang="0">
                    <a:pos x="T2" y="T3"/>
                  </a:cxn>
                  <a:cxn ang="0">
                    <a:pos x="T4" y="T5"/>
                  </a:cxn>
                  <a:cxn ang="0">
                    <a:pos x="T6" y="T7"/>
                  </a:cxn>
                </a:cxnLst>
                <a:rect l="0" t="0" r="r" b="b"/>
                <a:pathLst>
                  <a:path w="65" h="67">
                    <a:moveTo>
                      <a:pt x="0" y="67"/>
                    </a:moveTo>
                    <a:lnTo>
                      <a:pt x="65" y="34"/>
                    </a:lnTo>
                    <a:lnTo>
                      <a:pt x="0" y="0"/>
                    </a:lnTo>
                    <a:lnTo>
                      <a:pt x="0" y="67"/>
                    </a:lnTo>
                    <a:close/>
                  </a:path>
                </a:pathLst>
              </a:custGeom>
              <a:grpFill/>
              <a:ln>
                <a:noFill/>
              </a:ln>
            </p:spPr>
            <p:txBody>
              <a:bodyPr vert="horz" wrap="square" lIns="91440" tIns="45720" rIns="91440" bIns="45720" numCol="1" anchor="t" anchorCtr="0" compatLnSpc="1">
                <a:prstTxWarp prst="textNoShape">
                  <a:avLst/>
                </a:prstTxWarp>
              </a:bodyPr>
              <a:lstStyle/>
              <a:p>
                <a:endParaRPr lang="en-IN" sz="1800"/>
              </a:p>
            </p:txBody>
          </p:sp>
          <p:sp>
            <p:nvSpPr>
              <p:cNvPr id="18" name="Freeform 17"/>
              <p:cNvSpPr>
                <a:spLocks noEditPoints="1"/>
              </p:cNvSpPr>
              <p:nvPr/>
            </p:nvSpPr>
            <p:spPr bwMode="auto">
              <a:xfrm>
                <a:off x="1836674" y="5551122"/>
                <a:ext cx="390864" cy="388746"/>
              </a:xfrm>
              <a:custGeom>
                <a:avLst/>
                <a:gdLst>
                  <a:gd name="T0" fmla="*/ 93 w 186"/>
                  <a:gd name="T1" fmla="*/ 0 h 185"/>
                  <a:gd name="T2" fmla="*/ 0 w 186"/>
                  <a:gd name="T3" fmla="*/ 93 h 185"/>
                  <a:gd name="T4" fmla="*/ 93 w 186"/>
                  <a:gd name="T5" fmla="*/ 185 h 185"/>
                  <a:gd name="T6" fmla="*/ 186 w 186"/>
                  <a:gd name="T7" fmla="*/ 93 h 185"/>
                  <a:gd name="T8" fmla="*/ 93 w 186"/>
                  <a:gd name="T9" fmla="*/ 0 h 185"/>
                  <a:gd name="T10" fmla="*/ 154 w 186"/>
                  <a:gd name="T11" fmla="*/ 94 h 185"/>
                  <a:gd name="T12" fmla="*/ 153 w 186"/>
                  <a:gd name="T13" fmla="*/ 114 h 185"/>
                  <a:gd name="T14" fmla="*/ 148 w 186"/>
                  <a:gd name="T15" fmla="*/ 126 h 185"/>
                  <a:gd name="T16" fmla="*/ 136 w 186"/>
                  <a:gd name="T17" fmla="*/ 131 h 185"/>
                  <a:gd name="T18" fmla="*/ 94 w 186"/>
                  <a:gd name="T19" fmla="*/ 132 h 185"/>
                  <a:gd name="T20" fmla="*/ 53 w 186"/>
                  <a:gd name="T21" fmla="*/ 131 h 185"/>
                  <a:gd name="T22" fmla="*/ 40 w 186"/>
                  <a:gd name="T23" fmla="*/ 126 h 185"/>
                  <a:gd name="T24" fmla="*/ 35 w 186"/>
                  <a:gd name="T25" fmla="*/ 114 h 185"/>
                  <a:gd name="T26" fmla="*/ 34 w 186"/>
                  <a:gd name="T27" fmla="*/ 94 h 185"/>
                  <a:gd name="T28" fmla="*/ 34 w 186"/>
                  <a:gd name="T29" fmla="*/ 85 h 185"/>
                  <a:gd name="T30" fmla="*/ 35 w 186"/>
                  <a:gd name="T31" fmla="*/ 66 h 185"/>
                  <a:gd name="T32" fmla="*/ 40 w 186"/>
                  <a:gd name="T33" fmla="*/ 54 h 185"/>
                  <a:gd name="T34" fmla="*/ 52 w 186"/>
                  <a:gd name="T35" fmla="*/ 49 h 185"/>
                  <a:gd name="T36" fmla="*/ 94 w 186"/>
                  <a:gd name="T37" fmla="*/ 47 h 185"/>
                  <a:gd name="T38" fmla="*/ 94 w 186"/>
                  <a:gd name="T39" fmla="*/ 47 h 185"/>
                  <a:gd name="T40" fmla="*/ 136 w 186"/>
                  <a:gd name="T41" fmla="*/ 49 h 185"/>
                  <a:gd name="T42" fmla="*/ 148 w 186"/>
                  <a:gd name="T43" fmla="*/ 54 h 185"/>
                  <a:gd name="T44" fmla="*/ 153 w 186"/>
                  <a:gd name="T45" fmla="*/ 66 h 185"/>
                  <a:gd name="T46" fmla="*/ 154 w 186"/>
                  <a:gd name="T47" fmla="*/ 85 h 185"/>
                  <a:gd name="T48" fmla="*/ 154 w 186"/>
                  <a:gd name="T49" fmla="*/ 94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6" h="185">
                    <a:moveTo>
                      <a:pt x="93" y="0"/>
                    </a:moveTo>
                    <a:cubicBezTo>
                      <a:pt x="42" y="0"/>
                      <a:pt x="0" y="41"/>
                      <a:pt x="0" y="93"/>
                    </a:cubicBezTo>
                    <a:cubicBezTo>
                      <a:pt x="0" y="144"/>
                      <a:pt x="42" y="185"/>
                      <a:pt x="93" y="185"/>
                    </a:cubicBezTo>
                    <a:cubicBezTo>
                      <a:pt x="144" y="185"/>
                      <a:pt x="186" y="144"/>
                      <a:pt x="186" y="93"/>
                    </a:cubicBezTo>
                    <a:cubicBezTo>
                      <a:pt x="186" y="41"/>
                      <a:pt x="144" y="0"/>
                      <a:pt x="93" y="0"/>
                    </a:cubicBezTo>
                    <a:close/>
                    <a:moveTo>
                      <a:pt x="154" y="94"/>
                    </a:moveTo>
                    <a:cubicBezTo>
                      <a:pt x="154" y="104"/>
                      <a:pt x="153" y="114"/>
                      <a:pt x="153" y="114"/>
                    </a:cubicBezTo>
                    <a:cubicBezTo>
                      <a:pt x="153" y="114"/>
                      <a:pt x="152" y="122"/>
                      <a:pt x="148" y="126"/>
                    </a:cubicBezTo>
                    <a:cubicBezTo>
                      <a:pt x="143" y="130"/>
                      <a:pt x="138" y="130"/>
                      <a:pt x="136" y="131"/>
                    </a:cubicBezTo>
                    <a:cubicBezTo>
                      <a:pt x="119" y="132"/>
                      <a:pt x="94" y="132"/>
                      <a:pt x="94" y="132"/>
                    </a:cubicBezTo>
                    <a:cubicBezTo>
                      <a:pt x="94" y="132"/>
                      <a:pt x="62" y="132"/>
                      <a:pt x="53" y="131"/>
                    </a:cubicBezTo>
                    <a:cubicBezTo>
                      <a:pt x="50" y="130"/>
                      <a:pt x="44" y="130"/>
                      <a:pt x="40" y="126"/>
                    </a:cubicBezTo>
                    <a:cubicBezTo>
                      <a:pt x="36" y="122"/>
                      <a:pt x="35" y="114"/>
                      <a:pt x="35" y="114"/>
                    </a:cubicBezTo>
                    <a:cubicBezTo>
                      <a:pt x="35" y="114"/>
                      <a:pt x="34" y="104"/>
                      <a:pt x="34" y="94"/>
                    </a:cubicBezTo>
                    <a:cubicBezTo>
                      <a:pt x="34" y="85"/>
                      <a:pt x="34" y="85"/>
                      <a:pt x="34" y="85"/>
                    </a:cubicBezTo>
                    <a:cubicBezTo>
                      <a:pt x="34" y="75"/>
                      <a:pt x="35" y="66"/>
                      <a:pt x="35" y="66"/>
                    </a:cubicBezTo>
                    <a:cubicBezTo>
                      <a:pt x="35" y="66"/>
                      <a:pt x="36" y="57"/>
                      <a:pt x="40" y="54"/>
                    </a:cubicBezTo>
                    <a:cubicBezTo>
                      <a:pt x="44" y="49"/>
                      <a:pt x="49" y="49"/>
                      <a:pt x="52" y="49"/>
                    </a:cubicBezTo>
                    <a:cubicBezTo>
                      <a:pt x="68" y="47"/>
                      <a:pt x="94" y="47"/>
                      <a:pt x="94" y="47"/>
                    </a:cubicBezTo>
                    <a:cubicBezTo>
                      <a:pt x="94" y="47"/>
                      <a:pt x="94" y="47"/>
                      <a:pt x="94" y="47"/>
                    </a:cubicBezTo>
                    <a:cubicBezTo>
                      <a:pt x="94" y="47"/>
                      <a:pt x="119" y="47"/>
                      <a:pt x="136" y="49"/>
                    </a:cubicBezTo>
                    <a:cubicBezTo>
                      <a:pt x="138" y="49"/>
                      <a:pt x="143" y="49"/>
                      <a:pt x="148" y="54"/>
                    </a:cubicBezTo>
                    <a:cubicBezTo>
                      <a:pt x="152" y="57"/>
                      <a:pt x="153" y="66"/>
                      <a:pt x="153" y="66"/>
                    </a:cubicBezTo>
                    <a:cubicBezTo>
                      <a:pt x="153" y="66"/>
                      <a:pt x="154" y="75"/>
                      <a:pt x="154" y="85"/>
                    </a:cubicBezTo>
                    <a:lnTo>
                      <a:pt x="154" y="94"/>
                    </a:lnTo>
                    <a:close/>
                  </a:path>
                </a:pathLst>
              </a:custGeom>
              <a:grpFill/>
              <a:ln>
                <a:noFill/>
              </a:ln>
            </p:spPr>
            <p:txBody>
              <a:bodyPr vert="horz" wrap="square" lIns="91440" tIns="45720" rIns="91440" bIns="45720" numCol="1" anchor="t" anchorCtr="0" compatLnSpc="1">
                <a:prstTxWarp prst="textNoShape">
                  <a:avLst/>
                </a:prstTxWarp>
              </a:bodyPr>
              <a:lstStyle/>
              <a:p>
                <a:endParaRPr lang="en-IN" sz="1800"/>
              </a:p>
            </p:txBody>
          </p:sp>
        </p:grpSp>
        <p:sp>
          <p:nvSpPr>
            <p:cNvPr id="13" name="Freeform 12"/>
            <p:cNvSpPr>
              <a:spLocks noEditPoints="1"/>
            </p:cNvSpPr>
            <p:nvPr/>
          </p:nvSpPr>
          <p:spPr bwMode="auto">
            <a:xfrm>
              <a:off x="1047713" y="5551122"/>
              <a:ext cx="389805" cy="388746"/>
            </a:xfrm>
            <a:custGeom>
              <a:avLst/>
              <a:gdLst>
                <a:gd name="T0" fmla="*/ 93 w 185"/>
                <a:gd name="T1" fmla="*/ 0 h 185"/>
                <a:gd name="T2" fmla="*/ 0 w 185"/>
                <a:gd name="T3" fmla="*/ 93 h 185"/>
                <a:gd name="T4" fmla="*/ 93 w 185"/>
                <a:gd name="T5" fmla="*/ 185 h 185"/>
                <a:gd name="T6" fmla="*/ 185 w 185"/>
                <a:gd name="T7" fmla="*/ 93 h 185"/>
                <a:gd name="T8" fmla="*/ 93 w 185"/>
                <a:gd name="T9" fmla="*/ 0 h 185"/>
                <a:gd name="T10" fmla="*/ 65 w 185"/>
                <a:gd name="T11" fmla="*/ 134 h 185"/>
                <a:gd name="T12" fmla="*/ 42 w 185"/>
                <a:gd name="T13" fmla="*/ 134 h 185"/>
                <a:gd name="T14" fmla="*/ 42 w 185"/>
                <a:gd name="T15" fmla="*/ 68 h 185"/>
                <a:gd name="T16" fmla="*/ 65 w 185"/>
                <a:gd name="T17" fmla="*/ 68 h 185"/>
                <a:gd name="T18" fmla="*/ 65 w 185"/>
                <a:gd name="T19" fmla="*/ 134 h 185"/>
                <a:gd name="T20" fmla="*/ 54 w 185"/>
                <a:gd name="T21" fmla="*/ 59 h 185"/>
                <a:gd name="T22" fmla="*/ 41 w 185"/>
                <a:gd name="T23" fmla="*/ 47 h 185"/>
                <a:gd name="T24" fmla="*/ 54 w 185"/>
                <a:gd name="T25" fmla="*/ 36 h 185"/>
                <a:gd name="T26" fmla="*/ 66 w 185"/>
                <a:gd name="T27" fmla="*/ 47 h 185"/>
                <a:gd name="T28" fmla="*/ 54 w 185"/>
                <a:gd name="T29" fmla="*/ 59 h 185"/>
                <a:gd name="T30" fmla="*/ 144 w 185"/>
                <a:gd name="T31" fmla="*/ 134 h 185"/>
                <a:gd name="T32" fmla="*/ 123 w 185"/>
                <a:gd name="T33" fmla="*/ 134 h 185"/>
                <a:gd name="T34" fmla="*/ 123 w 185"/>
                <a:gd name="T35" fmla="*/ 95 h 185"/>
                <a:gd name="T36" fmla="*/ 120 w 185"/>
                <a:gd name="T37" fmla="*/ 88 h 185"/>
                <a:gd name="T38" fmla="*/ 111 w 185"/>
                <a:gd name="T39" fmla="*/ 83 h 185"/>
                <a:gd name="T40" fmla="*/ 102 w 185"/>
                <a:gd name="T41" fmla="*/ 88 h 185"/>
                <a:gd name="T42" fmla="*/ 99 w 185"/>
                <a:gd name="T43" fmla="*/ 92 h 185"/>
                <a:gd name="T44" fmla="*/ 99 w 185"/>
                <a:gd name="T45" fmla="*/ 134 h 185"/>
                <a:gd name="T46" fmla="*/ 77 w 185"/>
                <a:gd name="T47" fmla="*/ 134 h 185"/>
                <a:gd name="T48" fmla="*/ 77 w 185"/>
                <a:gd name="T49" fmla="*/ 68 h 185"/>
                <a:gd name="T50" fmla="*/ 99 w 185"/>
                <a:gd name="T51" fmla="*/ 68 h 185"/>
                <a:gd name="T52" fmla="*/ 99 w 185"/>
                <a:gd name="T53" fmla="*/ 78 h 185"/>
                <a:gd name="T54" fmla="*/ 120 w 185"/>
                <a:gd name="T55" fmla="*/ 66 h 185"/>
                <a:gd name="T56" fmla="*/ 144 w 185"/>
                <a:gd name="T57" fmla="*/ 95 h 185"/>
                <a:gd name="T58" fmla="*/ 144 w 185"/>
                <a:gd name="T59" fmla="*/ 134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85" h="185">
                  <a:moveTo>
                    <a:pt x="93" y="0"/>
                  </a:moveTo>
                  <a:cubicBezTo>
                    <a:pt x="42" y="0"/>
                    <a:pt x="0" y="41"/>
                    <a:pt x="0" y="93"/>
                  </a:cubicBezTo>
                  <a:cubicBezTo>
                    <a:pt x="0" y="144"/>
                    <a:pt x="42" y="185"/>
                    <a:pt x="93" y="185"/>
                  </a:cubicBezTo>
                  <a:cubicBezTo>
                    <a:pt x="144" y="185"/>
                    <a:pt x="185" y="144"/>
                    <a:pt x="185" y="93"/>
                  </a:cubicBezTo>
                  <a:cubicBezTo>
                    <a:pt x="185" y="41"/>
                    <a:pt x="144" y="0"/>
                    <a:pt x="93" y="0"/>
                  </a:cubicBezTo>
                  <a:close/>
                  <a:moveTo>
                    <a:pt x="65" y="134"/>
                  </a:moveTo>
                  <a:cubicBezTo>
                    <a:pt x="42" y="134"/>
                    <a:pt x="42" y="134"/>
                    <a:pt x="42" y="134"/>
                  </a:cubicBezTo>
                  <a:cubicBezTo>
                    <a:pt x="42" y="68"/>
                    <a:pt x="42" y="68"/>
                    <a:pt x="42" y="68"/>
                  </a:cubicBezTo>
                  <a:cubicBezTo>
                    <a:pt x="65" y="68"/>
                    <a:pt x="65" y="68"/>
                    <a:pt x="65" y="68"/>
                  </a:cubicBezTo>
                  <a:lnTo>
                    <a:pt x="65" y="134"/>
                  </a:lnTo>
                  <a:close/>
                  <a:moveTo>
                    <a:pt x="54" y="59"/>
                  </a:moveTo>
                  <a:cubicBezTo>
                    <a:pt x="47" y="59"/>
                    <a:pt x="41" y="54"/>
                    <a:pt x="41" y="47"/>
                  </a:cubicBezTo>
                  <a:cubicBezTo>
                    <a:pt x="41" y="41"/>
                    <a:pt x="47" y="36"/>
                    <a:pt x="54" y="36"/>
                  </a:cubicBezTo>
                  <a:cubicBezTo>
                    <a:pt x="60" y="36"/>
                    <a:pt x="66" y="41"/>
                    <a:pt x="66" y="47"/>
                  </a:cubicBezTo>
                  <a:cubicBezTo>
                    <a:pt x="66" y="54"/>
                    <a:pt x="60" y="59"/>
                    <a:pt x="54" y="59"/>
                  </a:cubicBezTo>
                  <a:close/>
                  <a:moveTo>
                    <a:pt x="144" y="134"/>
                  </a:moveTo>
                  <a:cubicBezTo>
                    <a:pt x="123" y="134"/>
                    <a:pt x="123" y="134"/>
                    <a:pt x="123" y="134"/>
                  </a:cubicBezTo>
                  <a:cubicBezTo>
                    <a:pt x="123" y="95"/>
                    <a:pt x="123" y="95"/>
                    <a:pt x="123" y="95"/>
                  </a:cubicBezTo>
                  <a:cubicBezTo>
                    <a:pt x="123" y="93"/>
                    <a:pt x="122" y="91"/>
                    <a:pt x="120" y="88"/>
                  </a:cubicBezTo>
                  <a:cubicBezTo>
                    <a:pt x="119" y="85"/>
                    <a:pt x="116" y="83"/>
                    <a:pt x="111" y="83"/>
                  </a:cubicBezTo>
                  <a:cubicBezTo>
                    <a:pt x="107" y="83"/>
                    <a:pt x="104" y="85"/>
                    <a:pt x="102" y="88"/>
                  </a:cubicBezTo>
                  <a:cubicBezTo>
                    <a:pt x="100" y="89"/>
                    <a:pt x="100" y="91"/>
                    <a:pt x="99" y="92"/>
                  </a:cubicBezTo>
                  <a:cubicBezTo>
                    <a:pt x="99" y="134"/>
                    <a:pt x="99" y="134"/>
                    <a:pt x="99" y="134"/>
                  </a:cubicBezTo>
                  <a:cubicBezTo>
                    <a:pt x="77" y="134"/>
                    <a:pt x="77" y="134"/>
                    <a:pt x="77" y="134"/>
                  </a:cubicBezTo>
                  <a:cubicBezTo>
                    <a:pt x="77" y="68"/>
                    <a:pt x="77" y="68"/>
                    <a:pt x="77" y="68"/>
                  </a:cubicBezTo>
                  <a:cubicBezTo>
                    <a:pt x="99" y="68"/>
                    <a:pt x="99" y="68"/>
                    <a:pt x="99" y="68"/>
                  </a:cubicBezTo>
                  <a:cubicBezTo>
                    <a:pt x="99" y="78"/>
                    <a:pt x="99" y="78"/>
                    <a:pt x="99" y="78"/>
                  </a:cubicBezTo>
                  <a:cubicBezTo>
                    <a:pt x="101" y="75"/>
                    <a:pt x="105" y="66"/>
                    <a:pt x="120" y="66"/>
                  </a:cubicBezTo>
                  <a:cubicBezTo>
                    <a:pt x="136" y="66"/>
                    <a:pt x="144" y="80"/>
                    <a:pt x="144" y="95"/>
                  </a:cubicBezTo>
                  <a:lnTo>
                    <a:pt x="144" y="134"/>
                  </a:lnTo>
                  <a:close/>
                </a:path>
              </a:pathLst>
            </a:custGeom>
            <a:solidFill>
              <a:srgbClr val="CB2026"/>
            </a:solidFill>
            <a:ln>
              <a:noFill/>
            </a:ln>
          </p:spPr>
          <p:txBody>
            <a:bodyPr vert="horz" wrap="square" lIns="91440" tIns="45720" rIns="91440" bIns="45720" numCol="1" anchor="t" anchorCtr="0" compatLnSpc="1">
              <a:prstTxWarp prst="textNoShape">
                <a:avLst/>
              </a:prstTxWarp>
            </a:bodyPr>
            <a:lstStyle/>
            <a:p>
              <a:endParaRPr lang="en-IN" sz="1800"/>
            </a:p>
          </p:txBody>
        </p:sp>
        <p:sp>
          <p:nvSpPr>
            <p:cNvPr id="14" name="Freeform 5"/>
            <p:cNvSpPr>
              <a:spLocks noEditPoints="1"/>
            </p:cNvSpPr>
            <p:nvPr/>
          </p:nvSpPr>
          <p:spPr bwMode="auto">
            <a:xfrm>
              <a:off x="1664660" y="5651068"/>
              <a:ext cx="157404" cy="161267"/>
            </a:xfrm>
            <a:custGeom>
              <a:avLst/>
              <a:gdLst>
                <a:gd name="T0" fmla="*/ 4539 w 4890"/>
                <a:gd name="T1" fmla="*/ 4499 h 5010"/>
                <a:gd name="T2" fmla="*/ 2898 w 4890"/>
                <a:gd name="T3" fmla="*/ 2116 h 5010"/>
                <a:gd name="T4" fmla="*/ 2713 w 4890"/>
                <a:gd name="T5" fmla="*/ 1846 h 5010"/>
                <a:gd name="T6" fmla="*/ 1539 w 4890"/>
                <a:gd name="T7" fmla="*/ 142 h 5010"/>
                <a:gd name="T8" fmla="*/ 1443 w 4890"/>
                <a:gd name="T9" fmla="*/ 0 h 5010"/>
                <a:gd name="T10" fmla="*/ 0 w 4890"/>
                <a:gd name="T11" fmla="*/ 0 h 5010"/>
                <a:gd name="T12" fmla="*/ 352 w 4890"/>
                <a:gd name="T13" fmla="*/ 511 h 5010"/>
                <a:gd name="T14" fmla="*/ 1912 w 4890"/>
                <a:gd name="T15" fmla="*/ 2779 h 5010"/>
                <a:gd name="T16" fmla="*/ 2098 w 4890"/>
                <a:gd name="T17" fmla="*/ 3047 h 5010"/>
                <a:gd name="T18" fmla="*/ 3352 w 4890"/>
                <a:gd name="T19" fmla="*/ 4869 h 5010"/>
                <a:gd name="T20" fmla="*/ 3449 w 4890"/>
                <a:gd name="T21" fmla="*/ 5010 h 5010"/>
                <a:gd name="T22" fmla="*/ 4890 w 4890"/>
                <a:gd name="T23" fmla="*/ 5010 h 5010"/>
                <a:gd name="T24" fmla="*/ 4539 w 4890"/>
                <a:gd name="T25" fmla="*/ 4499 h 5010"/>
                <a:gd name="T26" fmla="*/ 3620 w 4890"/>
                <a:gd name="T27" fmla="*/ 4683 h 5010"/>
                <a:gd name="T28" fmla="*/ 2317 w 4890"/>
                <a:gd name="T29" fmla="*/ 2792 h 5010"/>
                <a:gd name="T30" fmla="*/ 2132 w 4890"/>
                <a:gd name="T31" fmla="*/ 2522 h 5010"/>
                <a:gd name="T32" fmla="*/ 620 w 4890"/>
                <a:gd name="T33" fmla="*/ 327 h 5010"/>
                <a:gd name="T34" fmla="*/ 1270 w 4890"/>
                <a:gd name="T35" fmla="*/ 327 h 5010"/>
                <a:gd name="T36" fmla="*/ 2493 w 4890"/>
                <a:gd name="T37" fmla="*/ 2103 h 5010"/>
                <a:gd name="T38" fmla="*/ 2679 w 4890"/>
                <a:gd name="T39" fmla="*/ 2372 h 5010"/>
                <a:gd name="T40" fmla="*/ 4270 w 4890"/>
                <a:gd name="T41" fmla="*/ 4683 h 5010"/>
                <a:gd name="T42" fmla="*/ 3620 w 4890"/>
                <a:gd name="T43" fmla="*/ 4683 h 5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90" h="5010">
                  <a:moveTo>
                    <a:pt x="4539" y="4499"/>
                  </a:moveTo>
                  <a:lnTo>
                    <a:pt x="2898" y="2116"/>
                  </a:lnTo>
                  <a:lnTo>
                    <a:pt x="2713" y="1846"/>
                  </a:lnTo>
                  <a:lnTo>
                    <a:pt x="1539" y="142"/>
                  </a:lnTo>
                  <a:lnTo>
                    <a:pt x="1443" y="0"/>
                  </a:lnTo>
                  <a:lnTo>
                    <a:pt x="0" y="0"/>
                  </a:lnTo>
                  <a:lnTo>
                    <a:pt x="352" y="511"/>
                  </a:lnTo>
                  <a:lnTo>
                    <a:pt x="1912" y="2779"/>
                  </a:lnTo>
                  <a:lnTo>
                    <a:pt x="2098" y="3047"/>
                  </a:lnTo>
                  <a:lnTo>
                    <a:pt x="3352" y="4869"/>
                  </a:lnTo>
                  <a:lnTo>
                    <a:pt x="3449" y="5010"/>
                  </a:lnTo>
                  <a:lnTo>
                    <a:pt x="4890" y="5010"/>
                  </a:lnTo>
                  <a:lnTo>
                    <a:pt x="4539" y="4499"/>
                  </a:lnTo>
                  <a:close/>
                  <a:moveTo>
                    <a:pt x="3620" y="4683"/>
                  </a:moveTo>
                  <a:lnTo>
                    <a:pt x="2317" y="2792"/>
                  </a:lnTo>
                  <a:lnTo>
                    <a:pt x="2132" y="2522"/>
                  </a:lnTo>
                  <a:lnTo>
                    <a:pt x="620" y="327"/>
                  </a:lnTo>
                  <a:lnTo>
                    <a:pt x="1270" y="327"/>
                  </a:lnTo>
                  <a:lnTo>
                    <a:pt x="2493" y="2103"/>
                  </a:lnTo>
                  <a:lnTo>
                    <a:pt x="2679" y="2372"/>
                  </a:lnTo>
                  <a:lnTo>
                    <a:pt x="4270" y="4683"/>
                  </a:lnTo>
                  <a:lnTo>
                    <a:pt x="3620" y="46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p>
          </p:txBody>
        </p:sp>
        <p:sp>
          <p:nvSpPr>
            <p:cNvPr id="15" name="Freeform 6"/>
            <p:cNvSpPr>
              <a:spLocks/>
            </p:cNvSpPr>
            <p:nvPr/>
          </p:nvSpPr>
          <p:spPr bwMode="auto">
            <a:xfrm>
              <a:off x="1664499" y="5732249"/>
              <a:ext cx="74743" cy="80086"/>
            </a:xfrm>
            <a:custGeom>
              <a:avLst/>
              <a:gdLst>
                <a:gd name="T0" fmla="*/ 2137 w 2322"/>
                <a:gd name="T1" fmla="*/ 0 h 2488"/>
                <a:gd name="T2" fmla="*/ 2322 w 2322"/>
                <a:gd name="T3" fmla="*/ 270 h 2488"/>
                <a:gd name="T4" fmla="*/ 2103 w 2322"/>
                <a:gd name="T5" fmla="*/ 525 h 2488"/>
                <a:gd name="T6" fmla="*/ 416 w 2322"/>
                <a:gd name="T7" fmla="*/ 2488 h 2488"/>
                <a:gd name="T8" fmla="*/ 0 w 2322"/>
                <a:gd name="T9" fmla="*/ 2488 h 2488"/>
                <a:gd name="T10" fmla="*/ 1917 w 2322"/>
                <a:gd name="T11" fmla="*/ 257 h 2488"/>
                <a:gd name="T12" fmla="*/ 2137 w 2322"/>
                <a:gd name="T13" fmla="*/ 0 h 2488"/>
              </a:gdLst>
              <a:ahLst/>
              <a:cxnLst>
                <a:cxn ang="0">
                  <a:pos x="T0" y="T1"/>
                </a:cxn>
                <a:cxn ang="0">
                  <a:pos x="T2" y="T3"/>
                </a:cxn>
                <a:cxn ang="0">
                  <a:pos x="T4" y="T5"/>
                </a:cxn>
                <a:cxn ang="0">
                  <a:pos x="T6" y="T7"/>
                </a:cxn>
                <a:cxn ang="0">
                  <a:pos x="T8" y="T9"/>
                </a:cxn>
                <a:cxn ang="0">
                  <a:pos x="T10" y="T11"/>
                </a:cxn>
                <a:cxn ang="0">
                  <a:pos x="T12" y="T13"/>
                </a:cxn>
              </a:cxnLst>
              <a:rect l="0" t="0" r="r" b="b"/>
              <a:pathLst>
                <a:path w="2322" h="2488">
                  <a:moveTo>
                    <a:pt x="2137" y="0"/>
                  </a:moveTo>
                  <a:lnTo>
                    <a:pt x="2322" y="270"/>
                  </a:lnTo>
                  <a:lnTo>
                    <a:pt x="2103" y="525"/>
                  </a:lnTo>
                  <a:lnTo>
                    <a:pt x="416" y="2488"/>
                  </a:lnTo>
                  <a:lnTo>
                    <a:pt x="0" y="2488"/>
                  </a:lnTo>
                  <a:lnTo>
                    <a:pt x="1917" y="257"/>
                  </a:lnTo>
                  <a:lnTo>
                    <a:pt x="213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p>
          </p:txBody>
        </p:sp>
        <p:sp>
          <p:nvSpPr>
            <p:cNvPr id="16" name="Freeform 7"/>
            <p:cNvSpPr>
              <a:spLocks/>
            </p:cNvSpPr>
            <p:nvPr/>
          </p:nvSpPr>
          <p:spPr bwMode="auto">
            <a:xfrm>
              <a:off x="1744907" y="5651068"/>
              <a:ext cx="71588" cy="76352"/>
            </a:xfrm>
            <a:custGeom>
              <a:avLst/>
              <a:gdLst>
                <a:gd name="T0" fmla="*/ 2224 w 2224"/>
                <a:gd name="T1" fmla="*/ 0 h 2372"/>
                <a:gd name="T2" fmla="*/ 405 w 2224"/>
                <a:gd name="T3" fmla="*/ 2116 h 2372"/>
                <a:gd name="T4" fmla="*/ 186 w 2224"/>
                <a:gd name="T5" fmla="*/ 2372 h 2372"/>
                <a:gd name="T6" fmla="*/ 0 w 2224"/>
                <a:gd name="T7" fmla="*/ 2103 h 2372"/>
                <a:gd name="T8" fmla="*/ 220 w 2224"/>
                <a:gd name="T9" fmla="*/ 1846 h 2372"/>
                <a:gd name="T10" fmla="*/ 1452 w 2224"/>
                <a:gd name="T11" fmla="*/ 413 h 2372"/>
                <a:gd name="T12" fmla="*/ 1808 w 2224"/>
                <a:gd name="T13" fmla="*/ 0 h 2372"/>
                <a:gd name="T14" fmla="*/ 2224 w 2224"/>
                <a:gd name="T15" fmla="*/ 0 h 23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4" h="2372">
                  <a:moveTo>
                    <a:pt x="2224" y="0"/>
                  </a:moveTo>
                  <a:lnTo>
                    <a:pt x="405" y="2116"/>
                  </a:lnTo>
                  <a:lnTo>
                    <a:pt x="186" y="2372"/>
                  </a:lnTo>
                  <a:lnTo>
                    <a:pt x="0" y="2103"/>
                  </a:lnTo>
                  <a:lnTo>
                    <a:pt x="220" y="1846"/>
                  </a:lnTo>
                  <a:lnTo>
                    <a:pt x="1452" y="413"/>
                  </a:lnTo>
                  <a:lnTo>
                    <a:pt x="1808" y="0"/>
                  </a:lnTo>
                  <a:lnTo>
                    <a:pt x="222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p>
          </p:txBody>
        </p:sp>
      </p:grpSp>
      <p:pic>
        <p:nvPicPr>
          <p:cNvPr id="21" name="Picture 20"/>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856178" y="1"/>
            <a:ext cx="6335823" cy="6379779"/>
          </a:xfrm>
          <a:prstGeom prst="rect">
            <a:avLst/>
          </a:prstGeom>
        </p:spPr>
      </p:pic>
      <p:pic>
        <p:nvPicPr>
          <p:cNvPr id="22" name="Picture 2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7381" y="389912"/>
            <a:ext cx="1600423" cy="406774"/>
          </a:xfrm>
          <a:prstGeom prst="rect">
            <a:avLst/>
          </a:prstGeom>
        </p:spPr>
      </p:pic>
    </p:spTree>
    <p:extLst>
      <p:ext uri="{BB962C8B-B14F-4D97-AF65-F5344CB8AC3E}">
        <p14:creationId xmlns:p14="http://schemas.microsoft.com/office/powerpoint/2010/main" val="1135485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A68B6A2-1488-4577-BAB5-E2A0A9091E4C}"/>
              </a:ext>
            </a:extLst>
          </p:cNvPr>
          <p:cNvGrpSpPr/>
          <p:nvPr/>
        </p:nvGrpSpPr>
        <p:grpSpPr>
          <a:xfrm>
            <a:off x="0" y="6789945"/>
            <a:ext cx="12192000" cy="77821"/>
            <a:chOff x="0" y="6780111"/>
            <a:chExt cx="9144000" cy="77821"/>
          </a:xfrm>
        </p:grpSpPr>
        <p:sp>
          <p:nvSpPr>
            <p:cNvPr id="9" name="Rectangle 8"/>
            <p:cNvSpPr/>
            <p:nvPr/>
          </p:nvSpPr>
          <p:spPr>
            <a:xfrm>
              <a:off x="0" y="6780112"/>
              <a:ext cx="2383277" cy="7781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sz="1350">
                <a:solidFill>
                  <a:prstClr val="white"/>
                </a:solidFill>
              </a:endParaRPr>
            </a:p>
          </p:txBody>
        </p:sp>
        <p:sp>
          <p:nvSpPr>
            <p:cNvPr id="10" name="Rectangle 9"/>
            <p:cNvSpPr/>
            <p:nvPr/>
          </p:nvSpPr>
          <p:spPr>
            <a:xfrm>
              <a:off x="2383277" y="6780111"/>
              <a:ext cx="6760723" cy="77821"/>
            </a:xfrm>
            <a:prstGeom prst="rect">
              <a:avLst/>
            </a:prstGeom>
            <a:gradFill flip="none" rotWithShape="1">
              <a:gsLst>
                <a:gs pos="77000">
                  <a:srgbClr val="00B0F0"/>
                </a:gs>
                <a:gs pos="0">
                  <a:srgbClr val="0092DA"/>
                </a:gs>
                <a:gs pos="10000">
                  <a:srgbClr val="94DEF9"/>
                </a:gs>
                <a:gs pos="21000">
                  <a:schemeClr val="bg1"/>
                </a:gs>
                <a:gs pos="100000">
                  <a:srgbClr val="0070C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sz="1350">
                <a:solidFill>
                  <a:prstClr val="white"/>
                </a:solidFill>
              </a:endParaRPr>
            </a:p>
          </p:txBody>
        </p:sp>
      </p:grpSp>
      <p:sp>
        <p:nvSpPr>
          <p:cNvPr id="5" name="Title 1"/>
          <p:cNvSpPr>
            <a:spLocks noGrp="1"/>
          </p:cNvSpPr>
          <p:nvPr>
            <p:ph type="title" hasCustomPrompt="1"/>
          </p:nvPr>
        </p:nvSpPr>
        <p:spPr>
          <a:xfrm>
            <a:off x="153601" y="158744"/>
            <a:ext cx="11886461" cy="439200"/>
          </a:xfrm>
        </p:spPr>
        <p:txBody>
          <a:bodyPr>
            <a:noAutofit/>
          </a:bodyPr>
          <a:lstStyle>
            <a:lvl1pPr>
              <a:defRPr sz="2600" b="1"/>
            </a:lvl1pPr>
          </a:lstStyle>
          <a:p>
            <a:r>
              <a:rPr lang="en-US"/>
              <a:t>CLICK TO EDIT MASTER TITLE STYLE</a:t>
            </a:r>
          </a:p>
        </p:txBody>
      </p:sp>
      <p:sp>
        <p:nvSpPr>
          <p:cNvPr id="6" name="Text Placeholder 6"/>
          <p:cNvSpPr>
            <a:spLocks noGrp="1"/>
          </p:cNvSpPr>
          <p:nvPr>
            <p:ph type="body" sz="quarter" idx="13" hasCustomPrompt="1"/>
          </p:nvPr>
        </p:nvSpPr>
        <p:spPr>
          <a:xfrm>
            <a:off x="151941" y="583128"/>
            <a:ext cx="11886461" cy="583200"/>
          </a:xfrm>
        </p:spPr>
        <p:txBody>
          <a:bodyPr>
            <a:normAutofit/>
          </a:bodyPr>
          <a:lstStyle>
            <a:lvl1pPr marL="0" indent="0">
              <a:buNone/>
              <a:defRPr sz="2000"/>
            </a:lvl1pPr>
          </a:lstStyle>
          <a:p>
            <a:pPr lvl="0"/>
            <a:r>
              <a:rPr lang="en-US"/>
              <a:t>Click to edit master text styles</a:t>
            </a:r>
          </a:p>
        </p:txBody>
      </p:sp>
    </p:spTree>
    <p:extLst>
      <p:ext uri="{BB962C8B-B14F-4D97-AF65-F5344CB8AC3E}">
        <p14:creationId xmlns:p14="http://schemas.microsoft.com/office/powerpoint/2010/main" val="1089652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4_Custom Layout">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1856C2B-0140-A5B6-5C61-8BE675D20CC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93554" y="6403281"/>
            <a:ext cx="11628000" cy="25954"/>
          </a:xfrm>
          <a:prstGeom prst="rect">
            <a:avLst/>
          </a:prstGeom>
        </p:spPr>
      </p:pic>
      <p:sp>
        <p:nvSpPr>
          <p:cNvPr id="2" name="Title Placeholder 1">
            <a:extLst>
              <a:ext uri="{FF2B5EF4-FFF2-40B4-BE49-F238E27FC236}">
                <a16:creationId xmlns:a16="http://schemas.microsoft.com/office/drawing/2014/main" id="{646A9610-6B18-4138-A598-3C974F238399}"/>
              </a:ext>
            </a:extLst>
          </p:cNvPr>
          <p:cNvSpPr>
            <a:spLocks noGrp="1"/>
          </p:cNvSpPr>
          <p:nvPr>
            <p:ph type="title"/>
          </p:nvPr>
        </p:nvSpPr>
        <p:spPr>
          <a:xfrm>
            <a:off x="586306" y="163731"/>
            <a:ext cx="11335249" cy="945514"/>
          </a:xfrm>
          <a:prstGeom prst="rect">
            <a:avLst/>
          </a:prstGeom>
        </p:spPr>
        <p:txBody>
          <a:bodyPr vert="horz" lIns="0" tIns="45720" rIns="91440" bIns="45720" rtlCol="0" anchor="ctr">
            <a:normAutofit/>
          </a:bodyPr>
          <a:lstStyle/>
          <a:p>
            <a:r>
              <a:rPr lang="en-US"/>
              <a:t>Click to edit Master title style</a:t>
            </a:r>
            <a:endParaRPr lang="en-IN"/>
          </a:p>
        </p:txBody>
      </p:sp>
    </p:spTree>
    <p:extLst>
      <p:ext uri="{BB962C8B-B14F-4D97-AF65-F5344CB8AC3E}">
        <p14:creationId xmlns:p14="http://schemas.microsoft.com/office/powerpoint/2010/main" val="3154719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9_Custom Layout">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6A9610-6B18-4138-A598-3C974F238399}"/>
              </a:ext>
            </a:extLst>
          </p:cNvPr>
          <p:cNvSpPr>
            <a:spLocks noGrp="1"/>
          </p:cNvSpPr>
          <p:nvPr>
            <p:ph type="title"/>
          </p:nvPr>
        </p:nvSpPr>
        <p:spPr>
          <a:xfrm>
            <a:off x="481530" y="163730"/>
            <a:ext cx="11335249" cy="945514"/>
          </a:xfrm>
          <a:prstGeom prst="rect">
            <a:avLst/>
          </a:prstGeom>
        </p:spPr>
        <p:txBody>
          <a:bodyPr vert="horz" lIns="0" tIns="45720" rIns="91440" bIns="45720" rtlCol="0" anchor="ctr">
            <a:normAutofit/>
          </a:bodyPr>
          <a:lstStyle>
            <a:lvl1pPr>
              <a:defRPr sz="2400">
                <a:latin typeface="+mj-lt"/>
              </a:defRPr>
            </a:lvl1pPr>
          </a:lstStyle>
          <a:p>
            <a:r>
              <a:rPr lang="en-US"/>
              <a:t>Click to edit Master title style</a:t>
            </a:r>
            <a:endParaRPr lang="en-IN"/>
          </a:p>
        </p:txBody>
      </p:sp>
    </p:spTree>
    <p:extLst>
      <p:ext uri="{BB962C8B-B14F-4D97-AF65-F5344CB8AC3E}">
        <p14:creationId xmlns:p14="http://schemas.microsoft.com/office/powerpoint/2010/main" val="1876583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8_ID_Blank Slide">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9AEDFAF9-E779-8824-F4AE-F140C13BB622}"/>
              </a:ext>
            </a:extLst>
          </p:cNvPr>
          <p:cNvSpPr>
            <a:spLocks noGrp="1"/>
          </p:cNvSpPr>
          <p:nvPr>
            <p:ph type="body" sz="quarter" idx="12" hasCustomPrompt="1"/>
          </p:nvPr>
        </p:nvSpPr>
        <p:spPr>
          <a:xfrm>
            <a:off x="622800" y="1085847"/>
            <a:ext cx="10911078" cy="215444"/>
          </a:xfrm>
        </p:spPr>
        <p:txBody>
          <a:bodyPr tIns="0" bIns="0">
            <a:spAutoFit/>
          </a:bodyPr>
          <a:lstStyle>
            <a:lvl1pPr marL="0" indent="0">
              <a:lnSpc>
                <a:spcPct val="100000"/>
              </a:lnSpc>
              <a:spcBef>
                <a:spcPts val="0"/>
              </a:spcBef>
              <a:buFontTx/>
              <a:buNone/>
              <a:defRPr sz="1400" b="0" i="0">
                <a:solidFill>
                  <a:schemeClr val="bg2">
                    <a:lumMod val="50000"/>
                  </a:schemeClr>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Descriptor / Sub-heading</a:t>
            </a:r>
          </a:p>
        </p:txBody>
      </p:sp>
      <p:sp>
        <p:nvSpPr>
          <p:cNvPr id="15" name="Title Placeholder 1">
            <a:extLst>
              <a:ext uri="{FF2B5EF4-FFF2-40B4-BE49-F238E27FC236}">
                <a16:creationId xmlns:a16="http://schemas.microsoft.com/office/drawing/2014/main" id="{2414E9F7-D9F0-6C3F-B316-1D75127C00B5}"/>
              </a:ext>
            </a:extLst>
          </p:cNvPr>
          <p:cNvSpPr>
            <a:spLocks noGrp="1"/>
          </p:cNvSpPr>
          <p:nvPr>
            <p:ph type="title"/>
          </p:nvPr>
        </p:nvSpPr>
        <p:spPr>
          <a:xfrm>
            <a:off x="622800" y="684001"/>
            <a:ext cx="10911078" cy="373949"/>
          </a:xfrm>
          <a:prstGeom prst="rect">
            <a:avLst/>
          </a:prstGeom>
        </p:spPr>
        <p:txBody>
          <a:bodyPr vert="horz" lIns="0" tIns="0" rIns="91440" bIns="0" rtlCol="0" anchor="t">
            <a:spAutoFit/>
          </a:bodyPr>
          <a:lstStyle>
            <a:lvl1pPr>
              <a:defRPr sz="2700" b="1" kern="100" spc="-30" baseline="0">
                <a:solidFill>
                  <a:srgbClr val="000000"/>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IN"/>
          </a:p>
        </p:txBody>
      </p:sp>
      <p:sp>
        <p:nvSpPr>
          <p:cNvPr id="26" name="Text Placeholder 7">
            <a:extLst>
              <a:ext uri="{FF2B5EF4-FFF2-40B4-BE49-F238E27FC236}">
                <a16:creationId xmlns:a16="http://schemas.microsoft.com/office/drawing/2014/main" id="{4FBF6C2C-148C-1F0A-8A20-79345BA6CB30}"/>
              </a:ext>
            </a:extLst>
          </p:cNvPr>
          <p:cNvSpPr>
            <a:spLocks noGrp="1"/>
          </p:cNvSpPr>
          <p:nvPr>
            <p:ph type="body" sz="quarter" idx="13" hasCustomPrompt="1"/>
          </p:nvPr>
        </p:nvSpPr>
        <p:spPr>
          <a:xfrm>
            <a:off x="640800" y="454608"/>
            <a:ext cx="10911078" cy="153888"/>
          </a:xfrm>
        </p:spPr>
        <p:txBody>
          <a:bodyPr tIns="0" bIns="0">
            <a:spAutoFit/>
          </a:bodyPr>
          <a:lstStyle>
            <a:lvl1pPr marL="0" indent="0">
              <a:lnSpc>
                <a:spcPct val="100000"/>
              </a:lnSpc>
              <a:spcBef>
                <a:spcPts val="0"/>
              </a:spcBef>
              <a:buFontTx/>
              <a:buNone/>
              <a:defRPr sz="1000" b="0" i="0">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DESCRIPTOR / SUB-HEADING</a:t>
            </a:r>
          </a:p>
        </p:txBody>
      </p:sp>
    </p:spTree>
    <p:extLst>
      <p:ext uri="{BB962C8B-B14F-4D97-AF65-F5344CB8AC3E}">
        <p14:creationId xmlns:p14="http://schemas.microsoft.com/office/powerpoint/2010/main" val="2791439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5" name="Text Placeholder 8">
            <a:extLst>
              <a:ext uri="{FF2B5EF4-FFF2-40B4-BE49-F238E27FC236}">
                <a16:creationId xmlns:a16="http://schemas.microsoft.com/office/drawing/2014/main" id="{7480C507-6EB2-CCF9-870C-8684AC412484}"/>
              </a:ext>
            </a:extLst>
          </p:cNvPr>
          <p:cNvSpPr>
            <a:spLocks noGrp="1"/>
          </p:cNvSpPr>
          <p:nvPr>
            <p:ph type="body" sz="quarter" idx="12"/>
          </p:nvPr>
        </p:nvSpPr>
        <p:spPr>
          <a:xfrm>
            <a:off x="586304" y="1353312"/>
            <a:ext cx="11335821" cy="4856988"/>
          </a:xfrm>
        </p:spPr>
        <p:txBody>
          <a:bodyPr>
            <a:normAutofit/>
          </a:bodyPr>
          <a:lstStyle>
            <a:lvl1pPr>
              <a:defRPr sz="1800"/>
            </a:lvl1pPr>
            <a:lvl2pPr>
              <a:defRPr sz="1800"/>
            </a:lvl2pPr>
            <a:lvl3pPr>
              <a:defRPr sz="18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 name="Title Placeholder 1">
            <a:extLst>
              <a:ext uri="{FF2B5EF4-FFF2-40B4-BE49-F238E27FC236}">
                <a16:creationId xmlns:a16="http://schemas.microsoft.com/office/drawing/2014/main" id="{AAFF2628-ED62-950D-2E66-69E4E6F3A1E0}"/>
              </a:ext>
            </a:extLst>
          </p:cNvPr>
          <p:cNvSpPr>
            <a:spLocks noGrp="1"/>
          </p:cNvSpPr>
          <p:nvPr>
            <p:ph type="title"/>
          </p:nvPr>
        </p:nvSpPr>
        <p:spPr>
          <a:xfrm>
            <a:off x="586305" y="163731"/>
            <a:ext cx="11335249" cy="945514"/>
          </a:xfrm>
          <a:prstGeom prst="rect">
            <a:avLst/>
          </a:prstGeom>
        </p:spPr>
        <p:txBody>
          <a:bodyPr vert="horz" lIns="0" tIns="45720" rIns="91440" bIns="45720" rtlCol="0" anchor="ctr">
            <a:normAutofit/>
          </a:bodyPr>
          <a:lstStyle/>
          <a:p>
            <a:r>
              <a:rPr lang="en-US"/>
              <a:t>Click to edit Master title style</a:t>
            </a:r>
            <a:endParaRPr lang="en-IN"/>
          </a:p>
        </p:txBody>
      </p:sp>
    </p:spTree>
    <p:extLst>
      <p:ext uri="{BB962C8B-B14F-4D97-AF65-F5344CB8AC3E}">
        <p14:creationId xmlns:p14="http://schemas.microsoft.com/office/powerpoint/2010/main" val="2716602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6A9610-6B18-4138-A598-3C974F238399}"/>
              </a:ext>
            </a:extLst>
          </p:cNvPr>
          <p:cNvSpPr>
            <a:spLocks noGrp="1"/>
          </p:cNvSpPr>
          <p:nvPr>
            <p:ph type="title"/>
          </p:nvPr>
        </p:nvSpPr>
        <p:spPr>
          <a:xfrm>
            <a:off x="481530" y="163730"/>
            <a:ext cx="11335249" cy="945514"/>
          </a:xfrm>
          <a:prstGeom prst="rect">
            <a:avLst/>
          </a:prstGeom>
        </p:spPr>
        <p:txBody>
          <a:bodyPr vert="horz" lIns="0" tIns="45720" rIns="91440" bIns="45720" rtlCol="0" anchor="ctr">
            <a:normAutofit/>
          </a:bodyPr>
          <a:lstStyle>
            <a:lvl1pPr>
              <a:defRPr sz="2400">
                <a:latin typeface="+mj-lt"/>
              </a:defRPr>
            </a:lvl1pPr>
          </a:lstStyle>
          <a:p>
            <a:r>
              <a:rPr lang="en-US"/>
              <a:t>Click to edit Master title style</a:t>
            </a:r>
            <a:endParaRPr lang="en-IN"/>
          </a:p>
        </p:txBody>
      </p:sp>
      <p:sp>
        <p:nvSpPr>
          <p:cNvPr id="4" name="Rectangle 3">
            <a:extLst>
              <a:ext uri="{FF2B5EF4-FFF2-40B4-BE49-F238E27FC236}">
                <a16:creationId xmlns:a16="http://schemas.microsoft.com/office/drawing/2014/main" id="{15622F69-9FDA-EEBD-94CF-E9C11F3CA3F2}"/>
              </a:ext>
            </a:extLst>
          </p:cNvPr>
          <p:cNvSpPr/>
          <p:nvPr userDrawn="1"/>
        </p:nvSpPr>
        <p:spPr>
          <a:xfrm>
            <a:off x="293555" y="403420"/>
            <a:ext cx="94635" cy="466135"/>
          </a:xfrm>
          <a:prstGeom prst="rect">
            <a:avLst/>
          </a:prstGeom>
          <a:solidFill>
            <a:srgbClr val="CB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en-US" sz="1800">
              <a:solidFill>
                <a:srgbClr val="CB2026"/>
              </a:solidFill>
              <a:latin typeface="+mj-lt"/>
            </a:endParaRPr>
          </a:p>
        </p:txBody>
      </p:sp>
    </p:spTree>
    <p:extLst>
      <p:ext uri="{BB962C8B-B14F-4D97-AF65-F5344CB8AC3E}">
        <p14:creationId xmlns:p14="http://schemas.microsoft.com/office/powerpoint/2010/main" val="2489988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rcRect/>
          <a:stretch/>
        </p:blipFill>
        <p:spPr>
          <a:xfrm>
            <a:off x="5477828" y="435891"/>
            <a:ext cx="6457614" cy="5760720"/>
          </a:xfrm>
          <a:prstGeom prst="rect">
            <a:avLst/>
          </a:prstGeom>
        </p:spPr>
      </p:pic>
      <p:pic>
        <p:nvPicPr>
          <p:cNvPr id="7" name="Picture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7381" y="389912"/>
            <a:ext cx="1600423" cy="406774"/>
          </a:xfrm>
          <a:prstGeom prst="rect">
            <a:avLst/>
          </a:prstGeom>
        </p:spPr>
      </p:pic>
    </p:spTree>
    <p:extLst>
      <p:ext uri="{BB962C8B-B14F-4D97-AF65-F5344CB8AC3E}">
        <p14:creationId xmlns:p14="http://schemas.microsoft.com/office/powerpoint/2010/main" val="554960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pic>
        <p:nvPicPr>
          <p:cNvPr id="3" name="Picture 2" descr="Graphs and plots layered on a blue digital screen"/>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095090" y="1020098"/>
            <a:ext cx="6906410" cy="4843211"/>
          </a:xfrm>
          <a:prstGeom prst="rect">
            <a:avLst/>
          </a:prstGeom>
        </p:spPr>
      </p:pic>
      <p:pic>
        <p:nvPicPr>
          <p:cNvPr id="7" name="Picture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7381" y="389912"/>
            <a:ext cx="1600423" cy="406774"/>
          </a:xfrm>
          <a:prstGeom prst="rect">
            <a:avLst/>
          </a:prstGeom>
        </p:spPr>
      </p:pic>
    </p:spTree>
    <p:extLst>
      <p:ext uri="{BB962C8B-B14F-4D97-AF65-F5344CB8AC3E}">
        <p14:creationId xmlns:p14="http://schemas.microsoft.com/office/powerpoint/2010/main" val="41406276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7_Custom Layout">
    <p:spTree>
      <p:nvGrpSpPr>
        <p:cNvPr id="1" name=""/>
        <p:cNvGrpSpPr/>
        <p:nvPr/>
      </p:nvGrpSpPr>
      <p:grpSpPr>
        <a:xfrm>
          <a:off x="0" y="0"/>
          <a:ext cx="0" cy="0"/>
          <a:chOff x="0" y="0"/>
          <a:chExt cx="0" cy="0"/>
        </a:xfrm>
      </p:grpSpPr>
      <p:pic>
        <p:nvPicPr>
          <p:cNvPr id="3" name="Picture 2" descr="close up of calculator and stethoscope placed on invoice"/>
          <p:cNvPicPr>
            <a:picLocks/>
          </p:cNvPicPr>
          <p:nvPr userDrawn="1"/>
        </p:nvPicPr>
        <p:blipFill>
          <a:blip r:embed="rId2">
            <a:extLst>
              <a:ext uri="{28A0092B-C50C-407E-A947-70E740481C1C}">
                <a14:useLocalDpi xmlns:a14="http://schemas.microsoft.com/office/drawing/2010/main" val="0"/>
              </a:ext>
            </a:extLst>
          </a:blip>
          <a:srcRect/>
          <a:stretch/>
        </p:blipFill>
        <p:spPr>
          <a:xfrm>
            <a:off x="4969790" y="1490007"/>
            <a:ext cx="6858000" cy="4114800"/>
          </a:xfrm>
          <a:prstGeom prst="rect">
            <a:avLst/>
          </a:prstGeom>
        </p:spPr>
      </p:pic>
      <p:pic>
        <p:nvPicPr>
          <p:cNvPr id="7" name="Picture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7381" y="389912"/>
            <a:ext cx="1600423" cy="406774"/>
          </a:xfrm>
          <a:prstGeom prst="rect">
            <a:avLst/>
          </a:prstGeom>
        </p:spPr>
      </p:pic>
    </p:spTree>
    <p:extLst>
      <p:ext uri="{BB962C8B-B14F-4D97-AF65-F5344CB8AC3E}">
        <p14:creationId xmlns:p14="http://schemas.microsoft.com/office/powerpoint/2010/main" val="13377343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5_Custom Layout">
    <p:spTree>
      <p:nvGrpSpPr>
        <p:cNvPr id="1" name=""/>
        <p:cNvGrpSpPr/>
        <p:nvPr/>
      </p:nvGrpSpPr>
      <p:grpSpPr>
        <a:xfrm>
          <a:off x="0" y="0"/>
          <a:ext cx="0" cy="0"/>
          <a:chOff x="0" y="0"/>
          <a:chExt cx="0" cy="0"/>
        </a:xfrm>
      </p:grpSpPr>
      <p:pic>
        <p:nvPicPr>
          <p:cNvPr id="3" name="Picture 2"/>
          <p:cNvPicPr>
            <a:picLocks/>
          </p:cNvPicPr>
          <p:nvPr userDrawn="1"/>
        </p:nvPicPr>
        <p:blipFill>
          <a:blip r:embed="rId2">
            <a:extLst>
              <a:ext uri="{28A0092B-C50C-407E-A947-70E740481C1C}">
                <a14:useLocalDpi xmlns:a14="http://schemas.microsoft.com/office/drawing/2010/main" val="0"/>
              </a:ext>
            </a:extLst>
          </a:blip>
          <a:stretch/>
        </p:blipFill>
        <p:spPr>
          <a:xfrm>
            <a:off x="5006108" y="1441107"/>
            <a:ext cx="6858000" cy="4114800"/>
          </a:xfrm>
          <a:prstGeom prst="rect">
            <a:avLst/>
          </a:prstGeom>
        </p:spPr>
      </p:pic>
      <p:pic>
        <p:nvPicPr>
          <p:cNvPr id="7" name="Picture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7381" y="389912"/>
            <a:ext cx="1600423" cy="406774"/>
          </a:xfrm>
          <a:prstGeom prst="rect">
            <a:avLst/>
          </a:prstGeom>
        </p:spPr>
      </p:pic>
    </p:spTree>
    <p:extLst>
      <p:ext uri="{BB962C8B-B14F-4D97-AF65-F5344CB8AC3E}">
        <p14:creationId xmlns:p14="http://schemas.microsoft.com/office/powerpoint/2010/main" val="28329692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6_Custom Layout">
    <p:spTree>
      <p:nvGrpSpPr>
        <p:cNvPr id="1" name=""/>
        <p:cNvGrpSpPr/>
        <p:nvPr/>
      </p:nvGrpSpPr>
      <p:grpSpPr>
        <a:xfrm>
          <a:off x="0" y="0"/>
          <a:ext cx="0" cy="0"/>
          <a:chOff x="0" y="0"/>
          <a:chExt cx="0" cy="0"/>
        </a:xfrm>
      </p:grpSpPr>
      <p:pic>
        <p:nvPicPr>
          <p:cNvPr id="3" name="Picture 2" descr="Large and small hands holding red heart"/>
          <p:cNvPicPr>
            <a:picLocks/>
          </p:cNvPicPr>
          <p:nvPr userDrawn="1"/>
        </p:nvPicPr>
        <p:blipFill>
          <a:blip r:embed="rId2">
            <a:extLst>
              <a:ext uri="{28A0092B-C50C-407E-A947-70E740481C1C}">
                <a14:useLocalDpi xmlns:a14="http://schemas.microsoft.com/office/drawing/2010/main" val="0"/>
              </a:ext>
            </a:extLst>
          </a:blip>
          <a:srcRect/>
          <a:stretch/>
        </p:blipFill>
        <p:spPr>
          <a:xfrm>
            <a:off x="4965342" y="1452937"/>
            <a:ext cx="6858000" cy="4114800"/>
          </a:xfrm>
          <a:prstGeom prst="rect">
            <a:avLst/>
          </a:prstGeom>
        </p:spPr>
      </p:pic>
      <p:pic>
        <p:nvPicPr>
          <p:cNvPr id="7" name="Picture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7381" y="389912"/>
            <a:ext cx="1600423" cy="406774"/>
          </a:xfrm>
          <a:prstGeom prst="rect">
            <a:avLst/>
          </a:prstGeom>
        </p:spPr>
      </p:pic>
    </p:spTree>
    <p:extLst>
      <p:ext uri="{BB962C8B-B14F-4D97-AF65-F5344CB8AC3E}">
        <p14:creationId xmlns:p14="http://schemas.microsoft.com/office/powerpoint/2010/main" val="22186947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8_Custom Layout">
    <p:spTree>
      <p:nvGrpSpPr>
        <p:cNvPr id="1" name=""/>
        <p:cNvGrpSpPr/>
        <p:nvPr/>
      </p:nvGrpSpPr>
      <p:grpSpPr>
        <a:xfrm>
          <a:off x="0" y="0"/>
          <a:ext cx="0" cy="0"/>
          <a:chOff x="0" y="0"/>
          <a:chExt cx="0" cy="0"/>
        </a:xfrm>
      </p:grpSpPr>
      <p:pic>
        <p:nvPicPr>
          <p:cNvPr id="3" name="Picture 2" descr="Shopping cart with boxes"/>
          <p:cNvPicPr>
            <a:picLocks/>
          </p:cNvPicPr>
          <p:nvPr userDrawn="1"/>
        </p:nvPicPr>
        <p:blipFill>
          <a:blip r:embed="rId2">
            <a:extLst>
              <a:ext uri="{28A0092B-C50C-407E-A947-70E740481C1C}">
                <a14:useLocalDpi xmlns:a14="http://schemas.microsoft.com/office/drawing/2010/main" val="0"/>
              </a:ext>
            </a:extLst>
          </a:blip>
          <a:srcRect/>
          <a:stretch/>
        </p:blipFill>
        <p:spPr>
          <a:xfrm>
            <a:off x="5010279" y="1499275"/>
            <a:ext cx="6858000" cy="4115713"/>
          </a:xfrm>
          <a:prstGeom prst="rect">
            <a:avLst/>
          </a:prstGeom>
        </p:spPr>
      </p:pic>
      <p:pic>
        <p:nvPicPr>
          <p:cNvPr id="7" name="Picture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7381" y="389912"/>
            <a:ext cx="1600423" cy="406774"/>
          </a:xfrm>
          <a:prstGeom prst="rect">
            <a:avLst/>
          </a:prstGeom>
        </p:spPr>
      </p:pic>
    </p:spTree>
    <p:extLst>
      <p:ext uri="{BB962C8B-B14F-4D97-AF65-F5344CB8AC3E}">
        <p14:creationId xmlns:p14="http://schemas.microsoft.com/office/powerpoint/2010/main" val="1311748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_Default slide">
    <p:spTree>
      <p:nvGrpSpPr>
        <p:cNvPr id="1" name=""/>
        <p:cNvGrpSpPr/>
        <p:nvPr/>
      </p:nvGrpSpPr>
      <p:grpSpPr>
        <a:xfrm>
          <a:off x="0" y="0"/>
          <a:ext cx="0" cy="0"/>
          <a:chOff x="0" y="0"/>
          <a:chExt cx="0" cy="0"/>
        </a:xfrm>
      </p:grpSpPr>
      <p:grpSp>
        <p:nvGrpSpPr>
          <p:cNvPr id="9" name="Group 8"/>
          <p:cNvGrpSpPr/>
          <p:nvPr/>
        </p:nvGrpSpPr>
        <p:grpSpPr>
          <a:xfrm>
            <a:off x="534399" y="5551122"/>
            <a:ext cx="1933985" cy="388746"/>
            <a:chOff x="534398" y="5551122"/>
            <a:chExt cx="1933985" cy="388746"/>
          </a:xfrm>
        </p:grpSpPr>
        <p:grpSp>
          <p:nvGrpSpPr>
            <p:cNvPr id="10" name="Group 9"/>
            <p:cNvGrpSpPr/>
            <p:nvPr/>
          </p:nvGrpSpPr>
          <p:grpSpPr>
            <a:xfrm>
              <a:off x="1562087" y="5551122"/>
              <a:ext cx="390864" cy="388746"/>
              <a:chOff x="2762051" y="6326352"/>
              <a:chExt cx="515226" cy="512434"/>
            </a:xfrm>
            <a:solidFill>
              <a:srgbClr val="CB2026"/>
            </a:solidFill>
          </p:grpSpPr>
          <p:sp>
            <p:nvSpPr>
              <p:cNvPr id="19" name="Freeform 18"/>
              <p:cNvSpPr>
                <a:spLocks noEditPoints="1"/>
              </p:cNvSpPr>
              <p:nvPr/>
            </p:nvSpPr>
            <p:spPr bwMode="auto">
              <a:xfrm>
                <a:off x="2762051" y="6326352"/>
                <a:ext cx="515226" cy="512434"/>
              </a:xfrm>
              <a:custGeom>
                <a:avLst/>
                <a:gdLst>
                  <a:gd name="T0" fmla="*/ 93 w 186"/>
                  <a:gd name="T1" fmla="*/ 0 h 185"/>
                  <a:gd name="T2" fmla="*/ 0 w 186"/>
                  <a:gd name="T3" fmla="*/ 93 h 185"/>
                  <a:gd name="T4" fmla="*/ 93 w 186"/>
                  <a:gd name="T5" fmla="*/ 185 h 185"/>
                  <a:gd name="T6" fmla="*/ 186 w 186"/>
                  <a:gd name="T7" fmla="*/ 93 h 185"/>
                  <a:gd name="T8" fmla="*/ 93 w 186"/>
                  <a:gd name="T9" fmla="*/ 0 h 185"/>
                  <a:gd name="T10" fmla="*/ 154 w 186"/>
                  <a:gd name="T11" fmla="*/ 94 h 185"/>
                  <a:gd name="T12" fmla="*/ 153 w 186"/>
                  <a:gd name="T13" fmla="*/ 114 h 185"/>
                  <a:gd name="T14" fmla="*/ 148 w 186"/>
                  <a:gd name="T15" fmla="*/ 126 h 185"/>
                  <a:gd name="T16" fmla="*/ 136 w 186"/>
                  <a:gd name="T17" fmla="*/ 131 h 185"/>
                  <a:gd name="T18" fmla="*/ 94 w 186"/>
                  <a:gd name="T19" fmla="*/ 132 h 185"/>
                  <a:gd name="T20" fmla="*/ 53 w 186"/>
                  <a:gd name="T21" fmla="*/ 131 h 185"/>
                  <a:gd name="T22" fmla="*/ 40 w 186"/>
                  <a:gd name="T23" fmla="*/ 126 h 185"/>
                  <a:gd name="T24" fmla="*/ 35 w 186"/>
                  <a:gd name="T25" fmla="*/ 114 h 185"/>
                  <a:gd name="T26" fmla="*/ 34 w 186"/>
                  <a:gd name="T27" fmla="*/ 94 h 185"/>
                  <a:gd name="T28" fmla="*/ 34 w 186"/>
                  <a:gd name="T29" fmla="*/ 85 h 185"/>
                  <a:gd name="T30" fmla="*/ 35 w 186"/>
                  <a:gd name="T31" fmla="*/ 66 h 185"/>
                  <a:gd name="T32" fmla="*/ 40 w 186"/>
                  <a:gd name="T33" fmla="*/ 54 h 185"/>
                  <a:gd name="T34" fmla="*/ 52 w 186"/>
                  <a:gd name="T35" fmla="*/ 49 h 185"/>
                  <a:gd name="T36" fmla="*/ 94 w 186"/>
                  <a:gd name="T37" fmla="*/ 47 h 185"/>
                  <a:gd name="T38" fmla="*/ 94 w 186"/>
                  <a:gd name="T39" fmla="*/ 47 h 185"/>
                  <a:gd name="T40" fmla="*/ 136 w 186"/>
                  <a:gd name="T41" fmla="*/ 49 h 185"/>
                  <a:gd name="T42" fmla="*/ 148 w 186"/>
                  <a:gd name="T43" fmla="*/ 54 h 185"/>
                  <a:gd name="T44" fmla="*/ 153 w 186"/>
                  <a:gd name="T45" fmla="*/ 66 h 185"/>
                  <a:gd name="T46" fmla="*/ 154 w 186"/>
                  <a:gd name="T47" fmla="*/ 85 h 185"/>
                  <a:gd name="T48" fmla="*/ 154 w 186"/>
                  <a:gd name="T49" fmla="*/ 94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6" h="185">
                    <a:moveTo>
                      <a:pt x="93" y="0"/>
                    </a:moveTo>
                    <a:cubicBezTo>
                      <a:pt x="42" y="0"/>
                      <a:pt x="0" y="41"/>
                      <a:pt x="0" y="93"/>
                    </a:cubicBezTo>
                    <a:cubicBezTo>
                      <a:pt x="0" y="144"/>
                      <a:pt x="42" y="185"/>
                      <a:pt x="93" y="185"/>
                    </a:cubicBezTo>
                    <a:cubicBezTo>
                      <a:pt x="144" y="185"/>
                      <a:pt x="186" y="144"/>
                      <a:pt x="186" y="93"/>
                    </a:cubicBezTo>
                    <a:cubicBezTo>
                      <a:pt x="186" y="41"/>
                      <a:pt x="144" y="0"/>
                      <a:pt x="93" y="0"/>
                    </a:cubicBezTo>
                    <a:close/>
                    <a:moveTo>
                      <a:pt x="154" y="94"/>
                    </a:moveTo>
                    <a:cubicBezTo>
                      <a:pt x="154" y="104"/>
                      <a:pt x="153" y="114"/>
                      <a:pt x="153" y="114"/>
                    </a:cubicBezTo>
                    <a:cubicBezTo>
                      <a:pt x="153" y="114"/>
                      <a:pt x="152" y="122"/>
                      <a:pt x="148" y="126"/>
                    </a:cubicBezTo>
                    <a:cubicBezTo>
                      <a:pt x="143" y="130"/>
                      <a:pt x="138" y="130"/>
                      <a:pt x="136" y="131"/>
                    </a:cubicBezTo>
                    <a:cubicBezTo>
                      <a:pt x="119" y="132"/>
                      <a:pt x="94" y="132"/>
                      <a:pt x="94" y="132"/>
                    </a:cubicBezTo>
                    <a:cubicBezTo>
                      <a:pt x="94" y="132"/>
                      <a:pt x="62" y="132"/>
                      <a:pt x="53" y="131"/>
                    </a:cubicBezTo>
                    <a:cubicBezTo>
                      <a:pt x="50" y="130"/>
                      <a:pt x="44" y="130"/>
                      <a:pt x="40" y="126"/>
                    </a:cubicBezTo>
                    <a:cubicBezTo>
                      <a:pt x="36" y="122"/>
                      <a:pt x="35" y="114"/>
                      <a:pt x="35" y="114"/>
                    </a:cubicBezTo>
                    <a:cubicBezTo>
                      <a:pt x="35" y="114"/>
                      <a:pt x="34" y="104"/>
                      <a:pt x="34" y="94"/>
                    </a:cubicBezTo>
                    <a:cubicBezTo>
                      <a:pt x="34" y="85"/>
                      <a:pt x="34" y="85"/>
                      <a:pt x="34" y="85"/>
                    </a:cubicBezTo>
                    <a:cubicBezTo>
                      <a:pt x="34" y="75"/>
                      <a:pt x="35" y="66"/>
                      <a:pt x="35" y="66"/>
                    </a:cubicBezTo>
                    <a:cubicBezTo>
                      <a:pt x="35" y="66"/>
                      <a:pt x="36" y="57"/>
                      <a:pt x="40" y="54"/>
                    </a:cubicBezTo>
                    <a:cubicBezTo>
                      <a:pt x="44" y="49"/>
                      <a:pt x="49" y="49"/>
                      <a:pt x="52" y="49"/>
                    </a:cubicBezTo>
                    <a:cubicBezTo>
                      <a:pt x="68" y="47"/>
                      <a:pt x="94" y="47"/>
                      <a:pt x="94" y="47"/>
                    </a:cubicBezTo>
                    <a:cubicBezTo>
                      <a:pt x="94" y="47"/>
                      <a:pt x="94" y="47"/>
                      <a:pt x="94" y="47"/>
                    </a:cubicBezTo>
                    <a:cubicBezTo>
                      <a:pt x="94" y="47"/>
                      <a:pt x="119" y="47"/>
                      <a:pt x="136" y="49"/>
                    </a:cubicBezTo>
                    <a:cubicBezTo>
                      <a:pt x="138" y="49"/>
                      <a:pt x="143" y="49"/>
                      <a:pt x="148" y="54"/>
                    </a:cubicBezTo>
                    <a:cubicBezTo>
                      <a:pt x="152" y="57"/>
                      <a:pt x="153" y="66"/>
                      <a:pt x="153" y="66"/>
                    </a:cubicBezTo>
                    <a:cubicBezTo>
                      <a:pt x="153" y="66"/>
                      <a:pt x="154" y="75"/>
                      <a:pt x="154" y="85"/>
                    </a:cubicBezTo>
                    <a:lnTo>
                      <a:pt x="154" y="94"/>
                    </a:lnTo>
                    <a:close/>
                  </a:path>
                </a:pathLst>
              </a:custGeom>
              <a:grpFill/>
              <a:ln>
                <a:noFill/>
              </a:ln>
            </p:spPr>
            <p:txBody>
              <a:bodyPr vert="horz" wrap="square" lIns="91440" tIns="45720" rIns="91440" bIns="45720" numCol="1" anchor="t" anchorCtr="0" compatLnSpc="1">
                <a:prstTxWarp prst="textNoShape">
                  <a:avLst/>
                </a:prstTxWarp>
              </a:bodyPr>
              <a:lstStyle/>
              <a:p>
                <a:endParaRPr lang="en-IN" sz="1800"/>
              </a:p>
            </p:txBody>
          </p:sp>
          <p:sp>
            <p:nvSpPr>
              <p:cNvPr id="20" name="Oval 19"/>
              <p:cNvSpPr/>
              <p:nvPr/>
            </p:nvSpPr>
            <p:spPr>
              <a:xfrm>
                <a:off x="2811892" y="6424507"/>
                <a:ext cx="415544" cy="3149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grpSp>
        <p:sp>
          <p:nvSpPr>
            <p:cNvPr id="11" name="Freeform 10"/>
            <p:cNvSpPr>
              <a:spLocks noEditPoints="1"/>
            </p:cNvSpPr>
            <p:nvPr/>
          </p:nvSpPr>
          <p:spPr bwMode="auto">
            <a:xfrm>
              <a:off x="534398" y="5551122"/>
              <a:ext cx="388746" cy="388746"/>
            </a:xfrm>
            <a:custGeom>
              <a:avLst/>
              <a:gdLst>
                <a:gd name="T0" fmla="*/ 93 w 185"/>
                <a:gd name="T1" fmla="*/ 0 h 185"/>
                <a:gd name="T2" fmla="*/ 0 w 185"/>
                <a:gd name="T3" fmla="*/ 93 h 185"/>
                <a:gd name="T4" fmla="*/ 93 w 185"/>
                <a:gd name="T5" fmla="*/ 185 h 185"/>
                <a:gd name="T6" fmla="*/ 185 w 185"/>
                <a:gd name="T7" fmla="*/ 93 h 185"/>
                <a:gd name="T8" fmla="*/ 93 w 185"/>
                <a:gd name="T9" fmla="*/ 0 h 185"/>
                <a:gd name="T10" fmla="*/ 118 w 185"/>
                <a:gd name="T11" fmla="*/ 72 h 185"/>
                <a:gd name="T12" fmla="*/ 118 w 185"/>
                <a:gd name="T13" fmla="*/ 91 h 185"/>
                <a:gd name="T14" fmla="*/ 100 w 185"/>
                <a:gd name="T15" fmla="*/ 91 h 185"/>
                <a:gd name="T16" fmla="*/ 100 w 185"/>
                <a:gd name="T17" fmla="*/ 155 h 185"/>
                <a:gd name="T18" fmla="*/ 74 w 185"/>
                <a:gd name="T19" fmla="*/ 155 h 185"/>
                <a:gd name="T20" fmla="*/ 74 w 185"/>
                <a:gd name="T21" fmla="*/ 91 h 185"/>
                <a:gd name="T22" fmla="*/ 61 w 185"/>
                <a:gd name="T23" fmla="*/ 91 h 185"/>
                <a:gd name="T24" fmla="*/ 61 w 185"/>
                <a:gd name="T25" fmla="*/ 72 h 185"/>
                <a:gd name="T26" fmla="*/ 73 w 185"/>
                <a:gd name="T27" fmla="*/ 72 h 185"/>
                <a:gd name="T28" fmla="*/ 81 w 185"/>
                <a:gd name="T29" fmla="*/ 35 h 185"/>
                <a:gd name="T30" fmla="*/ 121 w 185"/>
                <a:gd name="T31" fmla="*/ 31 h 185"/>
                <a:gd name="T32" fmla="*/ 118 w 185"/>
                <a:gd name="T33" fmla="*/ 50 h 185"/>
                <a:gd name="T34" fmla="*/ 107 w 185"/>
                <a:gd name="T35" fmla="*/ 49 h 185"/>
                <a:gd name="T36" fmla="*/ 100 w 185"/>
                <a:gd name="T37" fmla="*/ 56 h 185"/>
                <a:gd name="T38" fmla="*/ 100 w 185"/>
                <a:gd name="T39" fmla="*/ 72 h 185"/>
                <a:gd name="T40" fmla="*/ 118 w 185"/>
                <a:gd name="T41" fmla="*/ 72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85">
                  <a:moveTo>
                    <a:pt x="93" y="0"/>
                  </a:moveTo>
                  <a:cubicBezTo>
                    <a:pt x="42" y="0"/>
                    <a:pt x="0" y="41"/>
                    <a:pt x="0" y="93"/>
                  </a:cubicBezTo>
                  <a:cubicBezTo>
                    <a:pt x="0" y="144"/>
                    <a:pt x="42" y="185"/>
                    <a:pt x="93" y="185"/>
                  </a:cubicBezTo>
                  <a:cubicBezTo>
                    <a:pt x="144" y="185"/>
                    <a:pt x="185" y="144"/>
                    <a:pt x="185" y="93"/>
                  </a:cubicBezTo>
                  <a:cubicBezTo>
                    <a:pt x="185" y="41"/>
                    <a:pt x="144" y="0"/>
                    <a:pt x="93" y="0"/>
                  </a:cubicBezTo>
                  <a:close/>
                  <a:moveTo>
                    <a:pt x="118" y="72"/>
                  </a:moveTo>
                  <a:cubicBezTo>
                    <a:pt x="118" y="91"/>
                    <a:pt x="118" y="91"/>
                    <a:pt x="118" y="91"/>
                  </a:cubicBezTo>
                  <a:cubicBezTo>
                    <a:pt x="100" y="91"/>
                    <a:pt x="100" y="91"/>
                    <a:pt x="100" y="91"/>
                  </a:cubicBezTo>
                  <a:cubicBezTo>
                    <a:pt x="100" y="155"/>
                    <a:pt x="100" y="155"/>
                    <a:pt x="100" y="155"/>
                  </a:cubicBezTo>
                  <a:cubicBezTo>
                    <a:pt x="74" y="155"/>
                    <a:pt x="74" y="155"/>
                    <a:pt x="74" y="155"/>
                  </a:cubicBezTo>
                  <a:cubicBezTo>
                    <a:pt x="74" y="91"/>
                    <a:pt x="74" y="91"/>
                    <a:pt x="74" y="91"/>
                  </a:cubicBezTo>
                  <a:cubicBezTo>
                    <a:pt x="61" y="91"/>
                    <a:pt x="61" y="91"/>
                    <a:pt x="61" y="91"/>
                  </a:cubicBezTo>
                  <a:cubicBezTo>
                    <a:pt x="61" y="72"/>
                    <a:pt x="61" y="72"/>
                    <a:pt x="61" y="72"/>
                  </a:cubicBezTo>
                  <a:cubicBezTo>
                    <a:pt x="73" y="72"/>
                    <a:pt x="73" y="72"/>
                    <a:pt x="73" y="72"/>
                  </a:cubicBezTo>
                  <a:cubicBezTo>
                    <a:pt x="73" y="63"/>
                    <a:pt x="71" y="42"/>
                    <a:pt x="81" y="35"/>
                  </a:cubicBezTo>
                  <a:cubicBezTo>
                    <a:pt x="95" y="24"/>
                    <a:pt x="121" y="31"/>
                    <a:pt x="121" y="31"/>
                  </a:cubicBezTo>
                  <a:cubicBezTo>
                    <a:pt x="118" y="50"/>
                    <a:pt x="118" y="50"/>
                    <a:pt x="118" y="50"/>
                  </a:cubicBezTo>
                  <a:cubicBezTo>
                    <a:pt x="118" y="50"/>
                    <a:pt x="109" y="49"/>
                    <a:pt x="107" y="49"/>
                  </a:cubicBezTo>
                  <a:cubicBezTo>
                    <a:pt x="105" y="49"/>
                    <a:pt x="100" y="50"/>
                    <a:pt x="100" y="56"/>
                  </a:cubicBezTo>
                  <a:cubicBezTo>
                    <a:pt x="100" y="72"/>
                    <a:pt x="100" y="72"/>
                    <a:pt x="100" y="72"/>
                  </a:cubicBezTo>
                  <a:lnTo>
                    <a:pt x="118" y="72"/>
                  </a:lnTo>
                  <a:close/>
                </a:path>
              </a:pathLst>
            </a:custGeom>
            <a:solidFill>
              <a:srgbClr val="CB2026"/>
            </a:solidFill>
            <a:ln>
              <a:noFill/>
            </a:ln>
          </p:spPr>
          <p:txBody>
            <a:bodyPr vert="horz" wrap="square" lIns="91440" tIns="45720" rIns="91440" bIns="45720" numCol="1" anchor="t" anchorCtr="0" compatLnSpc="1">
              <a:prstTxWarp prst="textNoShape">
                <a:avLst/>
              </a:prstTxWarp>
            </a:bodyPr>
            <a:lstStyle/>
            <a:p>
              <a:endParaRPr lang="en-IN" sz="1800"/>
            </a:p>
          </p:txBody>
        </p:sp>
        <p:grpSp>
          <p:nvGrpSpPr>
            <p:cNvPr id="12" name="Group 11"/>
            <p:cNvGrpSpPr/>
            <p:nvPr/>
          </p:nvGrpSpPr>
          <p:grpSpPr>
            <a:xfrm>
              <a:off x="2077519" y="5551122"/>
              <a:ext cx="390864" cy="388746"/>
              <a:chOff x="1836674" y="5551122"/>
              <a:chExt cx="390864" cy="388746"/>
            </a:xfrm>
            <a:solidFill>
              <a:srgbClr val="CB2026"/>
            </a:solidFill>
          </p:grpSpPr>
          <p:sp>
            <p:nvSpPr>
              <p:cNvPr id="17" name="Freeform 16"/>
              <p:cNvSpPr>
                <a:spLocks/>
              </p:cNvSpPr>
              <p:nvPr/>
            </p:nvSpPr>
            <p:spPr bwMode="auto">
              <a:xfrm>
                <a:off x="2007213" y="5700477"/>
                <a:ext cx="68851" cy="70970"/>
              </a:xfrm>
              <a:custGeom>
                <a:avLst/>
                <a:gdLst>
                  <a:gd name="T0" fmla="*/ 0 w 65"/>
                  <a:gd name="T1" fmla="*/ 67 h 67"/>
                  <a:gd name="T2" fmla="*/ 65 w 65"/>
                  <a:gd name="T3" fmla="*/ 34 h 67"/>
                  <a:gd name="T4" fmla="*/ 0 w 65"/>
                  <a:gd name="T5" fmla="*/ 0 h 67"/>
                  <a:gd name="T6" fmla="*/ 0 w 65"/>
                  <a:gd name="T7" fmla="*/ 67 h 67"/>
                </a:gdLst>
                <a:ahLst/>
                <a:cxnLst>
                  <a:cxn ang="0">
                    <a:pos x="T0" y="T1"/>
                  </a:cxn>
                  <a:cxn ang="0">
                    <a:pos x="T2" y="T3"/>
                  </a:cxn>
                  <a:cxn ang="0">
                    <a:pos x="T4" y="T5"/>
                  </a:cxn>
                  <a:cxn ang="0">
                    <a:pos x="T6" y="T7"/>
                  </a:cxn>
                </a:cxnLst>
                <a:rect l="0" t="0" r="r" b="b"/>
                <a:pathLst>
                  <a:path w="65" h="67">
                    <a:moveTo>
                      <a:pt x="0" y="67"/>
                    </a:moveTo>
                    <a:lnTo>
                      <a:pt x="65" y="34"/>
                    </a:lnTo>
                    <a:lnTo>
                      <a:pt x="0" y="0"/>
                    </a:lnTo>
                    <a:lnTo>
                      <a:pt x="0" y="67"/>
                    </a:lnTo>
                    <a:close/>
                  </a:path>
                </a:pathLst>
              </a:custGeom>
              <a:grpFill/>
              <a:ln>
                <a:noFill/>
              </a:ln>
            </p:spPr>
            <p:txBody>
              <a:bodyPr vert="horz" wrap="square" lIns="91440" tIns="45720" rIns="91440" bIns="45720" numCol="1" anchor="t" anchorCtr="0" compatLnSpc="1">
                <a:prstTxWarp prst="textNoShape">
                  <a:avLst/>
                </a:prstTxWarp>
              </a:bodyPr>
              <a:lstStyle/>
              <a:p>
                <a:endParaRPr lang="en-IN" sz="1800"/>
              </a:p>
            </p:txBody>
          </p:sp>
          <p:sp>
            <p:nvSpPr>
              <p:cNvPr id="18" name="Freeform 17"/>
              <p:cNvSpPr>
                <a:spLocks noEditPoints="1"/>
              </p:cNvSpPr>
              <p:nvPr/>
            </p:nvSpPr>
            <p:spPr bwMode="auto">
              <a:xfrm>
                <a:off x="1836674" y="5551122"/>
                <a:ext cx="390864" cy="388746"/>
              </a:xfrm>
              <a:custGeom>
                <a:avLst/>
                <a:gdLst>
                  <a:gd name="T0" fmla="*/ 93 w 186"/>
                  <a:gd name="T1" fmla="*/ 0 h 185"/>
                  <a:gd name="T2" fmla="*/ 0 w 186"/>
                  <a:gd name="T3" fmla="*/ 93 h 185"/>
                  <a:gd name="T4" fmla="*/ 93 w 186"/>
                  <a:gd name="T5" fmla="*/ 185 h 185"/>
                  <a:gd name="T6" fmla="*/ 186 w 186"/>
                  <a:gd name="T7" fmla="*/ 93 h 185"/>
                  <a:gd name="T8" fmla="*/ 93 w 186"/>
                  <a:gd name="T9" fmla="*/ 0 h 185"/>
                  <a:gd name="T10" fmla="*/ 154 w 186"/>
                  <a:gd name="T11" fmla="*/ 94 h 185"/>
                  <a:gd name="T12" fmla="*/ 153 w 186"/>
                  <a:gd name="T13" fmla="*/ 114 h 185"/>
                  <a:gd name="T14" fmla="*/ 148 w 186"/>
                  <a:gd name="T15" fmla="*/ 126 h 185"/>
                  <a:gd name="T16" fmla="*/ 136 w 186"/>
                  <a:gd name="T17" fmla="*/ 131 h 185"/>
                  <a:gd name="T18" fmla="*/ 94 w 186"/>
                  <a:gd name="T19" fmla="*/ 132 h 185"/>
                  <a:gd name="T20" fmla="*/ 53 w 186"/>
                  <a:gd name="T21" fmla="*/ 131 h 185"/>
                  <a:gd name="T22" fmla="*/ 40 w 186"/>
                  <a:gd name="T23" fmla="*/ 126 h 185"/>
                  <a:gd name="T24" fmla="*/ 35 w 186"/>
                  <a:gd name="T25" fmla="*/ 114 h 185"/>
                  <a:gd name="T26" fmla="*/ 34 w 186"/>
                  <a:gd name="T27" fmla="*/ 94 h 185"/>
                  <a:gd name="T28" fmla="*/ 34 w 186"/>
                  <a:gd name="T29" fmla="*/ 85 h 185"/>
                  <a:gd name="T30" fmla="*/ 35 w 186"/>
                  <a:gd name="T31" fmla="*/ 66 h 185"/>
                  <a:gd name="T32" fmla="*/ 40 w 186"/>
                  <a:gd name="T33" fmla="*/ 54 h 185"/>
                  <a:gd name="T34" fmla="*/ 52 w 186"/>
                  <a:gd name="T35" fmla="*/ 49 h 185"/>
                  <a:gd name="T36" fmla="*/ 94 w 186"/>
                  <a:gd name="T37" fmla="*/ 47 h 185"/>
                  <a:gd name="T38" fmla="*/ 94 w 186"/>
                  <a:gd name="T39" fmla="*/ 47 h 185"/>
                  <a:gd name="T40" fmla="*/ 136 w 186"/>
                  <a:gd name="T41" fmla="*/ 49 h 185"/>
                  <a:gd name="T42" fmla="*/ 148 w 186"/>
                  <a:gd name="T43" fmla="*/ 54 h 185"/>
                  <a:gd name="T44" fmla="*/ 153 w 186"/>
                  <a:gd name="T45" fmla="*/ 66 h 185"/>
                  <a:gd name="T46" fmla="*/ 154 w 186"/>
                  <a:gd name="T47" fmla="*/ 85 h 185"/>
                  <a:gd name="T48" fmla="*/ 154 w 186"/>
                  <a:gd name="T49" fmla="*/ 94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6" h="185">
                    <a:moveTo>
                      <a:pt x="93" y="0"/>
                    </a:moveTo>
                    <a:cubicBezTo>
                      <a:pt x="42" y="0"/>
                      <a:pt x="0" y="41"/>
                      <a:pt x="0" y="93"/>
                    </a:cubicBezTo>
                    <a:cubicBezTo>
                      <a:pt x="0" y="144"/>
                      <a:pt x="42" y="185"/>
                      <a:pt x="93" y="185"/>
                    </a:cubicBezTo>
                    <a:cubicBezTo>
                      <a:pt x="144" y="185"/>
                      <a:pt x="186" y="144"/>
                      <a:pt x="186" y="93"/>
                    </a:cubicBezTo>
                    <a:cubicBezTo>
                      <a:pt x="186" y="41"/>
                      <a:pt x="144" y="0"/>
                      <a:pt x="93" y="0"/>
                    </a:cubicBezTo>
                    <a:close/>
                    <a:moveTo>
                      <a:pt x="154" y="94"/>
                    </a:moveTo>
                    <a:cubicBezTo>
                      <a:pt x="154" y="104"/>
                      <a:pt x="153" y="114"/>
                      <a:pt x="153" y="114"/>
                    </a:cubicBezTo>
                    <a:cubicBezTo>
                      <a:pt x="153" y="114"/>
                      <a:pt x="152" y="122"/>
                      <a:pt x="148" y="126"/>
                    </a:cubicBezTo>
                    <a:cubicBezTo>
                      <a:pt x="143" y="130"/>
                      <a:pt x="138" y="130"/>
                      <a:pt x="136" y="131"/>
                    </a:cubicBezTo>
                    <a:cubicBezTo>
                      <a:pt x="119" y="132"/>
                      <a:pt x="94" y="132"/>
                      <a:pt x="94" y="132"/>
                    </a:cubicBezTo>
                    <a:cubicBezTo>
                      <a:pt x="94" y="132"/>
                      <a:pt x="62" y="132"/>
                      <a:pt x="53" y="131"/>
                    </a:cubicBezTo>
                    <a:cubicBezTo>
                      <a:pt x="50" y="130"/>
                      <a:pt x="44" y="130"/>
                      <a:pt x="40" y="126"/>
                    </a:cubicBezTo>
                    <a:cubicBezTo>
                      <a:pt x="36" y="122"/>
                      <a:pt x="35" y="114"/>
                      <a:pt x="35" y="114"/>
                    </a:cubicBezTo>
                    <a:cubicBezTo>
                      <a:pt x="35" y="114"/>
                      <a:pt x="34" y="104"/>
                      <a:pt x="34" y="94"/>
                    </a:cubicBezTo>
                    <a:cubicBezTo>
                      <a:pt x="34" y="85"/>
                      <a:pt x="34" y="85"/>
                      <a:pt x="34" y="85"/>
                    </a:cubicBezTo>
                    <a:cubicBezTo>
                      <a:pt x="34" y="75"/>
                      <a:pt x="35" y="66"/>
                      <a:pt x="35" y="66"/>
                    </a:cubicBezTo>
                    <a:cubicBezTo>
                      <a:pt x="35" y="66"/>
                      <a:pt x="36" y="57"/>
                      <a:pt x="40" y="54"/>
                    </a:cubicBezTo>
                    <a:cubicBezTo>
                      <a:pt x="44" y="49"/>
                      <a:pt x="49" y="49"/>
                      <a:pt x="52" y="49"/>
                    </a:cubicBezTo>
                    <a:cubicBezTo>
                      <a:pt x="68" y="47"/>
                      <a:pt x="94" y="47"/>
                      <a:pt x="94" y="47"/>
                    </a:cubicBezTo>
                    <a:cubicBezTo>
                      <a:pt x="94" y="47"/>
                      <a:pt x="94" y="47"/>
                      <a:pt x="94" y="47"/>
                    </a:cubicBezTo>
                    <a:cubicBezTo>
                      <a:pt x="94" y="47"/>
                      <a:pt x="119" y="47"/>
                      <a:pt x="136" y="49"/>
                    </a:cubicBezTo>
                    <a:cubicBezTo>
                      <a:pt x="138" y="49"/>
                      <a:pt x="143" y="49"/>
                      <a:pt x="148" y="54"/>
                    </a:cubicBezTo>
                    <a:cubicBezTo>
                      <a:pt x="152" y="57"/>
                      <a:pt x="153" y="66"/>
                      <a:pt x="153" y="66"/>
                    </a:cubicBezTo>
                    <a:cubicBezTo>
                      <a:pt x="153" y="66"/>
                      <a:pt x="154" y="75"/>
                      <a:pt x="154" y="85"/>
                    </a:cubicBezTo>
                    <a:lnTo>
                      <a:pt x="154" y="94"/>
                    </a:lnTo>
                    <a:close/>
                  </a:path>
                </a:pathLst>
              </a:custGeom>
              <a:grpFill/>
              <a:ln>
                <a:noFill/>
              </a:ln>
            </p:spPr>
            <p:txBody>
              <a:bodyPr vert="horz" wrap="square" lIns="91440" tIns="45720" rIns="91440" bIns="45720" numCol="1" anchor="t" anchorCtr="0" compatLnSpc="1">
                <a:prstTxWarp prst="textNoShape">
                  <a:avLst/>
                </a:prstTxWarp>
              </a:bodyPr>
              <a:lstStyle/>
              <a:p>
                <a:endParaRPr lang="en-IN" sz="1800"/>
              </a:p>
            </p:txBody>
          </p:sp>
        </p:grpSp>
        <p:sp>
          <p:nvSpPr>
            <p:cNvPr id="13" name="Freeform 12"/>
            <p:cNvSpPr>
              <a:spLocks noEditPoints="1"/>
            </p:cNvSpPr>
            <p:nvPr/>
          </p:nvSpPr>
          <p:spPr bwMode="auto">
            <a:xfrm>
              <a:off x="1047713" y="5551122"/>
              <a:ext cx="389805" cy="388746"/>
            </a:xfrm>
            <a:custGeom>
              <a:avLst/>
              <a:gdLst>
                <a:gd name="T0" fmla="*/ 93 w 185"/>
                <a:gd name="T1" fmla="*/ 0 h 185"/>
                <a:gd name="T2" fmla="*/ 0 w 185"/>
                <a:gd name="T3" fmla="*/ 93 h 185"/>
                <a:gd name="T4" fmla="*/ 93 w 185"/>
                <a:gd name="T5" fmla="*/ 185 h 185"/>
                <a:gd name="T6" fmla="*/ 185 w 185"/>
                <a:gd name="T7" fmla="*/ 93 h 185"/>
                <a:gd name="T8" fmla="*/ 93 w 185"/>
                <a:gd name="T9" fmla="*/ 0 h 185"/>
                <a:gd name="T10" fmla="*/ 65 w 185"/>
                <a:gd name="T11" fmla="*/ 134 h 185"/>
                <a:gd name="T12" fmla="*/ 42 w 185"/>
                <a:gd name="T13" fmla="*/ 134 h 185"/>
                <a:gd name="T14" fmla="*/ 42 w 185"/>
                <a:gd name="T15" fmla="*/ 68 h 185"/>
                <a:gd name="T16" fmla="*/ 65 w 185"/>
                <a:gd name="T17" fmla="*/ 68 h 185"/>
                <a:gd name="T18" fmla="*/ 65 w 185"/>
                <a:gd name="T19" fmla="*/ 134 h 185"/>
                <a:gd name="T20" fmla="*/ 54 w 185"/>
                <a:gd name="T21" fmla="*/ 59 h 185"/>
                <a:gd name="T22" fmla="*/ 41 w 185"/>
                <a:gd name="T23" fmla="*/ 47 h 185"/>
                <a:gd name="T24" fmla="*/ 54 w 185"/>
                <a:gd name="T25" fmla="*/ 36 h 185"/>
                <a:gd name="T26" fmla="*/ 66 w 185"/>
                <a:gd name="T27" fmla="*/ 47 h 185"/>
                <a:gd name="T28" fmla="*/ 54 w 185"/>
                <a:gd name="T29" fmla="*/ 59 h 185"/>
                <a:gd name="T30" fmla="*/ 144 w 185"/>
                <a:gd name="T31" fmla="*/ 134 h 185"/>
                <a:gd name="T32" fmla="*/ 123 w 185"/>
                <a:gd name="T33" fmla="*/ 134 h 185"/>
                <a:gd name="T34" fmla="*/ 123 w 185"/>
                <a:gd name="T35" fmla="*/ 95 h 185"/>
                <a:gd name="T36" fmla="*/ 120 w 185"/>
                <a:gd name="T37" fmla="*/ 88 h 185"/>
                <a:gd name="T38" fmla="*/ 111 w 185"/>
                <a:gd name="T39" fmla="*/ 83 h 185"/>
                <a:gd name="T40" fmla="*/ 102 w 185"/>
                <a:gd name="T41" fmla="*/ 88 h 185"/>
                <a:gd name="T42" fmla="*/ 99 w 185"/>
                <a:gd name="T43" fmla="*/ 92 h 185"/>
                <a:gd name="T44" fmla="*/ 99 w 185"/>
                <a:gd name="T45" fmla="*/ 134 h 185"/>
                <a:gd name="T46" fmla="*/ 77 w 185"/>
                <a:gd name="T47" fmla="*/ 134 h 185"/>
                <a:gd name="T48" fmla="*/ 77 w 185"/>
                <a:gd name="T49" fmla="*/ 68 h 185"/>
                <a:gd name="T50" fmla="*/ 99 w 185"/>
                <a:gd name="T51" fmla="*/ 68 h 185"/>
                <a:gd name="T52" fmla="*/ 99 w 185"/>
                <a:gd name="T53" fmla="*/ 78 h 185"/>
                <a:gd name="T54" fmla="*/ 120 w 185"/>
                <a:gd name="T55" fmla="*/ 66 h 185"/>
                <a:gd name="T56" fmla="*/ 144 w 185"/>
                <a:gd name="T57" fmla="*/ 95 h 185"/>
                <a:gd name="T58" fmla="*/ 144 w 185"/>
                <a:gd name="T59" fmla="*/ 134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85" h="185">
                  <a:moveTo>
                    <a:pt x="93" y="0"/>
                  </a:moveTo>
                  <a:cubicBezTo>
                    <a:pt x="42" y="0"/>
                    <a:pt x="0" y="41"/>
                    <a:pt x="0" y="93"/>
                  </a:cubicBezTo>
                  <a:cubicBezTo>
                    <a:pt x="0" y="144"/>
                    <a:pt x="42" y="185"/>
                    <a:pt x="93" y="185"/>
                  </a:cubicBezTo>
                  <a:cubicBezTo>
                    <a:pt x="144" y="185"/>
                    <a:pt x="185" y="144"/>
                    <a:pt x="185" y="93"/>
                  </a:cubicBezTo>
                  <a:cubicBezTo>
                    <a:pt x="185" y="41"/>
                    <a:pt x="144" y="0"/>
                    <a:pt x="93" y="0"/>
                  </a:cubicBezTo>
                  <a:close/>
                  <a:moveTo>
                    <a:pt x="65" y="134"/>
                  </a:moveTo>
                  <a:cubicBezTo>
                    <a:pt x="42" y="134"/>
                    <a:pt x="42" y="134"/>
                    <a:pt x="42" y="134"/>
                  </a:cubicBezTo>
                  <a:cubicBezTo>
                    <a:pt x="42" y="68"/>
                    <a:pt x="42" y="68"/>
                    <a:pt x="42" y="68"/>
                  </a:cubicBezTo>
                  <a:cubicBezTo>
                    <a:pt x="65" y="68"/>
                    <a:pt x="65" y="68"/>
                    <a:pt x="65" y="68"/>
                  </a:cubicBezTo>
                  <a:lnTo>
                    <a:pt x="65" y="134"/>
                  </a:lnTo>
                  <a:close/>
                  <a:moveTo>
                    <a:pt x="54" y="59"/>
                  </a:moveTo>
                  <a:cubicBezTo>
                    <a:pt x="47" y="59"/>
                    <a:pt x="41" y="54"/>
                    <a:pt x="41" y="47"/>
                  </a:cubicBezTo>
                  <a:cubicBezTo>
                    <a:pt x="41" y="41"/>
                    <a:pt x="47" y="36"/>
                    <a:pt x="54" y="36"/>
                  </a:cubicBezTo>
                  <a:cubicBezTo>
                    <a:pt x="60" y="36"/>
                    <a:pt x="66" y="41"/>
                    <a:pt x="66" y="47"/>
                  </a:cubicBezTo>
                  <a:cubicBezTo>
                    <a:pt x="66" y="54"/>
                    <a:pt x="60" y="59"/>
                    <a:pt x="54" y="59"/>
                  </a:cubicBezTo>
                  <a:close/>
                  <a:moveTo>
                    <a:pt x="144" y="134"/>
                  </a:moveTo>
                  <a:cubicBezTo>
                    <a:pt x="123" y="134"/>
                    <a:pt x="123" y="134"/>
                    <a:pt x="123" y="134"/>
                  </a:cubicBezTo>
                  <a:cubicBezTo>
                    <a:pt x="123" y="95"/>
                    <a:pt x="123" y="95"/>
                    <a:pt x="123" y="95"/>
                  </a:cubicBezTo>
                  <a:cubicBezTo>
                    <a:pt x="123" y="93"/>
                    <a:pt x="122" y="91"/>
                    <a:pt x="120" y="88"/>
                  </a:cubicBezTo>
                  <a:cubicBezTo>
                    <a:pt x="119" y="85"/>
                    <a:pt x="116" y="83"/>
                    <a:pt x="111" y="83"/>
                  </a:cubicBezTo>
                  <a:cubicBezTo>
                    <a:pt x="107" y="83"/>
                    <a:pt x="104" y="85"/>
                    <a:pt x="102" y="88"/>
                  </a:cubicBezTo>
                  <a:cubicBezTo>
                    <a:pt x="100" y="89"/>
                    <a:pt x="100" y="91"/>
                    <a:pt x="99" y="92"/>
                  </a:cubicBezTo>
                  <a:cubicBezTo>
                    <a:pt x="99" y="134"/>
                    <a:pt x="99" y="134"/>
                    <a:pt x="99" y="134"/>
                  </a:cubicBezTo>
                  <a:cubicBezTo>
                    <a:pt x="77" y="134"/>
                    <a:pt x="77" y="134"/>
                    <a:pt x="77" y="134"/>
                  </a:cubicBezTo>
                  <a:cubicBezTo>
                    <a:pt x="77" y="68"/>
                    <a:pt x="77" y="68"/>
                    <a:pt x="77" y="68"/>
                  </a:cubicBezTo>
                  <a:cubicBezTo>
                    <a:pt x="99" y="68"/>
                    <a:pt x="99" y="68"/>
                    <a:pt x="99" y="68"/>
                  </a:cubicBezTo>
                  <a:cubicBezTo>
                    <a:pt x="99" y="78"/>
                    <a:pt x="99" y="78"/>
                    <a:pt x="99" y="78"/>
                  </a:cubicBezTo>
                  <a:cubicBezTo>
                    <a:pt x="101" y="75"/>
                    <a:pt x="105" y="66"/>
                    <a:pt x="120" y="66"/>
                  </a:cubicBezTo>
                  <a:cubicBezTo>
                    <a:pt x="136" y="66"/>
                    <a:pt x="144" y="80"/>
                    <a:pt x="144" y="95"/>
                  </a:cubicBezTo>
                  <a:lnTo>
                    <a:pt x="144" y="134"/>
                  </a:lnTo>
                  <a:close/>
                </a:path>
              </a:pathLst>
            </a:custGeom>
            <a:solidFill>
              <a:srgbClr val="CB2026"/>
            </a:solidFill>
            <a:ln>
              <a:noFill/>
            </a:ln>
          </p:spPr>
          <p:txBody>
            <a:bodyPr vert="horz" wrap="square" lIns="91440" tIns="45720" rIns="91440" bIns="45720" numCol="1" anchor="t" anchorCtr="0" compatLnSpc="1">
              <a:prstTxWarp prst="textNoShape">
                <a:avLst/>
              </a:prstTxWarp>
            </a:bodyPr>
            <a:lstStyle/>
            <a:p>
              <a:endParaRPr lang="en-IN" sz="1800"/>
            </a:p>
          </p:txBody>
        </p:sp>
        <p:sp>
          <p:nvSpPr>
            <p:cNvPr id="14" name="Freeform 5"/>
            <p:cNvSpPr>
              <a:spLocks noEditPoints="1"/>
            </p:cNvSpPr>
            <p:nvPr/>
          </p:nvSpPr>
          <p:spPr bwMode="auto">
            <a:xfrm>
              <a:off x="1664660" y="5651068"/>
              <a:ext cx="157404" cy="161267"/>
            </a:xfrm>
            <a:custGeom>
              <a:avLst/>
              <a:gdLst>
                <a:gd name="T0" fmla="*/ 4539 w 4890"/>
                <a:gd name="T1" fmla="*/ 4499 h 5010"/>
                <a:gd name="T2" fmla="*/ 2898 w 4890"/>
                <a:gd name="T3" fmla="*/ 2116 h 5010"/>
                <a:gd name="T4" fmla="*/ 2713 w 4890"/>
                <a:gd name="T5" fmla="*/ 1846 h 5010"/>
                <a:gd name="T6" fmla="*/ 1539 w 4890"/>
                <a:gd name="T7" fmla="*/ 142 h 5010"/>
                <a:gd name="T8" fmla="*/ 1443 w 4890"/>
                <a:gd name="T9" fmla="*/ 0 h 5010"/>
                <a:gd name="T10" fmla="*/ 0 w 4890"/>
                <a:gd name="T11" fmla="*/ 0 h 5010"/>
                <a:gd name="T12" fmla="*/ 352 w 4890"/>
                <a:gd name="T13" fmla="*/ 511 h 5010"/>
                <a:gd name="T14" fmla="*/ 1912 w 4890"/>
                <a:gd name="T15" fmla="*/ 2779 h 5010"/>
                <a:gd name="T16" fmla="*/ 2098 w 4890"/>
                <a:gd name="T17" fmla="*/ 3047 h 5010"/>
                <a:gd name="T18" fmla="*/ 3352 w 4890"/>
                <a:gd name="T19" fmla="*/ 4869 h 5010"/>
                <a:gd name="T20" fmla="*/ 3449 w 4890"/>
                <a:gd name="T21" fmla="*/ 5010 h 5010"/>
                <a:gd name="T22" fmla="*/ 4890 w 4890"/>
                <a:gd name="T23" fmla="*/ 5010 h 5010"/>
                <a:gd name="T24" fmla="*/ 4539 w 4890"/>
                <a:gd name="T25" fmla="*/ 4499 h 5010"/>
                <a:gd name="T26" fmla="*/ 3620 w 4890"/>
                <a:gd name="T27" fmla="*/ 4683 h 5010"/>
                <a:gd name="T28" fmla="*/ 2317 w 4890"/>
                <a:gd name="T29" fmla="*/ 2792 h 5010"/>
                <a:gd name="T30" fmla="*/ 2132 w 4890"/>
                <a:gd name="T31" fmla="*/ 2522 h 5010"/>
                <a:gd name="T32" fmla="*/ 620 w 4890"/>
                <a:gd name="T33" fmla="*/ 327 h 5010"/>
                <a:gd name="T34" fmla="*/ 1270 w 4890"/>
                <a:gd name="T35" fmla="*/ 327 h 5010"/>
                <a:gd name="T36" fmla="*/ 2493 w 4890"/>
                <a:gd name="T37" fmla="*/ 2103 h 5010"/>
                <a:gd name="T38" fmla="*/ 2679 w 4890"/>
                <a:gd name="T39" fmla="*/ 2372 h 5010"/>
                <a:gd name="T40" fmla="*/ 4270 w 4890"/>
                <a:gd name="T41" fmla="*/ 4683 h 5010"/>
                <a:gd name="T42" fmla="*/ 3620 w 4890"/>
                <a:gd name="T43" fmla="*/ 4683 h 5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90" h="5010">
                  <a:moveTo>
                    <a:pt x="4539" y="4499"/>
                  </a:moveTo>
                  <a:lnTo>
                    <a:pt x="2898" y="2116"/>
                  </a:lnTo>
                  <a:lnTo>
                    <a:pt x="2713" y="1846"/>
                  </a:lnTo>
                  <a:lnTo>
                    <a:pt x="1539" y="142"/>
                  </a:lnTo>
                  <a:lnTo>
                    <a:pt x="1443" y="0"/>
                  </a:lnTo>
                  <a:lnTo>
                    <a:pt x="0" y="0"/>
                  </a:lnTo>
                  <a:lnTo>
                    <a:pt x="352" y="511"/>
                  </a:lnTo>
                  <a:lnTo>
                    <a:pt x="1912" y="2779"/>
                  </a:lnTo>
                  <a:lnTo>
                    <a:pt x="2098" y="3047"/>
                  </a:lnTo>
                  <a:lnTo>
                    <a:pt x="3352" y="4869"/>
                  </a:lnTo>
                  <a:lnTo>
                    <a:pt x="3449" y="5010"/>
                  </a:lnTo>
                  <a:lnTo>
                    <a:pt x="4890" y="5010"/>
                  </a:lnTo>
                  <a:lnTo>
                    <a:pt x="4539" y="4499"/>
                  </a:lnTo>
                  <a:close/>
                  <a:moveTo>
                    <a:pt x="3620" y="4683"/>
                  </a:moveTo>
                  <a:lnTo>
                    <a:pt x="2317" y="2792"/>
                  </a:lnTo>
                  <a:lnTo>
                    <a:pt x="2132" y="2522"/>
                  </a:lnTo>
                  <a:lnTo>
                    <a:pt x="620" y="327"/>
                  </a:lnTo>
                  <a:lnTo>
                    <a:pt x="1270" y="327"/>
                  </a:lnTo>
                  <a:lnTo>
                    <a:pt x="2493" y="2103"/>
                  </a:lnTo>
                  <a:lnTo>
                    <a:pt x="2679" y="2372"/>
                  </a:lnTo>
                  <a:lnTo>
                    <a:pt x="4270" y="4683"/>
                  </a:lnTo>
                  <a:lnTo>
                    <a:pt x="3620" y="46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p>
          </p:txBody>
        </p:sp>
        <p:sp>
          <p:nvSpPr>
            <p:cNvPr id="15" name="Freeform 6"/>
            <p:cNvSpPr>
              <a:spLocks/>
            </p:cNvSpPr>
            <p:nvPr/>
          </p:nvSpPr>
          <p:spPr bwMode="auto">
            <a:xfrm>
              <a:off x="1664499" y="5732249"/>
              <a:ext cx="74743" cy="80086"/>
            </a:xfrm>
            <a:custGeom>
              <a:avLst/>
              <a:gdLst>
                <a:gd name="T0" fmla="*/ 2137 w 2322"/>
                <a:gd name="T1" fmla="*/ 0 h 2488"/>
                <a:gd name="T2" fmla="*/ 2322 w 2322"/>
                <a:gd name="T3" fmla="*/ 270 h 2488"/>
                <a:gd name="T4" fmla="*/ 2103 w 2322"/>
                <a:gd name="T5" fmla="*/ 525 h 2488"/>
                <a:gd name="T6" fmla="*/ 416 w 2322"/>
                <a:gd name="T7" fmla="*/ 2488 h 2488"/>
                <a:gd name="T8" fmla="*/ 0 w 2322"/>
                <a:gd name="T9" fmla="*/ 2488 h 2488"/>
                <a:gd name="T10" fmla="*/ 1917 w 2322"/>
                <a:gd name="T11" fmla="*/ 257 h 2488"/>
                <a:gd name="T12" fmla="*/ 2137 w 2322"/>
                <a:gd name="T13" fmla="*/ 0 h 2488"/>
              </a:gdLst>
              <a:ahLst/>
              <a:cxnLst>
                <a:cxn ang="0">
                  <a:pos x="T0" y="T1"/>
                </a:cxn>
                <a:cxn ang="0">
                  <a:pos x="T2" y="T3"/>
                </a:cxn>
                <a:cxn ang="0">
                  <a:pos x="T4" y="T5"/>
                </a:cxn>
                <a:cxn ang="0">
                  <a:pos x="T6" y="T7"/>
                </a:cxn>
                <a:cxn ang="0">
                  <a:pos x="T8" y="T9"/>
                </a:cxn>
                <a:cxn ang="0">
                  <a:pos x="T10" y="T11"/>
                </a:cxn>
                <a:cxn ang="0">
                  <a:pos x="T12" y="T13"/>
                </a:cxn>
              </a:cxnLst>
              <a:rect l="0" t="0" r="r" b="b"/>
              <a:pathLst>
                <a:path w="2322" h="2488">
                  <a:moveTo>
                    <a:pt x="2137" y="0"/>
                  </a:moveTo>
                  <a:lnTo>
                    <a:pt x="2322" y="270"/>
                  </a:lnTo>
                  <a:lnTo>
                    <a:pt x="2103" y="525"/>
                  </a:lnTo>
                  <a:lnTo>
                    <a:pt x="416" y="2488"/>
                  </a:lnTo>
                  <a:lnTo>
                    <a:pt x="0" y="2488"/>
                  </a:lnTo>
                  <a:lnTo>
                    <a:pt x="1917" y="257"/>
                  </a:lnTo>
                  <a:lnTo>
                    <a:pt x="213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p>
          </p:txBody>
        </p:sp>
        <p:sp>
          <p:nvSpPr>
            <p:cNvPr id="16" name="Freeform 7"/>
            <p:cNvSpPr>
              <a:spLocks/>
            </p:cNvSpPr>
            <p:nvPr/>
          </p:nvSpPr>
          <p:spPr bwMode="auto">
            <a:xfrm>
              <a:off x="1744907" y="5651068"/>
              <a:ext cx="71588" cy="76352"/>
            </a:xfrm>
            <a:custGeom>
              <a:avLst/>
              <a:gdLst>
                <a:gd name="T0" fmla="*/ 2224 w 2224"/>
                <a:gd name="T1" fmla="*/ 0 h 2372"/>
                <a:gd name="T2" fmla="*/ 405 w 2224"/>
                <a:gd name="T3" fmla="*/ 2116 h 2372"/>
                <a:gd name="T4" fmla="*/ 186 w 2224"/>
                <a:gd name="T5" fmla="*/ 2372 h 2372"/>
                <a:gd name="T6" fmla="*/ 0 w 2224"/>
                <a:gd name="T7" fmla="*/ 2103 h 2372"/>
                <a:gd name="T8" fmla="*/ 220 w 2224"/>
                <a:gd name="T9" fmla="*/ 1846 h 2372"/>
                <a:gd name="T10" fmla="*/ 1452 w 2224"/>
                <a:gd name="T11" fmla="*/ 413 h 2372"/>
                <a:gd name="T12" fmla="*/ 1808 w 2224"/>
                <a:gd name="T13" fmla="*/ 0 h 2372"/>
                <a:gd name="T14" fmla="*/ 2224 w 2224"/>
                <a:gd name="T15" fmla="*/ 0 h 23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4" h="2372">
                  <a:moveTo>
                    <a:pt x="2224" y="0"/>
                  </a:moveTo>
                  <a:lnTo>
                    <a:pt x="405" y="2116"/>
                  </a:lnTo>
                  <a:lnTo>
                    <a:pt x="186" y="2372"/>
                  </a:lnTo>
                  <a:lnTo>
                    <a:pt x="0" y="2103"/>
                  </a:lnTo>
                  <a:lnTo>
                    <a:pt x="220" y="1846"/>
                  </a:lnTo>
                  <a:lnTo>
                    <a:pt x="1452" y="413"/>
                  </a:lnTo>
                  <a:lnTo>
                    <a:pt x="1808" y="0"/>
                  </a:lnTo>
                  <a:lnTo>
                    <a:pt x="222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p>
          </p:txBody>
        </p:sp>
      </p:grpSp>
      <p:pic>
        <p:nvPicPr>
          <p:cNvPr id="21" name="Picture 20"/>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856178" y="1"/>
            <a:ext cx="6335823" cy="6379779"/>
          </a:xfrm>
          <a:prstGeom prst="rect">
            <a:avLst/>
          </a:prstGeom>
        </p:spPr>
      </p:pic>
      <p:pic>
        <p:nvPicPr>
          <p:cNvPr id="22" name="Picture 2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7381" y="389912"/>
            <a:ext cx="1600423" cy="406774"/>
          </a:xfrm>
          <a:prstGeom prst="rect">
            <a:avLst/>
          </a:prstGeom>
        </p:spPr>
      </p:pic>
    </p:spTree>
    <p:extLst>
      <p:ext uri="{BB962C8B-B14F-4D97-AF65-F5344CB8AC3E}">
        <p14:creationId xmlns:p14="http://schemas.microsoft.com/office/powerpoint/2010/main" val="16423210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8_ID_Blank Slide">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9AEDFAF9-E779-8824-F4AE-F140C13BB622}"/>
              </a:ext>
            </a:extLst>
          </p:cNvPr>
          <p:cNvSpPr>
            <a:spLocks noGrp="1"/>
          </p:cNvSpPr>
          <p:nvPr>
            <p:ph type="body" sz="quarter" idx="12" hasCustomPrompt="1"/>
          </p:nvPr>
        </p:nvSpPr>
        <p:spPr>
          <a:xfrm>
            <a:off x="622800" y="1085847"/>
            <a:ext cx="10911078" cy="215444"/>
          </a:xfrm>
        </p:spPr>
        <p:txBody>
          <a:bodyPr tIns="0" bIns="0">
            <a:spAutoFit/>
          </a:bodyPr>
          <a:lstStyle>
            <a:lvl1pPr marL="0" indent="0">
              <a:lnSpc>
                <a:spcPct val="100000"/>
              </a:lnSpc>
              <a:spcBef>
                <a:spcPts val="0"/>
              </a:spcBef>
              <a:buFontTx/>
              <a:buNone/>
              <a:defRPr sz="1400" b="0" i="0">
                <a:solidFill>
                  <a:schemeClr val="bg2">
                    <a:lumMod val="50000"/>
                  </a:schemeClr>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Descriptor / Sub-heading</a:t>
            </a:r>
          </a:p>
        </p:txBody>
      </p:sp>
      <p:sp>
        <p:nvSpPr>
          <p:cNvPr id="15" name="Title Placeholder 1">
            <a:extLst>
              <a:ext uri="{FF2B5EF4-FFF2-40B4-BE49-F238E27FC236}">
                <a16:creationId xmlns:a16="http://schemas.microsoft.com/office/drawing/2014/main" id="{2414E9F7-D9F0-6C3F-B316-1D75127C00B5}"/>
              </a:ext>
            </a:extLst>
          </p:cNvPr>
          <p:cNvSpPr>
            <a:spLocks noGrp="1"/>
          </p:cNvSpPr>
          <p:nvPr>
            <p:ph type="title"/>
          </p:nvPr>
        </p:nvSpPr>
        <p:spPr>
          <a:xfrm>
            <a:off x="622800" y="684001"/>
            <a:ext cx="10911078" cy="373949"/>
          </a:xfrm>
          <a:prstGeom prst="rect">
            <a:avLst/>
          </a:prstGeom>
        </p:spPr>
        <p:txBody>
          <a:bodyPr vert="horz" lIns="0" tIns="0" rIns="91440" bIns="0" rtlCol="0" anchor="t">
            <a:spAutoFit/>
          </a:bodyPr>
          <a:lstStyle>
            <a:lvl1pPr>
              <a:defRPr sz="2700" b="1" kern="100" spc="-30" baseline="0">
                <a:solidFill>
                  <a:srgbClr val="000000"/>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IN"/>
          </a:p>
        </p:txBody>
      </p:sp>
      <p:sp>
        <p:nvSpPr>
          <p:cNvPr id="26" name="Text Placeholder 7">
            <a:extLst>
              <a:ext uri="{FF2B5EF4-FFF2-40B4-BE49-F238E27FC236}">
                <a16:creationId xmlns:a16="http://schemas.microsoft.com/office/drawing/2014/main" id="{4FBF6C2C-148C-1F0A-8A20-79345BA6CB30}"/>
              </a:ext>
            </a:extLst>
          </p:cNvPr>
          <p:cNvSpPr>
            <a:spLocks noGrp="1"/>
          </p:cNvSpPr>
          <p:nvPr>
            <p:ph type="body" sz="quarter" idx="13" hasCustomPrompt="1"/>
          </p:nvPr>
        </p:nvSpPr>
        <p:spPr>
          <a:xfrm>
            <a:off x="640800" y="454608"/>
            <a:ext cx="10911078" cy="153888"/>
          </a:xfrm>
        </p:spPr>
        <p:txBody>
          <a:bodyPr tIns="0" bIns="0">
            <a:spAutoFit/>
          </a:bodyPr>
          <a:lstStyle>
            <a:lvl1pPr marL="0" indent="0">
              <a:lnSpc>
                <a:spcPct val="100000"/>
              </a:lnSpc>
              <a:spcBef>
                <a:spcPts val="0"/>
              </a:spcBef>
              <a:buFontTx/>
              <a:buNone/>
              <a:defRPr sz="1000" b="0" i="0">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DESCRIPTOR / SUB-HEADING</a:t>
            </a:r>
          </a:p>
        </p:txBody>
      </p:sp>
    </p:spTree>
    <p:extLst>
      <p:ext uri="{BB962C8B-B14F-4D97-AF65-F5344CB8AC3E}">
        <p14:creationId xmlns:p14="http://schemas.microsoft.com/office/powerpoint/2010/main" val="258571118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A68B6A2-1488-4577-BAB5-E2A0A9091E4C}"/>
              </a:ext>
            </a:extLst>
          </p:cNvPr>
          <p:cNvGrpSpPr/>
          <p:nvPr/>
        </p:nvGrpSpPr>
        <p:grpSpPr>
          <a:xfrm>
            <a:off x="0" y="6789945"/>
            <a:ext cx="12192000" cy="77821"/>
            <a:chOff x="0" y="6780111"/>
            <a:chExt cx="9144000" cy="77821"/>
          </a:xfrm>
        </p:grpSpPr>
        <p:sp>
          <p:nvSpPr>
            <p:cNvPr id="9" name="Rectangle 8"/>
            <p:cNvSpPr/>
            <p:nvPr/>
          </p:nvSpPr>
          <p:spPr>
            <a:xfrm>
              <a:off x="0" y="6780112"/>
              <a:ext cx="2383277" cy="7781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sz="1350">
                <a:solidFill>
                  <a:prstClr val="white"/>
                </a:solidFill>
              </a:endParaRPr>
            </a:p>
          </p:txBody>
        </p:sp>
        <p:sp>
          <p:nvSpPr>
            <p:cNvPr id="10" name="Rectangle 9"/>
            <p:cNvSpPr/>
            <p:nvPr/>
          </p:nvSpPr>
          <p:spPr>
            <a:xfrm>
              <a:off x="2383277" y="6780111"/>
              <a:ext cx="6760723" cy="77821"/>
            </a:xfrm>
            <a:prstGeom prst="rect">
              <a:avLst/>
            </a:prstGeom>
            <a:gradFill flip="none" rotWithShape="1">
              <a:gsLst>
                <a:gs pos="77000">
                  <a:srgbClr val="00B0F0"/>
                </a:gs>
                <a:gs pos="0">
                  <a:srgbClr val="0092DA"/>
                </a:gs>
                <a:gs pos="10000">
                  <a:srgbClr val="94DEF9"/>
                </a:gs>
                <a:gs pos="21000">
                  <a:schemeClr val="bg1"/>
                </a:gs>
                <a:gs pos="100000">
                  <a:srgbClr val="0070C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sz="1350">
                <a:solidFill>
                  <a:prstClr val="white"/>
                </a:solidFill>
              </a:endParaRPr>
            </a:p>
          </p:txBody>
        </p:sp>
      </p:grpSp>
      <p:sp>
        <p:nvSpPr>
          <p:cNvPr id="5" name="Title 1"/>
          <p:cNvSpPr>
            <a:spLocks noGrp="1"/>
          </p:cNvSpPr>
          <p:nvPr>
            <p:ph type="title" hasCustomPrompt="1"/>
          </p:nvPr>
        </p:nvSpPr>
        <p:spPr>
          <a:xfrm>
            <a:off x="153601" y="158744"/>
            <a:ext cx="11886461" cy="439200"/>
          </a:xfrm>
        </p:spPr>
        <p:txBody>
          <a:bodyPr>
            <a:noAutofit/>
          </a:bodyPr>
          <a:lstStyle>
            <a:lvl1pPr>
              <a:defRPr sz="2600" b="1"/>
            </a:lvl1pPr>
          </a:lstStyle>
          <a:p>
            <a:r>
              <a:rPr lang="en-US"/>
              <a:t>CLICK TO EDIT MASTER TITLE STYLE</a:t>
            </a:r>
          </a:p>
        </p:txBody>
      </p:sp>
      <p:sp>
        <p:nvSpPr>
          <p:cNvPr id="6" name="Text Placeholder 6"/>
          <p:cNvSpPr>
            <a:spLocks noGrp="1"/>
          </p:cNvSpPr>
          <p:nvPr>
            <p:ph type="body" sz="quarter" idx="13" hasCustomPrompt="1"/>
          </p:nvPr>
        </p:nvSpPr>
        <p:spPr>
          <a:xfrm>
            <a:off x="151941" y="583128"/>
            <a:ext cx="11886461" cy="583200"/>
          </a:xfrm>
        </p:spPr>
        <p:txBody>
          <a:bodyPr>
            <a:normAutofit/>
          </a:bodyPr>
          <a:lstStyle>
            <a:lvl1pPr marL="0" indent="0">
              <a:buNone/>
              <a:defRPr sz="2000"/>
            </a:lvl1pPr>
          </a:lstStyle>
          <a:p>
            <a:pPr lvl="0"/>
            <a:r>
              <a:rPr lang="en-US"/>
              <a:t>Click to edit master text styles</a:t>
            </a:r>
          </a:p>
        </p:txBody>
      </p:sp>
    </p:spTree>
    <p:extLst>
      <p:ext uri="{BB962C8B-B14F-4D97-AF65-F5344CB8AC3E}">
        <p14:creationId xmlns:p14="http://schemas.microsoft.com/office/powerpoint/2010/main" val="28483047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B559E6A-041C-40F9-8731-3CC5A886C0E6}" type="slidenum">
              <a:rPr lang="en-IN" smtClean="0"/>
              <a:t>‹#›</a:t>
            </a:fld>
            <a:endParaRPr lang="en-IN"/>
          </a:p>
        </p:txBody>
      </p:sp>
    </p:spTree>
    <p:extLst>
      <p:ext uri="{BB962C8B-B14F-4D97-AF65-F5344CB8AC3E}">
        <p14:creationId xmlns:p14="http://schemas.microsoft.com/office/powerpoint/2010/main" val="1968323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theme" Target="../theme/theme2.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2BA627A-B28C-789C-990E-3B1F53F80026}"/>
              </a:ext>
            </a:extLst>
          </p:cNvPr>
          <p:cNvSpPr>
            <a:spLocks noGrp="1"/>
          </p:cNvSpPr>
          <p:nvPr>
            <p:ph type="title"/>
          </p:nvPr>
        </p:nvSpPr>
        <p:spPr>
          <a:xfrm>
            <a:off x="586306" y="163731"/>
            <a:ext cx="11335249" cy="945514"/>
          </a:xfrm>
          <a:prstGeom prst="rect">
            <a:avLst/>
          </a:prstGeom>
        </p:spPr>
        <p:txBody>
          <a:bodyPr vert="horz" lIns="0" tIns="45720" rIns="91440" bIns="45720" rtlCol="0" anchor="ctr">
            <a:normAutofit/>
          </a:bodyPr>
          <a:lstStyle/>
          <a:p>
            <a:r>
              <a:rPr lang="en-US"/>
              <a:t>Click to edit Master title style</a:t>
            </a:r>
            <a:endParaRPr lang="en-IN"/>
          </a:p>
        </p:txBody>
      </p:sp>
      <p:sp>
        <p:nvSpPr>
          <p:cNvPr id="8" name="Text Placeholder 2">
            <a:extLst>
              <a:ext uri="{FF2B5EF4-FFF2-40B4-BE49-F238E27FC236}">
                <a16:creationId xmlns:a16="http://schemas.microsoft.com/office/drawing/2014/main" id="{2138C0DF-603C-2744-FED7-92DBFA303FEA}"/>
              </a:ext>
            </a:extLst>
          </p:cNvPr>
          <p:cNvSpPr>
            <a:spLocks noGrp="1"/>
          </p:cNvSpPr>
          <p:nvPr>
            <p:ph type="body" idx="1"/>
          </p:nvPr>
        </p:nvSpPr>
        <p:spPr>
          <a:xfrm>
            <a:off x="586306" y="1364170"/>
            <a:ext cx="11335249" cy="4876199"/>
          </a:xfrm>
          <a:prstGeom prst="rect">
            <a:avLst/>
          </a:prstGeom>
        </p:spPr>
        <p:txBody>
          <a:bodyPr vert="horz" lIns="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4" name="Logo">
            <a:extLst>
              <a:ext uri="{FF2B5EF4-FFF2-40B4-BE49-F238E27FC236}">
                <a16:creationId xmlns:a16="http://schemas.microsoft.com/office/drawing/2014/main" id="{3A065230-68F7-758A-449C-C0E9D9FF8414}"/>
              </a:ext>
            </a:extLst>
          </p:cNvPr>
          <p:cNvGrpSpPr/>
          <p:nvPr/>
        </p:nvGrpSpPr>
        <p:grpSpPr>
          <a:xfrm>
            <a:off x="11137806" y="6555944"/>
            <a:ext cx="783748" cy="174106"/>
            <a:chOff x="10797898" y="6235376"/>
            <a:chExt cx="930940" cy="206804"/>
          </a:xfrm>
        </p:grpSpPr>
        <p:sp>
          <p:nvSpPr>
            <p:cNvPr id="5" name="Freeform: Shape 11">
              <a:extLst>
                <a:ext uri="{FF2B5EF4-FFF2-40B4-BE49-F238E27FC236}">
                  <a16:creationId xmlns:a16="http://schemas.microsoft.com/office/drawing/2014/main" id="{1246A27A-67DC-88DA-7E99-BD8FCE878250}"/>
                </a:ext>
              </a:extLst>
            </p:cNvPr>
            <p:cNvSpPr/>
            <p:nvPr/>
          </p:nvSpPr>
          <p:spPr>
            <a:xfrm>
              <a:off x="10797898" y="6241067"/>
              <a:ext cx="149886" cy="158487"/>
            </a:xfrm>
            <a:custGeom>
              <a:avLst/>
              <a:gdLst>
                <a:gd name="connsiteX0" fmla="*/ 0 w 149886"/>
                <a:gd name="connsiteY0" fmla="*/ 79307 h 158487"/>
                <a:gd name="connsiteX1" fmla="*/ 85252 w 149886"/>
                <a:gd name="connsiteY1" fmla="*/ 0 h 158487"/>
                <a:gd name="connsiteX2" fmla="*/ 149886 w 149886"/>
                <a:gd name="connsiteY2" fmla="*/ 27195 h 158487"/>
                <a:gd name="connsiteX3" fmla="*/ 126486 w 149886"/>
                <a:gd name="connsiteY3" fmla="*/ 48191 h 158487"/>
                <a:gd name="connsiteX4" fmla="*/ 87023 w 149886"/>
                <a:gd name="connsiteY4" fmla="*/ 30230 h 158487"/>
                <a:gd name="connsiteX5" fmla="*/ 36681 w 149886"/>
                <a:gd name="connsiteY5" fmla="*/ 79307 h 158487"/>
                <a:gd name="connsiteX6" fmla="*/ 87023 w 149886"/>
                <a:gd name="connsiteY6" fmla="*/ 128384 h 158487"/>
                <a:gd name="connsiteX7" fmla="*/ 126486 w 149886"/>
                <a:gd name="connsiteY7" fmla="*/ 110170 h 158487"/>
                <a:gd name="connsiteX8" fmla="*/ 149886 w 149886"/>
                <a:gd name="connsiteY8" fmla="*/ 131166 h 158487"/>
                <a:gd name="connsiteX9" fmla="*/ 84999 w 149886"/>
                <a:gd name="connsiteY9" fmla="*/ 158487 h 158487"/>
                <a:gd name="connsiteX10" fmla="*/ 0 w 149886"/>
                <a:gd name="connsiteY10" fmla="*/ 79307 h 158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9886" h="158487">
                  <a:moveTo>
                    <a:pt x="0" y="79307"/>
                  </a:moveTo>
                  <a:cubicBezTo>
                    <a:pt x="0" y="33139"/>
                    <a:pt x="36302" y="0"/>
                    <a:pt x="85252" y="0"/>
                  </a:cubicBezTo>
                  <a:cubicBezTo>
                    <a:pt x="112446" y="0"/>
                    <a:pt x="135088" y="9613"/>
                    <a:pt x="149886" y="27195"/>
                  </a:cubicBezTo>
                  <a:lnTo>
                    <a:pt x="126486" y="48191"/>
                  </a:lnTo>
                  <a:cubicBezTo>
                    <a:pt x="115988" y="36428"/>
                    <a:pt x="102707" y="30230"/>
                    <a:pt x="87023" y="30230"/>
                  </a:cubicBezTo>
                  <a:cubicBezTo>
                    <a:pt x="57678" y="30230"/>
                    <a:pt x="36681" y="50342"/>
                    <a:pt x="36681" y="79307"/>
                  </a:cubicBezTo>
                  <a:cubicBezTo>
                    <a:pt x="36681" y="108272"/>
                    <a:pt x="57551" y="128384"/>
                    <a:pt x="87023" y="128384"/>
                  </a:cubicBezTo>
                  <a:cubicBezTo>
                    <a:pt x="102707" y="128384"/>
                    <a:pt x="115988" y="122186"/>
                    <a:pt x="126486" y="110170"/>
                  </a:cubicBezTo>
                  <a:lnTo>
                    <a:pt x="149886" y="131166"/>
                  </a:lnTo>
                  <a:cubicBezTo>
                    <a:pt x="135088" y="148874"/>
                    <a:pt x="112446" y="158487"/>
                    <a:pt x="84999" y="158487"/>
                  </a:cubicBezTo>
                  <a:cubicBezTo>
                    <a:pt x="36302" y="158614"/>
                    <a:pt x="0" y="125474"/>
                    <a:pt x="0" y="79307"/>
                  </a:cubicBezTo>
                </a:path>
              </a:pathLst>
            </a:custGeom>
            <a:solidFill>
              <a:srgbClr val="F15B40"/>
            </a:solidFill>
            <a:ln w="12614" cap="flat">
              <a:noFill/>
              <a:prstDash val="solid"/>
              <a:miter/>
            </a:ln>
          </p:spPr>
          <p:txBody>
            <a:bodyPr rtlCol="0" anchor="ctr"/>
            <a:lstStyle/>
            <a:p>
              <a:endParaRPr lang="en-IN" sz="1800">
                <a:latin typeface="+mj-lt"/>
              </a:endParaRPr>
            </a:p>
          </p:txBody>
        </p:sp>
        <p:sp>
          <p:nvSpPr>
            <p:cNvPr id="6" name="Freeform: Shape 12">
              <a:extLst>
                <a:ext uri="{FF2B5EF4-FFF2-40B4-BE49-F238E27FC236}">
                  <a16:creationId xmlns:a16="http://schemas.microsoft.com/office/drawing/2014/main" id="{2FC39FA9-B4BD-4E89-A253-2B70D7C57A89}"/>
                </a:ext>
              </a:extLst>
            </p:cNvPr>
            <p:cNvSpPr/>
            <p:nvPr/>
          </p:nvSpPr>
          <p:spPr>
            <a:xfrm>
              <a:off x="11111584" y="6235376"/>
              <a:ext cx="91955" cy="164305"/>
            </a:xfrm>
            <a:custGeom>
              <a:avLst/>
              <a:gdLst>
                <a:gd name="connsiteX0" fmla="*/ 53124 w 91955"/>
                <a:gd name="connsiteY0" fmla="*/ 49077 h 164305"/>
                <a:gd name="connsiteX1" fmla="*/ 84114 w 91955"/>
                <a:gd name="connsiteY1" fmla="*/ 49077 h 164305"/>
                <a:gd name="connsiteX2" fmla="*/ 84114 w 91955"/>
                <a:gd name="connsiteY2" fmla="*/ 75386 h 164305"/>
                <a:gd name="connsiteX3" fmla="*/ 54010 w 91955"/>
                <a:gd name="connsiteY3" fmla="*/ 75386 h 164305"/>
                <a:gd name="connsiteX4" fmla="*/ 53630 w 91955"/>
                <a:gd name="connsiteY4" fmla="*/ 164306 h 164305"/>
                <a:gd name="connsiteX5" fmla="*/ 18594 w 91955"/>
                <a:gd name="connsiteY5" fmla="*/ 164306 h 164305"/>
                <a:gd name="connsiteX6" fmla="*/ 18973 w 91955"/>
                <a:gd name="connsiteY6" fmla="*/ 75386 h 164305"/>
                <a:gd name="connsiteX7" fmla="*/ 0 w 91955"/>
                <a:gd name="connsiteY7" fmla="*/ 75386 h 164305"/>
                <a:gd name="connsiteX8" fmla="*/ 0 w 91955"/>
                <a:gd name="connsiteY8" fmla="*/ 49077 h 164305"/>
                <a:gd name="connsiteX9" fmla="*/ 18973 w 91955"/>
                <a:gd name="connsiteY9" fmla="*/ 49077 h 164305"/>
                <a:gd name="connsiteX10" fmla="*/ 18973 w 91955"/>
                <a:gd name="connsiteY10" fmla="*/ 43764 h 164305"/>
                <a:gd name="connsiteX11" fmla="*/ 65267 w 91955"/>
                <a:gd name="connsiteY11" fmla="*/ 0 h 164305"/>
                <a:gd name="connsiteX12" fmla="*/ 91956 w 91955"/>
                <a:gd name="connsiteY12" fmla="*/ 6324 h 164305"/>
                <a:gd name="connsiteX13" fmla="*/ 82722 w 91955"/>
                <a:gd name="connsiteY13" fmla="*/ 31116 h 164305"/>
                <a:gd name="connsiteX14" fmla="*/ 68556 w 91955"/>
                <a:gd name="connsiteY14" fmla="*/ 26942 h 164305"/>
                <a:gd name="connsiteX15" fmla="*/ 52998 w 91955"/>
                <a:gd name="connsiteY15" fmla="*/ 44017 h 164305"/>
                <a:gd name="connsiteX16" fmla="*/ 52998 w 91955"/>
                <a:gd name="connsiteY16" fmla="*/ 49077 h 16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1955" h="164305">
                  <a:moveTo>
                    <a:pt x="53124" y="49077"/>
                  </a:moveTo>
                  <a:lnTo>
                    <a:pt x="84114" y="49077"/>
                  </a:lnTo>
                  <a:lnTo>
                    <a:pt x="84114" y="75386"/>
                  </a:lnTo>
                  <a:lnTo>
                    <a:pt x="54010" y="75386"/>
                  </a:lnTo>
                  <a:lnTo>
                    <a:pt x="53630" y="164306"/>
                  </a:lnTo>
                  <a:lnTo>
                    <a:pt x="18594" y="164306"/>
                  </a:lnTo>
                  <a:lnTo>
                    <a:pt x="18973" y="75386"/>
                  </a:lnTo>
                  <a:lnTo>
                    <a:pt x="0" y="75386"/>
                  </a:lnTo>
                  <a:lnTo>
                    <a:pt x="0" y="49077"/>
                  </a:lnTo>
                  <a:lnTo>
                    <a:pt x="18973" y="49077"/>
                  </a:lnTo>
                  <a:lnTo>
                    <a:pt x="18973" y="43764"/>
                  </a:lnTo>
                  <a:cubicBezTo>
                    <a:pt x="18973" y="17329"/>
                    <a:pt x="35290" y="0"/>
                    <a:pt x="65267" y="0"/>
                  </a:cubicBezTo>
                  <a:cubicBezTo>
                    <a:pt x="75133" y="0"/>
                    <a:pt x="85505" y="2024"/>
                    <a:pt x="91956" y="6324"/>
                  </a:cubicBezTo>
                  <a:lnTo>
                    <a:pt x="82722" y="31116"/>
                  </a:lnTo>
                  <a:cubicBezTo>
                    <a:pt x="78928" y="28459"/>
                    <a:pt x="73995" y="26942"/>
                    <a:pt x="68556" y="26942"/>
                  </a:cubicBezTo>
                  <a:cubicBezTo>
                    <a:pt x="58184" y="26942"/>
                    <a:pt x="52998" y="32380"/>
                    <a:pt x="52998" y="44017"/>
                  </a:cubicBezTo>
                  <a:lnTo>
                    <a:pt x="52998" y="49077"/>
                  </a:lnTo>
                  <a:close/>
                </a:path>
              </a:pathLst>
            </a:custGeom>
            <a:solidFill>
              <a:srgbClr val="092340"/>
            </a:solidFill>
            <a:ln w="12614" cap="flat">
              <a:noFill/>
              <a:prstDash val="solid"/>
              <a:miter/>
            </a:ln>
          </p:spPr>
          <p:txBody>
            <a:bodyPr rtlCol="0" anchor="ctr"/>
            <a:lstStyle/>
            <a:p>
              <a:endParaRPr lang="en-IN" sz="1800">
                <a:latin typeface="+mj-lt"/>
              </a:endParaRPr>
            </a:p>
          </p:txBody>
        </p:sp>
        <p:sp>
          <p:nvSpPr>
            <p:cNvPr id="9" name="Freeform: Shape 13">
              <a:extLst>
                <a:ext uri="{FF2B5EF4-FFF2-40B4-BE49-F238E27FC236}">
                  <a16:creationId xmlns:a16="http://schemas.microsoft.com/office/drawing/2014/main" id="{02C60B1A-4FB5-D732-7157-61ADD0589F56}"/>
                </a:ext>
              </a:extLst>
            </p:cNvPr>
            <p:cNvSpPr/>
            <p:nvPr/>
          </p:nvSpPr>
          <p:spPr>
            <a:xfrm>
              <a:off x="11202654" y="6278254"/>
              <a:ext cx="132557" cy="121426"/>
            </a:xfrm>
            <a:custGeom>
              <a:avLst/>
              <a:gdLst>
                <a:gd name="connsiteX0" fmla="*/ 0 w 132557"/>
                <a:gd name="connsiteY0" fmla="*/ 60713 h 121426"/>
                <a:gd name="connsiteX1" fmla="*/ 66405 w 132557"/>
                <a:gd name="connsiteY1" fmla="*/ 0 h 121426"/>
                <a:gd name="connsiteX2" fmla="*/ 132558 w 132557"/>
                <a:gd name="connsiteY2" fmla="*/ 60713 h 121426"/>
                <a:gd name="connsiteX3" fmla="*/ 66026 w 132557"/>
                <a:gd name="connsiteY3" fmla="*/ 121427 h 121426"/>
                <a:gd name="connsiteX4" fmla="*/ 0 w 132557"/>
                <a:gd name="connsiteY4" fmla="*/ 60713 h 121426"/>
                <a:gd name="connsiteX5" fmla="*/ 97142 w 132557"/>
                <a:gd name="connsiteY5" fmla="*/ 60713 h 121426"/>
                <a:gd name="connsiteX6" fmla="*/ 66405 w 132557"/>
                <a:gd name="connsiteY6" fmla="*/ 28080 h 121426"/>
                <a:gd name="connsiteX7" fmla="*/ 35416 w 132557"/>
                <a:gd name="connsiteY7" fmla="*/ 60713 h 121426"/>
                <a:gd name="connsiteX8" fmla="*/ 66405 w 132557"/>
                <a:gd name="connsiteY8" fmla="*/ 93347 h 121426"/>
                <a:gd name="connsiteX9" fmla="*/ 97142 w 132557"/>
                <a:gd name="connsiteY9" fmla="*/ 60713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557" h="121426">
                  <a:moveTo>
                    <a:pt x="0" y="60713"/>
                  </a:moveTo>
                  <a:cubicBezTo>
                    <a:pt x="0" y="25171"/>
                    <a:pt x="28080" y="0"/>
                    <a:pt x="66405" y="0"/>
                  </a:cubicBezTo>
                  <a:cubicBezTo>
                    <a:pt x="104731" y="0"/>
                    <a:pt x="132558" y="25171"/>
                    <a:pt x="132558" y="60713"/>
                  </a:cubicBezTo>
                  <a:cubicBezTo>
                    <a:pt x="132558" y="96256"/>
                    <a:pt x="104351" y="121427"/>
                    <a:pt x="66026" y="121427"/>
                  </a:cubicBezTo>
                  <a:cubicBezTo>
                    <a:pt x="27701" y="121427"/>
                    <a:pt x="0" y="96256"/>
                    <a:pt x="0" y="60713"/>
                  </a:cubicBezTo>
                  <a:moveTo>
                    <a:pt x="97142" y="60713"/>
                  </a:moveTo>
                  <a:cubicBezTo>
                    <a:pt x="97142" y="40349"/>
                    <a:pt x="83861" y="28080"/>
                    <a:pt x="66405" y="28080"/>
                  </a:cubicBezTo>
                  <a:cubicBezTo>
                    <a:pt x="48950" y="28080"/>
                    <a:pt x="35416" y="40349"/>
                    <a:pt x="35416" y="60713"/>
                  </a:cubicBezTo>
                  <a:cubicBezTo>
                    <a:pt x="35416" y="81078"/>
                    <a:pt x="48824" y="93347"/>
                    <a:pt x="66405" y="93347"/>
                  </a:cubicBezTo>
                  <a:cubicBezTo>
                    <a:pt x="83987" y="93347"/>
                    <a:pt x="97142" y="81078"/>
                    <a:pt x="97142" y="60713"/>
                  </a:cubicBezTo>
                </a:path>
              </a:pathLst>
            </a:custGeom>
            <a:solidFill>
              <a:srgbClr val="092340"/>
            </a:solidFill>
            <a:ln w="12614" cap="flat">
              <a:noFill/>
              <a:prstDash val="solid"/>
              <a:miter/>
            </a:ln>
          </p:spPr>
          <p:txBody>
            <a:bodyPr rtlCol="0" anchor="ctr"/>
            <a:lstStyle/>
            <a:p>
              <a:endParaRPr lang="en-IN" sz="1800">
                <a:latin typeface="+mj-lt"/>
              </a:endParaRPr>
            </a:p>
          </p:txBody>
        </p:sp>
        <p:sp>
          <p:nvSpPr>
            <p:cNvPr id="10" name="Freeform: Shape 14">
              <a:extLst>
                <a:ext uri="{FF2B5EF4-FFF2-40B4-BE49-F238E27FC236}">
                  <a16:creationId xmlns:a16="http://schemas.microsoft.com/office/drawing/2014/main" id="{703F5C3A-DFAA-9131-14B4-9D7202F4B4E8}"/>
                </a:ext>
              </a:extLst>
            </p:cNvPr>
            <p:cNvSpPr/>
            <p:nvPr/>
          </p:nvSpPr>
          <p:spPr>
            <a:xfrm>
              <a:off x="11358233" y="6278254"/>
              <a:ext cx="76524" cy="121426"/>
            </a:xfrm>
            <a:custGeom>
              <a:avLst/>
              <a:gdLst>
                <a:gd name="connsiteX0" fmla="*/ 76524 w 76524"/>
                <a:gd name="connsiteY0" fmla="*/ 0 h 121426"/>
                <a:gd name="connsiteX1" fmla="*/ 76524 w 76524"/>
                <a:gd name="connsiteY1" fmla="*/ 32001 h 121426"/>
                <a:gd name="connsiteX2" fmla="*/ 68556 w 76524"/>
                <a:gd name="connsiteY2" fmla="*/ 31495 h 121426"/>
                <a:gd name="connsiteX3" fmla="*/ 35922 w 76524"/>
                <a:gd name="connsiteY3" fmla="*/ 64887 h 121426"/>
                <a:gd name="connsiteX4" fmla="*/ 35543 w 76524"/>
                <a:gd name="connsiteY4" fmla="*/ 121427 h 121426"/>
                <a:gd name="connsiteX5" fmla="*/ 0 w 76524"/>
                <a:gd name="connsiteY5" fmla="*/ 121427 h 121426"/>
                <a:gd name="connsiteX6" fmla="*/ 0 w 76524"/>
                <a:gd name="connsiteY6" fmla="*/ 1771 h 121426"/>
                <a:gd name="connsiteX7" fmla="*/ 34278 w 76524"/>
                <a:gd name="connsiteY7" fmla="*/ 1771 h 121426"/>
                <a:gd name="connsiteX8" fmla="*/ 34278 w 76524"/>
                <a:gd name="connsiteY8" fmla="*/ 17582 h 121426"/>
                <a:gd name="connsiteX9" fmla="*/ 76398 w 76524"/>
                <a:gd name="connsiteY9" fmla="*/ 0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524" h="121426">
                  <a:moveTo>
                    <a:pt x="76524" y="0"/>
                  </a:moveTo>
                  <a:lnTo>
                    <a:pt x="76524" y="32001"/>
                  </a:lnTo>
                  <a:cubicBezTo>
                    <a:pt x="73615" y="31748"/>
                    <a:pt x="71338" y="31495"/>
                    <a:pt x="68556" y="31495"/>
                  </a:cubicBezTo>
                  <a:cubicBezTo>
                    <a:pt x="48950" y="31495"/>
                    <a:pt x="35922" y="41993"/>
                    <a:pt x="35922" y="64887"/>
                  </a:cubicBezTo>
                  <a:lnTo>
                    <a:pt x="35543" y="121427"/>
                  </a:lnTo>
                  <a:lnTo>
                    <a:pt x="0" y="121427"/>
                  </a:lnTo>
                  <a:lnTo>
                    <a:pt x="0" y="1771"/>
                  </a:lnTo>
                  <a:lnTo>
                    <a:pt x="34278" y="1771"/>
                  </a:lnTo>
                  <a:lnTo>
                    <a:pt x="34278" y="17582"/>
                  </a:lnTo>
                  <a:cubicBezTo>
                    <a:pt x="42879" y="6071"/>
                    <a:pt x="57551" y="0"/>
                    <a:pt x="76398" y="0"/>
                  </a:cubicBezTo>
                </a:path>
              </a:pathLst>
            </a:custGeom>
            <a:solidFill>
              <a:srgbClr val="092340"/>
            </a:solidFill>
            <a:ln w="12614" cap="flat">
              <a:noFill/>
              <a:prstDash val="solid"/>
              <a:miter/>
            </a:ln>
          </p:spPr>
          <p:txBody>
            <a:bodyPr rtlCol="0" anchor="ctr"/>
            <a:lstStyle/>
            <a:p>
              <a:endParaRPr lang="en-IN" sz="1800">
                <a:latin typeface="+mj-lt"/>
              </a:endParaRPr>
            </a:p>
          </p:txBody>
        </p:sp>
        <p:sp>
          <p:nvSpPr>
            <p:cNvPr id="11" name="Freeform: Shape 15">
              <a:extLst>
                <a:ext uri="{FF2B5EF4-FFF2-40B4-BE49-F238E27FC236}">
                  <a16:creationId xmlns:a16="http://schemas.microsoft.com/office/drawing/2014/main" id="{CA802C14-EBFD-CFBE-99D8-49BC4D7368A9}"/>
                </a:ext>
              </a:extLst>
            </p:cNvPr>
            <p:cNvSpPr/>
            <p:nvPr/>
          </p:nvSpPr>
          <p:spPr>
            <a:xfrm>
              <a:off x="11444243" y="6278381"/>
              <a:ext cx="133696" cy="163799"/>
            </a:xfrm>
            <a:custGeom>
              <a:avLst/>
              <a:gdLst>
                <a:gd name="connsiteX0" fmla="*/ 133696 w 133696"/>
                <a:gd name="connsiteY0" fmla="*/ 1644 h 163799"/>
                <a:gd name="connsiteX1" fmla="*/ 133696 w 133696"/>
                <a:gd name="connsiteY1" fmla="*/ 99798 h 163799"/>
                <a:gd name="connsiteX2" fmla="*/ 65520 w 133696"/>
                <a:gd name="connsiteY2" fmla="*/ 163800 h 163799"/>
                <a:gd name="connsiteX3" fmla="*/ 6198 w 133696"/>
                <a:gd name="connsiteY3" fmla="*/ 147609 h 163799"/>
                <a:gd name="connsiteX4" fmla="*/ 20111 w 133696"/>
                <a:gd name="connsiteY4" fmla="*/ 123071 h 163799"/>
                <a:gd name="connsiteX5" fmla="*/ 62737 w 133696"/>
                <a:gd name="connsiteY5" fmla="*/ 136479 h 163799"/>
                <a:gd name="connsiteX6" fmla="*/ 98533 w 133696"/>
                <a:gd name="connsiteY6" fmla="*/ 104225 h 163799"/>
                <a:gd name="connsiteX7" fmla="*/ 98533 w 133696"/>
                <a:gd name="connsiteY7" fmla="*/ 99165 h 163799"/>
                <a:gd name="connsiteX8" fmla="*/ 60334 w 133696"/>
                <a:gd name="connsiteY8" fmla="*/ 113838 h 163799"/>
                <a:gd name="connsiteX9" fmla="*/ 0 w 133696"/>
                <a:gd name="connsiteY9" fmla="*/ 56919 h 163799"/>
                <a:gd name="connsiteX10" fmla="*/ 60334 w 133696"/>
                <a:gd name="connsiteY10" fmla="*/ 0 h 163799"/>
                <a:gd name="connsiteX11" fmla="*/ 100304 w 133696"/>
                <a:gd name="connsiteY11" fmla="*/ 16823 h 163799"/>
                <a:gd name="connsiteX12" fmla="*/ 100304 w 133696"/>
                <a:gd name="connsiteY12" fmla="*/ 1771 h 163799"/>
                <a:gd name="connsiteX13" fmla="*/ 133570 w 133696"/>
                <a:gd name="connsiteY13" fmla="*/ 1771 h 163799"/>
                <a:gd name="connsiteX14" fmla="*/ 99165 w 133696"/>
                <a:gd name="connsiteY14" fmla="*/ 56792 h 163799"/>
                <a:gd name="connsiteX15" fmla="*/ 67544 w 133696"/>
                <a:gd name="connsiteY15" fmla="*/ 27827 h 163799"/>
                <a:gd name="connsiteX16" fmla="*/ 35669 w 133696"/>
                <a:gd name="connsiteY16" fmla="*/ 56792 h 163799"/>
                <a:gd name="connsiteX17" fmla="*/ 67544 w 133696"/>
                <a:gd name="connsiteY17" fmla="*/ 85758 h 163799"/>
                <a:gd name="connsiteX18" fmla="*/ 99165 w 133696"/>
                <a:gd name="connsiteY18" fmla="*/ 56792 h 163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3696" h="163799">
                  <a:moveTo>
                    <a:pt x="133696" y="1644"/>
                  </a:moveTo>
                  <a:lnTo>
                    <a:pt x="133696" y="99798"/>
                  </a:lnTo>
                  <a:cubicBezTo>
                    <a:pt x="133696" y="143562"/>
                    <a:pt x="109158" y="163800"/>
                    <a:pt x="65520" y="163800"/>
                  </a:cubicBezTo>
                  <a:cubicBezTo>
                    <a:pt x="42626" y="163800"/>
                    <a:pt x="20364" y="158361"/>
                    <a:pt x="6198" y="147609"/>
                  </a:cubicBezTo>
                  <a:lnTo>
                    <a:pt x="20111" y="123071"/>
                  </a:lnTo>
                  <a:cubicBezTo>
                    <a:pt x="30483" y="131166"/>
                    <a:pt x="47306" y="136479"/>
                    <a:pt x="62737" y="136479"/>
                  </a:cubicBezTo>
                  <a:cubicBezTo>
                    <a:pt x="87402" y="136479"/>
                    <a:pt x="98533" y="125474"/>
                    <a:pt x="98533" y="104225"/>
                  </a:cubicBezTo>
                  <a:lnTo>
                    <a:pt x="98533" y="99165"/>
                  </a:lnTo>
                  <a:cubicBezTo>
                    <a:pt x="89299" y="109031"/>
                    <a:pt x="76145" y="113838"/>
                    <a:pt x="60334" y="113838"/>
                  </a:cubicBezTo>
                  <a:cubicBezTo>
                    <a:pt x="26942" y="113838"/>
                    <a:pt x="0" y="91323"/>
                    <a:pt x="0" y="56919"/>
                  </a:cubicBezTo>
                  <a:cubicBezTo>
                    <a:pt x="0" y="22515"/>
                    <a:pt x="26942" y="0"/>
                    <a:pt x="60334" y="0"/>
                  </a:cubicBezTo>
                  <a:cubicBezTo>
                    <a:pt x="77157" y="0"/>
                    <a:pt x="91070" y="5439"/>
                    <a:pt x="100304" y="16823"/>
                  </a:cubicBezTo>
                  <a:lnTo>
                    <a:pt x="100304" y="1771"/>
                  </a:lnTo>
                  <a:lnTo>
                    <a:pt x="133570" y="1771"/>
                  </a:lnTo>
                  <a:close/>
                  <a:moveTo>
                    <a:pt x="99165" y="56792"/>
                  </a:moveTo>
                  <a:cubicBezTo>
                    <a:pt x="99165" y="39464"/>
                    <a:pt x="85884" y="27827"/>
                    <a:pt x="67544" y="27827"/>
                  </a:cubicBezTo>
                  <a:cubicBezTo>
                    <a:pt x="49203" y="27827"/>
                    <a:pt x="35669" y="39464"/>
                    <a:pt x="35669" y="56792"/>
                  </a:cubicBezTo>
                  <a:cubicBezTo>
                    <a:pt x="35669" y="74121"/>
                    <a:pt x="49203" y="85758"/>
                    <a:pt x="67544" y="85758"/>
                  </a:cubicBezTo>
                  <a:cubicBezTo>
                    <a:pt x="85884" y="85758"/>
                    <a:pt x="99165" y="74121"/>
                    <a:pt x="99165" y="56792"/>
                  </a:cubicBezTo>
                </a:path>
              </a:pathLst>
            </a:custGeom>
            <a:solidFill>
              <a:srgbClr val="092340"/>
            </a:solidFill>
            <a:ln w="12614" cap="flat">
              <a:noFill/>
              <a:prstDash val="solid"/>
              <a:miter/>
            </a:ln>
          </p:spPr>
          <p:txBody>
            <a:bodyPr rtlCol="0" anchor="ctr"/>
            <a:lstStyle/>
            <a:p>
              <a:endParaRPr lang="en-IN" sz="1800">
                <a:latin typeface="+mj-lt"/>
              </a:endParaRPr>
            </a:p>
          </p:txBody>
        </p:sp>
        <p:sp>
          <p:nvSpPr>
            <p:cNvPr id="12" name="Freeform: Shape 16">
              <a:extLst>
                <a:ext uri="{FF2B5EF4-FFF2-40B4-BE49-F238E27FC236}">
                  <a16:creationId xmlns:a16="http://schemas.microsoft.com/office/drawing/2014/main" id="{8154BE5B-2F05-FB6F-BC46-5131AC718568}"/>
                </a:ext>
              </a:extLst>
            </p:cNvPr>
            <p:cNvSpPr/>
            <p:nvPr/>
          </p:nvSpPr>
          <p:spPr>
            <a:xfrm>
              <a:off x="11601593" y="6278254"/>
              <a:ext cx="127245" cy="121426"/>
            </a:xfrm>
            <a:custGeom>
              <a:avLst/>
              <a:gdLst>
                <a:gd name="connsiteX0" fmla="*/ 126613 w 127245"/>
                <a:gd name="connsiteY0" fmla="*/ 70326 h 121426"/>
                <a:gd name="connsiteX1" fmla="*/ 35290 w 127245"/>
                <a:gd name="connsiteY1" fmla="*/ 70326 h 121426"/>
                <a:gd name="connsiteX2" fmla="*/ 69821 w 127245"/>
                <a:gd name="connsiteY2" fmla="*/ 93979 h 121426"/>
                <a:gd name="connsiteX3" fmla="*/ 100177 w 127245"/>
                <a:gd name="connsiteY3" fmla="*/ 82596 h 121426"/>
                <a:gd name="connsiteX4" fmla="*/ 118771 w 127245"/>
                <a:gd name="connsiteY4" fmla="*/ 102327 h 121426"/>
                <a:gd name="connsiteX5" fmla="*/ 68556 w 127245"/>
                <a:gd name="connsiteY5" fmla="*/ 121427 h 121426"/>
                <a:gd name="connsiteX6" fmla="*/ 0 w 127245"/>
                <a:gd name="connsiteY6" fmla="*/ 60713 h 121426"/>
                <a:gd name="connsiteX7" fmla="*/ 64382 w 127245"/>
                <a:gd name="connsiteY7" fmla="*/ 0 h 121426"/>
                <a:gd name="connsiteX8" fmla="*/ 127245 w 127245"/>
                <a:gd name="connsiteY8" fmla="*/ 61093 h 121426"/>
                <a:gd name="connsiteX9" fmla="*/ 126613 w 127245"/>
                <a:gd name="connsiteY9" fmla="*/ 70326 h 121426"/>
                <a:gd name="connsiteX10" fmla="*/ 34784 w 127245"/>
                <a:gd name="connsiteY10" fmla="*/ 50342 h 121426"/>
                <a:gd name="connsiteX11" fmla="*/ 94232 w 127245"/>
                <a:gd name="connsiteY11" fmla="*/ 50342 h 121426"/>
                <a:gd name="connsiteX12" fmla="*/ 64635 w 127245"/>
                <a:gd name="connsiteY12" fmla="*/ 25803 h 121426"/>
                <a:gd name="connsiteX13" fmla="*/ 34784 w 127245"/>
                <a:gd name="connsiteY13" fmla="*/ 50342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7245" h="121426">
                  <a:moveTo>
                    <a:pt x="126613" y="70326"/>
                  </a:moveTo>
                  <a:lnTo>
                    <a:pt x="35290" y="70326"/>
                  </a:lnTo>
                  <a:cubicBezTo>
                    <a:pt x="38705" y="84999"/>
                    <a:pt x="51480" y="93979"/>
                    <a:pt x="69821" y="93979"/>
                  </a:cubicBezTo>
                  <a:cubicBezTo>
                    <a:pt x="82596" y="93979"/>
                    <a:pt x="91829" y="90311"/>
                    <a:pt x="100177" y="82596"/>
                  </a:cubicBezTo>
                  <a:lnTo>
                    <a:pt x="118771" y="102327"/>
                  </a:lnTo>
                  <a:cubicBezTo>
                    <a:pt x="107514" y="114850"/>
                    <a:pt x="90311" y="121427"/>
                    <a:pt x="68556" y="121427"/>
                  </a:cubicBezTo>
                  <a:cubicBezTo>
                    <a:pt x="26815" y="121427"/>
                    <a:pt x="0" y="95750"/>
                    <a:pt x="0" y="60713"/>
                  </a:cubicBezTo>
                  <a:cubicBezTo>
                    <a:pt x="0" y="25677"/>
                    <a:pt x="27574" y="0"/>
                    <a:pt x="64382" y="0"/>
                  </a:cubicBezTo>
                  <a:cubicBezTo>
                    <a:pt x="101189" y="0"/>
                    <a:pt x="127245" y="23273"/>
                    <a:pt x="127245" y="61093"/>
                  </a:cubicBezTo>
                  <a:cubicBezTo>
                    <a:pt x="127245" y="63749"/>
                    <a:pt x="126739" y="67417"/>
                    <a:pt x="126613" y="70326"/>
                  </a:cubicBezTo>
                  <a:moveTo>
                    <a:pt x="34784" y="50342"/>
                  </a:moveTo>
                  <a:lnTo>
                    <a:pt x="94232" y="50342"/>
                  </a:lnTo>
                  <a:cubicBezTo>
                    <a:pt x="91703" y="35416"/>
                    <a:pt x="80319" y="25803"/>
                    <a:pt x="64635" y="25803"/>
                  </a:cubicBezTo>
                  <a:cubicBezTo>
                    <a:pt x="48950" y="25803"/>
                    <a:pt x="37313" y="35163"/>
                    <a:pt x="34784" y="50342"/>
                  </a:cubicBezTo>
                </a:path>
              </a:pathLst>
            </a:custGeom>
            <a:solidFill>
              <a:srgbClr val="092340"/>
            </a:solidFill>
            <a:ln w="12614" cap="flat">
              <a:noFill/>
              <a:prstDash val="solid"/>
              <a:miter/>
            </a:ln>
          </p:spPr>
          <p:txBody>
            <a:bodyPr rtlCol="0" anchor="ctr"/>
            <a:lstStyle/>
            <a:p>
              <a:endParaRPr lang="en-IN" sz="1800">
                <a:latin typeface="+mj-lt"/>
              </a:endParaRPr>
            </a:p>
          </p:txBody>
        </p:sp>
        <p:sp>
          <p:nvSpPr>
            <p:cNvPr id="13" name="Freeform: Shape 17">
              <a:extLst>
                <a:ext uri="{FF2B5EF4-FFF2-40B4-BE49-F238E27FC236}">
                  <a16:creationId xmlns:a16="http://schemas.microsoft.com/office/drawing/2014/main" id="{5FE7C0A1-186C-5020-5AAB-5FD9CD026FA7}"/>
                </a:ext>
              </a:extLst>
            </p:cNvPr>
            <p:cNvSpPr/>
            <p:nvPr/>
          </p:nvSpPr>
          <p:spPr>
            <a:xfrm>
              <a:off x="10965619" y="6278254"/>
              <a:ext cx="66278" cy="121426"/>
            </a:xfrm>
            <a:custGeom>
              <a:avLst/>
              <a:gdLst>
                <a:gd name="connsiteX0" fmla="*/ 66279 w 66278"/>
                <a:gd name="connsiteY0" fmla="*/ 93347 h 121426"/>
                <a:gd name="connsiteX1" fmla="*/ 35416 w 66278"/>
                <a:gd name="connsiteY1" fmla="*/ 60713 h 121426"/>
                <a:gd name="connsiteX2" fmla="*/ 66279 w 66278"/>
                <a:gd name="connsiteY2" fmla="*/ 28080 h 121426"/>
                <a:gd name="connsiteX3" fmla="*/ 66279 w 66278"/>
                <a:gd name="connsiteY3" fmla="*/ 0 h 121426"/>
                <a:gd name="connsiteX4" fmla="*/ 0 w 66278"/>
                <a:gd name="connsiteY4" fmla="*/ 60713 h 121426"/>
                <a:gd name="connsiteX5" fmla="*/ 66026 w 66278"/>
                <a:gd name="connsiteY5" fmla="*/ 121427 h 121426"/>
                <a:gd name="connsiteX6" fmla="*/ 66279 w 66278"/>
                <a:gd name="connsiteY6" fmla="*/ 121427 h 121426"/>
                <a:gd name="connsiteX7" fmla="*/ 66279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66279" y="93347"/>
                  </a:moveTo>
                  <a:cubicBezTo>
                    <a:pt x="48824" y="93347"/>
                    <a:pt x="35416" y="81078"/>
                    <a:pt x="35416" y="60713"/>
                  </a:cubicBezTo>
                  <a:cubicBezTo>
                    <a:pt x="35416" y="40349"/>
                    <a:pt x="48824" y="28080"/>
                    <a:pt x="66279" y="28080"/>
                  </a:cubicBezTo>
                  <a:lnTo>
                    <a:pt x="66279" y="0"/>
                  </a:lnTo>
                  <a:cubicBezTo>
                    <a:pt x="27954" y="0"/>
                    <a:pt x="0" y="25171"/>
                    <a:pt x="0" y="60713"/>
                  </a:cubicBezTo>
                  <a:cubicBezTo>
                    <a:pt x="0" y="96256"/>
                    <a:pt x="27701" y="121427"/>
                    <a:pt x="66026" y="121427"/>
                  </a:cubicBezTo>
                  <a:cubicBezTo>
                    <a:pt x="66026" y="121427"/>
                    <a:pt x="66152" y="121427"/>
                    <a:pt x="66279" y="121427"/>
                  </a:cubicBezTo>
                  <a:lnTo>
                    <a:pt x="66279" y="93347"/>
                  </a:lnTo>
                  <a:close/>
                </a:path>
              </a:pathLst>
            </a:custGeom>
            <a:solidFill>
              <a:srgbClr val="F15B40"/>
            </a:solidFill>
            <a:ln w="12614" cap="flat">
              <a:noFill/>
              <a:prstDash val="solid"/>
              <a:miter/>
            </a:ln>
          </p:spPr>
          <p:txBody>
            <a:bodyPr rtlCol="0" anchor="ctr"/>
            <a:lstStyle/>
            <a:p>
              <a:endParaRPr lang="en-IN" sz="1800">
                <a:latin typeface="+mj-lt"/>
              </a:endParaRPr>
            </a:p>
          </p:txBody>
        </p:sp>
        <p:sp>
          <p:nvSpPr>
            <p:cNvPr id="14" name="Freeform: Shape 18">
              <a:extLst>
                <a:ext uri="{FF2B5EF4-FFF2-40B4-BE49-F238E27FC236}">
                  <a16:creationId xmlns:a16="http://schemas.microsoft.com/office/drawing/2014/main" id="{F34AE91A-7473-8E25-38F9-3A2AA525A583}"/>
                </a:ext>
              </a:extLst>
            </p:cNvPr>
            <p:cNvSpPr/>
            <p:nvPr/>
          </p:nvSpPr>
          <p:spPr>
            <a:xfrm>
              <a:off x="11031898" y="6278254"/>
              <a:ext cx="66278" cy="121426"/>
            </a:xfrm>
            <a:custGeom>
              <a:avLst/>
              <a:gdLst>
                <a:gd name="connsiteX0" fmla="*/ 0 w 66278"/>
                <a:gd name="connsiteY0" fmla="*/ 93347 h 121426"/>
                <a:gd name="connsiteX1" fmla="*/ 30863 w 66278"/>
                <a:gd name="connsiteY1" fmla="*/ 60713 h 121426"/>
                <a:gd name="connsiteX2" fmla="*/ 0 w 66278"/>
                <a:gd name="connsiteY2" fmla="*/ 28080 h 121426"/>
                <a:gd name="connsiteX3" fmla="*/ 0 w 66278"/>
                <a:gd name="connsiteY3" fmla="*/ 0 h 121426"/>
                <a:gd name="connsiteX4" fmla="*/ 66279 w 66278"/>
                <a:gd name="connsiteY4" fmla="*/ 60713 h 121426"/>
                <a:gd name="connsiteX5" fmla="*/ 253 w 66278"/>
                <a:gd name="connsiteY5" fmla="*/ 121427 h 121426"/>
                <a:gd name="connsiteX6" fmla="*/ 0 w 66278"/>
                <a:gd name="connsiteY6" fmla="*/ 121427 h 121426"/>
                <a:gd name="connsiteX7" fmla="*/ 0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0" y="93347"/>
                  </a:moveTo>
                  <a:cubicBezTo>
                    <a:pt x="17455" y="93347"/>
                    <a:pt x="30863" y="81078"/>
                    <a:pt x="30863" y="60713"/>
                  </a:cubicBezTo>
                  <a:cubicBezTo>
                    <a:pt x="30863" y="40349"/>
                    <a:pt x="17455" y="28080"/>
                    <a:pt x="0" y="28080"/>
                  </a:cubicBezTo>
                  <a:lnTo>
                    <a:pt x="0" y="0"/>
                  </a:lnTo>
                  <a:cubicBezTo>
                    <a:pt x="38325" y="0"/>
                    <a:pt x="66279" y="25171"/>
                    <a:pt x="66279" y="60713"/>
                  </a:cubicBezTo>
                  <a:cubicBezTo>
                    <a:pt x="66279" y="96256"/>
                    <a:pt x="38578" y="121427"/>
                    <a:pt x="253" y="121427"/>
                  </a:cubicBezTo>
                  <a:cubicBezTo>
                    <a:pt x="253" y="121427"/>
                    <a:pt x="126" y="121427"/>
                    <a:pt x="0" y="121427"/>
                  </a:cubicBezTo>
                  <a:lnTo>
                    <a:pt x="0" y="93347"/>
                  </a:lnTo>
                  <a:close/>
                </a:path>
              </a:pathLst>
            </a:custGeom>
            <a:solidFill>
              <a:srgbClr val="092340"/>
            </a:solidFill>
            <a:ln w="12614" cap="flat">
              <a:noFill/>
              <a:prstDash val="solid"/>
              <a:miter/>
            </a:ln>
          </p:spPr>
          <p:txBody>
            <a:bodyPr rtlCol="0" anchor="ctr"/>
            <a:lstStyle/>
            <a:p>
              <a:endParaRPr lang="en-IN" sz="1800">
                <a:latin typeface="+mj-lt"/>
              </a:endParaRPr>
            </a:p>
          </p:txBody>
        </p:sp>
      </p:grpSp>
      <p:pic>
        <p:nvPicPr>
          <p:cNvPr id="15" name="Graphic 1">
            <a:extLst>
              <a:ext uri="{FF2B5EF4-FFF2-40B4-BE49-F238E27FC236}">
                <a16:creationId xmlns:a16="http://schemas.microsoft.com/office/drawing/2014/main" id="{C72F4EE0-47B6-F2AC-A92D-B4B8BB91C344}"/>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293554" y="6403281"/>
            <a:ext cx="11628000" cy="25954"/>
          </a:xfrm>
          <a:prstGeom prst="rect">
            <a:avLst/>
          </a:prstGeom>
        </p:spPr>
      </p:pic>
      <p:cxnSp>
        <p:nvCxnSpPr>
          <p:cNvPr id="16" name="Straight Connector 15">
            <a:extLst>
              <a:ext uri="{FF2B5EF4-FFF2-40B4-BE49-F238E27FC236}">
                <a16:creationId xmlns:a16="http://schemas.microsoft.com/office/drawing/2014/main" id="{039497DA-7C92-4A96-AA5F-465C4E518768}"/>
              </a:ext>
            </a:extLst>
          </p:cNvPr>
          <p:cNvCxnSpPr/>
          <p:nvPr/>
        </p:nvCxnSpPr>
        <p:spPr>
          <a:xfrm>
            <a:off x="606548" y="6525400"/>
            <a:ext cx="0" cy="2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Footer Placeholder 4">
            <a:extLst>
              <a:ext uri="{FF2B5EF4-FFF2-40B4-BE49-F238E27FC236}">
                <a16:creationId xmlns:a16="http://schemas.microsoft.com/office/drawing/2014/main" id="{2CB89D83-4FDB-8309-D2AB-1E638CC8A1CF}"/>
              </a:ext>
            </a:extLst>
          </p:cNvPr>
          <p:cNvSpPr txBox="1">
            <a:spLocks/>
          </p:cNvSpPr>
          <p:nvPr/>
        </p:nvSpPr>
        <p:spPr>
          <a:xfrm>
            <a:off x="747006" y="6461057"/>
            <a:ext cx="4114800" cy="365125"/>
          </a:xfrm>
          <a:prstGeom prst="rect">
            <a:avLst/>
          </a:prstGeom>
        </p:spPr>
        <p:txBody>
          <a:bodyPr vert="horz" lIns="0" tIns="45720" rIns="91440" bIns="45720"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tx1"/>
                </a:solidFill>
                <a:latin typeface="+mj-lt"/>
              </a:rPr>
              <a:t>© </a:t>
            </a:r>
            <a:r>
              <a:rPr lang="en-IN" sz="1000" err="1">
                <a:solidFill>
                  <a:schemeClr val="tx1"/>
                </a:solidFill>
                <a:latin typeface="+mj-lt"/>
              </a:rPr>
              <a:t>Coforge</a:t>
            </a:r>
            <a:r>
              <a:rPr lang="en-IN" sz="1000">
                <a:solidFill>
                  <a:schemeClr val="tx1"/>
                </a:solidFill>
                <a:latin typeface="+mj-lt"/>
              </a:rPr>
              <a:t>, 2025 | Confidential</a:t>
            </a:r>
          </a:p>
        </p:txBody>
      </p:sp>
      <p:sp>
        <p:nvSpPr>
          <p:cNvPr id="18" name="Footer Placeholder 4">
            <a:extLst>
              <a:ext uri="{FF2B5EF4-FFF2-40B4-BE49-F238E27FC236}">
                <a16:creationId xmlns:a16="http://schemas.microsoft.com/office/drawing/2014/main" id="{0BE9D8D4-3ACF-F9F8-3172-2D7A0B8E055C}"/>
              </a:ext>
            </a:extLst>
          </p:cNvPr>
          <p:cNvSpPr txBox="1">
            <a:spLocks/>
          </p:cNvSpPr>
          <p:nvPr/>
        </p:nvSpPr>
        <p:spPr>
          <a:xfrm>
            <a:off x="200216" y="6448769"/>
            <a:ext cx="410916" cy="365125"/>
          </a:xfrm>
          <a:prstGeom prst="rect">
            <a:avLst/>
          </a:prstGeom>
        </p:spPr>
        <p:txBody>
          <a:bodyPr vert="horz" lIns="0" tIns="45720" rIns="91440" bIns="45720"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785132-0981-44D9-9CCF-B39EFD8AF1CE}" type="slidenum">
              <a:rPr lang="en-IN" sz="1400" b="1" smtClean="0">
                <a:solidFill>
                  <a:schemeClr val="tx1"/>
                </a:solidFill>
                <a:latin typeface="+mj-lt"/>
              </a:rPr>
              <a:pPr algn="r"/>
              <a:t>‹#›</a:t>
            </a:fld>
            <a:endParaRPr lang="en-IN" sz="1400" b="1">
              <a:solidFill>
                <a:schemeClr val="tx1"/>
              </a:solidFill>
              <a:latin typeface="+mj-lt"/>
            </a:endParaRPr>
          </a:p>
        </p:txBody>
      </p:sp>
    </p:spTree>
    <p:extLst>
      <p:ext uri="{BB962C8B-B14F-4D97-AF65-F5344CB8AC3E}">
        <p14:creationId xmlns:p14="http://schemas.microsoft.com/office/powerpoint/2010/main" val="5921193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81" r:id="rId8"/>
  </p:sldLayoutIdLst>
  <p:txStyles>
    <p:titleStyle>
      <a:lvl1pPr algn="l" defTabSz="914378" rtl="0" eaLnBrk="1" latinLnBrk="0" hangingPunct="1">
        <a:lnSpc>
          <a:spcPct val="90000"/>
        </a:lnSpc>
        <a:spcBef>
          <a:spcPct val="0"/>
        </a:spcBef>
        <a:buNone/>
        <a:defRPr sz="3200" b="1" kern="1200">
          <a:solidFill>
            <a:schemeClr val="accent1"/>
          </a:solidFill>
          <a:latin typeface="+mj-lt"/>
          <a:ea typeface="+mj-ea"/>
          <a:cs typeface="+mj-cs"/>
        </a:defRPr>
      </a:lvl1pPr>
    </p:titleStyle>
    <p:bodyStyle>
      <a:lvl1pPr marL="228594" indent="-228594" algn="l" defTabSz="914378" rtl="0" eaLnBrk="1" latinLnBrk="0" hangingPunct="1">
        <a:lnSpc>
          <a:spcPct val="90000"/>
        </a:lnSpc>
        <a:spcBef>
          <a:spcPts val="1000"/>
        </a:spcBef>
        <a:buFont typeface="Arial" panose="020B0604020202020204" pitchFamily="34" charset="0"/>
        <a:buChar char="•"/>
        <a:defRPr sz="1800" kern="1200">
          <a:solidFill>
            <a:schemeClr val="tx1"/>
          </a:solidFill>
          <a:latin typeface="+mj-lt"/>
          <a:ea typeface="+mn-ea"/>
          <a:cs typeface="+mn-cs"/>
        </a:defRPr>
      </a:lvl1pPr>
      <a:lvl2pPr marL="68578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2pPr>
      <a:lvl3pPr marL="1142972"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3pPr>
      <a:lvl4pPr marL="1600160"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348"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2BA627A-B28C-789C-990E-3B1F53F80026}"/>
              </a:ext>
            </a:extLst>
          </p:cNvPr>
          <p:cNvSpPr>
            <a:spLocks noGrp="1"/>
          </p:cNvSpPr>
          <p:nvPr>
            <p:ph type="title"/>
          </p:nvPr>
        </p:nvSpPr>
        <p:spPr>
          <a:xfrm>
            <a:off x="586306" y="163731"/>
            <a:ext cx="11335249" cy="945514"/>
          </a:xfrm>
          <a:prstGeom prst="rect">
            <a:avLst/>
          </a:prstGeom>
        </p:spPr>
        <p:txBody>
          <a:bodyPr vert="horz" lIns="0" tIns="45720" rIns="91440" bIns="45720" rtlCol="0" anchor="ctr">
            <a:normAutofit/>
          </a:bodyPr>
          <a:lstStyle/>
          <a:p>
            <a:r>
              <a:rPr lang="en-US"/>
              <a:t>Click to edit Master title style</a:t>
            </a:r>
            <a:endParaRPr lang="en-IN"/>
          </a:p>
        </p:txBody>
      </p:sp>
      <p:sp>
        <p:nvSpPr>
          <p:cNvPr id="8" name="Text Placeholder 2">
            <a:extLst>
              <a:ext uri="{FF2B5EF4-FFF2-40B4-BE49-F238E27FC236}">
                <a16:creationId xmlns:a16="http://schemas.microsoft.com/office/drawing/2014/main" id="{2138C0DF-603C-2744-FED7-92DBFA303FEA}"/>
              </a:ext>
            </a:extLst>
          </p:cNvPr>
          <p:cNvSpPr>
            <a:spLocks noGrp="1"/>
          </p:cNvSpPr>
          <p:nvPr>
            <p:ph type="body" idx="1"/>
          </p:nvPr>
        </p:nvSpPr>
        <p:spPr>
          <a:xfrm>
            <a:off x="586306" y="1364170"/>
            <a:ext cx="11335249" cy="4876199"/>
          </a:xfrm>
          <a:prstGeom prst="rect">
            <a:avLst/>
          </a:prstGeom>
        </p:spPr>
        <p:txBody>
          <a:bodyPr vert="horz" lIns="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4" name="Logo">
            <a:extLst>
              <a:ext uri="{FF2B5EF4-FFF2-40B4-BE49-F238E27FC236}">
                <a16:creationId xmlns:a16="http://schemas.microsoft.com/office/drawing/2014/main" id="{3A065230-68F7-758A-449C-C0E9D9FF8414}"/>
              </a:ext>
            </a:extLst>
          </p:cNvPr>
          <p:cNvGrpSpPr/>
          <p:nvPr/>
        </p:nvGrpSpPr>
        <p:grpSpPr>
          <a:xfrm>
            <a:off x="11137806" y="6555944"/>
            <a:ext cx="783748" cy="174106"/>
            <a:chOff x="10797898" y="6235376"/>
            <a:chExt cx="930940" cy="206804"/>
          </a:xfrm>
        </p:grpSpPr>
        <p:sp>
          <p:nvSpPr>
            <p:cNvPr id="5" name="Freeform: Shape 11">
              <a:extLst>
                <a:ext uri="{FF2B5EF4-FFF2-40B4-BE49-F238E27FC236}">
                  <a16:creationId xmlns:a16="http://schemas.microsoft.com/office/drawing/2014/main" id="{1246A27A-67DC-88DA-7E99-BD8FCE878250}"/>
                </a:ext>
              </a:extLst>
            </p:cNvPr>
            <p:cNvSpPr/>
            <p:nvPr/>
          </p:nvSpPr>
          <p:spPr>
            <a:xfrm>
              <a:off x="10797898" y="6241067"/>
              <a:ext cx="149886" cy="158487"/>
            </a:xfrm>
            <a:custGeom>
              <a:avLst/>
              <a:gdLst>
                <a:gd name="connsiteX0" fmla="*/ 0 w 149886"/>
                <a:gd name="connsiteY0" fmla="*/ 79307 h 158487"/>
                <a:gd name="connsiteX1" fmla="*/ 85252 w 149886"/>
                <a:gd name="connsiteY1" fmla="*/ 0 h 158487"/>
                <a:gd name="connsiteX2" fmla="*/ 149886 w 149886"/>
                <a:gd name="connsiteY2" fmla="*/ 27195 h 158487"/>
                <a:gd name="connsiteX3" fmla="*/ 126486 w 149886"/>
                <a:gd name="connsiteY3" fmla="*/ 48191 h 158487"/>
                <a:gd name="connsiteX4" fmla="*/ 87023 w 149886"/>
                <a:gd name="connsiteY4" fmla="*/ 30230 h 158487"/>
                <a:gd name="connsiteX5" fmla="*/ 36681 w 149886"/>
                <a:gd name="connsiteY5" fmla="*/ 79307 h 158487"/>
                <a:gd name="connsiteX6" fmla="*/ 87023 w 149886"/>
                <a:gd name="connsiteY6" fmla="*/ 128384 h 158487"/>
                <a:gd name="connsiteX7" fmla="*/ 126486 w 149886"/>
                <a:gd name="connsiteY7" fmla="*/ 110170 h 158487"/>
                <a:gd name="connsiteX8" fmla="*/ 149886 w 149886"/>
                <a:gd name="connsiteY8" fmla="*/ 131166 h 158487"/>
                <a:gd name="connsiteX9" fmla="*/ 84999 w 149886"/>
                <a:gd name="connsiteY9" fmla="*/ 158487 h 158487"/>
                <a:gd name="connsiteX10" fmla="*/ 0 w 149886"/>
                <a:gd name="connsiteY10" fmla="*/ 79307 h 158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9886" h="158487">
                  <a:moveTo>
                    <a:pt x="0" y="79307"/>
                  </a:moveTo>
                  <a:cubicBezTo>
                    <a:pt x="0" y="33139"/>
                    <a:pt x="36302" y="0"/>
                    <a:pt x="85252" y="0"/>
                  </a:cubicBezTo>
                  <a:cubicBezTo>
                    <a:pt x="112446" y="0"/>
                    <a:pt x="135088" y="9613"/>
                    <a:pt x="149886" y="27195"/>
                  </a:cubicBezTo>
                  <a:lnTo>
                    <a:pt x="126486" y="48191"/>
                  </a:lnTo>
                  <a:cubicBezTo>
                    <a:pt x="115988" y="36428"/>
                    <a:pt x="102707" y="30230"/>
                    <a:pt x="87023" y="30230"/>
                  </a:cubicBezTo>
                  <a:cubicBezTo>
                    <a:pt x="57678" y="30230"/>
                    <a:pt x="36681" y="50342"/>
                    <a:pt x="36681" y="79307"/>
                  </a:cubicBezTo>
                  <a:cubicBezTo>
                    <a:pt x="36681" y="108272"/>
                    <a:pt x="57551" y="128384"/>
                    <a:pt x="87023" y="128384"/>
                  </a:cubicBezTo>
                  <a:cubicBezTo>
                    <a:pt x="102707" y="128384"/>
                    <a:pt x="115988" y="122186"/>
                    <a:pt x="126486" y="110170"/>
                  </a:cubicBezTo>
                  <a:lnTo>
                    <a:pt x="149886" y="131166"/>
                  </a:lnTo>
                  <a:cubicBezTo>
                    <a:pt x="135088" y="148874"/>
                    <a:pt x="112446" y="158487"/>
                    <a:pt x="84999" y="158487"/>
                  </a:cubicBezTo>
                  <a:cubicBezTo>
                    <a:pt x="36302" y="158614"/>
                    <a:pt x="0" y="125474"/>
                    <a:pt x="0" y="79307"/>
                  </a:cubicBezTo>
                </a:path>
              </a:pathLst>
            </a:custGeom>
            <a:solidFill>
              <a:srgbClr val="F15B40"/>
            </a:solidFill>
            <a:ln w="12614" cap="flat">
              <a:noFill/>
              <a:prstDash val="solid"/>
              <a:miter/>
            </a:ln>
          </p:spPr>
          <p:txBody>
            <a:bodyPr rtlCol="0" anchor="ctr"/>
            <a:lstStyle/>
            <a:p>
              <a:endParaRPr lang="en-IN" sz="1800">
                <a:latin typeface="+mj-lt"/>
              </a:endParaRPr>
            </a:p>
          </p:txBody>
        </p:sp>
        <p:sp>
          <p:nvSpPr>
            <p:cNvPr id="6" name="Freeform: Shape 12">
              <a:extLst>
                <a:ext uri="{FF2B5EF4-FFF2-40B4-BE49-F238E27FC236}">
                  <a16:creationId xmlns:a16="http://schemas.microsoft.com/office/drawing/2014/main" id="{2FC39FA9-B4BD-4E89-A253-2B70D7C57A89}"/>
                </a:ext>
              </a:extLst>
            </p:cNvPr>
            <p:cNvSpPr/>
            <p:nvPr/>
          </p:nvSpPr>
          <p:spPr>
            <a:xfrm>
              <a:off x="11111584" y="6235376"/>
              <a:ext cx="91955" cy="164305"/>
            </a:xfrm>
            <a:custGeom>
              <a:avLst/>
              <a:gdLst>
                <a:gd name="connsiteX0" fmla="*/ 53124 w 91955"/>
                <a:gd name="connsiteY0" fmla="*/ 49077 h 164305"/>
                <a:gd name="connsiteX1" fmla="*/ 84114 w 91955"/>
                <a:gd name="connsiteY1" fmla="*/ 49077 h 164305"/>
                <a:gd name="connsiteX2" fmla="*/ 84114 w 91955"/>
                <a:gd name="connsiteY2" fmla="*/ 75386 h 164305"/>
                <a:gd name="connsiteX3" fmla="*/ 54010 w 91955"/>
                <a:gd name="connsiteY3" fmla="*/ 75386 h 164305"/>
                <a:gd name="connsiteX4" fmla="*/ 53630 w 91955"/>
                <a:gd name="connsiteY4" fmla="*/ 164306 h 164305"/>
                <a:gd name="connsiteX5" fmla="*/ 18594 w 91955"/>
                <a:gd name="connsiteY5" fmla="*/ 164306 h 164305"/>
                <a:gd name="connsiteX6" fmla="*/ 18973 w 91955"/>
                <a:gd name="connsiteY6" fmla="*/ 75386 h 164305"/>
                <a:gd name="connsiteX7" fmla="*/ 0 w 91955"/>
                <a:gd name="connsiteY7" fmla="*/ 75386 h 164305"/>
                <a:gd name="connsiteX8" fmla="*/ 0 w 91955"/>
                <a:gd name="connsiteY8" fmla="*/ 49077 h 164305"/>
                <a:gd name="connsiteX9" fmla="*/ 18973 w 91955"/>
                <a:gd name="connsiteY9" fmla="*/ 49077 h 164305"/>
                <a:gd name="connsiteX10" fmla="*/ 18973 w 91955"/>
                <a:gd name="connsiteY10" fmla="*/ 43764 h 164305"/>
                <a:gd name="connsiteX11" fmla="*/ 65267 w 91955"/>
                <a:gd name="connsiteY11" fmla="*/ 0 h 164305"/>
                <a:gd name="connsiteX12" fmla="*/ 91956 w 91955"/>
                <a:gd name="connsiteY12" fmla="*/ 6324 h 164305"/>
                <a:gd name="connsiteX13" fmla="*/ 82722 w 91955"/>
                <a:gd name="connsiteY13" fmla="*/ 31116 h 164305"/>
                <a:gd name="connsiteX14" fmla="*/ 68556 w 91955"/>
                <a:gd name="connsiteY14" fmla="*/ 26942 h 164305"/>
                <a:gd name="connsiteX15" fmla="*/ 52998 w 91955"/>
                <a:gd name="connsiteY15" fmla="*/ 44017 h 164305"/>
                <a:gd name="connsiteX16" fmla="*/ 52998 w 91955"/>
                <a:gd name="connsiteY16" fmla="*/ 49077 h 16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1955" h="164305">
                  <a:moveTo>
                    <a:pt x="53124" y="49077"/>
                  </a:moveTo>
                  <a:lnTo>
                    <a:pt x="84114" y="49077"/>
                  </a:lnTo>
                  <a:lnTo>
                    <a:pt x="84114" y="75386"/>
                  </a:lnTo>
                  <a:lnTo>
                    <a:pt x="54010" y="75386"/>
                  </a:lnTo>
                  <a:lnTo>
                    <a:pt x="53630" y="164306"/>
                  </a:lnTo>
                  <a:lnTo>
                    <a:pt x="18594" y="164306"/>
                  </a:lnTo>
                  <a:lnTo>
                    <a:pt x="18973" y="75386"/>
                  </a:lnTo>
                  <a:lnTo>
                    <a:pt x="0" y="75386"/>
                  </a:lnTo>
                  <a:lnTo>
                    <a:pt x="0" y="49077"/>
                  </a:lnTo>
                  <a:lnTo>
                    <a:pt x="18973" y="49077"/>
                  </a:lnTo>
                  <a:lnTo>
                    <a:pt x="18973" y="43764"/>
                  </a:lnTo>
                  <a:cubicBezTo>
                    <a:pt x="18973" y="17329"/>
                    <a:pt x="35290" y="0"/>
                    <a:pt x="65267" y="0"/>
                  </a:cubicBezTo>
                  <a:cubicBezTo>
                    <a:pt x="75133" y="0"/>
                    <a:pt x="85505" y="2024"/>
                    <a:pt x="91956" y="6324"/>
                  </a:cubicBezTo>
                  <a:lnTo>
                    <a:pt x="82722" y="31116"/>
                  </a:lnTo>
                  <a:cubicBezTo>
                    <a:pt x="78928" y="28459"/>
                    <a:pt x="73995" y="26942"/>
                    <a:pt x="68556" y="26942"/>
                  </a:cubicBezTo>
                  <a:cubicBezTo>
                    <a:pt x="58184" y="26942"/>
                    <a:pt x="52998" y="32380"/>
                    <a:pt x="52998" y="44017"/>
                  </a:cubicBezTo>
                  <a:lnTo>
                    <a:pt x="52998" y="49077"/>
                  </a:lnTo>
                  <a:close/>
                </a:path>
              </a:pathLst>
            </a:custGeom>
            <a:solidFill>
              <a:srgbClr val="092340"/>
            </a:solidFill>
            <a:ln w="12614" cap="flat">
              <a:noFill/>
              <a:prstDash val="solid"/>
              <a:miter/>
            </a:ln>
          </p:spPr>
          <p:txBody>
            <a:bodyPr rtlCol="0" anchor="ctr"/>
            <a:lstStyle/>
            <a:p>
              <a:endParaRPr lang="en-IN" sz="1800">
                <a:latin typeface="+mj-lt"/>
              </a:endParaRPr>
            </a:p>
          </p:txBody>
        </p:sp>
        <p:sp>
          <p:nvSpPr>
            <p:cNvPr id="9" name="Freeform: Shape 13">
              <a:extLst>
                <a:ext uri="{FF2B5EF4-FFF2-40B4-BE49-F238E27FC236}">
                  <a16:creationId xmlns:a16="http://schemas.microsoft.com/office/drawing/2014/main" id="{02C60B1A-4FB5-D732-7157-61ADD0589F56}"/>
                </a:ext>
              </a:extLst>
            </p:cNvPr>
            <p:cNvSpPr/>
            <p:nvPr/>
          </p:nvSpPr>
          <p:spPr>
            <a:xfrm>
              <a:off x="11202654" y="6278254"/>
              <a:ext cx="132557" cy="121426"/>
            </a:xfrm>
            <a:custGeom>
              <a:avLst/>
              <a:gdLst>
                <a:gd name="connsiteX0" fmla="*/ 0 w 132557"/>
                <a:gd name="connsiteY0" fmla="*/ 60713 h 121426"/>
                <a:gd name="connsiteX1" fmla="*/ 66405 w 132557"/>
                <a:gd name="connsiteY1" fmla="*/ 0 h 121426"/>
                <a:gd name="connsiteX2" fmla="*/ 132558 w 132557"/>
                <a:gd name="connsiteY2" fmla="*/ 60713 h 121426"/>
                <a:gd name="connsiteX3" fmla="*/ 66026 w 132557"/>
                <a:gd name="connsiteY3" fmla="*/ 121427 h 121426"/>
                <a:gd name="connsiteX4" fmla="*/ 0 w 132557"/>
                <a:gd name="connsiteY4" fmla="*/ 60713 h 121426"/>
                <a:gd name="connsiteX5" fmla="*/ 97142 w 132557"/>
                <a:gd name="connsiteY5" fmla="*/ 60713 h 121426"/>
                <a:gd name="connsiteX6" fmla="*/ 66405 w 132557"/>
                <a:gd name="connsiteY6" fmla="*/ 28080 h 121426"/>
                <a:gd name="connsiteX7" fmla="*/ 35416 w 132557"/>
                <a:gd name="connsiteY7" fmla="*/ 60713 h 121426"/>
                <a:gd name="connsiteX8" fmla="*/ 66405 w 132557"/>
                <a:gd name="connsiteY8" fmla="*/ 93347 h 121426"/>
                <a:gd name="connsiteX9" fmla="*/ 97142 w 132557"/>
                <a:gd name="connsiteY9" fmla="*/ 60713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557" h="121426">
                  <a:moveTo>
                    <a:pt x="0" y="60713"/>
                  </a:moveTo>
                  <a:cubicBezTo>
                    <a:pt x="0" y="25171"/>
                    <a:pt x="28080" y="0"/>
                    <a:pt x="66405" y="0"/>
                  </a:cubicBezTo>
                  <a:cubicBezTo>
                    <a:pt x="104731" y="0"/>
                    <a:pt x="132558" y="25171"/>
                    <a:pt x="132558" y="60713"/>
                  </a:cubicBezTo>
                  <a:cubicBezTo>
                    <a:pt x="132558" y="96256"/>
                    <a:pt x="104351" y="121427"/>
                    <a:pt x="66026" y="121427"/>
                  </a:cubicBezTo>
                  <a:cubicBezTo>
                    <a:pt x="27701" y="121427"/>
                    <a:pt x="0" y="96256"/>
                    <a:pt x="0" y="60713"/>
                  </a:cubicBezTo>
                  <a:moveTo>
                    <a:pt x="97142" y="60713"/>
                  </a:moveTo>
                  <a:cubicBezTo>
                    <a:pt x="97142" y="40349"/>
                    <a:pt x="83861" y="28080"/>
                    <a:pt x="66405" y="28080"/>
                  </a:cubicBezTo>
                  <a:cubicBezTo>
                    <a:pt x="48950" y="28080"/>
                    <a:pt x="35416" y="40349"/>
                    <a:pt x="35416" y="60713"/>
                  </a:cubicBezTo>
                  <a:cubicBezTo>
                    <a:pt x="35416" y="81078"/>
                    <a:pt x="48824" y="93347"/>
                    <a:pt x="66405" y="93347"/>
                  </a:cubicBezTo>
                  <a:cubicBezTo>
                    <a:pt x="83987" y="93347"/>
                    <a:pt x="97142" y="81078"/>
                    <a:pt x="97142" y="60713"/>
                  </a:cubicBezTo>
                </a:path>
              </a:pathLst>
            </a:custGeom>
            <a:solidFill>
              <a:srgbClr val="092340"/>
            </a:solidFill>
            <a:ln w="12614" cap="flat">
              <a:noFill/>
              <a:prstDash val="solid"/>
              <a:miter/>
            </a:ln>
          </p:spPr>
          <p:txBody>
            <a:bodyPr rtlCol="0" anchor="ctr"/>
            <a:lstStyle/>
            <a:p>
              <a:endParaRPr lang="en-IN" sz="1800">
                <a:latin typeface="+mj-lt"/>
              </a:endParaRPr>
            </a:p>
          </p:txBody>
        </p:sp>
        <p:sp>
          <p:nvSpPr>
            <p:cNvPr id="10" name="Freeform: Shape 14">
              <a:extLst>
                <a:ext uri="{FF2B5EF4-FFF2-40B4-BE49-F238E27FC236}">
                  <a16:creationId xmlns:a16="http://schemas.microsoft.com/office/drawing/2014/main" id="{703F5C3A-DFAA-9131-14B4-9D7202F4B4E8}"/>
                </a:ext>
              </a:extLst>
            </p:cNvPr>
            <p:cNvSpPr/>
            <p:nvPr/>
          </p:nvSpPr>
          <p:spPr>
            <a:xfrm>
              <a:off x="11358233" y="6278254"/>
              <a:ext cx="76524" cy="121426"/>
            </a:xfrm>
            <a:custGeom>
              <a:avLst/>
              <a:gdLst>
                <a:gd name="connsiteX0" fmla="*/ 76524 w 76524"/>
                <a:gd name="connsiteY0" fmla="*/ 0 h 121426"/>
                <a:gd name="connsiteX1" fmla="*/ 76524 w 76524"/>
                <a:gd name="connsiteY1" fmla="*/ 32001 h 121426"/>
                <a:gd name="connsiteX2" fmla="*/ 68556 w 76524"/>
                <a:gd name="connsiteY2" fmla="*/ 31495 h 121426"/>
                <a:gd name="connsiteX3" fmla="*/ 35922 w 76524"/>
                <a:gd name="connsiteY3" fmla="*/ 64887 h 121426"/>
                <a:gd name="connsiteX4" fmla="*/ 35543 w 76524"/>
                <a:gd name="connsiteY4" fmla="*/ 121427 h 121426"/>
                <a:gd name="connsiteX5" fmla="*/ 0 w 76524"/>
                <a:gd name="connsiteY5" fmla="*/ 121427 h 121426"/>
                <a:gd name="connsiteX6" fmla="*/ 0 w 76524"/>
                <a:gd name="connsiteY6" fmla="*/ 1771 h 121426"/>
                <a:gd name="connsiteX7" fmla="*/ 34278 w 76524"/>
                <a:gd name="connsiteY7" fmla="*/ 1771 h 121426"/>
                <a:gd name="connsiteX8" fmla="*/ 34278 w 76524"/>
                <a:gd name="connsiteY8" fmla="*/ 17582 h 121426"/>
                <a:gd name="connsiteX9" fmla="*/ 76398 w 76524"/>
                <a:gd name="connsiteY9" fmla="*/ 0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524" h="121426">
                  <a:moveTo>
                    <a:pt x="76524" y="0"/>
                  </a:moveTo>
                  <a:lnTo>
                    <a:pt x="76524" y="32001"/>
                  </a:lnTo>
                  <a:cubicBezTo>
                    <a:pt x="73615" y="31748"/>
                    <a:pt x="71338" y="31495"/>
                    <a:pt x="68556" y="31495"/>
                  </a:cubicBezTo>
                  <a:cubicBezTo>
                    <a:pt x="48950" y="31495"/>
                    <a:pt x="35922" y="41993"/>
                    <a:pt x="35922" y="64887"/>
                  </a:cubicBezTo>
                  <a:lnTo>
                    <a:pt x="35543" y="121427"/>
                  </a:lnTo>
                  <a:lnTo>
                    <a:pt x="0" y="121427"/>
                  </a:lnTo>
                  <a:lnTo>
                    <a:pt x="0" y="1771"/>
                  </a:lnTo>
                  <a:lnTo>
                    <a:pt x="34278" y="1771"/>
                  </a:lnTo>
                  <a:lnTo>
                    <a:pt x="34278" y="17582"/>
                  </a:lnTo>
                  <a:cubicBezTo>
                    <a:pt x="42879" y="6071"/>
                    <a:pt x="57551" y="0"/>
                    <a:pt x="76398" y="0"/>
                  </a:cubicBezTo>
                </a:path>
              </a:pathLst>
            </a:custGeom>
            <a:solidFill>
              <a:srgbClr val="092340"/>
            </a:solidFill>
            <a:ln w="12614" cap="flat">
              <a:noFill/>
              <a:prstDash val="solid"/>
              <a:miter/>
            </a:ln>
          </p:spPr>
          <p:txBody>
            <a:bodyPr rtlCol="0" anchor="ctr"/>
            <a:lstStyle/>
            <a:p>
              <a:endParaRPr lang="en-IN" sz="1800">
                <a:latin typeface="+mj-lt"/>
              </a:endParaRPr>
            </a:p>
          </p:txBody>
        </p:sp>
        <p:sp>
          <p:nvSpPr>
            <p:cNvPr id="11" name="Freeform: Shape 15">
              <a:extLst>
                <a:ext uri="{FF2B5EF4-FFF2-40B4-BE49-F238E27FC236}">
                  <a16:creationId xmlns:a16="http://schemas.microsoft.com/office/drawing/2014/main" id="{CA802C14-EBFD-CFBE-99D8-49BC4D7368A9}"/>
                </a:ext>
              </a:extLst>
            </p:cNvPr>
            <p:cNvSpPr/>
            <p:nvPr/>
          </p:nvSpPr>
          <p:spPr>
            <a:xfrm>
              <a:off x="11444243" y="6278381"/>
              <a:ext cx="133696" cy="163799"/>
            </a:xfrm>
            <a:custGeom>
              <a:avLst/>
              <a:gdLst>
                <a:gd name="connsiteX0" fmla="*/ 133696 w 133696"/>
                <a:gd name="connsiteY0" fmla="*/ 1644 h 163799"/>
                <a:gd name="connsiteX1" fmla="*/ 133696 w 133696"/>
                <a:gd name="connsiteY1" fmla="*/ 99798 h 163799"/>
                <a:gd name="connsiteX2" fmla="*/ 65520 w 133696"/>
                <a:gd name="connsiteY2" fmla="*/ 163800 h 163799"/>
                <a:gd name="connsiteX3" fmla="*/ 6198 w 133696"/>
                <a:gd name="connsiteY3" fmla="*/ 147609 h 163799"/>
                <a:gd name="connsiteX4" fmla="*/ 20111 w 133696"/>
                <a:gd name="connsiteY4" fmla="*/ 123071 h 163799"/>
                <a:gd name="connsiteX5" fmla="*/ 62737 w 133696"/>
                <a:gd name="connsiteY5" fmla="*/ 136479 h 163799"/>
                <a:gd name="connsiteX6" fmla="*/ 98533 w 133696"/>
                <a:gd name="connsiteY6" fmla="*/ 104225 h 163799"/>
                <a:gd name="connsiteX7" fmla="*/ 98533 w 133696"/>
                <a:gd name="connsiteY7" fmla="*/ 99165 h 163799"/>
                <a:gd name="connsiteX8" fmla="*/ 60334 w 133696"/>
                <a:gd name="connsiteY8" fmla="*/ 113838 h 163799"/>
                <a:gd name="connsiteX9" fmla="*/ 0 w 133696"/>
                <a:gd name="connsiteY9" fmla="*/ 56919 h 163799"/>
                <a:gd name="connsiteX10" fmla="*/ 60334 w 133696"/>
                <a:gd name="connsiteY10" fmla="*/ 0 h 163799"/>
                <a:gd name="connsiteX11" fmla="*/ 100304 w 133696"/>
                <a:gd name="connsiteY11" fmla="*/ 16823 h 163799"/>
                <a:gd name="connsiteX12" fmla="*/ 100304 w 133696"/>
                <a:gd name="connsiteY12" fmla="*/ 1771 h 163799"/>
                <a:gd name="connsiteX13" fmla="*/ 133570 w 133696"/>
                <a:gd name="connsiteY13" fmla="*/ 1771 h 163799"/>
                <a:gd name="connsiteX14" fmla="*/ 99165 w 133696"/>
                <a:gd name="connsiteY14" fmla="*/ 56792 h 163799"/>
                <a:gd name="connsiteX15" fmla="*/ 67544 w 133696"/>
                <a:gd name="connsiteY15" fmla="*/ 27827 h 163799"/>
                <a:gd name="connsiteX16" fmla="*/ 35669 w 133696"/>
                <a:gd name="connsiteY16" fmla="*/ 56792 h 163799"/>
                <a:gd name="connsiteX17" fmla="*/ 67544 w 133696"/>
                <a:gd name="connsiteY17" fmla="*/ 85758 h 163799"/>
                <a:gd name="connsiteX18" fmla="*/ 99165 w 133696"/>
                <a:gd name="connsiteY18" fmla="*/ 56792 h 163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3696" h="163799">
                  <a:moveTo>
                    <a:pt x="133696" y="1644"/>
                  </a:moveTo>
                  <a:lnTo>
                    <a:pt x="133696" y="99798"/>
                  </a:lnTo>
                  <a:cubicBezTo>
                    <a:pt x="133696" y="143562"/>
                    <a:pt x="109158" y="163800"/>
                    <a:pt x="65520" y="163800"/>
                  </a:cubicBezTo>
                  <a:cubicBezTo>
                    <a:pt x="42626" y="163800"/>
                    <a:pt x="20364" y="158361"/>
                    <a:pt x="6198" y="147609"/>
                  </a:cubicBezTo>
                  <a:lnTo>
                    <a:pt x="20111" y="123071"/>
                  </a:lnTo>
                  <a:cubicBezTo>
                    <a:pt x="30483" y="131166"/>
                    <a:pt x="47306" y="136479"/>
                    <a:pt x="62737" y="136479"/>
                  </a:cubicBezTo>
                  <a:cubicBezTo>
                    <a:pt x="87402" y="136479"/>
                    <a:pt x="98533" y="125474"/>
                    <a:pt x="98533" y="104225"/>
                  </a:cubicBezTo>
                  <a:lnTo>
                    <a:pt x="98533" y="99165"/>
                  </a:lnTo>
                  <a:cubicBezTo>
                    <a:pt x="89299" y="109031"/>
                    <a:pt x="76145" y="113838"/>
                    <a:pt x="60334" y="113838"/>
                  </a:cubicBezTo>
                  <a:cubicBezTo>
                    <a:pt x="26942" y="113838"/>
                    <a:pt x="0" y="91323"/>
                    <a:pt x="0" y="56919"/>
                  </a:cubicBezTo>
                  <a:cubicBezTo>
                    <a:pt x="0" y="22515"/>
                    <a:pt x="26942" y="0"/>
                    <a:pt x="60334" y="0"/>
                  </a:cubicBezTo>
                  <a:cubicBezTo>
                    <a:pt x="77157" y="0"/>
                    <a:pt x="91070" y="5439"/>
                    <a:pt x="100304" y="16823"/>
                  </a:cubicBezTo>
                  <a:lnTo>
                    <a:pt x="100304" y="1771"/>
                  </a:lnTo>
                  <a:lnTo>
                    <a:pt x="133570" y="1771"/>
                  </a:lnTo>
                  <a:close/>
                  <a:moveTo>
                    <a:pt x="99165" y="56792"/>
                  </a:moveTo>
                  <a:cubicBezTo>
                    <a:pt x="99165" y="39464"/>
                    <a:pt x="85884" y="27827"/>
                    <a:pt x="67544" y="27827"/>
                  </a:cubicBezTo>
                  <a:cubicBezTo>
                    <a:pt x="49203" y="27827"/>
                    <a:pt x="35669" y="39464"/>
                    <a:pt x="35669" y="56792"/>
                  </a:cubicBezTo>
                  <a:cubicBezTo>
                    <a:pt x="35669" y="74121"/>
                    <a:pt x="49203" y="85758"/>
                    <a:pt x="67544" y="85758"/>
                  </a:cubicBezTo>
                  <a:cubicBezTo>
                    <a:pt x="85884" y="85758"/>
                    <a:pt x="99165" y="74121"/>
                    <a:pt x="99165" y="56792"/>
                  </a:cubicBezTo>
                </a:path>
              </a:pathLst>
            </a:custGeom>
            <a:solidFill>
              <a:srgbClr val="092340"/>
            </a:solidFill>
            <a:ln w="12614" cap="flat">
              <a:noFill/>
              <a:prstDash val="solid"/>
              <a:miter/>
            </a:ln>
          </p:spPr>
          <p:txBody>
            <a:bodyPr rtlCol="0" anchor="ctr"/>
            <a:lstStyle/>
            <a:p>
              <a:endParaRPr lang="en-IN" sz="1800">
                <a:latin typeface="+mj-lt"/>
              </a:endParaRPr>
            </a:p>
          </p:txBody>
        </p:sp>
        <p:sp>
          <p:nvSpPr>
            <p:cNvPr id="12" name="Freeform: Shape 16">
              <a:extLst>
                <a:ext uri="{FF2B5EF4-FFF2-40B4-BE49-F238E27FC236}">
                  <a16:creationId xmlns:a16="http://schemas.microsoft.com/office/drawing/2014/main" id="{8154BE5B-2F05-FB6F-BC46-5131AC718568}"/>
                </a:ext>
              </a:extLst>
            </p:cNvPr>
            <p:cNvSpPr/>
            <p:nvPr/>
          </p:nvSpPr>
          <p:spPr>
            <a:xfrm>
              <a:off x="11601593" y="6278254"/>
              <a:ext cx="127245" cy="121426"/>
            </a:xfrm>
            <a:custGeom>
              <a:avLst/>
              <a:gdLst>
                <a:gd name="connsiteX0" fmla="*/ 126613 w 127245"/>
                <a:gd name="connsiteY0" fmla="*/ 70326 h 121426"/>
                <a:gd name="connsiteX1" fmla="*/ 35290 w 127245"/>
                <a:gd name="connsiteY1" fmla="*/ 70326 h 121426"/>
                <a:gd name="connsiteX2" fmla="*/ 69821 w 127245"/>
                <a:gd name="connsiteY2" fmla="*/ 93979 h 121426"/>
                <a:gd name="connsiteX3" fmla="*/ 100177 w 127245"/>
                <a:gd name="connsiteY3" fmla="*/ 82596 h 121426"/>
                <a:gd name="connsiteX4" fmla="*/ 118771 w 127245"/>
                <a:gd name="connsiteY4" fmla="*/ 102327 h 121426"/>
                <a:gd name="connsiteX5" fmla="*/ 68556 w 127245"/>
                <a:gd name="connsiteY5" fmla="*/ 121427 h 121426"/>
                <a:gd name="connsiteX6" fmla="*/ 0 w 127245"/>
                <a:gd name="connsiteY6" fmla="*/ 60713 h 121426"/>
                <a:gd name="connsiteX7" fmla="*/ 64382 w 127245"/>
                <a:gd name="connsiteY7" fmla="*/ 0 h 121426"/>
                <a:gd name="connsiteX8" fmla="*/ 127245 w 127245"/>
                <a:gd name="connsiteY8" fmla="*/ 61093 h 121426"/>
                <a:gd name="connsiteX9" fmla="*/ 126613 w 127245"/>
                <a:gd name="connsiteY9" fmla="*/ 70326 h 121426"/>
                <a:gd name="connsiteX10" fmla="*/ 34784 w 127245"/>
                <a:gd name="connsiteY10" fmla="*/ 50342 h 121426"/>
                <a:gd name="connsiteX11" fmla="*/ 94232 w 127245"/>
                <a:gd name="connsiteY11" fmla="*/ 50342 h 121426"/>
                <a:gd name="connsiteX12" fmla="*/ 64635 w 127245"/>
                <a:gd name="connsiteY12" fmla="*/ 25803 h 121426"/>
                <a:gd name="connsiteX13" fmla="*/ 34784 w 127245"/>
                <a:gd name="connsiteY13" fmla="*/ 50342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7245" h="121426">
                  <a:moveTo>
                    <a:pt x="126613" y="70326"/>
                  </a:moveTo>
                  <a:lnTo>
                    <a:pt x="35290" y="70326"/>
                  </a:lnTo>
                  <a:cubicBezTo>
                    <a:pt x="38705" y="84999"/>
                    <a:pt x="51480" y="93979"/>
                    <a:pt x="69821" y="93979"/>
                  </a:cubicBezTo>
                  <a:cubicBezTo>
                    <a:pt x="82596" y="93979"/>
                    <a:pt x="91829" y="90311"/>
                    <a:pt x="100177" y="82596"/>
                  </a:cubicBezTo>
                  <a:lnTo>
                    <a:pt x="118771" y="102327"/>
                  </a:lnTo>
                  <a:cubicBezTo>
                    <a:pt x="107514" y="114850"/>
                    <a:pt x="90311" y="121427"/>
                    <a:pt x="68556" y="121427"/>
                  </a:cubicBezTo>
                  <a:cubicBezTo>
                    <a:pt x="26815" y="121427"/>
                    <a:pt x="0" y="95750"/>
                    <a:pt x="0" y="60713"/>
                  </a:cubicBezTo>
                  <a:cubicBezTo>
                    <a:pt x="0" y="25677"/>
                    <a:pt x="27574" y="0"/>
                    <a:pt x="64382" y="0"/>
                  </a:cubicBezTo>
                  <a:cubicBezTo>
                    <a:pt x="101189" y="0"/>
                    <a:pt x="127245" y="23273"/>
                    <a:pt x="127245" y="61093"/>
                  </a:cubicBezTo>
                  <a:cubicBezTo>
                    <a:pt x="127245" y="63749"/>
                    <a:pt x="126739" y="67417"/>
                    <a:pt x="126613" y="70326"/>
                  </a:cubicBezTo>
                  <a:moveTo>
                    <a:pt x="34784" y="50342"/>
                  </a:moveTo>
                  <a:lnTo>
                    <a:pt x="94232" y="50342"/>
                  </a:lnTo>
                  <a:cubicBezTo>
                    <a:pt x="91703" y="35416"/>
                    <a:pt x="80319" y="25803"/>
                    <a:pt x="64635" y="25803"/>
                  </a:cubicBezTo>
                  <a:cubicBezTo>
                    <a:pt x="48950" y="25803"/>
                    <a:pt x="37313" y="35163"/>
                    <a:pt x="34784" y="50342"/>
                  </a:cubicBezTo>
                </a:path>
              </a:pathLst>
            </a:custGeom>
            <a:solidFill>
              <a:srgbClr val="092340"/>
            </a:solidFill>
            <a:ln w="12614" cap="flat">
              <a:noFill/>
              <a:prstDash val="solid"/>
              <a:miter/>
            </a:ln>
          </p:spPr>
          <p:txBody>
            <a:bodyPr rtlCol="0" anchor="ctr"/>
            <a:lstStyle/>
            <a:p>
              <a:endParaRPr lang="en-IN" sz="1800">
                <a:latin typeface="+mj-lt"/>
              </a:endParaRPr>
            </a:p>
          </p:txBody>
        </p:sp>
        <p:sp>
          <p:nvSpPr>
            <p:cNvPr id="13" name="Freeform: Shape 17">
              <a:extLst>
                <a:ext uri="{FF2B5EF4-FFF2-40B4-BE49-F238E27FC236}">
                  <a16:creationId xmlns:a16="http://schemas.microsoft.com/office/drawing/2014/main" id="{5FE7C0A1-186C-5020-5AAB-5FD9CD026FA7}"/>
                </a:ext>
              </a:extLst>
            </p:cNvPr>
            <p:cNvSpPr/>
            <p:nvPr/>
          </p:nvSpPr>
          <p:spPr>
            <a:xfrm>
              <a:off x="10965619" y="6278254"/>
              <a:ext cx="66278" cy="121426"/>
            </a:xfrm>
            <a:custGeom>
              <a:avLst/>
              <a:gdLst>
                <a:gd name="connsiteX0" fmla="*/ 66279 w 66278"/>
                <a:gd name="connsiteY0" fmla="*/ 93347 h 121426"/>
                <a:gd name="connsiteX1" fmla="*/ 35416 w 66278"/>
                <a:gd name="connsiteY1" fmla="*/ 60713 h 121426"/>
                <a:gd name="connsiteX2" fmla="*/ 66279 w 66278"/>
                <a:gd name="connsiteY2" fmla="*/ 28080 h 121426"/>
                <a:gd name="connsiteX3" fmla="*/ 66279 w 66278"/>
                <a:gd name="connsiteY3" fmla="*/ 0 h 121426"/>
                <a:gd name="connsiteX4" fmla="*/ 0 w 66278"/>
                <a:gd name="connsiteY4" fmla="*/ 60713 h 121426"/>
                <a:gd name="connsiteX5" fmla="*/ 66026 w 66278"/>
                <a:gd name="connsiteY5" fmla="*/ 121427 h 121426"/>
                <a:gd name="connsiteX6" fmla="*/ 66279 w 66278"/>
                <a:gd name="connsiteY6" fmla="*/ 121427 h 121426"/>
                <a:gd name="connsiteX7" fmla="*/ 66279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66279" y="93347"/>
                  </a:moveTo>
                  <a:cubicBezTo>
                    <a:pt x="48824" y="93347"/>
                    <a:pt x="35416" y="81078"/>
                    <a:pt x="35416" y="60713"/>
                  </a:cubicBezTo>
                  <a:cubicBezTo>
                    <a:pt x="35416" y="40349"/>
                    <a:pt x="48824" y="28080"/>
                    <a:pt x="66279" y="28080"/>
                  </a:cubicBezTo>
                  <a:lnTo>
                    <a:pt x="66279" y="0"/>
                  </a:lnTo>
                  <a:cubicBezTo>
                    <a:pt x="27954" y="0"/>
                    <a:pt x="0" y="25171"/>
                    <a:pt x="0" y="60713"/>
                  </a:cubicBezTo>
                  <a:cubicBezTo>
                    <a:pt x="0" y="96256"/>
                    <a:pt x="27701" y="121427"/>
                    <a:pt x="66026" y="121427"/>
                  </a:cubicBezTo>
                  <a:cubicBezTo>
                    <a:pt x="66026" y="121427"/>
                    <a:pt x="66152" y="121427"/>
                    <a:pt x="66279" y="121427"/>
                  </a:cubicBezTo>
                  <a:lnTo>
                    <a:pt x="66279" y="93347"/>
                  </a:lnTo>
                  <a:close/>
                </a:path>
              </a:pathLst>
            </a:custGeom>
            <a:solidFill>
              <a:srgbClr val="F15B40"/>
            </a:solidFill>
            <a:ln w="12614" cap="flat">
              <a:noFill/>
              <a:prstDash val="solid"/>
              <a:miter/>
            </a:ln>
          </p:spPr>
          <p:txBody>
            <a:bodyPr rtlCol="0" anchor="ctr"/>
            <a:lstStyle/>
            <a:p>
              <a:endParaRPr lang="en-IN" sz="1800">
                <a:latin typeface="+mj-lt"/>
              </a:endParaRPr>
            </a:p>
          </p:txBody>
        </p:sp>
        <p:sp>
          <p:nvSpPr>
            <p:cNvPr id="14" name="Freeform: Shape 18">
              <a:extLst>
                <a:ext uri="{FF2B5EF4-FFF2-40B4-BE49-F238E27FC236}">
                  <a16:creationId xmlns:a16="http://schemas.microsoft.com/office/drawing/2014/main" id="{F34AE91A-7473-8E25-38F9-3A2AA525A583}"/>
                </a:ext>
              </a:extLst>
            </p:cNvPr>
            <p:cNvSpPr/>
            <p:nvPr/>
          </p:nvSpPr>
          <p:spPr>
            <a:xfrm>
              <a:off x="11031898" y="6278254"/>
              <a:ext cx="66278" cy="121426"/>
            </a:xfrm>
            <a:custGeom>
              <a:avLst/>
              <a:gdLst>
                <a:gd name="connsiteX0" fmla="*/ 0 w 66278"/>
                <a:gd name="connsiteY0" fmla="*/ 93347 h 121426"/>
                <a:gd name="connsiteX1" fmla="*/ 30863 w 66278"/>
                <a:gd name="connsiteY1" fmla="*/ 60713 h 121426"/>
                <a:gd name="connsiteX2" fmla="*/ 0 w 66278"/>
                <a:gd name="connsiteY2" fmla="*/ 28080 h 121426"/>
                <a:gd name="connsiteX3" fmla="*/ 0 w 66278"/>
                <a:gd name="connsiteY3" fmla="*/ 0 h 121426"/>
                <a:gd name="connsiteX4" fmla="*/ 66279 w 66278"/>
                <a:gd name="connsiteY4" fmla="*/ 60713 h 121426"/>
                <a:gd name="connsiteX5" fmla="*/ 253 w 66278"/>
                <a:gd name="connsiteY5" fmla="*/ 121427 h 121426"/>
                <a:gd name="connsiteX6" fmla="*/ 0 w 66278"/>
                <a:gd name="connsiteY6" fmla="*/ 121427 h 121426"/>
                <a:gd name="connsiteX7" fmla="*/ 0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0" y="93347"/>
                  </a:moveTo>
                  <a:cubicBezTo>
                    <a:pt x="17455" y="93347"/>
                    <a:pt x="30863" y="81078"/>
                    <a:pt x="30863" y="60713"/>
                  </a:cubicBezTo>
                  <a:cubicBezTo>
                    <a:pt x="30863" y="40349"/>
                    <a:pt x="17455" y="28080"/>
                    <a:pt x="0" y="28080"/>
                  </a:cubicBezTo>
                  <a:lnTo>
                    <a:pt x="0" y="0"/>
                  </a:lnTo>
                  <a:cubicBezTo>
                    <a:pt x="38325" y="0"/>
                    <a:pt x="66279" y="25171"/>
                    <a:pt x="66279" y="60713"/>
                  </a:cubicBezTo>
                  <a:cubicBezTo>
                    <a:pt x="66279" y="96256"/>
                    <a:pt x="38578" y="121427"/>
                    <a:pt x="253" y="121427"/>
                  </a:cubicBezTo>
                  <a:cubicBezTo>
                    <a:pt x="253" y="121427"/>
                    <a:pt x="126" y="121427"/>
                    <a:pt x="0" y="121427"/>
                  </a:cubicBezTo>
                  <a:lnTo>
                    <a:pt x="0" y="93347"/>
                  </a:lnTo>
                  <a:close/>
                </a:path>
              </a:pathLst>
            </a:custGeom>
            <a:solidFill>
              <a:srgbClr val="092340"/>
            </a:solidFill>
            <a:ln w="12614" cap="flat">
              <a:noFill/>
              <a:prstDash val="solid"/>
              <a:miter/>
            </a:ln>
          </p:spPr>
          <p:txBody>
            <a:bodyPr rtlCol="0" anchor="ctr"/>
            <a:lstStyle/>
            <a:p>
              <a:endParaRPr lang="en-IN" sz="1800">
                <a:latin typeface="+mj-lt"/>
              </a:endParaRPr>
            </a:p>
          </p:txBody>
        </p:sp>
      </p:grpSp>
      <p:pic>
        <p:nvPicPr>
          <p:cNvPr id="15" name="Graphic 1">
            <a:extLst>
              <a:ext uri="{FF2B5EF4-FFF2-40B4-BE49-F238E27FC236}">
                <a16:creationId xmlns:a16="http://schemas.microsoft.com/office/drawing/2014/main" id="{C72F4EE0-47B6-F2AC-A92D-B4B8BB91C344}"/>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293554" y="6403281"/>
            <a:ext cx="11628000" cy="25954"/>
          </a:xfrm>
          <a:prstGeom prst="rect">
            <a:avLst/>
          </a:prstGeom>
        </p:spPr>
      </p:pic>
      <p:cxnSp>
        <p:nvCxnSpPr>
          <p:cNvPr id="16" name="Straight Connector 15">
            <a:extLst>
              <a:ext uri="{FF2B5EF4-FFF2-40B4-BE49-F238E27FC236}">
                <a16:creationId xmlns:a16="http://schemas.microsoft.com/office/drawing/2014/main" id="{039497DA-7C92-4A96-AA5F-465C4E518768}"/>
              </a:ext>
            </a:extLst>
          </p:cNvPr>
          <p:cNvCxnSpPr/>
          <p:nvPr/>
        </p:nvCxnSpPr>
        <p:spPr>
          <a:xfrm>
            <a:off x="606548" y="6525400"/>
            <a:ext cx="0" cy="2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Footer Placeholder 4">
            <a:extLst>
              <a:ext uri="{FF2B5EF4-FFF2-40B4-BE49-F238E27FC236}">
                <a16:creationId xmlns:a16="http://schemas.microsoft.com/office/drawing/2014/main" id="{2CB89D83-4FDB-8309-D2AB-1E638CC8A1CF}"/>
              </a:ext>
            </a:extLst>
          </p:cNvPr>
          <p:cNvSpPr txBox="1">
            <a:spLocks/>
          </p:cNvSpPr>
          <p:nvPr/>
        </p:nvSpPr>
        <p:spPr>
          <a:xfrm>
            <a:off x="747006" y="6461057"/>
            <a:ext cx="4114800" cy="365125"/>
          </a:xfrm>
          <a:prstGeom prst="rect">
            <a:avLst/>
          </a:prstGeom>
        </p:spPr>
        <p:txBody>
          <a:bodyPr vert="horz" lIns="0" tIns="45720" rIns="91440" bIns="45720"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tx1"/>
                </a:solidFill>
                <a:latin typeface="+mj-lt"/>
              </a:rPr>
              <a:t>© </a:t>
            </a:r>
            <a:r>
              <a:rPr lang="en-IN" sz="1000" err="1">
                <a:solidFill>
                  <a:schemeClr val="tx1"/>
                </a:solidFill>
                <a:latin typeface="+mj-lt"/>
              </a:rPr>
              <a:t>Coforge</a:t>
            </a:r>
            <a:r>
              <a:rPr lang="en-IN" sz="1000">
                <a:solidFill>
                  <a:schemeClr val="tx1"/>
                </a:solidFill>
                <a:latin typeface="+mj-lt"/>
              </a:rPr>
              <a:t>, 2025 | Confidential</a:t>
            </a:r>
          </a:p>
        </p:txBody>
      </p:sp>
      <p:sp>
        <p:nvSpPr>
          <p:cNvPr id="18" name="Footer Placeholder 4">
            <a:extLst>
              <a:ext uri="{FF2B5EF4-FFF2-40B4-BE49-F238E27FC236}">
                <a16:creationId xmlns:a16="http://schemas.microsoft.com/office/drawing/2014/main" id="{0BE9D8D4-3ACF-F9F8-3172-2D7A0B8E055C}"/>
              </a:ext>
            </a:extLst>
          </p:cNvPr>
          <p:cNvSpPr txBox="1">
            <a:spLocks/>
          </p:cNvSpPr>
          <p:nvPr/>
        </p:nvSpPr>
        <p:spPr>
          <a:xfrm>
            <a:off x="200216" y="6448769"/>
            <a:ext cx="410916" cy="365125"/>
          </a:xfrm>
          <a:prstGeom prst="rect">
            <a:avLst/>
          </a:prstGeom>
        </p:spPr>
        <p:txBody>
          <a:bodyPr vert="horz" lIns="0" tIns="45720" rIns="91440" bIns="45720"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785132-0981-44D9-9CCF-B39EFD8AF1CE}" type="slidenum">
              <a:rPr lang="en-IN" sz="1400" b="1" smtClean="0">
                <a:solidFill>
                  <a:schemeClr val="tx1"/>
                </a:solidFill>
                <a:latin typeface="+mj-lt"/>
              </a:rPr>
              <a:pPr algn="r"/>
              <a:t>‹#›</a:t>
            </a:fld>
            <a:endParaRPr lang="en-IN" sz="1400" b="1">
              <a:solidFill>
                <a:schemeClr val="tx1"/>
              </a:solidFill>
              <a:latin typeface="+mj-lt"/>
            </a:endParaRPr>
          </a:p>
        </p:txBody>
      </p:sp>
    </p:spTree>
    <p:extLst>
      <p:ext uri="{BB962C8B-B14F-4D97-AF65-F5344CB8AC3E}">
        <p14:creationId xmlns:p14="http://schemas.microsoft.com/office/powerpoint/2010/main" val="2269564350"/>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Lst>
  <p:txStyles>
    <p:titleStyle>
      <a:lvl1pPr algn="l" defTabSz="914378" rtl="0" eaLnBrk="1" latinLnBrk="0" hangingPunct="1">
        <a:lnSpc>
          <a:spcPct val="90000"/>
        </a:lnSpc>
        <a:spcBef>
          <a:spcPct val="0"/>
        </a:spcBef>
        <a:buNone/>
        <a:defRPr sz="3200" b="1" kern="1200">
          <a:solidFill>
            <a:schemeClr val="accent1"/>
          </a:solidFill>
          <a:latin typeface="+mj-lt"/>
          <a:ea typeface="+mj-ea"/>
          <a:cs typeface="+mj-cs"/>
        </a:defRPr>
      </a:lvl1pPr>
    </p:titleStyle>
    <p:bodyStyle>
      <a:lvl1pPr marL="228594" indent="-228594" algn="l" defTabSz="914378" rtl="0" eaLnBrk="1" latinLnBrk="0" hangingPunct="1">
        <a:lnSpc>
          <a:spcPct val="90000"/>
        </a:lnSpc>
        <a:spcBef>
          <a:spcPts val="1000"/>
        </a:spcBef>
        <a:buFont typeface="Arial" panose="020B0604020202020204" pitchFamily="34" charset="0"/>
        <a:buChar char="•"/>
        <a:defRPr sz="1800" kern="1200">
          <a:solidFill>
            <a:schemeClr val="tx1"/>
          </a:solidFill>
          <a:latin typeface="+mj-lt"/>
          <a:ea typeface="+mn-ea"/>
          <a:cs typeface="+mn-cs"/>
        </a:defRPr>
      </a:lvl1pPr>
      <a:lvl2pPr marL="68578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2pPr>
      <a:lvl3pPr marL="1142972"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3pPr>
      <a:lvl4pPr marL="1600160"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348"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0.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8.png"/><Relationship Id="rId3" Type="http://schemas.openxmlformats.org/officeDocument/2006/relationships/image" Target="../media/image24.png"/><Relationship Id="rId21" Type="http://schemas.openxmlformats.org/officeDocument/2006/relationships/image" Target="../media/image41.png"/><Relationship Id="rId7" Type="http://schemas.openxmlformats.org/officeDocument/2006/relationships/image" Target="../media/image28.png"/><Relationship Id="rId12" Type="http://schemas.openxmlformats.org/officeDocument/2006/relationships/image" Target="../media/image33.png"/><Relationship Id="rId17" Type="http://schemas.microsoft.com/office/2007/relationships/hdphoto" Target="../media/hdphoto1.wdp"/><Relationship Id="rId2" Type="http://schemas.openxmlformats.org/officeDocument/2006/relationships/notesSlide" Target="../notesSlides/notesSlide2.xml"/><Relationship Id="rId16" Type="http://schemas.openxmlformats.org/officeDocument/2006/relationships/image" Target="../media/image37.png"/><Relationship Id="rId20"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24" Type="http://schemas.openxmlformats.org/officeDocument/2006/relationships/image" Target="../media/image44.png"/><Relationship Id="rId5" Type="http://schemas.openxmlformats.org/officeDocument/2006/relationships/image" Target="../media/image26.png"/><Relationship Id="rId15" Type="http://schemas.openxmlformats.org/officeDocument/2006/relationships/image" Target="../media/image36.png"/><Relationship Id="rId23" Type="http://schemas.openxmlformats.org/officeDocument/2006/relationships/image" Target="../media/image43.png"/><Relationship Id="rId10" Type="http://schemas.openxmlformats.org/officeDocument/2006/relationships/image" Target="../media/image31.png"/><Relationship Id="rId19" Type="http://schemas.openxmlformats.org/officeDocument/2006/relationships/image" Target="../media/image39.sv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 Id="rId22" Type="http://schemas.openxmlformats.org/officeDocument/2006/relationships/image" Target="../media/image4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svg"/><Relationship Id="rId1" Type="http://schemas.openxmlformats.org/officeDocument/2006/relationships/slideLayout" Target="../slideLayouts/slideLayout2.xml"/><Relationship Id="rId4" Type="http://schemas.openxmlformats.org/officeDocument/2006/relationships/image" Target="../media/image47.svg"/></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14.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2.svg"/><Relationship Id="rId1" Type="http://schemas.openxmlformats.org/officeDocument/2006/relationships/slideLayout" Target="../slideLayouts/slideLayout2.xml"/><Relationship Id="rId4" Type="http://schemas.openxmlformats.org/officeDocument/2006/relationships/image" Target="../media/image54.svg"/></Relationships>
</file>

<file path=ppt/slides/_rels/slide20.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57.svg"/><Relationship Id="rId4" Type="http://schemas.openxmlformats.org/officeDocument/2006/relationships/image" Target="../media/image56.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2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2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2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A81A6EE-8651-1B27-1300-4B48503BFB2E}"/>
              </a:ext>
            </a:extLst>
          </p:cNvPr>
          <p:cNvSpPr txBox="1">
            <a:spLocks/>
          </p:cNvSpPr>
          <p:nvPr/>
        </p:nvSpPr>
        <p:spPr>
          <a:xfrm>
            <a:off x="409375" y="2534611"/>
            <a:ext cx="6124887" cy="1212231"/>
          </a:xfrm>
          <a:prstGeom prst="rect">
            <a:avLst/>
          </a:prstGeom>
        </p:spPr>
        <p:txBody>
          <a:bodyPr vert="horz" lIns="0" tIns="45720" rIns="91440" bIns="45720" rtlCol="0" anchor="ctr">
            <a:noAutofit/>
          </a:bodyPr>
          <a:lstStyle>
            <a:lvl1pPr algn="l" defTabSz="914378" rtl="0" eaLnBrk="1" latinLnBrk="0" hangingPunct="1">
              <a:lnSpc>
                <a:spcPct val="90000"/>
              </a:lnSpc>
              <a:spcBef>
                <a:spcPct val="0"/>
              </a:spcBef>
              <a:buNone/>
              <a:defRPr sz="3200" b="1" kern="1200">
                <a:solidFill>
                  <a:schemeClr val="accent1"/>
                </a:solidFill>
                <a:latin typeface="+mj-lt"/>
                <a:ea typeface="+mj-ea"/>
                <a:cs typeface="+mj-cs"/>
              </a:defRPr>
            </a:lvl1pPr>
          </a:lstStyle>
          <a:p>
            <a:pPr defTabSz="914400">
              <a:lnSpc>
                <a:spcPct val="100000"/>
              </a:lnSpc>
              <a:spcBef>
                <a:spcPts val="0"/>
              </a:spcBef>
              <a:defRPr/>
            </a:pPr>
            <a:r>
              <a:rPr lang="en-US" sz="4400">
                <a:ea typeface="Tahoma" panose="020B0604030504040204" pitchFamily="34" charset="0"/>
                <a:cs typeface="Tahoma" panose="020B0604030504040204" pitchFamily="34" charset="0"/>
              </a:rPr>
              <a:t>Coforge AI GTM </a:t>
            </a:r>
            <a:r>
              <a:rPr lang="en-US" sz="2800">
                <a:solidFill>
                  <a:srgbClr val="082340"/>
                </a:solidFill>
                <a:latin typeface="Tahoma"/>
                <a:ea typeface="Tahoma" panose="020B0604030504040204" pitchFamily="34" charset="0"/>
                <a:cs typeface="Tahoma" panose="020B0604030504040204" pitchFamily="34" charset="0"/>
              </a:rPr>
              <a:t>Enabling the AI-first vision</a:t>
            </a:r>
            <a:endParaRPr lang="en-US" sz="4400"/>
          </a:p>
        </p:txBody>
      </p:sp>
      <p:sp>
        <p:nvSpPr>
          <p:cNvPr id="2" name="TextBox 1">
            <a:extLst>
              <a:ext uri="{FF2B5EF4-FFF2-40B4-BE49-F238E27FC236}">
                <a16:creationId xmlns:a16="http://schemas.microsoft.com/office/drawing/2014/main" id="{182876F1-7B61-0FBF-1FA7-B4D4F18FAD6A}"/>
              </a:ext>
            </a:extLst>
          </p:cNvPr>
          <p:cNvSpPr txBox="1"/>
          <p:nvPr/>
        </p:nvSpPr>
        <p:spPr>
          <a:xfrm>
            <a:off x="9419573" y="1828800"/>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579158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C5671-D92B-5644-4DBB-5409F13A7470}"/>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EB592698-7E20-FF45-08B9-598D82CF33E7}"/>
              </a:ext>
            </a:extLst>
          </p:cNvPr>
          <p:cNvSpPr>
            <a:spLocks noGrp="1"/>
          </p:cNvSpPr>
          <p:nvPr>
            <p:ph type="title"/>
          </p:nvPr>
        </p:nvSpPr>
        <p:spPr/>
        <p:txBody>
          <a:bodyPr>
            <a:normAutofit/>
          </a:bodyPr>
          <a:lstStyle/>
          <a:p>
            <a:r>
              <a:rPr lang="en-US"/>
              <a:t>We are </a:t>
            </a:r>
            <a:r>
              <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fusing our DNA of deep engineering and industry domain </a:t>
            </a:r>
            <a:r>
              <a:rPr lang="en-US"/>
              <a:t>expertise with AI engineering skills to drive </a:t>
            </a:r>
            <a:r>
              <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AI adoption at scale</a:t>
            </a:r>
          </a:p>
        </p:txBody>
      </p:sp>
      <p:sp>
        <p:nvSpPr>
          <p:cNvPr id="16" name="TextBox 15">
            <a:extLst>
              <a:ext uri="{FF2B5EF4-FFF2-40B4-BE49-F238E27FC236}">
                <a16:creationId xmlns:a16="http://schemas.microsoft.com/office/drawing/2014/main" id="{BF4E8768-2F1F-7621-71EE-E02EA305EF0E}"/>
              </a:ext>
            </a:extLst>
          </p:cNvPr>
          <p:cNvSpPr txBox="1"/>
          <p:nvPr/>
        </p:nvSpPr>
        <p:spPr>
          <a:xfrm>
            <a:off x="658314" y="1584329"/>
            <a:ext cx="10287000" cy="300082"/>
          </a:xfrm>
          <a:prstGeom prst="rect">
            <a:avLst/>
          </a:prstGeom>
          <a:noFill/>
        </p:spPr>
        <p:txBody>
          <a:bodyPr wrap="square" lIns="68580" tIns="34290" rIns="68580" bIns="34290" anchor="t">
            <a:spAutoFit/>
          </a:bodyPr>
          <a:lstStyle/>
          <a:p>
            <a:r>
              <a:rPr lang="en-US" sz="1500" b="1">
                <a:solidFill>
                  <a:schemeClr val="accent2">
                    <a:lumMod val="75000"/>
                  </a:schemeClr>
                </a:solidFill>
              </a:rPr>
              <a:t>WHAT WE HAVE BUILT OVER THE LAST 4+ YEARS</a:t>
            </a:r>
            <a:endParaRPr lang="en-US" sz="1500" b="1">
              <a:solidFill>
                <a:srgbClr val="000000"/>
              </a:solidFill>
            </a:endParaRPr>
          </a:p>
        </p:txBody>
      </p:sp>
      <p:sp>
        <p:nvSpPr>
          <p:cNvPr id="3" name="object 25">
            <a:extLst>
              <a:ext uri="{FF2B5EF4-FFF2-40B4-BE49-F238E27FC236}">
                <a16:creationId xmlns:a16="http://schemas.microsoft.com/office/drawing/2014/main" id="{FEF5F74B-3C2C-BBDC-A8AE-EA17CD57D7EF}"/>
              </a:ext>
            </a:extLst>
          </p:cNvPr>
          <p:cNvSpPr txBox="1"/>
          <p:nvPr/>
        </p:nvSpPr>
        <p:spPr>
          <a:xfrm>
            <a:off x="658315" y="4460209"/>
            <a:ext cx="4756895" cy="239057"/>
          </a:xfrm>
          <a:prstGeom prst="rect">
            <a:avLst/>
          </a:prstGeom>
        </p:spPr>
        <p:txBody>
          <a:bodyPr vert="horz" wrap="square" lIns="0" tIns="8145" rIns="0" bIns="0" rtlCol="0" anchor="t">
            <a:spAutoFit/>
          </a:bodyPr>
          <a:lstStyle/>
          <a:p>
            <a:pPr marL="8096" defTabSz="586337">
              <a:spcBef>
                <a:spcPts val="65"/>
              </a:spcBef>
              <a:defRPr/>
            </a:pPr>
            <a:r>
              <a:rPr lang="en-GB" sz="1500" b="1">
                <a:solidFill>
                  <a:schemeClr val="accent2">
                    <a:lumMod val="75000"/>
                  </a:schemeClr>
                </a:solidFill>
              </a:rPr>
              <a:t>WHAT WE ARE DELIVERING</a:t>
            </a:r>
            <a:endParaRPr lang="en-US" sz="1500" b="1">
              <a:solidFill>
                <a:schemeClr val="accent2">
                  <a:lumMod val="75000"/>
                </a:schemeClr>
              </a:solidFill>
            </a:endParaRPr>
          </a:p>
        </p:txBody>
      </p:sp>
      <p:sp>
        <p:nvSpPr>
          <p:cNvPr id="7" name="Rectangle 6">
            <a:extLst>
              <a:ext uri="{FF2B5EF4-FFF2-40B4-BE49-F238E27FC236}">
                <a16:creationId xmlns:a16="http://schemas.microsoft.com/office/drawing/2014/main" id="{4892A344-3924-E4E5-CBC2-66F5AA34EF4B}"/>
              </a:ext>
            </a:extLst>
          </p:cNvPr>
          <p:cNvSpPr/>
          <p:nvPr/>
        </p:nvSpPr>
        <p:spPr>
          <a:xfrm>
            <a:off x="7203854" y="5546808"/>
            <a:ext cx="2057400" cy="548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b="1"/>
              <a:t>Responsible AI Guardrails</a:t>
            </a:r>
          </a:p>
        </p:txBody>
      </p:sp>
      <p:sp>
        <p:nvSpPr>
          <p:cNvPr id="8" name="Rectangle 7">
            <a:extLst>
              <a:ext uri="{FF2B5EF4-FFF2-40B4-BE49-F238E27FC236}">
                <a16:creationId xmlns:a16="http://schemas.microsoft.com/office/drawing/2014/main" id="{4B1ADD2D-2FF8-A803-9A18-1CAAB7F17A52}"/>
              </a:ext>
            </a:extLst>
          </p:cNvPr>
          <p:cNvSpPr/>
          <p:nvPr/>
        </p:nvSpPr>
        <p:spPr>
          <a:xfrm>
            <a:off x="687879" y="5546808"/>
            <a:ext cx="2057400" cy="548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a:t>Outcome-led Industry Specific AI Solutions</a:t>
            </a:r>
          </a:p>
        </p:txBody>
      </p:sp>
      <p:sp>
        <p:nvSpPr>
          <p:cNvPr id="10" name="Rectangle 9">
            <a:extLst>
              <a:ext uri="{FF2B5EF4-FFF2-40B4-BE49-F238E27FC236}">
                <a16:creationId xmlns:a16="http://schemas.microsoft.com/office/drawing/2014/main" id="{BD088452-8FB7-D202-83FB-84504FB7DFC0}"/>
              </a:ext>
            </a:extLst>
          </p:cNvPr>
          <p:cNvSpPr/>
          <p:nvPr/>
        </p:nvSpPr>
        <p:spPr>
          <a:xfrm>
            <a:off x="687879" y="4876313"/>
            <a:ext cx="2057400" cy="548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a:t>Enterprise Data &amp; AI Technology Blueprints</a:t>
            </a:r>
          </a:p>
        </p:txBody>
      </p:sp>
      <p:sp>
        <p:nvSpPr>
          <p:cNvPr id="11" name="Rectangle 10">
            <a:extLst>
              <a:ext uri="{FF2B5EF4-FFF2-40B4-BE49-F238E27FC236}">
                <a16:creationId xmlns:a16="http://schemas.microsoft.com/office/drawing/2014/main" id="{F8A05741-537F-4611-0512-746F17AD2A79}"/>
              </a:ext>
            </a:extLst>
          </p:cNvPr>
          <p:cNvSpPr/>
          <p:nvPr/>
        </p:nvSpPr>
        <p:spPr>
          <a:xfrm>
            <a:off x="9395335" y="5546808"/>
            <a:ext cx="2057400" cy="548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a:t>Governance</a:t>
            </a:r>
          </a:p>
        </p:txBody>
      </p:sp>
      <p:sp>
        <p:nvSpPr>
          <p:cNvPr id="12" name="Rectangle 11">
            <a:extLst>
              <a:ext uri="{FF2B5EF4-FFF2-40B4-BE49-F238E27FC236}">
                <a16:creationId xmlns:a16="http://schemas.microsoft.com/office/drawing/2014/main" id="{FFAEE007-5B79-BD2B-EBC0-88F42BD74275}"/>
              </a:ext>
            </a:extLst>
          </p:cNvPr>
          <p:cNvSpPr/>
          <p:nvPr/>
        </p:nvSpPr>
        <p:spPr>
          <a:xfrm>
            <a:off x="5043772" y="4876313"/>
            <a:ext cx="2057400" cy="548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a:t>Data for AI</a:t>
            </a:r>
          </a:p>
        </p:txBody>
      </p:sp>
      <p:sp>
        <p:nvSpPr>
          <p:cNvPr id="13" name="Rectangle 12">
            <a:extLst>
              <a:ext uri="{FF2B5EF4-FFF2-40B4-BE49-F238E27FC236}">
                <a16:creationId xmlns:a16="http://schemas.microsoft.com/office/drawing/2014/main" id="{B3CABDAC-7FDE-E464-2876-107F8A5EE1FC}"/>
              </a:ext>
            </a:extLst>
          </p:cNvPr>
          <p:cNvSpPr/>
          <p:nvPr/>
        </p:nvSpPr>
        <p:spPr>
          <a:xfrm>
            <a:off x="2861314" y="4876313"/>
            <a:ext cx="2057400" cy="548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a:t>Infrastructure for AI</a:t>
            </a:r>
          </a:p>
        </p:txBody>
      </p:sp>
      <p:sp>
        <p:nvSpPr>
          <p:cNvPr id="14" name="Rectangle 13">
            <a:extLst>
              <a:ext uri="{FF2B5EF4-FFF2-40B4-BE49-F238E27FC236}">
                <a16:creationId xmlns:a16="http://schemas.microsoft.com/office/drawing/2014/main" id="{420EEBB4-7A77-3ADD-6B33-8913D07AD939}"/>
              </a:ext>
            </a:extLst>
          </p:cNvPr>
          <p:cNvSpPr/>
          <p:nvPr/>
        </p:nvSpPr>
        <p:spPr>
          <a:xfrm>
            <a:off x="2861314" y="5546808"/>
            <a:ext cx="2057400" cy="548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a:t>Agentic AI Solutions</a:t>
            </a:r>
          </a:p>
        </p:txBody>
      </p:sp>
      <p:sp>
        <p:nvSpPr>
          <p:cNvPr id="15" name="Rectangle 14">
            <a:extLst>
              <a:ext uri="{FF2B5EF4-FFF2-40B4-BE49-F238E27FC236}">
                <a16:creationId xmlns:a16="http://schemas.microsoft.com/office/drawing/2014/main" id="{F62CDE52-CF08-4423-D11C-57C307322B5F}"/>
              </a:ext>
            </a:extLst>
          </p:cNvPr>
          <p:cNvSpPr/>
          <p:nvPr/>
        </p:nvSpPr>
        <p:spPr>
          <a:xfrm>
            <a:off x="5043772" y="5546808"/>
            <a:ext cx="2057400" cy="548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a:t>Data &amp; Model Lifecycle Management</a:t>
            </a:r>
          </a:p>
        </p:txBody>
      </p:sp>
      <p:grpSp>
        <p:nvGrpSpPr>
          <p:cNvPr id="17" name="Group 16">
            <a:extLst>
              <a:ext uri="{FF2B5EF4-FFF2-40B4-BE49-F238E27FC236}">
                <a16:creationId xmlns:a16="http://schemas.microsoft.com/office/drawing/2014/main" id="{5D9C7880-CE80-3221-43E6-093417EE34BE}"/>
              </a:ext>
            </a:extLst>
          </p:cNvPr>
          <p:cNvGrpSpPr/>
          <p:nvPr/>
        </p:nvGrpSpPr>
        <p:grpSpPr>
          <a:xfrm>
            <a:off x="658314" y="2035548"/>
            <a:ext cx="10844913" cy="2129430"/>
            <a:chOff x="1320628" y="3032116"/>
            <a:chExt cx="12912636" cy="3806174"/>
          </a:xfrm>
        </p:grpSpPr>
        <p:sp>
          <p:nvSpPr>
            <p:cNvPr id="19" name="TextBox 18">
              <a:extLst>
                <a:ext uri="{FF2B5EF4-FFF2-40B4-BE49-F238E27FC236}">
                  <a16:creationId xmlns:a16="http://schemas.microsoft.com/office/drawing/2014/main" id="{A63B85F1-9F93-2ABB-0137-4890ABE36527}"/>
                </a:ext>
              </a:extLst>
            </p:cNvPr>
            <p:cNvSpPr txBox="1"/>
            <p:nvPr/>
          </p:nvSpPr>
          <p:spPr>
            <a:xfrm>
              <a:off x="1320628" y="3032116"/>
              <a:ext cx="6239914" cy="3764915"/>
            </a:xfrm>
            <a:prstGeom prst="rect">
              <a:avLst/>
            </a:prstGeom>
            <a:noFill/>
          </p:spPr>
          <p:txBody>
            <a:bodyPr wrap="square" lIns="51435" tIns="25718" rIns="51435" bIns="25718" anchor="t">
              <a:spAutoFit/>
            </a:bodyPr>
            <a:lstStyle/>
            <a:p>
              <a:pPr marL="160735" indent="-160735" algn="just" defTabSz="514350">
                <a:buFont typeface="Wingdings" panose="05000000000000000000" pitchFamily="2" charset="2"/>
                <a:buChar char="§"/>
              </a:pPr>
              <a:r>
                <a:rPr lang="en-US" sz="2100" b="1">
                  <a:solidFill>
                    <a:schemeClr val="tx2"/>
                  </a:solidFill>
                  <a:latin typeface="Calibri" panose="020F0502020204030204" pitchFamily="34" charset="0"/>
                  <a:ea typeface="Calibri" panose="020F0502020204030204" pitchFamily="34" charset="0"/>
                  <a:cs typeface="Calibri" panose="020F0502020204030204" pitchFamily="34" charset="0"/>
                </a:rPr>
                <a:t>2750+</a:t>
              </a:r>
              <a:r>
                <a:rPr lang="en-US" sz="1350" b="1">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500" b="1">
                  <a:solidFill>
                    <a:schemeClr val="tx2"/>
                  </a:solidFill>
                  <a:latin typeface="Calibri" panose="020F0502020204030204" pitchFamily="34" charset="0"/>
                  <a:ea typeface="Calibri" panose="020F0502020204030204" pitchFamily="34" charset="0"/>
                  <a:cs typeface="Calibri" panose="020F0502020204030204" pitchFamily="34" charset="0"/>
                </a:rPr>
                <a:t>AI &amp; Data Practitioners</a:t>
              </a:r>
              <a:r>
                <a:rPr lang="en-US" sz="1500">
                  <a:solidFill>
                    <a:schemeClr val="tx2"/>
                  </a:solidFill>
                  <a:latin typeface="Calibri" panose="020F0502020204030204" pitchFamily="34" charset="0"/>
                  <a:ea typeface="Calibri" panose="020F0502020204030204" pitchFamily="34" charset="0"/>
                  <a:cs typeface="Calibri" panose="020F0502020204030204" pitchFamily="34" charset="0"/>
                </a:rPr>
                <a:t> – Best-in-class AI talent to drive innovation</a:t>
              </a:r>
            </a:p>
            <a:p>
              <a:pPr marL="160735" indent="-160735" algn="just" defTabSz="514350">
                <a:buFont typeface="Wingdings" panose="05000000000000000000" pitchFamily="2" charset="2"/>
                <a:buChar char="§"/>
              </a:pPr>
              <a:endParaRPr lang="en-US" sz="135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160735" indent="-160735" algn="just" defTabSz="514350">
                <a:buFont typeface="Wingdings" panose="05000000000000000000" pitchFamily="2" charset="2"/>
                <a:buChar char="§"/>
              </a:pPr>
              <a:r>
                <a:rPr lang="en-US" sz="2100" b="1">
                  <a:solidFill>
                    <a:schemeClr val="tx2"/>
                  </a:solidFill>
                  <a:latin typeface="Calibri" panose="020F0502020204030204" pitchFamily="34" charset="0"/>
                  <a:ea typeface="Calibri" panose="020F0502020204030204" pitchFamily="34" charset="0"/>
                  <a:cs typeface="Calibri" panose="020F0502020204030204" pitchFamily="34" charset="0"/>
                </a:rPr>
                <a:t>300+</a:t>
              </a:r>
              <a:r>
                <a:rPr lang="en-US" sz="1350" b="1">
                  <a:solidFill>
                    <a:schemeClr val="tx2"/>
                  </a:solidFill>
                  <a:latin typeface="Calibri" panose="020F0502020204030204" pitchFamily="34" charset="0"/>
                  <a:ea typeface="Calibri" panose="020F0502020204030204" pitchFamily="34" charset="0"/>
                  <a:cs typeface="Calibri" panose="020F0502020204030204" pitchFamily="34" charset="0"/>
                </a:rPr>
                <a:t> Paid AI Deployments </a:t>
              </a:r>
              <a:r>
                <a:rPr lang="en-US" sz="1350">
                  <a:solidFill>
                    <a:schemeClr val="tx2"/>
                  </a:solidFill>
                  <a:latin typeface="Calibri" panose="020F0502020204030204" pitchFamily="34" charset="0"/>
                  <a:ea typeface="Calibri" panose="020F0502020204030204" pitchFamily="34" charset="0"/>
                  <a:cs typeface="Calibri" panose="020F0502020204030204" pitchFamily="34" charset="0"/>
                </a:rPr>
                <a:t>– Scalable, production-ready AI solutions delivered</a:t>
              </a:r>
            </a:p>
            <a:p>
              <a:pPr marL="160735" indent="-160735" algn="just" defTabSz="514350">
                <a:buFont typeface="Wingdings" panose="05000000000000000000" pitchFamily="2" charset="2"/>
                <a:buChar char="§"/>
              </a:pPr>
              <a:endParaRPr lang="en-US" sz="135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160735" indent="-160735" algn="just" defTabSz="514350">
                <a:buFont typeface="Wingdings" panose="05000000000000000000" pitchFamily="2" charset="2"/>
                <a:buChar char="§"/>
              </a:pPr>
              <a:r>
                <a:rPr lang="en-US" sz="2100" b="1">
                  <a:solidFill>
                    <a:schemeClr val="tx2"/>
                  </a:solidFill>
                  <a:latin typeface="Calibri" panose="020F0502020204030204" pitchFamily="34" charset="0"/>
                  <a:ea typeface="Calibri" panose="020F0502020204030204" pitchFamily="34" charset="0"/>
                  <a:cs typeface="Calibri" panose="020F0502020204030204" pitchFamily="34" charset="0"/>
                </a:rPr>
                <a:t>50+</a:t>
              </a:r>
              <a:r>
                <a:rPr lang="en-US" sz="1350" b="1">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500" b="1">
                  <a:solidFill>
                    <a:schemeClr val="tx2"/>
                  </a:solidFill>
                  <a:latin typeface="Calibri" panose="020F0502020204030204" pitchFamily="34" charset="0"/>
                  <a:ea typeface="Calibri" panose="020F0502020204030204" pitchFamily="34" charset="0"/>
                  <a:cs typeface="Calibri" panose="020F0502020204030204" pitchFamily="34" charset="0"/>
                </a:rPr>
                <a:t>IP Innovations</a:t>
              </a:r>
              <a:r>
                <a:rPr lang="en-US" sz="1500">
                  <a:solidFill>
                    <a:schemeClr val="tx2"/>
                  </a:solidFill>
                  <a:latin typeface="Calibri" panose="020F0502020204030204" pitchFamily="34" charset="0"/>
                  <a:ea typeface="Calibri" panose="020F0502020204030204" pitchFamily="34" charset="0"/>
                  <a:cs typeface="Calibri" panose="020F0502020204030204" pitchFamily="34" charset="0"/>
                </a:rPr>
                <a:t> – Proprietary AI accelerators for rapid development &amp; deployment</a:t>
              </a:r>
            </a:p>
          </p:txBody>
        </p:sp>
        <p:sp>
          <p:nvSpPr>
            <p:cNvPr id="20" name="TextBox 19">
              <a:extLst>
                <a:ext uri="{FF2B5EF4-FFF2-40B4-BE49-F238E27FC236}">
                  <a16:creationId xmlns:a16="http://schemas.microsoft.com/office/drawing/2014/main" id="{E402EF85-E616-A1CE-7B08-D07B51CB6704}"/>
                </a:ext>
              </a:extLst>
            </p:cNvPr>
            <p:cNvSpPr txBox="1"/>
            <p:nvPr/>
          </p:nvSpPr>
          <p:spPr>
            <a:xfrm>
              <a:off x="8331336" y="3032116"/>
              <a:ext cx="5901928" cy="3806174"/>
            </a:xfrm>
            <a:prstGeom prst="rect">
              <a:avLst/>
            </a:prstGeom>
            <a:noFill/>
          </p:spPr>
          <p:txBody>
            <a:bodyPr wrap="square" lIns="51435" tIns="25718" rIns="51435" bIns="25718" anchor="t">
              <a:spAutoFit/>
            </a:bodyPr>
            <a:lstStyle/>
            <a:p>
              <a:pPr marL="160735" indent="-160735" algn="just" defTabSz="514350">
                <a:buFont typeface="Wingdings" panose="05000000000000000000" pitchFamily="2" charset="2"/>
                <a:buChar char="§"/>
              </a:pPr>
              <a:r>
                <a:rPr lang="en-US" sz="2100" b="1">
                  <a:solidFill>
                    <a:schemeClr val="tx2"/>
                  </a:solidFill>
                  <a:latin typeface="Calibri" panose="020F0502020204030204" pitchFamily="34" charset="0"/>
                  <a:ea typeface="Calibri" panose="020F0502020204030204" pitchFamily="34" charset="0"/>
                  <a:cs typeface="Calibri" panose="020F0502020204030204" pitchFamily="34" charset="0"/>
                </a:rPr>
                <a:t>50+</a:t>
              </a:r>
              <a:r>
                <a:rPr lang="en-US" sz="1350" b="1">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500" b="1">
                  <a:solidFill>
                    <a:schemeClr val="tx2"/>
                  </a:solidFill>
                  <a:latin typeface="Calibri" panose="020F0502020204030204" pitchFamily="34" charset="0"/>
                  <a:ea typeface="Calibri" panose="020F0502020204030204" pitchFamily="34" charset="0"/>
                  <a:cs typeface="Calibri" panose="020F0502020204030204" pitchFamily="34" charset="0"/>
                </a:rPr>
                <a:t>Enterprise Clients</a:t>
              </a:r>
              <a:r>
                <a:rPr lang="en-US" sz="1500">
                  <a:solidFill>
                    <a:schemeClr val="tx2"/>
                  </a:solidFill>
                  <a:latin typeface="Calibri" panose="020F0502020204030204" pitchFamily="34" charset="0"/>
                  <a:ea typeface="Calibri" panose="020F0502020204030204" pitchFamily="34" charset="0"/>
                  <a:cs typeface="Calibri" panose="020F0502020204030204" pitchFamily="34" charset="0"/>
                </a:rPr>
                <a:t> – Trusted by industry across BFSI, Travel, Healthcare and more</a:t>
              </a:r>
            </a:p>
            <a:p>
              <a:pPr marL="160735" indent="-160735" algn="just" defTabSz="514350">
                <a:buFont typeface="Wingdings" panose="05000000000000000000" pitchFamily="2" charset="2"/>
                <a:buChar char="§"/>
              </a:pPr>
              <a:endParaRPr lang="en-US" sz="135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160735" indent="-160735" algn="just" defTabSz="514350">
                <a:buFont typeface="Wingdings" panose="05000000000000000000" pitchFamily="2" charset="2"/>
                <a:buChar char="§"/>
              </a:pPr>
              <a:r>
                <a:rPr lang="en-US" sz="2100" b="1">
                  <a:solidFill>
                    <a:schemeClr val="tx2"/>
                  </a:solidFill>
                  <a:latin typeface="Calibri" panose="020F0502020204030204" pitchFamily="34" charset="0"/>
                  <a:ea typeface="Calibri" panose="020F0502020204030204" pitchFamily="34" charset="0"/>
                  <a:cs typeface="Calibri" panose="020F0502020204030204" pitchFamily="34" charset="0"/>
                </a:rPr>
                <a:t>20+</a:t>
              </a:r>
              <a:r>
                <a:rPr lang="en-US" sz="1350" b="1">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500" b="1">
                  <a:solidFill>
                    <a:schemeClr val="tx2"/>
                  </a:solidFill>
                  <a:latin typeface="Calibri" panose="020F0502020204030204" pitchFamily="34" charset="0"/>
                  <a:ea typeface="Calibri" panose="020F0502020204030204" pitchFamily="34" charset="0"/>
                  <a:cs typeface="Calibri" panose="020F0502020204030204" pitchFamily="34" charset="0"/>
                </a:rPr>
                <a:t>Partnerships</a:t>
              </a:r>
              <a:r>
                <a:rPr lang="en-US" sz="1500">
                  <a:solidFill>
                    <a:schemeClr val="tx2"/>
                  </a:solidFill>
                  <a:latin typeface="Calibri" panose="020F0502020204030204" pitchFamily="34" charset="0"/>
                  <a:ea typeface="Calibri" panose="020F0502020204030204" pitchFamily="34" charset="0"/>
                  <a:cs typeface="Calibri" panose="020F0502020204030204" pitchFamily="34" charset="0"/>
                </a:rPr>
                <a:t> – Collaborations with NVIDIA, AWS, Microsoft, Google and others</a:t>
              </a:r>
            </a:p>
            <a:p>
              <a:pPr marL="160735" indent="-160735" algn="just" defTabSz="514350">
                <a:buFont typeface="Wingdings" panose="05000000000000000000" pitchFamily="2" charset="2"/>
                <a:buChar char="§"/>
              </a:pPr>
              <a:endParaRPr lang="en-US" sz="135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160735" indent="-160735" algn="just" defTabSz="514350">
                <a:buFont typeface="Wingdings" panose="05000000000000000000" pitchFamily="2" charset="2"/>
                <a:buChar char="§"/>
              </a:pPr>
              <a:r>
                <a:rPr lang="en-US" sz="2100" b="1">
                  <a:solidFill>
                    <a:schemeClr val="tx2"/>
                  </a:solidFill>
                  <a:latin typeface="Calibri" panose="020F0502020204030204" pitchFamily="34" charset="0"/>
                  <a:ea typeface="Calibri" panose="020F0502020204030204" pitchFamily="34" charset="0"/>
                  <a:cs typeface="Calibri" panose="020F0502020204030204" pitchFamily="34" charset="0"/>
                </a:rPr>
                <a:t>2000+</a:t>
              </a:r>
              <a:r>
                <a:rPr lang="en-US" sz="1350" b="1">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500" b="1">
                  <a:solidFill>
                    <a:schemeClr val="tx2"/>
                  </a:solidFill>
                  <a:latin typeface="Calibri" panose="020F0502020204030204" pitchFamily="34" charset="0"/>
                  <a:ea typeface="Calibri" panose="020F0502020204030204" pitchFamily="34" charset="0"/>
                  <a:cs typeface="Calibri" panose="020F0502020204030204" pitchFamily="34" charset="0"/>
                </a:rPr>
                <a:t>Certifications</a:t>
              </a:r>
              <a:r>
                <a:rPr lang="en-US" sz="1500">
                  <a:solidFill>
                    <a:schemeClr val="tx2"/>
                  </a:solidFill>
                  <a:latin typeface="Calibri" panose="020F0502020204030204" pitchFamily="34" charset="0"/>
                  <a:ea typeface="Calibri" panose="020F0502020204030204" pitchFamily="34" charset="0"/>
                  <a:cs typeface="Calibri" panose="020F0502020204030204" pitchFamily="34" charset="0"/>
                </a:rPr>
                <a:t> – Certified AI &amp; ML experts ensuring enterprise-grade implementation</a:t>
              </a:r>
            </a:p>
          </p:txBody>
        </p:sp>
      </p:grpSp>
      <p:sp>
        <p:nvSpPr>
          <p:cNvPr id="2" name="Rectangle 1">
            <a:extLst>
              <a:ext uri="{FF2B5EF4-FFF2-40B4-BE49-F238E27FC236}">
                <a16:creationId xmlns:a16="http://schemas.microsoft.com/office/drawing/2014/main" id="{96E1C1FF-C92A-7041-946E-BDA929F514A4}"/>
              </a:ext>
            </a:extLst>
          </p:cNvPr>
          <p:cNvSpPr/>
          <p:nvPr/>
        </p:nvSpPr>
        <p:spPr>
          <a:xfrm>
            <a:off x="7217207" y="4876313"/>
            <a:ext cx="2057400" cy="548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a:t>Architecture for AI</a:t>
            </a:r>
          </a:p>
        </p:txBody>
      </p:sp>
      <p:sp>
        <p:nvSpPr>
          <p:cNvPr id="21" name="Rectangle 20">
            <a:extLst>
              <a:ext uri="{FF2B5EF4-FFF2-40B4-BE49-F238E27FC236}">
                <a16:creationId xmlns:a16="http://schemas.microsoft.com/office/drawing/2014/main" id="{C2DF10C5-9ABF-2ED7-F491-94D73BAE9278}"/>
              </a:ext>
            </a:extLst>
          </p:cNvPr>
          <p:cNvSpPr/>
          <p:nvPr/>
        </p:nvSpPr>
        <p:spPr>
          <a:xfrm>
            <a:off x="9401348" y="4876313"/>
            <a:ext cx="2057400" cy="548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a:t>AI Operations Managed Services</a:t>
            </a:r>
          </a:p>
        </p:txBody>
      </p:sp>
    </p:spTree>
    <p:extLst>
      <p:ext uri="{BB962C8B-B14F-4D97-AF65-F5344CB8AC3E}">
        <p14:creationId xmlns:p14="http://schemas.microsoft.com/office/powerpoint/2010/main" val="921157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001DE31-9B6C-3C15-2284-EA27D17AB34B}"/>
              </a:ext>
            </a:extLst>
          </p:cNvPr>
          <p:cNvSpPr/>
          <p:nvPr/>
        </p:nvSpPr>
        <p:spPr>
          <a:xfrm rot="1984612" flipH="1" flipV="1">
            <a:off x="11057799" y="4261252"/>
            <a:ext cx="1232345" cy="2694731"/>
          </a:xfrm>
          <a:custGeom>
            <a:avLst/>
            <a:gdLst>
              <a:gd name="connsiteX0" fmla="*/ 0 w 1643127"/>
              <a:gd name="connsiteY0" fmla="*/ 1070196 h 3592974"/>
              <a:gd name="connsiteX1" fmla="*/ 1643127 w 1643127"/>
              <a:gd name="connsiteY1" fmla="*/ 0 h 3592974"/>
              <a:gd name="connsiteX2" fmla="*/ 1643127 w 1643127"/>
              <a:gd name="connsiteY2" fmla="*/ 3592974 h 3592974"/>
            </a:gdLst>
            <a:ahLst/>
            <a:cxnLst>
              <a:cxn ang="0">
                <a:pos x="connsiteX0" y="connsiteY0"/>
              </a:cxn>
              <a:cxn ang="0">
                <a:pos x="connsiteX1" y="connsiteY1"/>
              </a:cxn>
              <a:cxn ang="0">
                <a:pos x="connsiteX2" y="connsiteY2"/>
              </a:cxn>
            </a:cxnLst>
            <a:rect l="l" t="t" r="r" b="b"/>
            <a:pathLst>
              <a:path w="1643127" h="3592974">
                <a:moveTo>
                  <a:pt x="0" y="1070196"/>
                </a:moveTo>
                <a:lnTo>
                  <a:pt x="1643127" y="0"/>
                </a:lnTo>
                <a:lnTo>
                  <a:pt x="1643127" y="359297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Tahoma"/>
            </a:endParaRPr>
          </a:p>
        </p:txBody>
      </p:sp>
      <p:sp>
        <p:nvSpPr>
          <p:cNvPr id="18" name="Freeform: Shape 17">
            <a:extLst>
              <a:ext uri="{FF2B5EF4-FFF2-40B4-BE49-F238E27FC236}">
                <a16:creationId xmlns:a16="http://schemas.microsoft.com/office/drawing/2014/main" id="{0F8627B7-7315-DFC7-3F93-016FA723E051}"/>
              </a:ext>
            </a:extLst>
          </p:cNvPr>
          <p:cNvSpPr/>
          <p:nvPr/>
        </p:nvSpPr>
        <p:spPr>
          <a:xfrm rot="1984612">
            <a:off x="-396059" y="389044"/>
            <a:ext cx="1232345" cy="2694731"/>
          </a:xfrm>
          <a:custGeom>
            <a:avLst/>
            <a:gdLst>
              <a:gd name="connsiteX0" fmla="*/ 0 w 1643127"/>
              <a:gd name="connsiteY0" fmla="*/ 1070196 h 3592974"/>
              <a:gd name="connsiteX1" fmla="*/ 1643127 w 1643127"/>
              <a:gd name="connsiteY1" fmla="*/ 0 h 3592974"/>
              <a:gd name="connsiteX2" fmla="*/ 1643127 w 1643127"/>
              <a:gd name="connsiteY2" fmla="*/ 3592974 h 3592974"/>
            </a:gdLst>
            <a:ahLst/>
            <a:cxnLst>
              <a:cxn ang="0">
                <a:pos x="connsiteX0" y="connsiteY0"/>
              </a:cxn>
              <a:cxn ang="0">
                <a:pos x="connsiteX1" y="connsiteY1"/>
              </a:cxn>
              <a:cxn ang="0">
                <a:pos x="connsiteX2" y="connsiteY2"/>
              </a:cxn>
            </a:cxnLst>
            <a:rect l="l" t="t" r="r" b="b"/>
            <a:pathLst>
              <a:path w="1643127" h="3592974">
                <a:moveTo>
                  <a:pt x="0" y="1070196"/>
                </a:moveTo>
                <a:lnTo>
                  <a:pt x="1643127" y="0"/>
                </a:lnTo>
                <a:lnTo>
                  <a:pt x="1643127" y="359297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Tahoma"/>
            </a:endParaRPr>
          </a:p>
        </p:txBody>
      </p:sp>
      <p:cxnSp>
        <p:nvCxnSpPr>
          <p:cNvPr id="8" name="Connector: Curved 7">
            <a:extLst>
              <a:ext uri="{FF2B5EF4-FFF2-40B4-BE49-F238E27FC236}">
                <a16:creationId xmlns:a16="http://schemas.microsoft.com/office/drawing/2014/main" id="{BE458001-5A7D-D3E8-3589-A0C9BD2D44B5}"/>
              </a:ext>
            </a:extLst>
          </p:cNvPr>
          <p:cNvCxnSpPr>
            <a:cxnSpLocks/>
          </p:cNvCxnSpPr>
          <p:nvPr/>
        </p:nvCxnSpPr>
        <p:spPr>
          <a:xfrm flipV="1">
            <a:off x="1155391" y="2219436"/>
            <a:ext cx="7886700" cy="3360420"/>
          </a:xfrm>
          <a:prstGeom prst="curvedConnector2">
            <a:avLst/>
          </a:prstGeom>
          <a:ln w="57150">
            <a:solidFill>
              <a:schemeClr val="accent1"/>
            </a:solidFill>
            <a:tailEnd type="triangle"/>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
        <p:nvSpPr>
          <p:cNvPr id="2" name="Title 1">
            <a:extLst>
              <a:ext uri="{FF2B5EF4-FFF2-40B4-BE49-F238E27FC236}">
                <a16:creationId xmlns:a16="http://schemas.microsoft.com/office/drawing/2014/main" id="{275B454E-9AA8-F7BF-B9C7-2EFC31AED649}"/>
              </a:ext>
            </a:extLst>
          </p:cNvPr>
          <p:cNvSpPr>
            <a:spLocks noGrp="1"/>
          </p:cNvSpPr>
          <p:nvPr>
            <p:ph type="title"/>
          </p:nvPr>
        </p:nvSpPr>
        <p:spPr>
          <a:xfrm>
            <a:off x="485693" y="155141"/>
            <a:ext cx="9574883" cy="945514"/>
          </a:xfrm>
        </p:spPr>
        <p:txBody>
          <a:bodyPr>
            <a:noAutofit/>
          </a:bodyPr>
          <a:lstStyle/>
          <a:p>
            <a:r>
              <a:rPr lang="en-US"/>
              <a:t>Coforge AI Spectrum: </a:t>
            </a:r>
            <a:r>
              <a:rPr lang="en-US">
                <a:solidFill>
                  <a:schemeClr val="accent2">
                    <a:lumMod val="75000"/>
                  </a:schemeClr>
                </a:solidFill>
              </a:rPr>
              <a:t>Perception. Generation. Autonomy. Execution</a:t>
            </a:r>
            <a:endParaRPr lang="en-US" b="0" i="1">
              <a:solidFill>
                <a:srgbClr val="F15B40"/>
              </a:solidFill>
            </a:endParaRPr>
          </a:p>
        </p:txBody>
      </p:sp>
      <p:sp>
        <p:nvSpPr>
          <p:cNvPr id="3" name="Flowchart: Connector 2">
            <a:extLst>
              <a:ext uri="{FF2B5EF4-FFF2-40B4-BE49-F238E27FC236}">
                <a16:creationId xmlns:a16="http://schemas.microsoft.com/office/drawing/2014/main" id="{2609DCA3-79FF-7C69-FAC0-26893E2703FE}"/>
              </a:ext>
            </a:extLst>
          </p:cNvPr>
          <p:cNvSpPr/>
          <p:nvPr/>
        </p:nvSpPr>
        <p:spPr>
          <a:xfrm>
            <a:off x="1214718" y="4835810"/>
            <a:ext cx="1165860" cy="1165860"/>
          </a:xfrm>
          <a:prstGeom prst="flowChartConnector">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Tahoma"/>
            </a:endParaRPr>
          </a:p>
        </p:txBody>
      </p:sp>
      <p:sp>
        <p:nvSpPr>
          <p:cNvPr id="4" name="Flowchart: Connector 3">
            <a:extLst>
              <a:ext uri="{FF2B5EF4-FFF2-40B4-BE49-F238E27FC236}">
                <a16:creationId xmlns:a16="http://schemas.microsoft.com/office/drawing/2014/main" id="{7CC38F07-4EEB-0703-CF48-6116D0470F8D}"/>
              </a:ext>
            </a:extLst>
          </p:cNvPr>
          <p:cNvSpPr/>
          <p:nvPr/>
        </p:nvSpPr>
        <p:spPr>
          <a:xfrm>
            <a:off x="3515136" y="4568567"/>
            <a:ext cx="1165860" cy="1165860"/>
          </a:xfrm>
          <a:prstGeom prst="flowChartConnector">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Tahoma"/>
            </a:endParaRPr>
          </a:p>
        </p:txBody>
      </p:sp>
      <p:sp>
        <p:nvSpPr>
          <p:cNvPr id="5" name="Flowchart: Connector 4">
            <a:extLst>
              <a:ext uri="{FF2B5EF4-FFF2-40B4-BE49-F238E27FC236}">
                <a16:creationId xmlns:a16="http://schemas.microsoft.com/office/drawing/2014/main" id="{DB6C73A1-EAEA-2DDB-D024-10D22E41329F}"/>
              </a:ext>
            </a:extLst>
          </p:cNvPr>
          <p:cNvSpPr/>
          <p:nvPr/>
        </p:nvSpPr>
        <p:spPr>
          <a:xfrm>
            <a:off x="7339563" y="3102807"/>
            <a:ext cx="1165860" cy="1165860"/>
          </a:xfrm>
          <a:prstGeom prst="flowChartConnector">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Tahoma"/>
            </a:endParaRPr>
          </a:p>
        </p:txBody>
      </p:sp>
      <p:sp>
        <p:nvSpPr>
          <p:cNvPr id="6" name="Flowchart: Connector 5">
            <a:extLst>
              <a:ext uri="{FF2B5EF4-FFF2-40B4-BE49-F238E27FC236}">
                <a16:creationId xmlns:a16="http://schemas.microsoft.com/office/drawing/2014/main" id="{B42A5661-F979-E804-DA3B-731E95EA24CD}"/>
              </a:ext>
            </a:extLst>
          </p:cNvPr>
          <p:cNvSpPr/>
          <p:nvPr/>
        </p:nvSpPr>
        <p:spPr>
          <a:xfrm>
            <a:off x="8505423" y="1010031"/>
            <a:ext cx="1165860" cy="1165860"/>
          </a:xfrm>
          <a:prstGeom prst="flowChartConnector">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Tahoma"/>
            </a:endParaRPr>
          </a:p>
        </p:txBody>
      </p:sp>
      <p:sp>
        <p:nvSpPr>
          <p:cNvPr id="21" name="TextBox 20">
            <a:extLst>
              <a:ext uri="{FF2B5EF4-FFF2-40B4-BE49-F238E27FC236}">
                <a16:creationId xmlns:a16="http://schemas.microsoft.com/office/drawing/2014/main" id="{A470C351-FB73-69AD-2AF7-5337EBFB6F3F}"/>
              </a:ext>
            </a:extLst>
          </p:cNvPr>
          <p:cNvSpPr txBox="1"/>
          <p:nvPr/>
        </p:nvSpPr>
        <p:spPr>
          <a:xfrm>
            <a:off x="921281" y="3809400"/>
            <a:ext cx="1784303" cy="461665"/>
          </a:xfrm>
          <a:prstGeom prst="rect">
            <a:avLst/>
          </a:prstGeom>
          <a:noFill/>
        </p:spPr>
        <p:txBody>
          <a:bodyPr wrap="square" rtlCol="0">
            <a:spAutoFit/>
          </a:bodyPr>
          <a:lstStyle/>
          <a:p>
            <a:pPr algn="ctr" defTabSz="685800"/>
            <a:r>
              <a:rPr lang="en-US" sz="1200" b="1">
                <a:solidFill>
                  <a:srgbClr val="002060"/>
                </a:solidFill>
                <a:effectLst>
                  <a:outerShdw blurRad="38100" dist="38100" dir="2700000" algn="tl">
                    <a:srgbClr val="000000">
                      <a:alpha val="43137"/>
                    </a:srgbClr>
                  </a:outerShdw>
                </a:effectLst>
                <a:latin typeface="Tahoma"/>
              </a:rPr>
              <a:t>Perception AI/ Machine Learning</a:t>
            </a:r>
          </a:p>
        </p:txBody>
      </p:sp>
      <p:sp>
        <p:nvSpPr>
          <p:cNvPr id="22" name="TextBox 21">
            <a:extLst>
              <a:ext uri="{FF2B5EF4-FFF2-40B4-BE49-F238E27FC236}">
                <a16:creationId xmlns:a16="http://schemas.microsoft.com/office/drawing/2014/main" id="{1371C9AB-16DF-1B8D-D620-933932837A61}"/>
              </a:ext>
            </a:extLst>
          </p:cNvPr>
          <p:cNvSpPr txBox="1"/>
          <p:nvPr/>
        </p:nvSpPr>
        <p:spPr>
          <a:xfrm>
            <a:off x="3142223" y="3758195"/>
            <a:ext cx="1784303" cy="276999"/>
          </a:xfrm>
          <a:prstGeom prst="rect">
            <a:avLst/>
          </a:prstGeom>
          <a:noFill/>
        </p:spPr>
        <p:txBody>
          <a:bodyPr wrap="square" rtlCol="0">
            <a:spAutoFit/>
          </a:bodyPr>
          <a:lstStyle/>
          <a:p>
            <a:pPr algn="ctr" defTabSz="685800"/>
            <a:r>
              <a:rPr lang="en-US" sz="1200" b="1">
                <a:solidFill>
                  <a:srgbClr val="002060"/>
                </a:solidFill>
                <a:effectLst>
                  <a:outerShdw blurRad="38100" dist="38100" dir="2700000" algn="tl">
                    <a:srgbClr val="000000">
                      <a:alpha val="43137"/>
                    </a:srgbClr>
                  </a:outerShdw>
                </a:effectLst>
                <a:latin typeface="Tahoma"/>
              </a:rPr>
              <a:t>Generative AI</a:t>
            </a:r>
          </a:p>
        </p:txBody>
      </p:sp>
      <p:sp>
        <p:nvSpPr>
          <p:cNvPr id="23" name="TextBox 22">
            <a:extLst>
              <a:ext uri="{FF2B5EF4-FFF2-40B4-BE49-F238E27FC236}">
                <a16:creationId xmlns:a16="http://schemas.microsoft.com/office/drawing/2014/main" id="{0EA39637-BE9C-3077-F1D8-66283C5CEF82}"/>
              </a:ext>
            </a:extLst>
          </p:cNvPr>
          <p:cNvSpPr txBox="1"/>
          <p:nvPr/>
        </p:nvSpPr>
        <p:spPr>
          <a:xfrm>
            <a:off x="7030341" y="2423804"/>
            <a:ext cx="1784303" cy="276999"/>
          </a:xfrm>
          <a:prstGeom prst="rect">
            <a:avLst/>
          </a:prstGeom>
          <a:noFill/>
        </p:spPr>
        <p:txBody>
          <a:bodyPr wrap="square" rtlCol="0">
            <a:spAutoFit/>
          </a:bodyPr>
          <a:lstStyle/>
          <a:p>
            <a:pPr algn="ctr" defTabSz="685800"/>
            <a:r>
              <a:rPr lang="en-US" sz="1200" b="1">
                <a:solidFill>
                  <a:srgbClr val="002060"/>
                </a:solidFill>
                <a:effectLst>
                  <a:outerShdw blurRad="38100" dist="38100" dir="2700000" algn="tl">
                    <a:srgbClr val="000000">
                      <a:alpha val="43137"/>
                    </a:srgbClr>
                  </a:outerShdw>
                </a:effectLst>
                <a:latin typeface="Tahoma"/>
              </a:rPr>
              <a:t>Agentic AI</a:t>
            </a:r>
          </a:p>
        </p:txBody>
      </p:sp>
      <p:sp>
        <p:nvSpPr>
          <p:cNvPr id="24" name="TextBox 23">
            <a:extLst>
              <a:ext uri="{FF2B5EF4-FFF2-40B4-BE49-F238E27FC236}">
                <a16:creationId xmlns:a16="http://schemas.microsoft.com/office/drawing/2014/main" id="{02F07811-CE59-B669-216C-49DD4C64A98D}"/>
              </a:ext>
            </a:extLst>
          </p:cNvPr>
          <p:cNvSpPr txBox="1"/>
          <p:nvPr/>
        </p:nvSpPr>
        <p:spPr>
          <a:xfrm>
            <a:off x="7081695" y="1227197"/>
            <a:ext cx="1784303" cy="276999"/>
          </a:xfrm>
          <a:prstGeom prst="rect">
            <a:avLst/>
          </a:prstGeom>
          <a:noFill/>
        </p:spPr>
        <p:txBody>
          <a:bodyPr wrap="square" rtlCol="0">
            <a:spAutoFit/>
          </a:bodyPr>
          <a:lstStyle/>
          <a:p>
            <a:pPr algn="ctr" defTabSz="685800"/>
            <a:r>
              <a:rPr lang="en-US" sz="1200" b="1">
                <a:solidFill>
                  <a:srgbClr val="002060"/>
                </a:solidFill>
                <a:effectLst>
                  <a:outerShdw blurRad="38100" dist="38100" dir="2700000" algn="tl">
                    <a:srgbClr val="000000">
                      <a:alpha val="43137"/>
                    </a:srgbClr>
                  </a:outerShdw>
                </a:effectLst>
                <a:latin typeface="Tahoma"/>
              </a:rPr>
              <a:t>Physical AI</a:t>
            </a:r>
          </a:p>
        </p:txBody>
      </p:sp>
      <p:sp>
        <p:nvSpPr>
          <p:cNvPr id="25" name="TextBox 24">
            <a:extLst>
              <a:ext uri="{FF2B5EF4-FFF2-40B4-BE49-F238E27FC236}">
                <a16:creationId xmlns:a16="http://schemas.microsoft.com/office/drawing/2014/main" id="{0D2BFBEC-681C-4B1C-2F20-84FC51990393}"/>
              </a:ext>
            </a:extLst>
          </p:cNvPr>
          <p:cNvSpPr txBox="1"/>
          <p:nvPr/>
        </p:nvSpPr>
        <p:spPr>
          <a:xfrm>
            <a:off x="864810" y="4236302"/>
            <a:ext cx="1784304" cy="507831"/>
          </a:xfrm>
          <a:prstGeom prst="rect">
            <a:avLst/>
          </a:prstGeom>
          <a:noFill/>
        </p:spPr>
        <p:txBody>
          <a:bodyPr wrap="square" rtlCol="0">
            <a:spAutoFit/>
          </a:bodyPr>
          <a:lstStyle/>
          <a:p>
            <a:pPr algn="ctr" defTabSz="685800"/>
            <a:r>
              <a:rPr lang="en-US" sz="900">
                <a:solidFill>
                  <a:srgbClr val="141414"/>
                </a:solidFill>
                <a:latin typeface="Tahoma"/>
              </a:rPr>
              <a:t>Speech/ Image Recognition</a:t>
            </a:r>
          </a:p>
          <a:p>
            <a:pPr algn="ctr" defTabSz="685800"/>
            <a:r>
              <a:rPr lang="en-US" sz="900">
                <a:solidFill>
                  <a:srgbClr val="141414"/>
                </a:solidFill>
                <a:latin typeface="Tahoma"/>
              </a:rPr>
              <a:t>Neural Networks</a:t>
            </a:r>
          </a:p>
          <a:p>
            <a:pPr algn="ctr" defTabSz="685800"/>
            <a:r>
              <a:rPr lang="en-US" sz="900">
                <a:solidFill>
                  <a:srgbClr val="141414"/>
                </a:solidFill>
                <a:latin typeface="Tahoma"/>
              </a:rPr>
              <a:t>Deep RECSYS</a:t>
            </a:r>
          </a:p>
        </p:txBody>
      </p:sp>
      <p:sp>
        <p:nvSpPr>
          <p:cNvPr id="26" name="TextBox 25">
            <a:extLst>
              <a:ext uri="{FF2B5EF4-FFF2-40B4-BE49-F238E27FC236}">
                <a16:creationId xmlns:a16="http://schemas.microsoft.com/office/drawing/2014/main" id="{4BF0267A-E801-36B1-0C76-BB3C423169C8}"/>
              </a:ext>
            </a:extLst>
          </p:cNvPr>
          <p:cNvSpPr txBox="1"/>
          <p:nvPr/>
        </p:nvSpPr>
        <p:spPr>
          <a:xfrm>
            <a:off x="3037718" y="4033881"/>
            <a:ext cx="1993310" cy="369332"/>
          </a:xfrm>
          <a:prstGeom prst="rect">
            <a:avLst/>
          </a:prstGeom>
          <a:noFill/>
        </p:spPr>
        <p:txBody>
          <a:bodyPr wrap="square" rtlCol="0">
            <a:spAutoFit/>
          </a:bodyPr>
          <a:lstStyle/>
          <a:p>
            <a:pPr algn="ctr" defTabSz="685800"/>
            <a:r>
              <a:rPr lang="en-US" sz="900">
                <a:solidFill>
                  <a:srgbClr val="141414"/>
                </a:solidFill>
                <a:latin typeface="Tahoma"/>
              </a:rPr>
              <a:t>Digital Marketing</a:t>
            </a:r>
          </a:p>
          <a:p>
            <a:pPr algn="ctr" defTabSz="685800"/>
            <a:r>
              <a:rPr lang="en-US" sz="900">
                <a:solidFill>
                  <a:srgbClr val="141414"/>
                </a:solidFill>
                <a:latin typeface="Tahoma"/>
              </a:rPr>
              <a:t>Content Creation</a:t>
            </a:r>
          </a:p>
        </p:txBody>
      </p:sp>
      <p:sp>
        <p:nvSpPr>
          <p:cNvPr id="27" name="TextBox 26">
            <a:extLst>
              <a:ext uri="{FF2B5EF4-FFF2-40B4-BE49-F238E27FC236}">
                <a16:creationId xmlns:a16="http://schemas.microsoft.com/office/drawing/2014/main" id="{943454C5-CE0C-C936-212F-8BB352CE52A7}"/>
              </a:ext>
            </a:extLst>
          </p:cNvPr>
          <p:cNvSpPr txBox="1"/>
          <p:nvPr/>
        </p:nvSpPr>
        <p:spPr>
          <a:xfrm>
            <a:off x="6925837" y="2710392"/>
            <a:ext cx="1993310" cy="369332"/>
          </a:xfrm>
          <a:prstGeom prst="rect">
            <a:avLst/>
          </a:prstGeom>
          <a:noFill/>
        </p:spPr>
        <p:txBody>
          <a:bodyPr wrap="square" rtlCol="0">
            <a:spAutoFit/>
          </a:bodyPr>
          <a:lstStyle/>
          <a:p>
            <a:pPr algn="ctr" defTabSz="685800"/>
            <a:r>
              <a:rPr lang="en-US" sz="900">
                <a:solidFill>
                  <a:srgbClr val="141414"/>
                </a:solidFill>
                <a:latin typeface="Tahoma"/>
              </a:rPr>
              <a:t>Coding Assistant</a:t>
            </a:r>
          </a:p>
          <a:p>
            <a:pPr algn="ctr" defTabSz="685800"/>
            <a:r>
              <a:rPr lang="en-US" sz="900">
                <a:solidFill>
                  <a:srgbClr val="141414"/>
                </a:solidFill>
                <a:latin typeface="Tahoma"/>
              </a:rPr>
              <a:t>Customer Service</a:t>
            </a:r>
          </a:p>
        </p:txBody>
      </p:sp>
      <p:sp>
        <p:nvSpPr>
          <p:cNvPr id="28" name="TextBox 27">
            <a:extLst>
              <a:ext uri="{FF2B5EF4-FFF2-40B4-BE49-F238E27FC236}">
                <a16:creationId xmlns:a16="http://schemas.microsoft.com/office/drawing/2014/main" id="{7EDDEFFD-0C78-A665-A599-AD3A40058358}"/>
              </a:ext>
            </a:extLst>
          </p:cNvPr>
          <p:cNvSpPr txBox="1"/>
          <p:nvPr/>
        </p:nvSpPr>
        <p:spPr>
          <a:xfrm>
            <a:off x="7390918" y="1466976"/>
            <a:ext cx="1245871" cy="230832"/>
          </a:xfrm>
          <a:prstGeom prst="rect">
            <a:avLst/>
          </a:prstGeom>
          <a:noFill/>
        </p:spPr>
        <p:txBody>
          <a:bodyPr wrap="square" rtlCol="0">
            <a:spAutoFit/>
          </a:bodyPr>
          <a:lstStyle/>
          <a:p>
            <a:pPr algn="ctr" defTabSz="685800"/>
            <a:r>
              <a:rPr lang="en-US" sz="900">
                <a:solidFill>
                  <a:srgbClr val="141414"/>
                </a:solidFill>
                <a:latin typeface="Tahoma"/>
              </a:rPr>
              <a:t>General Robotics</a:t>
            </a:r>
          </a:p>
        </p:txBody>
      </p:sp>
      <p:pic>
        <p:nvPicPr>
          <p:cNvPr id="29" name="Picture 28">
            <a:extLst>
              <a:ext uri="{FF2B5EF4-FFF2-40B4-BE49-F238E27FC236}">
                <a16:creationId xmlns:a16="http://schemas.microsoft.com/office/drawing/2014/main" id="{334A7C79-D83C-A513-259C-6626E4AEE1BB}"/>
              </a:ext>
            </a:extLst>
          </p:cNvPr>
          <p:cNvPicPr>
            <a:picLocks noChangeAspect="1"/>
          </p:cNvPicPr>
          <p:nvPr/>
        </p:nvPicPr>
        <p:blipFill>
          <a:blip r:embed="rId2"/>
          <a:srcRect l="-3879" r="37050"/>
          <a:stretch/>
        </p:blipFill>
        <p:spPr>
          <a:xfrm>
            <a:off x="1307646" y="4930820"/>
            <a:ext cx="980003" cy="975840"/>
          </a:xfrm>
          <a:prstGeom prst="flowChartConnector">
            <a:avLst/>
          </a:prstGeom>
          <a:effectLst>
            <a:outerShdw blurRad="50800" dist="38100" dir="2700000" algn="tl" rotWithShape="0">
              <a:prstClr val="black">
                <a:alpha val="40000"/>
              </a:prstClr>
            </a:outerShdw>
          </a:effectLst>
        </p:spPr>
      </p:pic>
      <p:pic>
        <p:nvPicPr>
          <p:cNvPr id="30" name="Picture 29">
            <a:extLst>
              <a:ext uri="{FF2B5EF4-FFF2-40B4-BE49-F238E27FC236}">
                <a16:creationId xmlns:a16="http://schemas.microsoft.com/office/drawing/2014/main" id="{2F61E290-6608-95F7-9331-25FBA3D78248}"/>
              </a:ext>
            </a:extLst>
          </p:cNvPr>
          <p:cNvPicPr>
            <a:picLocks noChangeAspect="1"/>
          </p:cNvPicPr>
          <p:nvPr/>
        </p:nvPicPr>
        <p:blipFill>
          <a:blip r:embed="rId3"/>
          <a:srcRect l="1" r="25365"/>
          <a:stretch/>
        </p:blipFill>
        <p:spPr>
          <a:xfrm>
            <a:off x="3648257" y="4696759"/>
            <a:ext cx="929914" cy="934463"/>
          </a:xfrm>
          <a:prstGeom prst="flowChartConnector">
            <a:avLst/>
          </a:prstGeom>
          <a:effectLst>
            <a:outerShdw blurRad="50800" dist="38100" dir="2700000" algn="tl" rotWithShape="0">
              <a:prstClr val="black">
                <a:alpha val="40000"/>
              </a:prstClr>
            </a:outerShdw>
          </a:effectLst>
        </p:spPr>
      </p:pic>
      <p:pic>
        <p:nvPicPr>
          <p:cNvPr id="31" name="Picture 30">
            <a:extLst>
              <a:ext uri="{FF2B5EF4-FFF2-40B4-BE49-F238E27FC236}">
                <a16:creationId xmlns:a16="http://schemas.microsoft.com/office/drawing/2014/main" id="{55ED1951-645B-022E-DBD0-DAEF7471D1CA}"/>
              </a:ext>
            </a:extLst>
          </p:cNvPr>
          <p:cNvPicPr>
            <a:picLocks noChangeAspect="1"/>
          </p:cNvPicPr>
          <p:nvPr/>
        </p:nvPicPr>
        <p:blipFill>
          <a:blip r:embed="rId4"/>
          <a:srcRect l="12327" r="21372"/>
          <a:stretch/>
        </p:blipFill>
        <p:spPr>
          <a:xfrm>
            <a:off x="7417986" y="3205507"/>
            <a:ext cx="987239" cy="992675"/>
          </a:xfrm>
          <a:prstGeom prst="flowChartConnector">
            <a:avLst/>
          </a:prstGeom>
          <a:effectLst>
            <a:outerShdw blurRad="50800" dist="38100" dir="2700000" algn="tl" rotWithShape="0">
              <a:prstClr val="black">
                <a:alpha val="40000"/>
              </a:prstClr>
            </a:outerShdw>
          </a:effectLst>
        </p:spPr>
      </p:pic>
      <p:pic>
        <p:nvPicPr>
          <p:cNvPr id="32" name="Picture 31">
            <a:extLst>
              <a:ext uri="{FF2B5EF4-FFF2-40B4-BE49-F238E27FC236}">
                <a16:creationId xmlns:a16="http://schemas.microsoft.com/office/drawing/2014/main" id="{2773FA44-9411-A6F1-4D18-3B586F6E2013}"/>
              </a:ext>
            </a:extLst>
          </p:cNvPr>
          <p:cNvPicPr>
            <a:picLocks noChangeAspect="1"/>
          </p:cNvPicPr>
          <p:nvPr/>
        </p:nvPicPr>
        <p:blipFill>
          <a:blip r:embed="rId5"/>
          <a:srcRect l="42326" r="1653"/>
          <a:stretch/>
        </p:blipFill>
        <p:spPr>
          <a:xfrm>
            <a:off x="8607084" y="1112767"/>
            <a:ext cx="962536" cy="966747"/>
          </a:xfrm>
          <a:prstGeom prst="flowChartConnector">
            <a:avLst/>
          </a:prstGeom>
          <a:effectLst>
            <a:outerShdw blurRad="50800" dist="38100" dir="2700000" algn="tl" rotWithShape="0">
              <a:prstClr val="black">
                <a:alpha val="40000"/>
              </a:prstClr>
            </a:outerShdw>
          </a:effectLst>
        </p:spPr>
      </p:pic>
      <p:sp>
        <p:nvSpPr>
          <p:cNvPr id="35" name="TextBox 34">
            <a:extLst>
              <a:ext uri="{FF2B5EF4-FFF2-40B4-BE49-F238E27FC236}">
                <a16:creationId xmlns:a16="http://schemas.microsoft.com/office/drawing/2014/main" id="{A02B47CE-BB47-F397-D43B-F49247518D3D}"/>
              </a:ext>
            </a:extLst>
          </p:cNvPr>
          <p:cNvSpPr txBox="1"/>
          <p:nvPr/>
        </p:nvSpPr>
        <p:spPr>
          <a:xfrm>
            <a:off x="8814644" y="5709809"/>
            <a:ext cx="2540870" cy="230832"/>
          </a:xfrm>
          <a:prstGeom prst="rect">
            <a:avLst/>
          </a:prstGeom>
          <a:noFill/>
        </p:spPr>
        <p:txBody>
          <a:bodyPr wrap="square" rtlCol="0">
            <a:spAutoFit/>
          </a:bodyPr>
          <a:lstStyle/>
          <a:p>
            <a:pPr algn="ctr" defTabSz="685800"/>
            <a:r>
              <a:rPr lang="en-US" sz="900" b="1" i="1">
                <a:solidFill>
                  <a:srgbClr val="141414"/>
                </a:solidFill>
                <a:latin typeface="Tahoma"/>
              </a:rPr>
              <a:t>Inspired by Jensen Huang’s AI Evolution</a:t>
            </a:r>
          </a:p>
        </p:txBody>
      </p:sp>
      <p:pic>
        <p:nvPicPr>
          <p:cNvPr id="36" name="Picture 35">
            <a:extLst>
              <a:ext uri="{FF2B5EF4-FFF2-40B4-BE49-F238E27FC236}">
                <a16:creationId xmlns:a16="http://schemas.microsoft.com/office/drawing/2014/main" id="{6A686D19-C2E0-36D5-B5B0-1F7880A88D94}"/>
              </a:ext>
            </a:extLst>
          </p:cNvPr>
          <p:cNvPicPr>
            <a:picLocks noChangeAspect="1"/>
          </p:cNvPicPr>
          <p:nvPr/>
        </p:nvPicPr>
        <p:blipFill>
          <a:blip r:embed="rId6"/>
          <a:stretch>
            <a:fillRect/>
          </a:stretch>
        </p:blipFill>
        <p:spPr>
          <a:xfrm>
            <a:off x="8814644" y="3991626"/>
            <a:ext cx="2540870" cy="1693913"/>
          </a:xfrm>
          <a:prstGeom prst="rect">
            <a:avLst/>
          </a:prstGeom>
          <a:ln>
            <a:noFill/>
          </a:ln>
          <a:effectLst>
            <a:outerShdw blurRad="292100" dist="139700" dir="2700000" algn="tl" rotWithShape="0">
              <a:srgbClr val="333333">
                <a:alpha val="65000"/>
              </a:srgbClr>
            </a:outerShdw>
          </a:effectLst>
        </p:spPr>
      </p:pic>
      <p:sp>
        <p:nvSpPr>
          <p:cNvPr id="7" name="Flowchart: Connector 6">
            <a:extLst>
              <a:ext uri="{FF2B5EF4-FFF2-40B4-BE49-F238E27FC236}">
                <a16:creationId xmlns:a16="http://schemas.microsoft.com/office/drawing/2014/main" id="{CF535D77-F6A9-1063-9BF1-7AEF62851842}"/>
              </a:ext>
            </a:extLst>
          </p:cNvPr>
          <p:cNvSpPr/>
          <p:nvPr/>
        </p:nvSpPr>
        <p:spPr>
          <a:xfrm>
            <a:off x="5449440" y="4065506"/>
            <a:ext cx="1165860" cy="1165860"/>
          </a:xfrm>
          <a:prstGeom prst="flowChartConnector">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Tahoma"/>
            </a:endParaRPr>
          </a:p>
        </p:txBody>
      </p:sp>
      <p:sp>
        <p:nvSpPr>
          <p:cNvPr id="9" name="TextBox 8">
            <a:extLst>
              <a:ext uri="{FF2B5EF4-FFF2-40B4-BE49-F238E27FC236}">
                <a16:creationId xmlns:a16="http://schemas.microsoft.com/office/drawing/2014/main" id="{F58FB71F-1902-3D75-28D9-F330E917531F}"/>
              </a:ext>
            </a:extLst>
          </p:cNvPr>
          <p:cNvSpPr txBox="1"/>
          <p:nvPr/>
        </p:nvSpPr>
        <p:spPr>
          <a:xfrm>
            <a:off x="5037031" y="3297495"/>
            <a:ext cx="1784303" cy="276999"/>
          </a:xfrm>
          <a:prstGeom prst="rect">
            <a:avLst/>
          </a:prstGeom>
          <a:noFill/>
        </p:spPr>
        <p:txBody>
          <a:bodyPr wrap="square" rtlCol="0">
            <a:spAutoFit/>
          </a:bodyPr>
          <a:lstStyle/>
          <a:p>
            <a:pPr algn="ctr" defTabSz="685800"/>
            <a:r>
              <a:rPr lang="en-US" sz="1200" b="1">
                <a:solidFill>
                  <a:srgbClr val="002060"/>
                </a:solidFill>
                <a:effectLst>
                  <a:outerShdw blurRad="38100" dist="38100" dir="2700000" algn="tl">
                    <a:srgbClr val="000000">
                      <a:alpha val="43137"/>
                    </a:srgbClr>
                  </a:outerShdw>
                </a:effectLst>
                <a:latin typeface="Tahoma"/>
              </a:rPr>
              <a:t>Responsible AI</a:t>
            </a:r>
          </a:p>
        </p:txBody>
      </p:sp>
      <p:sp>
        <p:nvSpPr>
          <p:cNvPr id="10" name="TextBox 9">
            <a:extLst>
              <a:ext uri="{FF2B5EF4-FFF2-40B4-BE49-F238E27FC236}">
                <a16:creationId xmlns:a16="http://schemas.microsoft.com/office/drawing/2014/main" id="{0BFBDADB-EFE5-DB5A-21BB-17AB8976B093}"/>
              </a:ext>
            </a:extLst>
          </p:cNvPr>
          <p:cNvSpPr txBox="1"/>
          <p:nvPr/>
        </p:nvSpPr>
        <p:spPr>
          <a:xfrm>
            <a:off x="4932527" y="3573181"/>
            <a:ext cx="1993310" cy="369332"/>
          </a:xfrm>
          <a:prstGeom prst="rect">
            <a:avLst/>
          </a:prstGeom>
          <a:noFill/>
        </p:spPr>
        <p:txBody>
          <a:bodyPr wrap="square" rtlCol="0">
            <a:spAutoFit/>
          </a:bodyPr>
          <a:lstStyle/>
          <a:p>
            <a:pPr algn="ctr" defTabSz="685800"/>
            <a:r>
              <a:rPr lang="en-US" sz="900">
                <a:solidFill>
                  <a:srgbClr val="141414"/>
                </a:solidFill>
                <a:latin typeface="Tahoma"/>
              </a:rPr>
              <a:t>Personal Information</a:t>
            </a:r>
          </a:p>
          <a:p>
            <a:pPr algn="ctr" defTabSz="685800"/>
            <a:r>
              <a:rPr lang="en-US" sz="900">
                <a:solidFill>
                  <a:srgbClr val="141414"/>
                </a:solidFill>
                <a:latin typeface="Tahoma"/>
              </a:rPr>
              <a:t>Explainability</a:t>
            </a:r>
          </a:p>
        </p:txBody>
      </p:sp>
      <p:pic>
        <p:nvPicPr>
          <p:cNvPr id="12" name="Picture 11">
            <a:extLst>
              <a:ext uri="{FF2B5EF4-FFF2-40B4-BE49-F238E27FC236}">
                <a16:creationId xmlns:a16="http://schemas.microsoft.com/office/drawing/2014/main" id="{FFCE33F3-4ED4-0561-17FA-380500CFC603}"/>
              </a:ext>
            </a:extLst>
          </p:cNvPr>
          <p:cNvPicPr>
            <a:picLocks noChangeAspect="1"/>
          </p:cNvPicPr>
          <p:nvPr/>
        </p:nvPicPr>
        <p:blipFill>
          <a:blip r:embed="rId7"/>
          <a:srcRect l="21174" r="22825"/>
          <a:stretch/>
        </p:blipFill>
        <p:spPr>
          <a:xfrm>
            <a:off x="5534426" y="4175237"/>
            <a:ext cx="975974" cy="980330"/>
          </a:xfrm>
          <a:prstGeom prst="flowChartConnector">
            <a:avLst/>
          </a:prstGeom>
        </p:spPr>
      </p:pic>
      <p:sp>
        <p:nvSpPr>
          <p:cNvPr id="11" name="TextBox 10">
            <a:extLst>
              <a:ext uri="{FF2B5EF4-FFF2-40B4-BE49-F238E27FC236}">
                <a16:creationId xmlns:a16="http://schemas.microsoft.com/office/drawing/2014/main" id="{8ED81B08-2E32-B82F-6572-F7256B871ED0}"/>
              </a:ext>
            </a:extLst>
          </p:cNvPr>
          <p:cNvSpPr txBox="1"/>
          <p:nvPr/>
        </p:nvSpPr>
        <p:spPr>
          <a:xfrm>
            <a:off x="3252726" y="5739192"/>
            <a:ext cx="1784304" cy="507831"/>
          </a:xfrm>
          <a:prstGeom prst="rect">
            <a:avLst/>
          </a:prstGeom>
          <a:noFill/>
        </p:spPr>
        <p:txBody>
          <a:bodyPr wrap="square" rtlCol="0">
            <a:spAutoFit/>
          </a:bodyPr>
          <a:lstStyle>
            <a:defPPr>
              <a:defRPr lang="en-US"/>
            </a:defPPr>
            <a:lvl1pPr algn="ctr">
              <a:defRPr sz="1200" b="1">
                <a:solidFill>
                  <a:srgbClr val="F15B40"/>
                </a:solidFill>
              </a:defRPr>
            </a:lvl1pPr>
          </a:lstStyle>
          <a:p>
            <a:pPr defTabSz="685800"/>
            <a:r>
              <a:rPr lang="en-US" sz="900">
                <a:latin typeface="Tahoma"/>
              </a:rPr>
              <a:t>Contract Intelligence</a:t>
            </a:r>
          </a:p>
          <a:p>
            <a:pPr defTabSz="685800"/>
            <a:r>
              <a:rPr lang="en-US" sz="900">
                <a:latin typeface="Tahoma"/>
              </a:rPr>
              <a:t>Reverse &amp; Forwarding Engineering Assist</a:t>
            </a:r>
          </a:p>
        </p:txBody>
      </p:sp>
      <p:sp>
        <p:nvSpPr>
          <p:cNvPr id="13" name="TextBox 12">
            <a:extLst>
              <a:ext uri="{FF2B5EF4-FFF2-40B4-BE49-F238E27FC236}">
                <a16:creationId xmlns:a16="http://schemas.microsoft.com/office/drawing/2014/main" id="{65E58889-B19D-F569-8718-C220D52650B7}"/>
              </a:ext>
            </a:extLst>
          </p:cNvPr>
          <p:cNvSpPr txBox="1"/>
          <p:nvPr/>
        </p:nvSpPr>
        <p:spPr>
          <a:xfrm>
            <a:off x="980079" y="5940641"/>
            <a:ext cx="1784304" cy="507831"/>
          </a:xfrm>
          <a:prstGeom prst="rect">
            <a:avLst/>
          </a:prstGeom>
          <a:noFill/>
        </p:spPr>
        <p:txBody>
          <a:bodyPr wrap="square" rtlCol="0">
            <a:spAutoFit/>
          </a:bodyPr>
          <a:lstStyle/>
          <a:p>
            <a:pPr algn="ctr" defTabSz="685800"/>
            <a:r>
              <a:rPr lang="en-US" sz="900" b="1">
                <a:solidFill>
                  <a:srgbClr val="F15B40"/>
                </a:solidFill>
                <a:latin typeface="Tahoma"/>
              </a:rPr>
              <a:t>Fraud Detection</a:t>
            </a:r>
          </a:p>
          <a:p>
            <a:pPr algn="ctr" defTabSz="685800"/>
            <a:r>
              <a:rPr lang="en-US" sz="900" b="1">
                <a:solidFill>
                  <a:srgbClr val="F15B40"/>
                </a:solidFill>
                <a:latin typeface="Tahoma"/>
              </a:rPr>
              <a:t>Risk Profiling</a:t>
            </a:r>
          </a:p>
          <a:p>
            <a:pPr algn="ctr" defTabSz="685800"/>
            <a:r>
              <a:rPr lang="en-US" sz="900" b="1">
                <a:solidFill>
                  <a:srgbClr val="F15B40"/>
                </a:solidFill>
                <a:latin typeface="Tahoma"/>
              </a:rPr>
              <a:t>Context Aware Alerts</a:t>
            </a:r>
          </a:p>
        </p:txBody>
      </p:sp>
      <p:sp>
        <p:nvSpPr>
          <p:cNvPr id="14" name="TextBox 13">
            <a:extLst>
              <a:ext uri="{FF2B5EF4-FFF2-40B4-BE49-F238E27FC236}">
                <a16:creationId xmlns:a16="http://schemas.microsoft.com/office/drawing/2014/main" id="{8BA305D7-CDAD-100E-0753-EF39C0C921FF}"/>
              </a:ext>
            </a:extLst>
          </p:cNvPr>
          <p:cNvSpPr txBox="1"/>
          <p:nvPr/>
        </p:nvSpPr>
        <p:spPr>
          <a:xfrm>
            <a:off x="5130261" y="5298537"/>
            <a:ext cx="1784304" cy="507831"/>
          </a:xfrm>
          <a:prstGeom prst="rect">
            <a:avLst/>
          </a:prstGeom>
          <a:noFill/>
        </p:spPr>
        <p:txBody>
          <a:bodyPr wrap="square" rtlCol="0">
            <a:spAutoFit/>
          </a:bodyPr>
          <a:lstStyle>
            <a:defPPr>
              <a:defRPr lang="en-US"/>
            </a:defPPr>
            <a:lvl1pPr algn="ctr">
              <a:defRPr sz="1200" b="1">
                <a:solidFill>
                  <a:srgbClr val="F15B40"/>
                </a:solidFill>
              </a:defRPr>
            </a:lvl1pPr>
          </a:lstStyle>
          <a:p>
            <a:pPr defTabSz="685800"/>
            <a:r>
              <a:rPr lang="en-US" sz="900">
                <a:latin typeface="Tahoma"/>
              </a:rPr>
              <a:t>PII</a:t>
            </a:r>
          </a:p>
          <a:p>
            <a:pPr defTabSz="685800"/>
            <a:r>
              <a:rPr lang="en-US" sz="900">
                <a:latin typeface="Tahoma"/>
              </a:rPr>
              <a:t>Bias Audit</a:t>
            </a:r>
          </a:p>
          <a:p>
            <a:pPr defTabSz="685800"/>
            <a:r>
              <a:rPr lang="en-US" sz="900">
                <a:latin typeface="Tahoma"/>
              </a:rPr>
              <a:t>Compliance</a:t>
            </a:r>
          </a:p>
        </p:txBody>
      </p:sp>
      <p:sp>
        <p:nvSpPr>
          <p:cNvPr id="15" name="TextBox 14">
            <a:extLst>
              <a:ext uri="{FF2B5EF4-FFF2-40B4-BE49-F238E27FC236}">
                <a16:creationId xmlns:a16="http://schemas.microsoft.com/office/drawing/2014/main" id="{ADBCA1E0-87AC-AE45-CE5F-F764A8FFC94C}"/>
              </a:ext>
            </a:extLst>
          </p:cNvPr>
          <p:cNvSpPr txBox="1"/>
          <p:nvPr/>
        </p:nvSpPr>
        <p:spPr>
          <a:xfrm>
            <a:off x="7124088" y="4314834"/>
            <a:ext cx="1690556" cy="507831"/>
          </a:xfrm>
          <a:prstGeom prst="rect">
            <a:avLst/>
          </a:prstGeom>
          <a:noFill/>
        </p:spPr>
        <p:txBody>
          <a:bodyPr wrap="square" rtlCol="0">
            <a:spAutoFit/>
          </a:bodyPr>
          <a:lstStyle>
            <a:defPPr>
              <a:defRPr lang="en-US"/>
            </a:defPPr>
            <a:lvl1pPr algn="ctr">
              <a:defRPr sz="1200" b="1">
                <a:solidFill>
                  <a:srgbClr val="F15B40"/>
                </a:solidFill>
              </a:defRPr>
            </a:lvl1pPr>
          </a:lstStyle>
          <a:p>
            <a:pPr defTabSz="685800"/>
            <a:r>
              <a:rPr lang="en-US" sz="900">
                <a:latin typeface="Tahoma"/>
              </a:rPr>
              <a:t>Self Healing Infra</a:t>
            </a:r>
          </a:p>
          <a:p>
            <a:pPr defTabSz="685800"/>
            <a:r>
              <a:rPr lang="en-US" sz="900">
                <a:latin typeface="Tahoma"/>
              </a:rPr>
              <a:t>Sales Agent</a:t>
            </a:r>
          </a:p>
          <a:p>
            <a:pPr defTabSz="685800"/>
            <a:r>
              <a:rPr lang="en-US" sz="900">
                <a:latin typeface="Tahoma"/>
              </a:rPr>
              <a:t>Recruitment Agent</a:t>
            </a:r>
          </a:p>
        </p:txBody>
      </p:sp>
      <p:sp>
        <p:nvSpPr>
          <p:cNvPr id="16" name="TextBox 15">
            <a:extLst>
              <a:ext uri="{FF2B5EF4-FFF2-40B4-BE49-F238E27FC236}">
                <a16:creationId xmlns:a16="http://schemas.microsoft.com/office/drawing/2014/main" id="{9F5E8CC2-DF73-B79A-0FA0-F00A7548B16A}"/>
              </a:ext>
            </a:extLst>
          </p:cNvPr>
          <p:cNvSpPr txBox="1"/>
          <p:nvPr/>
        </p:nvSpPr>
        <p:spPr>
          <a:xfrm>
            <a:off x="8670831" y="2160393"/>
            <a:ext cx="1784304" cy="646331"/>
          </a:xfrm>
          <a:prstGeom prst="rect">
            <a:avLst/>
          </a:prstGeom>
          <a:noFill/>
        </p:spPr>
        <p:txBody>
          <a:bodyPr wrap="square" rtlCol="0">
            <a:spAutoFit/>
          </a:bodyPr>
          <a:lstStyle>
            <a:defPPr>
              <a:defRPr lang="en-US"/>
            </a:defPPr>
            <a:lvl1pPr algn="ctr">
              <a:defRPr sz="1200" b="1">
                <a:solidFill>
                  <a:srgbClr val="F15B40"/>
                </a:solidFill>
              </a:defRPr>
            </a:lvl1pPr>
          </a:lstStyle>
          <a:p>
            <a:pPr defTabSz="685800"/>
            <a:r>
              <a:rPr lang="en-US" sz="900">
                <a:latin typeface="Tahoma"/>
              </a:rPr>
              <a:t>Edge Analytics</a:t>
            </a:r>
          </a:p>
          <a:p>
            <a:pPr defTabSz="685800"/>
            <a:r>
              <a:rPr lang="en-US" sz="900">
                <a:latin typeface="Tahoma"/>
              </a:rPr>
              <a:t>3D wayfinding</a:t>
            </a:r>
          </a:p>
          <a:p>
            <a:pPr defTabSz="685800"/>
            <a:r>
              <a:rPr lang="en-US" sz="900">
                <a:latin typeface="Tahoma"/>
              </a:rPr>
              <a:t>Video Analytics</a:t>
            </a:r>
          </a:p>
          <a:p>
            <a:pPr defTabSz="685800"/>
            <a:endParaRPr lang="en-US" sz="900">
              <a:latin typeface="Tahoma"/>
            </a:endParaRPr>
          </a:p>
        </p:txBody>
      </p:sp>
    </p:spTree>
    <p:extLst>
      <p:ext uri="{BB962C8B-B14F-4D97-AF65-F5344CB8AC3E}">
        <p14:creationId xmlns:p14="http://schemas.microsoft.com/office/powerpoint/2010/main" val="3712302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94060-7A2D-FC11-5D78-E557A0121F8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22F0DA-C16D-5A14-8D0A-39B7EDD50FA8}"/>
              </a:ext>
            </a:extLst>
          </p:cNvPr>
          <p:cNvSpPr>
            <a:spLocks noGrp="1"/>
          </p:cNvSpPr>
          <p:nvPr>
            <p:ph type="title"/>
          </p:nvPr>
        </p:nvSpPr>
        <p:spPr/>
        <p:txBody>
          <a:bodyPr>
            <a:normAutofit/>
          </a:bodyPr>
          <a:lstStyle/>
          <a:p>
            <a:r>
              <a:rPr lang="en-US"/>
              <a:t>To continue driving our advantage, we are focusing our AI services strategy around </a:t>
            </a:r>
            <a:r>
              <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5 strategic pillars</a:t>
            </a:r>
          </a:p>
        </p:txBody>
      </p:sp>
      <p:sp>
        <p:nvSpPr>
          <p:cNvPr id="12" name="Rectangle 11">
            <a:extLst>
              <a:ext uri="{FF2B5EF4-FFF2-40B4-BE49-F238E27FC236}">
                <a16:creationId xmlns:a16="http://schemas.microsoft.com/office/drawing/2014/main" id="{2906B736-FDDF-D7C0-0B15-D80E72F335F2}"/>
              </a:ext>
            </a:extLst>
          </p:cNvPr>
          <p:cNvSpPr/>
          <p:nvPr/>
        </p:nvSpPr>
        <p:spPr>
          <a:xfrm>
            <a:off x="622417" y="7028651"/>
            <a:ext cx="2523642" cy="36101"/>
          </a:xfrm>
          <a:prstGeom prst="rect">
            <a:avLst/>
          </a:prstGeom>
          <a:solidFill>
            <a:srgbClr val="0F1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18">
              <a:latin typeface="+mj-lt"/>
            </a:endParaRPr>
          </a:p>
        </p:txBody>
      </p:sp>
      <p:grpSp>
        <p:nvGrpSpPr>
          <p:cNvPr id="3" name="Group 2">
            <a:extLst>
              <a:ext uri="{FF2B5EF4-FFF2-40B4-BE49-F238E27FC236}">
                <a16:creationId xmlns:a16="http://schemas.microsoft.com/office/drawing/2014/main" id="{E5222001-D86C-E9DE-C8CF-56C5FE98D31E}"/>
              </a:ext>
            </a:extLst>
          </p:cNvPr>
          <p:cNvGrpSpPr/>
          <p:nvPr/>
        </p:nvGrpSpPr>
        <p:grpSpPr>
          <a:xfrm>
            <a:off x="833031" y="1823131"/>
            <a:ext cx="10551220" cy="4113668"/>
            <a:chOff x="1110708" y="2430842"/>
            <a:chExt cx="14068293" cy="5484890"/>
          </a:xfrm>
        </p:grpSpPr>
        <p:sp>
          <p:nvSpPr>
            <p:cNvPr id="7" name="Rectangle 6">
              <a:extLst>
                <a:ext uri="{FF2B5EF4-FFF2-40B4-BE49-F238E27FC236}">
                  <a16:creationId xmlns:a16="http://schemas.microsoft.com/office/drawing/2014/main" id="{D520F3A3-8D5F-ADC3-295E-6D7899A64FF6}"/>
                </a:ext>
              </a:extLst>
            </p:cNvPr>
            <p:cNvSpPr/>
            <p:nvPr/>
          </p:nvSpPr>
          <p:spPr bwMode="auto">
            <a:xfrm>
              <a:off x="10042184" y="3558335"/>
              <a:ext cx="2004281" cy="3840480"/>
            </a:xfrm>
            <a:prstGeom prst="rect">
              <a:avLst/>
            </a:prstGeom>
            <a:solidFill>
              <a:srgbClr val="0070C0">
                <a:lumMod val="75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97" name="Isosceles Triangle 96">
              <a:extLst>
                <a:ext uri="{FF2B5EF4-FFF2-40B4-BE49-F238E27FC236}">
                  <a16:creationId xmlns:a16="http://schemas.microsoft.com/office/drawing/2014/main" id="{A35B3D1B-1879-D395-3A93-370422F1BDC9}"/>
                </a:ext>
              </a:extLst>
            </p:cNvPr>
            <p:cNvSpPr/>
            <p:nvPr/>
          </p:nvSpPr>
          <p:spPr bwMode="auto">
            <a:xfrm>
              <a:off x="1110708" y="2430842"/>
              <a:ext cx="14025935" cy="731521"/>
            </a:xfrm>
            <a:prstGeom prst="triangle">
              <a:avLst>
                <a:gd name="adj" fmla="val 49565"/>
              </a:avLst>
            </a:prstGeom>
            <a:solidFill>
              <a:srgbClr val="44546A">
                <a:lumMod val="50000"/>
              </a:srgbClr>
            </a:solidFill>
            <a:ln w="127000">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5" name="Rectangle: Rounded Corners 4">
              <a:extLst>
                <a:ext uri="{FF2B5EF4-FFF2-40B4-BE49-F238E27FC236}">
                  <a16:creationId xmlns:a16="http://schemas.microsoft.com/office/drawing/2014/main" id="{2721876B-1777-A475-C739-ACC161EECB47}"/>
                </a:ext>
              </a:extLst>
            </p:cNvPr>
            <p:cNvSpPr/>
            <p:nvPr/>
          </p:nvSpPr>
          <p:spPr bwMode="auto">
            <a:xfrm>
              <a:off x="9692915" y="3213629"/>
              <a:ext cx="2677702" cy="141973"/>
            </a:xfrm>
            <a:prstGeom prst="roundRect">
              <a:avLst>
                <a:gd name="adj" fmla="val 50000"/>
              </a:avLst>
            </a:prstGeom>
            <a:solidFill>
              <a:srgbClr val="0070C0">
                <a:lumMod val="75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6" name="Rectangle: Rounded Corners 5">
              <a:extLst>
                <a:ext uri="{FF2B5EF4-FFF2-40B4-BE49-F238E27FC236}">
                  <a16:creationId xmlns:a16="http://schemas.microsoft.com/office/drawing/2014/main" id="{DBFBA26D-63F8-51B6-27CF-46014747F521}"/>
                </a:ext>
              </a:extLst>
            </p:cNvPr>
            <p:cNvSpPr/>
            <p:nvPr/>
          </p:nvSpPr>
          <p:spPr bwMode="auto">
            <a:xfrm>
              <a:off x="9879223" y="3385138"/>
              <a:ext cx="2305086" cy="123583"/>
            </a:xfrm>
            <a:prstGeom prst="roundRect">
              <a:avLst>
                <a:gd name="adj" fmla="val 50000"/>
              </a:avLst>
            </a:prstGeom>
            <a:solidFill>
              <a:srgbClr val="0070C0">
                <a:lumMod val="75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8" name="Rectangle: Rounded Corners 7">
              <a:extLst>
                <a:ext uri="{FF2B5EF4-FFF2-40B4-BE49-F238E27FC236}">
                  <a16:creationId xmlns:a16="http://schemas.microsoft.com/office/drawing/2014/main" id="{24D4F2DA-BDA2-5ACC-E51C-94A5EAC50857}"/>
                </a:ext>
              </a:extLst>
            </p:cNvPr>
            <p:cNvSpPr/>
            <p:nvPr/>
          </p:nvSpPr>
          <p:spPr bwMode="auto">
            <a:xfrm rot="10800000">
              <a:off x="9966916" y="7515392"/>
              <a:ext cx="2129698" cy="85399"/>
            </a:xfrm>
            <a:prstGeom prst="roundRect">
              <a:avLst>
                <a:gd name="adj" fmla="val 50000"/>
              </a:avLst>
            </a:prstGeom>
            <a:solidFill>
              <a:srgbClr val="0070C0">
                <a:lumMod val="75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9" name="Rectangle: Rounded Corners 8">
              <a:extLst>
                <a:ext uri="{FF2B5EF4-FFF2-40B4-BE49-F238E27FC236}">
                  <a16:creationId xmlns:a16="http://schemas.microsoft.com/office/drawing/2014/main" id="{CD915316-DEA3-F925-75C6-A6E36F635B4A}"/>
                </a:ext>
              </a:extLst>
            </p:cNvPr>
            <p:cNvSpPr/>
            <p:nvPr/>
          </p:nvSpPr>
          <p:spPr bwMode="auto">
            <a:xfrm>
              <a:off x="6821482" y="3213629"/>
              <a:ext cx="2677702" cy="141973"/>
            </a:xfrm>
            <a:prstGeom prst="roundRect">
              <a:avLst>
                <a:gd name="adj" fmla="val 50000"/>
              </a:avLst>
            </a:prstGeom>
            <a:solidFill>
              <a:srgbClr val="44546A">
                <a:lumMod val="75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10" name="Rectangle: Rounded Corners 9">
              <a:extLst>
                <a:ext uri="{FF2B5EF4-FFF2-40B4-BE49-F238E27FC236}">
                  <a16:creationId xmlns:a16="http://schemas.microsoft.com/office/drawing/2014/main" id="{8A877DA2-FC7C-D240-53EA-E7ADF0738F2B}"/>
                </a:ext>
              </a:extLst>
            </p:cNvPr>
            <p:cNvSpPr/>
            <p:nvPr/>
          </p:nvSpPr>
          <p:spPr bwMode="auto">
            <a:xfrm>
              <a:off x="7007788" y="3385138"/>
              <a:ext cx="2305086" cy="123583"/>
            </a:xfrm>
            <a:prstGeom prst="roundRect">
              <a:avLst>
                <a:gd name="adj" fmla="val 50000"/>
              </a:avLst>
            </a:prstGeom>
            <a:solidFill>
              <a:srgbClr val="44546A">
                <a:lumMod val="75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11" name="Rectangle 10">
              <a:extLst>
                <a:ext uri="{FF2B5EF4-FFF2-40B4-BE49-F238E27FC236}">
                  <a16:creationId xmlns:a16="http://schemas.microsoft.com/office/drawing/2014/main" id="{979B8CB7-620F-C902-96C1-1D5BCD054A0F}"/>
                </a:ext>
              </a:extLst>
            </p:cNvPr>
            <p:cNvSpPr/>
            <p:nvPr/>
          </p:nvSpPr>
          <p:spPr bwMode="auto">
            <a:xfrm>
              <a:off x="7220900" y="3558335"/>
              <a:ext cx="1874365" cy="3840480"/>
            </a:xfrm>
            <a:prstGeom prst="rect">
              <a:avLst/>
            </a:prstGeom>
            <a:solidFill>
              <a:srgbClr val="44546A">
                <a:lumMod val="75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13" name="Rectangle: Rounded Corners 12">
              <a:extLst>
                <a:ext uri="{FF2B5EF4-FFF2-40B4-BE49-F238E27FC236}">
                  <a16:creationId xmlns:a16="http://schemas.microsoft.com/office/drawing/2014/main" id="{E06529A2-1790-80E1-4A7F-E9AE328625D1}"/>
                </a:ext>
              </a:extLst>
            </p:cNvPr>
            <p:cNvSpPr/>
            <p:nvPr/>
          </p:nvSpPr>
          <p:spPr bwMode="auto">
            <a:xfrm rot="10800000">
              <a:off x="7095481" y="7515392"/>
              <a:ext cx="2129698" cy="85399"/>
            </a:xfrm>
            <a:prstGeom prst="roundRect">
              <a:avLst>
                <a:gd name="adj" fmla="val 50000"/>
              </a:avLst>
            </a:prstGeom>
            <a:solidFill>
              <a:srgbClr val="44546A">
                <a:lumMod val="75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14" name="Rectangle: Rounded Corners 13">
              <a:extLst>
                <a:ext uri="{FF2B5EF4-FFF2-40B4-BE49-F238E27FC236}">
                  <a16:creationId xmlns:a16="http://schemas.microsoft.com/office/drawing/2014/main" id="{C9958C5C-84DE-684C-1065-5C673AD9D7A6}"/>
                </a:ext>
              </a:extLst>
            </p:cNvPr>
            <p:cNvSpPr/>
            <p:nvPr/>
          </p:nvSpPr>
          <p:spPr bwMode="auto">
            <a:xfrm>
              <a:off x="3987659" y="3213629"/>
              <a:ext cx="2677702" cy="141973"/>
            </a:xfrm>
            <a:prstGeom prst="roundRect">
              <a:avLst>
                <a:gd name="adj" fmla="val 50000"/>
              </a:avLst>
            </a:prstGeom>
            <a:solidFill>
              <a:srgbClr val="0070C0">
                <a:lumMod val="50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15" name="Rectangle: Rounded Corners 14">
              <a:extLst>
                <a:ext uri="{FF2B5EF4-FFF2-40B4-BE49-F238E27FC236}">
                  <a16:creationId xmlns:a16="http://schemas.microsoft.com/office/drawing/2014/main" id="{17FE4FBE-0BBA-2533-45A0-CD24D22B1C8D}"/>
                </a:ext>
              </a:extLst>
            </p:cNvPr>
            <p:cNvSpPr/>
            <p:nvPr/>
          </p:nvSpPr>
          <p:spPr bwMode="auto">
            <a:xfrm>
              <a:off x="4173967" y="3385138"/>
              <a:ext cx="2305086" cy="123583"/>
            </a:xfrm>
            <a:prstGeom prst="roundRect">
              <a:avLst>
                <a:gd name="adj" fmla="val 50000"/>
              </a:avLst>
            </a:prstGeom>
            <a:solidFill>
              <a:srgbClr val="0070C0">
                <a:lumMod val="50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16" name="Rectangle 15">
              <a:extLst>
                <a:ext uri="{FF2B5EF4-FFF2-40B4-BE49-F238E27FC236}">
                  <a16:creationId xmlns:a16="http://schemas.microsoft.com/office/drawing/2014/main" id="{484C614F-C1EF-199C-7A27-12BDF20C0A95}"/>
                </a:ext>
              </a:extLst>
            </p:cNvPr>
            <p:cNvSpPr/>
            <p:nvPr/>
          </p:nvSpPr>
          <p:spPr bwMode="auto">
            <a:xfrm>
              <a:off x="4348263" y="3558335"/>
              <a:ext cx="1950472" cy="3840480"/>
            </a:xfrm>
            <a:prstGeom prst="rect">
              <a:avLst/>
            </a:prstGeom>
            <a:solidFill>
              <a:srgbClr val="0070C0">
                <a:lumMod val="50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17" name="Rectangle: Rounded Corners 16">
              <a:extLst>
                <a:ext uri="{FF2B5EF4-FFF2-40B4-BE49-F238E27FC236}">
                  <a16:creationId xmlns:a16="http://schemas.microsoft.com/office/drawing/2014/main" id="{0C693A51-62BC-2726-553E-E49BB2240F6D}"/>
                </a:ext>
              </a:extLst>
            </p:cNvPr>
            <p:cNvSpPr/>
            <p:nvPr/>
          </p:nvSpPr>
          <p:spPr bwMode="auto">
            <a:xfrm rot="10800000">
              <a:off x="4261660" y="7515392"/>
              <a:ext cx="2129698" cy="85399"/>
            </a:xfrm>
            <a:prstGeom prst="roundRect">
              <a:avLst>
                <a:gd name="adj" fmla="val 50000"/>
              </a:avLst>
            </a:prstGeom>
            <a:solidFill>
              <a:srgbClr val="0070C0">
                <a:lumMod val="50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18" name="TextBox 112">
              <a:extLst>
                <a:ext uri="{FF2B5EF4-FFF2-40B4-BE49-F238E27FC236}">
                  <a16:creationId xmlns:a16="http://schemas.microsoft.com/office/drawing/2014/main" id="{092AEEE8-1215-0A08-B75C-C04672A42393}"/>
                </a:ext>
              </a:extLst>
            </p:cNvPr>
            <p:cNvSpPr txBox="1"/>
            <p:nvPr/>
          </p:nvSpPr>
          <p:spPr>
            <a:xfrm>
              <a:off x="4407011" y="5085318"/>
              <a:ext cx="1829356" cy="2431434"/>
            </a:xfrm>
            <a:prstGeom prst="rect">
              <a:avLst/>
            </a:prstGeom>
            <a:solidFill>
              <a:srgbClr val="0070C0">
                <a:lumMod val="50000"/>
              </a:srgb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8588" indent="-128588" fontAlgn="base">
                <a:lnSpc>
                  <a:spcPts val="1013"/>
                </a:lnSpc>
                <a:spcAft>
                  <a:spcPts val="450"/>
                </a:spcAft>
                <a:buFont typeface="Arial" panose="020B0604020202020204" pitchFamily="34" charset="0"/>
                <a:buChar char="•"/>
                <a:defRPr/>
              </a:pPr>
              <a:r>
                <a:rPr lang="en-US" sz="900" kern="0">
                  <a:solidFill>
                    <a:prstClr val="white"/>
                  </a:solidFill>
                  <a:latin typeface="+mj-lt"/>
                </a:rPr>
                <a:t>Scalable data &amp; AI architecture &amp; engineering platforms</a:t>
              </a:r>
            </a:p>
            <a:p>
              <a:pPr marL="128588" indent="-128588" fontAlgn="base">
                <a:lnSpc>
                  <a:spcPts val="1013"/>
                </a:lnSpc>
                <a:spcAft>
                  <a:spcPts val="450"/>
                </a:spcAft>
                <a:buFont typeface="Arial" panose="020B0604020202020204" pitchFamily="34" charset="0"/>
                <a:buChar char="•"/>
                <a:defRPr/>
              </a:pPr>
              <a:r>
                <a:rPr lang="en-US" sz="900" kern="0">
                  <a:solidFill>
                    <a:prstClr val="white"/>
                  </a:solidFill>
                  <a:latin typeface="+mj-lt"/>
                </a:rPr>
                <a:t>Robust data &amp; AI risk management &amp; quality frameworks</a:t>
              </a:r>
            </a:p>
            <a:p>
              <a:pPr marL="128588" indent="-128588" fontAlgn="base">
                <a:lnSpc>
                  <a:spcPts val="1013"/>
                </a:lnSpc>
                <a:spcAft>
                  <a:spcPts val="450"/>
                </a:spcAft>
                <a:buFont typeface="Arial" panose="020B0604020202020204" pitchFamily="34" charset="0"/>
                <a:buChar char="•"/>
                <a:defRPr/>
              </a:pPr>
              <a:r>
                <a:rPr lang="en-US" sz="900" kern="0">
                  <a:solidFill>
                    <a:prstClr val="white"/>
                  </a:solidFill>
                  <a:latin typeface="+mj-lt"/>
                </a:rPr>
                <a:t>Trust &amp; reliability on AI solutions</a:t>
              </a:r>
            </a:p>
            <a:p>
              <a:pPr marL="128588" indent="-128588" fontAlgn="base">
                <a:lnSpc>
                  <a:spcPts val="1013"/>
                </a:lnSpc>
                <a:spcAft>
                  <a:spcPts val="450"/>
                </a:spcAft>
                <a:buFont typeface="Arial" panose="020B0604020202020204" pitchFamily="34" charset="0"/>
                <a:buChar char="•"/>
                <a:defRPr/>
              </a:pPr>
              <a:r>
                <a:rPr lang="en-US" sz="900" kern="0">
                  <a:solidFill>
                    <a:prstClr val="white"/>
                  </a:solidFill>
                  <a:latin typeface="+mj-lt"/>
                </a:rPr>
                <a:t>Adherence to regulatory compliance</a:t>
              </a:r>
            </a:p>
          </p:txBody>
        </p:sp>
        <p:sp>
          <p:nvSpPr>
            <p:cNvPr id="19" name="TextBox 113">
              <a:extLst>
                <a:ext uri="{FF2B5EF4-FFF2-40B4-BE49-F238E27FC236}">
                  <a16:creationId xmlns:a16="http://schemas.microsoft.com/office/drawing/2014/main" id="{A703C674-E8BD-034B-AC43-EB29DED64DBD}"/>
                </a:ext>
              </a:extLst>
            </p:cNvPr>
            <p:cNvSpPr txBox="1"/>
            <p:nvPr/>
          </p:nvSpPr>
          <p:spPr>
            <a:xfrm>
              <a:off x="7253787" y="5085318"/>
              <a:ext cx="1829356" cy="2089461"/>
            </a:xfrm>
            <a:prstGeom prst="rect">
              <a:avLst/>
            </a:prstGeom>
            <a:solidFill>
              <a:srgbClr val="44546A">
                <a:lumMod val="75000"/>
              </a:srgbClr>
            </a:solid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8588" indent="-128588" fontAlgn="base">
                <a:lnSpc>
                  <a:spcPts val="1013"/>
                </a:lnSpc>
                <a:spcAft>
                  <a:spcPts val="450"/>
                </a:spcAft>
                <a:buFont typeface="Arial" panose="020B0604020202020204" pitchFamily="34" charset="0"/>
                <a:buChar char="•"/>
                <a:defRPr/>
              </a:pPr>
              <a:r>
                <a:rPr lang="en-US" sz="900" kern="0">
                  <a:solidFill>
                    <a:prstClr val="white"/>
                  </a:solidFill>
                  <a:latin typeface="+mj-lt"/>
                </a:rPr>
                <a:t>Industry-specific AI solutions</a:t>
              </a:r>
            </a:p>
            <a:p>
              <a:pPr marL="128588" indent="-128588" fontAlgn="base">
                <a:lnSpc>
                  <a:spcPts val="1013"/>
                </a:lnSpc>
                <a:spcAft>
                  <a:spcPts val="450"/>
                </a:spcAft>
                <a:buFont typeface="Arial" panose="020B0604020202020204" pitchFamily="34" charset="0"/>
                <a:buChar char="•"/>
                <a:defRPr/>
              </a:pPr>
              <a:r>
                <a:rPr lang="en-US" sz="900" kern="0">
                  <a:solidFill>
                    <a:prstClr val="white"/>
                  </a:solidFill>
                  <a:latin typeface="+mj-lt"/>
                </a:rPr>
                <a:t>Pre-built accelerators to fast-track time-to-value</a:t>
              </a:r>
            </a:p>
            <a:p>
              <a:pPr marL="128588" indent="-128588" fontAlgn="base">
                <a:lnSpc>
                  <a:spcPts val="1013"/>
                </a:lnSpc>
                <a:spcAft>
                  <a:spcPts val="450"/>
                </a:spcAft>
                <a:buFont typeface="Arial" panose="020B0604020202020204" pitchFamily="34" charset="0"/>
                <a:buChar char="•"/>
                <a:defRPr/>
              </a:pPr>
              <a:r>
                <a:rPr lang="en-US" sz="900" kern="0">
                  <a:solidFill>
                    <a:prstClr val="white"/>
                  </a:solidFill>
                  <a:latin typeface="+mj-lt"/>
                </a:rPr>
                <a:t>Scalable AI foundation to enable wider AI adoption</a:t>
              </a:r>
            </a:p>
            <a:p>
              <a:pPr marL="128270" indent="-128270" fontAlgn="base">
                <a:lnSpc>
                  <a:spcPts val="1013"/>
                </a:lnSpc>
                <a:spcAft>
                  <a:spcPts val="450"/>
                </a:spcAft>
                <a:buFont typeface="Arial" panose="020B0604020202020204" pitchFamily="34" charset="0"/>
                <a:buChar char="•"/>
                <a:defRPr/>
              </a:pPr>
              <a:r>
                <a:rPr lang="en-US" sz="900" kern="0">
                  <a:solidFill>
                    <a:prstClr val="white"/>
                  </a:solidFill>
                  <a:latin typeface="+mj-lt"/>
                </a:rPr>
                <a:t>Continuous inference acceleration</a:t>
              </a:r>
              <a:endParaRPr lang="en-US" sz="900" kern="0">
                <a:solidFill>
                  <a:prstClr val="white"/>
                </a:solidFill>
                <a:latin typeface="+mj-lt"/>
                <a:ea typeface="Tahoma"/>
                <a:cs typeface="Tahoma"/>
              </a:endParaRPr>
            </a:p>
          </p:txBody>
        </p:sp>
        <p:sp>
          <p:nvSpPr>
            <p:cNvPr id="20" name="TextBox 114">
              <a:extLst>
                <a:ext uri="{FF2B5EF4-FFF2-40B4-BE49-F238E27FC236}">
                  <a16:creationId xmlns:a16="http://schemas.microsoft.com/office/drawing/2014/main" id="{84035C8F-D449-87B7-400F-7AF7B3EDF40F}"/>
                </a:ext>
              </a:extLst>
            </p:cNvPr>
            <p:cNvSpPr txBox="1"/>
            <p:nvPr/>
          </p:nvSpPr>
          <p:spPr>
            <a:xfrm>
              <a:off x="10074381" y="5085318"/>
              <a:ext cx="1981776" cy="2089461"/>
            </a:xfrm>
            <a:prstGeom prst="rect">
              <a:avLst/>
            </a:prstGeom>
            <a:solidFill>
              <a:srgbClr val="0070C0">
                <a:lumMod val="75000"/>
              </a:srgb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8588" indent="-128588" fontAlgn="base">
                <a:lnSpc>
                  <a:spcPts val="1013"/>
                </a:lnSpc>
                <a:spcAft>
                  <a:spcPts val="450"/>
                </a:spcAft>
                <a:buFont typeface="Arial" panose="020B0604020202020204" pitchFamily="34" charset="0"/>
                <a:buChar char="•"/>
                <a:defRPr/>
              </a:pPr>
              <a:r>
                <a:rPr lang="en-US" sz="900" kern="0">
                  <a:solidFill>
                    <a:prstClr val="white"/>
                  </a:solidFill>
                  <a:latin typeface="+mj-lt"/>
                </a:rPr>
                <a:t>Industrialized </a:t>
              </a:r>
              <a:r>
                <a:rPr lang="en-US" sz="900" kern="0" err="1">
                  <a:solidFill>
                    <a:prstClr val="white"/>
                  </a:solidFill>
                  <a:latin typeface="+mj-lt"/>
                </a:rPr>
                <a:t>MLOps</a:t>
              </a:r>
              <a:r>
                <a:rPr lang="en-US" sz="900" kern="0">
                  <a:solidFill>
                    <a:prstClr val="white"/>
                  </a:solidFill>
                  <a:latin typeface="+mj-lt"/>
                </a:rPr>
                <a:t> &amp; </a:t>
              </a:r>
              <a:r>
                <a:rPr lang="en-US" sz="900" kern="0" err="1">
                  <a:solidFill>
                    <a:prstClr val="white"/>
                  </a:solidFill>
                  <a:latin typeface="+mj-lt"/>
                </a:rPr>
                <a:t>LLMOps</a:t>
              </a:r>
              <a:r>
                <a:rPr lang="en-US" sz="900" kern="0">
                  <a:solidFill>
                    <a:prstClr val="white"/>
                  </a:solidFill>
                  <a:latin typeface="+mj-lt"/>
                </a:rPr>
                <a:t> practices</a:t>
              </a:r>
            </a:p>
            <a:p>
              <a:pPr marL="128588" indent="-128588" fontAlgn="base">
                <a:lnSpc>
                  <a:spcPts val="1013"/>
                </a:lnSpc>
                <a:spcAft>
                  <a:spcPts val="450"/>
                </a:spcAft>
                <a:buFont typeface="Arial" panose="020B0604020202020204" pitchFamily="34" charset="0"/>
                <a:buChar char="•"/>
                <a:defRPr/>
              </a:pPr>
              <a:r>
                <a:rPr lang="en-US" sz="900" kern="0">
                  <a:solidFill>
                    <a:prstClr val="white"/>
                  </a:solidFill>
                  <a:latin typeface="+mj-lt"/>
                </a:rPr>
                <a:t>Seamless integration of AI endpoints into business</a:t>
              </a:r>
            </a:p>
            <a:p>
              <a:pPr marL="128588" indent="-128588" fontAlgn="base">
                <a:lnSpc>
                  <a:spcPts val="1013"/>
                </a:lnSpc>
                <a:spcAft>
                  <a:spcPts val="450"/>
                </a:spcAft>
                <a:buFont typeface="Arial" panose="020B0604020202020204" pitchFamily="34" charset="0"/>
                <a:buChar char="•"/>
                <a:defRPr/>
              </a:pPr>
              <a:r>
                <a:rPr lang="en-US" sz="900" kern="0">
                  <a:solidFill>
                    <a:prstClr val="white"/>
                  </a:solidFill>
                  <a:latin typeface="+mj-lt"/>
                </a:rPr>
                <a:t>Cost effective data &amp; model management services</a:t>
              </a:r>
            </a:p>
            <a:p>
              <a:pPr marL="128588" indent="-128588" fontAlgn="base">
                <a:lnSpc>
                  <a:spcPts val="1013"/>
                </a:lnSpc>
                <a:spcAft>
                  <a:spcPts val="450"/>
                </a:spcAft>
                <a:buFont typeface="Arial" panose="020B0604020202020204" pitchFamily="34" charset="0"/>
                <a:buChar char="•"/>
                <a:defRPr/>
              </a:pPr>
              <a:r>
                <a:rPr lang="en-US" sz="900" kern="0">
                  <a:solidFill>
                    <a:prstClr val="white"/>
                  </a:solidFill>
                  <a:latin typeface="+mj-lt"/>
                </a:rPr>
                <a:t>Scalable HW infrastructure</a:t>
              </a:r>
            </a:p>
          </p:txBody>
        </p:sp>
        <p:sp>
          <p:nvSpPr>
            <p:cNvPr id="21" name="Rectangle 20">
              <a:extLst>
                <a:ext uri="{FF2B5EF4-FFF2-40B4-BE49-F238E27FC236}">
                  <a16:creationId xmlns:a16="http://schemas.microsoft.com/office/drawing/2014/main" id="{8ACC0AD8-8362-9331-14B0-6BBEE56DE220}"/>
                </a:ext>
              </a:extLst>
            </p:cNvPr>
            <p:cNvSpPr/>
            <p:nvPr/>
          </p:nvSpPr>
          <p:spPr>
            <a:xfrm>
              <a:off x="4474928" y="4409820"/>
              <a:ext cx="1692723" cy="461665"/>
            </a:xfrm>
            <a:prstGeom prst="rect">
              <a:avLst/>
            </a:prstGeom>
            <a:solidFill>
              <a:srgbClr val="0070C0">
                <a:lumMod val="50000"/>
              </a:srgbClr>
            </a:solid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r>
                <a:rPr lang="en-US" sz="825" b="1" kern="0">
                  <a:solidFill>
                    <a:prstClr val="white"/>
                  </a:solidFill>
                  <a:ea typeface="Tahoma" panose="020B0604030504040204" pitchFamily="34" charset="0"/>
                  <a:cs typeface="Tahoma" panose="020B0604030504040204" pitchFamily="34" charset="0"/>
                </a:rPr>
                <a:t>DATA &amp; AI FOUNDATION</a:t>
              </a:r>
            </a:p>
          </p:txBody>
        </p:sp>
        <p:sp>
          <p:nvSpPr>
            <p:cNvPr id="22" name="Rectangle: Rounded Corners 21">
              <a:extLst>
                <a:ext uri="{FF2B5EF4-FFF2-40B4-BE49-F238E27FC236}">
                  <a16:creationId xmlns:a16="http://schemas.microsoft.com/office/drawing/2014/main" id="{F1275C22-B154-2392-8026-3B21FB198D4A}"/>
                </a:ext>
              </a:extLst>
            </p:cNvPr>
            <p:cNvSpPr/>
            <p:nvPr/>
          </p:nvSpPr>
          <p:spPr bwMode="auto">
            <a:xfrm>
              <a:off x="1321000" y="7641412"/>
              <a:ext cx="13716000" cy="274320"/>
            </a:xfrm>
            <a:prstGeom prst="roundRect">
              <a:avLst>
                <a:gd name="adj" fmla="val 50000"/>
              </a:avLst>
            </a:prstGeom>
            <a:solidFill>
              <a:sysClr val="windowText" lastClr="000000"/>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grpSp>
          <p:nvGrpSpPr>
            <p:cNvPr id="23" name="Graphic 22">
              <a:extLst>
                <a:ext uri="{FF2B5EF4-FFF2-40B4-BE49-F238E27FC236}">
                  <a16:creationId xmlns:a16="http://schemas.microsoft.com/office/drawing/2014/main" id="{B7EB5831-0241-04AD-3053-9111034F14CE}"/>
                </a:ext>
              </a:extLst>
            </p:cNvPr>
            <p:cNvGrpSpPr/>
            <p:nvPr/>
          </p:nvGrpSpPr>
          <p:grpSpPr>
            <a:xfrm>
              <a:off x="5091397" y="3736593"/>
              <a:ext cx="464727" cy="488999"/>
              <a:chOff x="4373798" y="3227326"/>
              <a:chExt cx="396402" cy="399874"/>
            </a:xfrm>
            <a:solidFill>
              <a:srgbClr val="0070C0">
                <a:lumMod val="50000"/>
              </a:srgbClr>
            </a:solidFill>
          </p:grpSpPr>
          <p:sp>
            <p:nvSpPr>
              <p:cNvPr id="86" name="Freeform: Shape 85">
                <a:extLst>
                  <a:ext uri="{FF2B5EF4-FFF2-40B4-BE49-F238E27FC236}">
                    <a16:creationId xmlns:a16="http://schemas.microsoft.com/office/drawing/2014/main" id="{2814EC56-3959-13F1-9930-F6A23A611BCE}"/>
                  </a:ext>
                </a:extLst>
              </p:cNvPr>
              <p:cNvSpPr/>
              <p:nvPr/>
            </p:nvSpPr>
            <p:spPr>
              <a:xfrm>
                <a:off x="4482489" y="3563265"/>
                <a:ext cx="12787" cy="12787"/>
              </a:xfrm>
              <a:custGeom>
                <a:avLst/>
                <a:gdLst>
                  <a:gd name="connsiteX0" fmla="*/ 0 w 12787"/>
                  <a:gd name="connsiteY0" fmla="*/ 0 h 12787"/>
                  <a:gd name="connsiteX1" fmla="*/ 12787 w 12787"/>
                  <a:gd name="connsiteY1" fmla="*/ 0 h 12787"/>
                  <a:gd name="connsiteX2" fmla="*/ 12787 w 12787"/>
                  <a:gd name="connsiteY2" fmla="*/ 12787 h 12787"/>
                  <a:gd name="connsiteX3" fmla="*/ 0 w 12787"/>
                  <a:gd name="connsiteY3" fmla="*/ 12787 h 12787"/>
                </a:gdLst>
                <a:ahLst/>
                <a:cxnLst>
                  <a:cxn ang="0">
                    <a:pos x="connsiteX0" y="connsiteY0"/>
                  </a:cxn>
                  <a:cxn ang="0">
                    <a:pos x="connsiteX1" y="connsiteY1"/>
                  </a:cxn>
                  <a:cxn ang="0">
                    <a:pos x="connsiteX2" y="connsiteY2"/>
                  </a:cxn>
                  <a:cxn ang="0">
                    <a:pos x="connsiteX3" y="connsiteY3"/>
                  </a:cxn>
                </a:cxnLst>
                <a:rect l="l" t="t" r="r" b="b"/>
                <a:pathLst>
                  <a:path w="12787" h="12787">
                    <a:moveTo>
                      <a:pt x="0" y="0"/>
                    </a:moveTo>
                    <a:lnTo>
                      <a:pt x="12787" y="0"/>
                    </a:lnTo>
                    <a:lnTo>
                      <a:pt x="12787" y="12787"/>
                    </a:lnTo>
                    <a:lnTo>
                      <a:pt x="0" y="12787"/>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87" name="Freeform: Shape 86">
                <a:extLst>
                  <a:ext uri="{FF2B5EF4-FFF2-40B4-BE49-F238E27FC236}">
                    <a16:creationId xmlns:a16="http://schemas.microsoft.com/office/drawing/2014/main" id="{A79169BB-4D39-C710-64E0-5761BE0B6940}"/>
                  </a:ext>
                </a:extLst>
              </p:cNvPr>
              <p:cNvSpPr/>
              <p:nvPr/>
            </p:nvSpPr>
            <p:spPr>
              <a:xfrm>
                <a:off x="4482489" y="3588839"/>
                <a:ext cx="12787" cy="12787"/>
              </a:xfrm>
              <a:custGeom>
                <a:avLst/>
                <a:gdLst>
                  <a:gd name="connsiteX0" fmla="*/ 0 w 12787"/>
                  <a:gd name="connsiteY0" fmla="*/ 0 h 12787"/>
                  <a:gd name="connsiteX1" fmla="*/ 12787 w 12787"/>
                  <a:gd name="connsiteY1" fmla="*/ 0 h 12787"/>
                  <a:gd name="connsiteX2" fmla="*/ 12787 w 12787"/>
                  <a:gd name="connsiteY2" fmla="*/ 12787 h 12787"/>
                  <a:gd name="connsiteX3" fmla="*/ 0 w 12787"/>
                  <a:gd name="connsiteY3" fmla="*/ 12787 h 12787"/>
                </a:gdLst>
                <a:ahLst/>
                <a:cxnLst>
                  <a:cxn ang="0">
                    <a:pos x="connsiteX0" y="connsiteY0"/>
                  </a:cxn>
                  <a:cxn ang="0">
                    <a:pos x="connsiteX1" y="connsiteY1"/>
                  </a:cxn>
                  <a:cxn ang="0">
                    <a:pos x="connsiteX2" y="connsiteY2"/>
                  </a:cxn>
                  <a:cxn ang="0">
                    <a:pos x="connsiteX3" y="connsiteY3"/>
                  </a:cxn>
                </a:cxnLst>
                <a:rect l="l" t="t" r="r" b="b"/>
                <a:pathLst>
                  <a:path w="12787" h="12787">
                    <a:moveTo>
                      <a:pt x="0" y="0"/>
                    </a:moveTo>
                    <a:lnTo>
                      <a:pt x="12787" y="0"/>
                    </a:lnTo>
                    <a:lnTo>
                      <a:pt x="12787" y="12787"/>
                    </a:lnTo>
                    <a:lnTo>
                      <a:pt x="0" y="12787"/>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88" name="Freeform: Shape 87">
                <a:extLst>
                  <a:ext uri="{FF2B5EF4-FFF2-40B4-BE49-F238E27FC236}">
                    <a16:creationId xmlns:a16="http://schemas.microsoft.com/office/drawing/2014/main" id="{D7008D99-33F8-B983-E9B7-3DF512145D99}"/>
                  </a:ext>
                </a:extLst>
              </p:cNvPr>
              <p:cNvSpPr/>
              <p:nvPr/>
            </p:nvSpPr>
            <p:spPr>
              <a:xfrm>
                <a:off x="4373798" y="3227326"/>
                <a:ext cx="396402" cy="399874"/>
              </a:xfrm>
              <a:custGeom>
                <a:avLst/>
                <a:gdLst>
                  <a:gd name="connsiteX0" fmla="*/ 368802 w 396402"/>
                  <a:gd name="connsiteY0" fmla="*/ 80195 h 399874"/>
                  <a:gd name="connsiteX1" fmla="*/ 330005 w 396402"/>
                  <a:gd name="connsiteY1" fmla="*/ 27365 h 399874"/>
                  <a:gd name="connsiteX2" fmla="*/ 317806 w 396402"/>
                  <a:gd name="connsiteY2" fmla="*/ 5339 h 399874"/>
                  <a:gd name="connsiteX3" fmla="*/ 312468 w 396402"/>
                  <a:gd name="connsiteY3" fmla="*/ 0 h 399874"/>
                  <a:gd name="connsiteX4" fmla="*/ 300237 w 396402"/>
                  <a:gd name="connsiteY4" fmla="*/ 17128 h 399874"/>
                  <a:gd name="connsiteX5" fmla="*/ 288888 w 396402"/>
                  <a:gd name="connsiteY5" fmla="*/ 16259 h 399874"/>
                  <a:gd name="connsiteX6" fmla="*/ 259036 w 396402"/>
                  <a:gd name="connsiteY6" fmla="*/ 32601 h 399874"/>
                  <a:gd name="connsiteX7" fmla="*/ 249638 w 396402"/>
                  <a:gd name="connsiteY7" fmla="*/ 57856 h 399874"/>
                  <a:gd name="connsiteX8" fmla="*/ 241985 w 396402"/>
                  <a:gd name="connsiteY8" fmla="*/ 66935 h 399874"/>
                  <a:gd name="connsiteX9" fmla="*/ 233142 w 396402"/>
                  <a:gd name="connsiteY9" fmla="*/ 80195 h 399874"/>
                  <a:gd name="connsiteX10" fmla="*/ 89510 w 396402"/>
                  <a:gd name="connsiteY10" fmla="*/ 80195 h 399874"/>
                  <a:gd name="connsiteX11" fmla="*/ 89510 w 396402"/>
                  <a:gd name="connsiteY11" fmla="*/ 145614 h 399874"/>
                  <a:gd name="connsiteX12" fmla="*/ 44755 w 396402"/>
                  <a:gd name="connsiteY12" fmla="*/ 201673 h 399874"/>
                  <a:gd name="connsiteX13" fmla="*/ 72586 w 396402"/>
                  <a:gd name="connsiteY13" fmla="*/ 250859 h 399874"/>
                  <a:gd name="connsiteX14" fmla="*/ 0 w 396402"/>
                  <a:gd name="connsiteY14" fmla="*/ 348726 h 399874"/>
                  <a:gd name="connsiteX15" fmla="*/ 0 w 396402"/>
                  <a:gd name="connsiteY15" fmla="*/ 399875 h 399874"/>
                  <a:gd name="connsiteX16" fmla="*/ 191814 w 396402"/>
                  <a:gd name="connsiteY16" fmla="*/ 399875 h 399874"/>
                  <a:gd name="connsiteX17" fmla="*/ 204595 w 396402"/>
                  <a:gd name="connsiteY17" fmla="*/ 399875 h 399874"/>
                  <a:gd name="connsiteX18" fmla="*/ 396403 w 396402"/>
                  <a:gd name="connsiteY18" fmla="*/ 399875 h 399874"/>
                  <a:gd name="connsiteX19" fmla="*/ 396403 w 396402"/>
                  <a:gd name="connsiteY19" fmla="*/ 272003 h 399874"/>
                  <a:gd name="connsiteX20" fmla="*/ 396403 w 396402"/>
                  <a:gd name="connsiteY20" fmla="*/ 252822 h 399874"/>
                  <a:gd name="connsiteX21" fmla="*/ 396403 w 396402"/>
                  <a:gd name="connsiteY21" fmla="*/ 80195 h 399874"/>
                  <a:gd name="connsiteX22" fmla="*/ 383616 w 396402"/>
                  <a:gd name="connsiteY22" fmla="*/ 92982 h 399874"/>
                  <a:gd name="connsiteX23" fmla="*/ 383616 w 396402"/>
                  <a:gd name="connsiteY23" fmla="*/ 227414 h 399874"/>
                  <a:gd name="connsiteX24" fmla="*/ 370828 w 396402"/>
                  <a:gd name="connsiteY24" fmla="*/ 221506 h 399874"/>
                  <a:gd name="connsiteX25" fmla="*/ 370828 w 396402"/>
                  <a:gd name="connsiteY25" fmla="*/ 98199 h 399874"/>
                  <a:gd name="connsiteX26" fmla="*/ 370649 w 396402"/>
                  <a:gd name="connsiteY26" fmla="*/ 92982 h 399874"/>
                  <a:gd name="connsiteX27" fmla="*/ 364435 w 396402"/>
                  <a:gd name="connsiteY27" fmla="*/ 233641 h 399874"/>
                  <a:gd name="connsiteX28" fmla="*/ 383616 w 396402"/>
                  <a:gd name="connsiteY28" fmla="*/ 252822 h 399874"/>
                  <a:gd name="connsiteX29" fmla="*/ 383616 w 396402"/>
                  <a:gd name="connsiteY29" fmla="*/ 259215 h 399874"/>
                  <a:gd name="connsiteX30" fmla="*/ 204595 w 396402"/>
                  <a:gd name="connsiteY30" fmla="*/ 259215 h 399874"/>
                  <a:gd name="connsiteX31" fmla="*/ 204595 w 396402"/>
                  <a:gd name="connsiteY31" fmla="*/ 252822 h 399874"/>
                  <a:gd name="connsiteX32" fmla="*/ 223776 w 396402"/>
                  <a:gd name="connsiteY32" fmla="*/ 233641 h 399874"/>
                  <a:gd name="connsiteX33" fmla="*/ 358041 w 396402"/>
                  <a:gd name="connsiteY33" fmla="*/ 98199 h 399874"/>
                  <a:gd name="connsiteX34" fmla="*/ 358041 w 396402"/>
                  <a:gd name="connsiteY34" fmla="*/ 220854 h 399874"/>
                  <a:gd name="connsiteX35" fmla="*/ 345254 w 396402"/>
                  <a:gd name="connsiteY35" fmla="*/ 220854 h 399874"/>
                  <a:gd name="connsiteX36" fmla="*/ 345254 w 396402"/>
                  <a:gd name="connsiteY36" fmla="*/ 98199 h 399874"/>
                  <a:gd name="connsiteX37" fmla="*/ 327071 w 396402"/>
                  <a:gd name="connsiteY37" fmla="*/ 56852 h 399874"/>
                  <a:gd name="connsiteX38" fmla="*/ 330862 w 396402"/>
                  <a:gd name="connsiteY38" fmla="*/ 43349 h 399874"/>
                  <a:gd name="connsiteX39" fmla="*/ 358041 w 396402"/>
                  <a:gd name="connsiteY39" fmla="*/ 98199 h 399874"/>
                  <a:gd name="connsiteX40" fmla="*/ 313580 w 396402"/>
                  <a:gd name="connsiteY40" fmla="*/ 20453 h 399874"/>
                  <a:gd name="connsiteX41" fmla="*/ 316477 w 396402"/>
                  <a:gd name="connsiteY41" fmla="*/ 49096 h 399874"/>
                  <a:gd name="connsiteX42" fmla="*/ 297762 w 396402"/>
                  <a:gd name="connsiteY42" fmla="*/ 42601 h 399874"/>
                  <a:gd name="connsiteX43" fmla="*/ 288888 w 396402"/>
                  <a:gd name="connsiteY43" fmla="*/ 29046 h 399874"/>
                  <a:gd name="connsiteX44" fmla="*/ 291644 w 396402"/>
                  <a:gd name="connsiteY44" fmla="*/ 29174 h 399874"/>
                  <a:gd name="connsiteX45" fmla="*/ 282316 w 396402"/>
                  <a:gd name="connsiteY45" fmla="*/ 42242 h 399874"/>
                  <a:gd name="connsiteX46" fmla="*/ 265820 w 396402"/>
                  <a:gd name="connsiteY46" fmla="*/ 46871 h 399874"/>
                  <a:gd name="connsiteX47" fmla="*/ 269816 w 396402"/>
                  <a:gd name="connsiteY47" fmla="*/ 39480 h 399874"/>
                  <a:gd name="connsiteX48" fmla="*/ 288888 w 396402"/>
                  <a:gd name="connsiteY48" fmla="*/ 29046 h 399874"/>
                  <a:gd name="connsiteX49" fmla="*/ 252624 w 396402"/>
                  <a:gd name="connsiteY49" fmla="*/ 74025 h 399874"/>
                  <a:gd name="connsiteX50" fmla="*/ 288888 w 396402"/>
                  <a:gd name="connsiteY50" fmla="*/ 54620 h 399874"/>
                  <a:gd name="connsiteX51" fmla="*/ 332467 w 396402"/>
                  <a:gd name="connsiteY51" fmla="*/ 98199 h 399874"/>
                  <a:gd name="connsiteX52" fmla="*/ 332467 w 396402"/>
                  <a:gd name="connsiteY52" fmla="*/ 220854 h 399874"/>
                  <a:gd name="connsiteX53" fmla="*/ 236563 w 396402"/>
                  <a:gd name="connsiteY53" fmla="*/ 220854 h 399874"/>
                  <a:gd name="connsiteX54" fmla="*/ 236563 w 396402"/>
                  <a:gd name="connsiteY54" fmla="*/ 218661 h 399874"/>
                  <a:gd name="connsiteX55" fmla="*/ 260264 w 396402"/>
                  <a:gd name="connsiteY55" fmla="*/ 161438 h 399874"/>
                  <a:gd name="connsiteX56" fmla="*/ 262137 w 396402"/>
                  <a:gd name="connsiteY56" fmla="*/ 159565 h 399874"/>
                  <a:gd name="connsiteX57" fmla="*/ 262137 w 396402"/>
                  <a:gd name="connsiteY57" fmla="*/ 144131 h 399874"/>
                  <a:gd name="connsiteX58" fmla="*/ 274925 w 396402"/>
                  <a:gd name="connsiteY58" fmla="*/ 144131 h 399874"/>
                  <a:gd name="connsiteX59" fmla="*/ 306893 w 396402"/>
                  <a:gd name="connsiteY59" fmla="*/ 112163 h 399874"/>
                  <a:gd name="connsiteX60" fmla="*/ 306893 w 396402"/>
                  <a:gd name="connsiteY60" fmla="*/ 105769 h 399874"/>
                  <a:gd name="connsiteX61" fmla="*/ 294105 w 396402"/>
                  <a:gd name="connsiteY61" fmla="*/ 105769 h 399874"/>
                  <a:gd name="connsiteX62" fmla="*/ 294105 w 396402"/>
                  <a:gd name="connsiteY62" fmla="*/ 112163 h 399874"/>
                  <a:gd name="connsiteX63" fmla="*/ 274925 w 396402"/>
                  <a:gd name="connsiteY63" fmla="*/ 131344 h 399874"/>
                  <a:gd name="connsiteX64" fmla="*/ 253097 w 396402"/>
                  <a:gd name="connsiteY64" fmla="*/ 131344 h 399874"/>
                  <a:gd name="connsiteX65" fmla="*/ 243884 w 396402"/>
                  <a:gd name="connsiteY65" fmla="*/ 140557 h 399874"/>
                  <a:gd name="connsiteX66" fmla="*/ 235259 w 396402"/>
                  <a:gd name="connsiteY66" fmla="*/ 144131 h 399874"/>
                  <a:gd name="connsiteX67" fmla="*/ 224358 w 396402"/>
                  <a:gd name="connsiteY67" fmla="*/ 137392 h 399874"/>
                  <a:gd name="connsiteX68" fmla="*/ 218367 w 396402"/>
                  <a:gd name="connsiteY68" fmla="*/ 125410 h 399874"/>
                  <a:gd name="connsiteX69" fmla="*/ 57542 w 396402"/>
                  <a:gd name="connsiteY69" fmla="*/ 201673 h 399874"/>
                  <a:gd name="connsiteX70" fmla="*/ 102298 w 396402"/>
                  <a:gd name="connsiteY70" fmla="*/ 156918 h 399874"/>
                  <a:gd name="connsiteX71" fmla="*/ 147053 w 396402"/>
                  <a:gd name="connsiteY71" fmla="*/ 201673 h 399874"/>
                  <a:gd name="connsiteX72" fmla="*/ 102298 w 396402"/>
                  <a:gd name="connsiteY72" fmla="*/ 246428 h 399874"/>
                  <a:gd name="connsiteX73" fmla="*/ 57542 w 396402"/>
                  <a:gd name="connsiteY73" fmla="*/ 201673 h 399874"/>
                  <a:gd name="connsiteX74" fmla="*/ 102298 w 396402"/>
                  <a:gd name="connsiteY74" fmla="*/ 301324 h 399874"/>
                  <a:gd name="connsiteX75" fmla="*/ 90693 w 396402"/>
                  <a:gd name="connsiteY75" fmla="*/ 289719 h 399874"/>
                  <a:gd name="connsiteX76" fmla="*/ 96351 w 396402"/>
                  <a:gd name="connsiteY76" fmla="*/ 259516 h 399874"/>
                  <a:gd name="connsiteX77" fmla="*/ 102298 w 396402"/>
                  <a:gd name="connsiteY77" fmla="*/ 259215 h 399874"/>
                  <a:gd name="connsiteX78" fmla="*/ 108237 w 396402"/>
                  <a:gd name="connsiteY78" fmla="*/ 259516 h 399874"/>
                  <a:gd name="connsiteX79" fmla="*/ 113895 w 396402"/>
                  <a:gd name="connsiteY79" fmla="*/ 289719 h 399874"/>
                  <a:gd name="connsiteX80" fmla="*/ 67318 w 396402"/>
                  <a:gd name="connsiteY80" fmla="*/ 266344 h 399874"/>
                  <a:gd name="connsiteX81" fmla="*/ 83002 w 396402"/>
                  <a:gd name="connsiteY81" fmla="*/ 261364 h 399874"/>
                  <a:gd name="connsiteX82" fmla="*/ 79741 w 396402"/>
                  <a:gd name="connsiteY82" fmla="*/ 278767 h 399874"/>
                  <a:gd name="connsiteX83" fmla="*/ 124854 w 396402"/>
                  <a:gd name="connsiteY83" fmla="*/ 278767 h 399874"/>
                  <a:gd name="connsiteX84" fmla="*/ 121593 w 396402"/>
                  <a:gd name="connsiteY84" fmla="*/ 261364 h 399874"/>
                  <a:gd name="connsiteX85" fmla="*/ 137277 w 396402"/>
                  <a:gd name="connsiteY85" fmla="*/ 266344 h 399874"/>
                  <a:gd name="connsiteX86" fmla="*/ 12787 w 396402"/>
                  <a:gd name="connsiteY86" fmla="*/ 348726 h 399874"/>
                  <a:gd name="connsiteX87" fmla="*/ 55477 w 396402"/>
                  <a:gd name="connsiteY87" fmla="*/ 272584 h 399874"/>
                  <a:gd name="connsiteX88" fmla="*/ 93257 w 396402"/>
                  <a:gd name="connsiteY88" fmla="*/ 310364 h 399874"/>
                  <a:gd name="connsiteX89" fmla="*/ 83117 w 396402"/>
                  <a:gd name="connsiteY89" fmla="*/ 320504 h 399874"/>
                  <a:gd name="connsiteX90" fmla="*/ 83117 w 396402"/>
                  <a:gd name="connsiteY90" fmla="*/ 387087 h 399874"/>
                  <a:gd name="connsiteX91" fmla="*/ 44755 w 396402"/>
                  <a:gd name="connsiteY91" fmla="*/ 387087 h 399874"/>
                  <a:gd name="connsiteX92" fmla="*/ 44755 w 396402"/>
                  <a:gd name="connsiteY92" fmla="*/ 310364 h 399874"/>
                  <a:gd name="connsiteX93" fmla="*/ 31968 w 396402"/>
                  <a:gd name="connsiteY93" fmla="*/ 310364 h 399874"/>
                  <a:gd name="connsiteX94" fmla="*/ 31968 w 396402"/>
                  <a:gd name="connsiteY94" fmla="*/ 387087 h 399874"/>
                  <a:gd name="connsiteX95" fmla="*/ 12787 w 396402"/>
                  <a:gd name="connsiteY95" fmla="*/ 387087 h 399874"/>
                  <a:gd name="connsiteX96" fmla="*/ 191808 w 396402"/>
                  <a:gd name="connsiteY96" fmla="*/ 387087 h 399874"/>
                  <a:gd name="connsiteX97" fmla="*/ 172627 w 396402"/>
                  <a:gd name="connsiteY97" fmla="*/ 387087 h 399874"/>
                  <a:gd name="connsiteX98" fmla="*/ 172627 w 396402"/>
                  <a:gd name="connsiteY98" fmla="*/ 310364 h 399874"/>
                  <a:gd name="connsiteX99" fmla="*/ 159840 w 396402"/>
                  <a:gd name="connsiteY99" fmla="*/ 310364 h 399874"/>
                  <a:gd name="connsiteX100" fmla="*/ 159840 w 396402"/>
                  <a:gd name="connsiteY100" fmla="*/ 387087 h 399874"/>
                  <a:gd name="connsiteX101" fmla="*/ 95904 w 396402"/>
                  <a:gd name="connsiteY101" fmla="*/ 387087 h 399874"/>
                  <a:gd name="connsiteX102" fmla="*/ 95904 w 396402"/>
                  <a:gd name="connsiteY102" fmla="*/ 325798 h 399874"/>
                  <a:gd name="connsiteX103" fmla="*/ 149118 w 396402"/>
                  <a:gd name="connsiteY103" fmla="*/ 272584 h 399874"/>
                  <a:gd name="connsiteX104" fmla="*/ 191808 w 396402"/>
                  <a:gd name="connsiteY104" fmla="*/ 348726 h 399874"/>
                  <a:gd name="connsiteX105" fmla="*/ 383616 w 396402"/>
                  <a:gd name="connsiteY105" fmla="*/ 387087 h 399874"/>
                  <a:gd name="connsiteX106" fmla="*/ 204595 w 396402"/>
                  <a:gd name="connsiteY106" fmla="*/ 387087 h 399874"/>
                  <a:gd name="connsiteX107" fmla="*/ 204595 w 396402"/>
                  <a:gd name="connsiteY107" fmla="*/ 348726 h 399874"/>
                  <a:gd name="connsiteX108" fmla="*/ 132009 w 396402"/>
                  <a:gd name="connsiteY108" fmla="*/ 250859 h 399874"/>
                  <a:gd name="connsiteX109" fmla="*/ 159840 w 396402"/>
                  <a:gd name="connsiteY109" fmla="*/ 201673 h 399874"/>
                  <a:gd name="connsiteX110" fmla="*/ 102298 w 396402"/>
                  <a:gd name="connsiteY110" fmla="*/ 144131 h 399874"/>
                  <a:gd name="connsiteX111" fmla="*/ 102298 w 396402"/>
                  <a:gd name="connsiteY111" fmla="*/ 92982 h 399874"/>
                  <a:gd name="connsiteX112" fmla="*/ 224613 w 396402"/>
                  <a:gd name="connsiteY112" fmla="*/ 92982 h 399874"/>
                  <a:gd name="connsiteX113" fmla="*/ 203604 w 396402"/>
                  <a:gd name="connsiteY113" fmla="*/ 124490 h 399874"/>
                  <a:gd name="connsiteX114" fmla="*/ 212913 w 396402"/>
                  <a:gd name="connsiteY114" fmla="*/ 143121 h 399874"/>
                  <a:gd name="connsiteX115" fmla="*/ 235259 w 396402"/>
                  <a:gd name="connsiteY115" fmla="*/ 156918 h 399874"/>
                  <a:gd name="connsiteX116" fmla="*/ 249350 w 396402"/>
                  <a:gd name="connsiteY116" fmla="*/ 152538 h 399874"/>
                  <a:gd name="connsiteX117" fmla="*/ 249350 w 396402"/>
                  <a:gd name="connsiteY117" fmla="*/ 154322 h 399874"/>
                  <a:gd name="connsiteX118" fmla="*/ 223776 w 396402"/>
                  <a:gd name="connsiteY118" fmla="*/ 218661 h 399874"/>
                  <a:gd name="connsiteX119" fmla="*/ 223776 w 396402"/>
                  <a:gd name="connsiteY119" fmla="*/ 220854 h 399874"/>
                  <a:gd name="connsiteX120" fmla="*/ 191808 w 396402"/>
                  <a:gd name="connsiteY120" fmla="*/ 252822 h 399874"/>
                  <a:gd name="connsiteX121" fmla="*/ 191808 w 396402"/>
                  <a:gd name="connsiteY121" fmla="*/ 272003 h 399874"/>
                  <a:gd name="connsiteX122" fmla="*/ 383616 w 396402"/>
                  <a:gd name="connsiteY122" fmla="*/ 272003 h 399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396402" h="399874">
                    <a:moveTo>
                      <a:pt x="368802" y="80195"/>
                    </a:moveTo>
                    <a:cubicBezTo>
                      <a:pt x="363853" y="58156"/>
                      <a:pt x="349960" y="38956"/>
                      <a:pt x="330005" y="27365"/>
                    </a:cubicBezTo>
                    <a:cubicBezTo>
                      <a:pt x="328094" y="19270"/>
                      <a:pt x="324078" y="11611"/>
                      <a:pt x="317806" y="5339"/>
                    </a:cubicBezTo>
                    <a:lnTo>
                      <a:pt x="312468" y="0"/>
                    </a:lnTo>
                    <a:lnTo>
                      <a:pt x="300237" y="17128"/>
                    </a:lnTo>
                    <a:cubicBezTo>
                      <a:pt x="296484" y="16611"/>
                      <a:pt x="292692" y="16259"/>
                      <a:pt x="288888" y="16259"/>
                    </a:cubicBezTo>
                    <a:cubicBezTo>
                      <a:pt x="276721" y="16259"/>
                      <a:pt x="265558" y="22371"/>
                      <a:pt x="259036" y="32601"/>
                    </a:cubicBezTo>
                    <a:cubicBezTo>
                      <a:pt x="253365" y="41494"/>
                      <a:pt x="250316" y="49953"/>
                      <a:pt x="249638" y="57856"/>
                    </a:cubicBezTo>
                    <a:cubicBezTo>
                      <a:pt x="246825" y="60598"/>
                      <a:pt x="244216" y="63591"/>
                      <a:pt x="241985" y="66935"/>
                    </a:cubicBezTo>
                    <a:lnTo>
                      <a:pt x="233142" y="80195"/>
                    </a:lnTo>
                    <a:lnTo>
                      <a:pt x="89510" y="80195"/>
                    </a:lnTo>
                    <a:lnTo>
                      <a:pt x="89510" y="145614"/>
                    </a:lnTo>
                    <a:cubicBezTo>
                      <a:pt x="63923" y="151451"/>
                      <a:pt x="44755" y="174341"/>
                      <a:pt x="44755" y="201673"/>
                    </a:cubicBezTo>
                    <a:cubicBezTo>
                      <a:pt x="44755" y="222523"/>
                      <a:pt x="55938" y="240764"/>
                      <a:pt x="72586" y="250859"/>
                    </a:cubicBezTo>
                    <a:cubicBezTo>
                      <a:pt x="30632" y="263621"/>
                      <a:pt x="0" y="302654"/>
                      <a:pt x="0" y="348726"/>
                    </a:cubicBezTo>
                    <a:lnTo>
                      <a:pt x="0" y="399875"/>
                    </a:lnTo>
                    <a:lnTo>
                      <a:pt x="191814" y="399875"/>
                    </a:lnTo>
                    <a:lnTo>
                      <a:pt x="204595" y="399875"/>
                    </a:lnTo>
                    <a:lnTo>
                      <a:pt x="396403" y="399875"/>
                    </a:lnTo>
                    <a:lnTo>
                      <a:pt x="396403" y="272003"/>
                    </a:lnTo>
                    <a:lnTo>
                      <a:pt x="396403" y="252822"/>
                    </a:lnTo>
                    <a:lnTo>
                      <a:pt x="396403" y="80195"/>
                    </a:lnTo>
                    <a:close/>
                    <a:moveTo>
                      <a:pt x="383616" y="92982"/>
                    </a:moveTo>
                    <a:lnTo>
                      <a:pt x="383616" y="227414"/>
                    </a:lnTo>
                    <a:cubicBezTo>
                      <a:pt x="379882" y="224588"/>
                      <a:pt x="375579" y="222471"/>
                      <a:pt x="370828" y="221506"/>
                    </a:cubicBezTo>
                    <a:lnTo>
                      <a:pt x="370828" y="98199"/>
                    </a:lnTo>
                    <a:cubicBezTo>
                      <a:pt x="370828" y="96447"/>
                      <a:pt x="370758" y="94708"/>
                      <a:pt x="370649" y="92982"/>
                    </a:cubicBezTo>
                    <a:close/>
                    <a:moveTo>
                      <a:pt x="364435" y="233641"/>
                    </a:moveTo>
                    <a:cubicBezTo>
                      <a:pt x="375010" y="233641"/>
                      <a:pt x="383616" y="242247"/>
                      <a:pt x="383616" y="252822"/>
                    </a:cubicBezTo>
                    <a:lnTo>
                      <a:pt x="383616" y="259215"/>
                    </a:lnTo>
                    <a:lnTo>
                      <a:pt x="204595" y="259215"/>
                    </a:lnTo>
                    <a:lnTo>
                      <a:pt x="204595" y="252822"/>
                    </a:lnTo>
                    <a:cubicBezTo>
                      <a:pt x="204595" y="242247"/>
                      <a:pt x="213201" y="233641"/>
                      <a:pt x="223776" y="233641"/>
                    </a:cubicBezTo>
                    <a:close/>
                    <a:moveTo>
                      <a:pt x="358041" y="98199"/>
                    </a:moveTo>
                    <a:lnTo>
                      <a:pt x="358041" y="220854"/>
                    </a:lnTo>
                    <a:lnTo>
                      <a:pt x="345254" y="220854"/>
                    </a:lnTo>
                    <a:lnTo>
                      <a:pt x="345254" y="98199"/>
                    </a:lnTo>
                    <a:cubicBezTo>
                      <a:pt x="345254" y="81857"/>
                      <a:pt x="338221" y="67158"/>
                      <a:pt x="327071" y="56852"/>
                    </a:cubicBezTo>
                    <a:cubicBezTo>
                      <a:pt x="329065" y="52491"/>
                      <a:pt x="330299" y="47952"/>
                      <a:pt x="330862" y="43349"/>
                    </a:cubicBezTo>
                    <a:cubicBezTo>
                      <a:pt x="347812" y="56315"/>
                      <a:pt x="358041" y="76423"/>
                      <a:pt x="358041" y="98199"/>
                    </a:cubicBezTo>
                    <a:close/>
                    <a:moveTo>
                      <a:pt x="313580" y="20453"/>
                    </a:moveTo>
                    <a:cubicBezTo>
                      <a:pt x="318919" y="29052"/>
                      <a:pt x="319942" y="39570"/>
                      <a:pt x="316477" y="49096"/>
                    </a:cubicBezTo>
                    <a:cubicBezTo>
                      <a:pt x="310780" y="45880"/>
                      <a:pt x="304463" y="43668"/>
                      <a:pt x="297762" y="42601"/>
                    </a:cubicBezTo>
                    <a:close/>
                    <a:moveTo>
                      <a:pt x="288888" y="29046"/>
                    </a:moveTo>
                    <a:cubicBezTo>
                      <a:pt x="289809" y="29046"/>
                      <a:pt x="290723" y="29136"/>
                      <a:pt x="291644" y="29174"/>
                    </a:cubicBezTo>
                    <a:lnTo>
                      <a:pt x="282316" y="42242"/>
                    </a:lnTo>
                    <a:cubicBezTo>
                      <a:pt x="276549" y="42914"/>
                      <a:pt x="271018" y="44531"/>
                      <a:pt x="265820" y="46871"/>
                    </a:cubicBezTo>
                    <a:cubicBezTo>
                      <a:pt x="266933" y="44461"/>
                      <a:pt x="268205" y="42006"/>
                      <a:pt x="269816" y="39480"/>
                    </a:cubicBezTo>
                    <a:cubicBezTo>
                      <a:pt x="273978" y="32940"/>
                      <a:pt x="281107" y="29046"/>
                      <a:pt x="288888" y="29046"/>
                    </a:cubicBezTo>
                    <a:close/>
                    <a:moveTo>
                      <a:pt x="252624" y="74025"/>
                    </a:moveTo>
                    <a:cubicBezTo>
                      <a:pt x="260718" y="61877"/>
                      <a:pt x="274279" y="54620"/>
                      <a:pt x="288888" y="54620"/>
                    </a:cubicBezTo>
                    <a:cubicBezTo>
                      <a:pt x="312915" y="54620"/>
                      <a:pt x="332467" y="74172"/>
                      <a:pt x="332467" y="98199"/>
                    </a:cubicBezTo>
                    <a:lnTo>
                      <a:pt x="332467" y="220854"/>
                    </a:lnTo>
                    <a:lnTo>
                      <a:pt x="236563" y="220854"/>
                    </a:lnTo>
                    <a:lnTo>
                      <a:pt x="236563" y="218661"/>
                    </a:lnTo>
                    <a:cubicBezTo>
                      <a:pt x="236563" y="197044"/>
                      <a:pt x="244977" y="176719"/>
                      <a:pt x="260264" y="161438"/>
                    </a:cubicBezTo>
                    <a:lnTo>
                      <a:pt x="262137" y="159565"/>
                    </a:lnTo>
                    <a:lnTo>
                      <a:pt x="262137" y="144131"/>
                    </a:lnTo>
                    <a:lnTo>
                      <a:pt x="274925" y="144131"/>
                    </a:lnTo>
                    <a:cubicBezTo>
                      <a:pt x="292552" y="144131"/>
                      <a:pt x="306893" y="129790"/>
                      <a:pt x="306893" y="112163"/>
                    </a:cubicBezTo>
                    <a:lnTo>
                      <a:pt x="306893" y="105769"/>
                    </a:lnTo>
                    <a:lnTo>
                      <a:pt x="294105" y="105769"/>
                    </a:lnTo>
                    <a:lnTo>
                      <a:pt x="294105" y="112163"/>
                    </a:lnTo>
                    <a:cubicBezTo>
                      <a:pt x="294105" y="122738"/>
                      <a:pt x="285500" y="131344"/>
                      <a:pt x="274925" y="131344"/>
                    </a:cubicBezTo>
                    <a:lnTo>
                      <a:pt x="253097" y="131344"/>
                    </a:lnTo>
                    <a:lnTo>
                      <a:pt x="243884" y="140557"/>
                    </a:lnTo>
                    <a:cubicBezTo>
                      <a:pt x="241576" y="142865"/>
                      <a:pt x="238519" y="144131"/>
                      <a:pt x="235259" y="144131"/>
                    </a:cubicBezTo>
                    <a:cubicBezTo>
                      <a:pt x="230611" y="144131"/>
                      <a:pt x="226436" y="141548"/>
                      <a:pt x="224358" y="137392"/>
                    </a:cubicBezTo>
                    <a:lnTo>
                      <a:pt x="218367" y="125410"/>
                    </a:lnTo>
                    <a:close/>
                    <a:moveTo>
                      <a:pt x="57542" y="201673"/>
                    </a:moveTo>
                    <a:cubicBezTo>
                      <a:pt x="57542" y="177000"/>
                      <a:pt x="77625" y="156918"/>
                      <a:pt x="102298" y="156918"/>
                    </a:cubicBezTo>
                    <a:cubicBezTo>
                      <a:pt x="126970" y="156918"/>
                      <a:pt x="147053" y="177000"/>
                      <a:pt x="147053" y="201673"/>
                    </a:cubicBezTo>
                    <a:cubicBezTo>
                      <a:pt x="147053" y="226346"/>
                      <a:pt x="126970" y="246428"/>
                      <a:pt x="102298" y="246428"/>
                    </a:cubicBezTo>
                    <a:cubicBezTo>
                      <a:pt x="77625" y="246428"/>
                      <a:pt x="57542" y="226346"/>
                      <a:pt x="57542" y="201673"/>
                    </a:cubicBezTo>
                    <a:close/>
                    <a:moveTo>
                      <a:pt x="102298" y="301324"/>
                    </a:moveTo>
                    <a:lnTo>
                      <a:pt x="90693" y="289719"/>
                    </a:lnTo>
                    <a:lnTo>
                      <a:pt x="96351" y="259516"/>
                    </a:lnTo>
                    <a:cubicBezTo>
                      <a:pt x="98327" y="259388"/>
                      <a:pt x="100290" y="259215"/>
                      <a:pt x="102298" y="259215"/>
                    </a:cubicBezTo>
                    <a:cubicBezTo>
                      <a:pt x="104305" y="259215"/>
                      <a:pt x="106268" y="259388"/>
                      <a:pt x="108237" y="259516"/>
                    </a:cubicBezTo>
                    <a:lnTo>
                      <a:pt x="113895" y="289719"/>
                    </a:lnTo>
                    <a:close/>
                    <a:moveTo>
                      <a:pt x="67318" y="266344"/>
                    </a:moveTo>
                    <a:cubicBezTo>
                      <a:pt x="72324" y="264209"/>
                      <a:pt x="77580" y="262566"/>
                      <a:pt x="83002" y="261364"/>
                    </a:cubicBezTo>
                    <a:lnTo>
                      <a:pt x="79741" y="278767"/>
                    </a:lnTo>
                    <a:close/>
                    <a:moveTo>
                      <a:pt x="124854" y="278767"/>
                    </a:moveTo>
                    <a:lnTo>
                      <a:pt x="121593" y="261364"/>
                    </a:lnTo>
                    <a:cubicBezTo>
                      <a:pt x="127015" y="262559"/>
                      <a:pt x="132271" y="264209"/>
                      <a:pt x="137277" y="266344"/>
                    </a:cubicBezTo>
                    <a:close/>
                    <a:moveTo>
                      <a:pt x="12787" y="348726"/>
                    </a:moveTo>
                    <a:cubicBezTo>
                      <a:pt x="12787" y="316547"/>
                      <a:pt x="29916" y="288364"/>
                      <a:pt x="55477" y="272584"/>
                    </a:cubicBezTo>
                    <a:lnTo>
                      <a:pt x="93257" y="310364"/>
                    </a:lnTo>
                    <a:lnTo>
                      <a:pt x="83117" y="320504"/>
                    </a:lnTo>
                    <a:lnTo>
                      <a:pt x="83117" y="387087"/>
                    </a:lnTo>
                    <a:lnTo>
                      <a:pt x="44755" y="387087"/>
                    </a:lnTo>
                    <a:lnTo>
                      <a:pt x="44755" y="310364"/>
                    </a:lnTo>
                    <a:lnTo>
                      <a:pt x="31968" y="310364"/>
                    </a:lnTo>
                    <a:lnTo>
                      <a:pt x="31968" y="387087"/>
                    </a:lnTo>
                    <a:lnTo>
                      <a:pt x="12787" y="387087"/>
                    </a:lnTo>
                    <a:close/>
                    <a:moveTo>
                      <a:pt x="191808" y="387087"/>
                    </a:moveTo>
                    <a:lnTo>
                      <a:pt x="172627" y="387087"/>
                    </a:lnTo>
                    <a:lnTo>
                      <a:pt x="172627" y="310364"/>
                    </a:lnTo>
                    <a:lnTo>
                      <a:pt x="159840" y="310364"/>
                    </a:lnTo>
                    <a:lnTo>
                      <a:pt x="159840" y="387087"/>
                    </a:lnTo>
                    <a:lnTo>
                      <a:pt x="95904" y="387087"/>
                    </a:lnTo>
                    <a:lnTo>
                      <a:pt x="95904" y="325798"/>
                    </a:lnTo>
                    <a:lnTo>
                      <a:pt x="149118" y="272584"/>
                    </a:lnTo>
                    <a:cubicBezTo>
                      <a:pt x="174679" y="288364"/>
                      <a:pt x="191808" y="316547"/>
                      <a:pt x="191808" y="348726"/>
                    </a:cubicBezTo>
                    <a:close/>
                    <a:moveTo>
                      <a:pt x="383616" y="387087"/>
                    </a:moveTo>
                    <a:lnTo>
                      <a:pt x="204595" y="387087"/>
                    </a:lnTo>
                    <a:lnTo>
                      <a:pt x="204595" y="348726"/>
                    </a:lnTo>
                    <a:cubicBezTo>
                      <a:pt x="204595" y="302654"/>
                      <a:pt x="173963" y="263621"/>
                      <a:pt x="132009" y="250859"/>
                    </a:cubicBezTo>
                    <a:cubicBezTo>
                      <a:pt x="148657" y="240764"/>
                      <a:pt x="159840" y="222523"/>
                      <a:pt x="159840" y="201673"/>
                    </a:cubicBezTo>
                    <a:cubicBezTo>
                      <a:pt x="159840" y="169942"/>
                      <a:pt x="134029" y="144131"/>
                      <a:pt x="102298" y="144131"/>
                    </a:cubicBezTo>
                    <a:lnTo>
                      <a:pt x="102298" y="92982"/>
                    </a:lnTo>
                    <a:lnTo>
                      <a:pt x="224613" y="92982"/>
                    </a:lnTo>
                    <a:lnTo>
                      <a:pt x="203604" y="124490"/>
                    </a:lnTo>
                    <a:lnTo>
                      <a:pt x="212913" y="143121"/>
                    </a:lnTo>
                    <a:cubicBezTo>
                      <a:pt x="217190" y="151630"/>
                      <a:pt x="225745" y="156918"/>
                      <a:pt x="235259" y="156918"/>
                    </a:cubicBezTo>
                    <a:cubicBezTo>
                      <a:pt x="240367" y="156918"/>
                      <a:pt x="245226" y="155371"/>
                      <a:pt x="249350" y="152538"/>
                    </a:cubicBezTo>
                    <a:lnTo>
                      <a:pt x="249350" y="154322"/>
                    </a:lnTo>
                    <a:cubicBezTo>
                      <a:pt x="232836" y="171783"/>
                      <a:pt x="223776" y="194525"/>
                      <a:pt x="223776" y="218661"/>
                    </a:cubicBezTo>
                    <a:lnTo>
                      <a:pt x="223776" y="220854"/>
                    </a:lnTo>
                    <a:cubicBezTo>
                      <a:pt x="206149" y="220854"/>
                      <a:pt x="191808" y="235195"/>
                      <a:pt x="191808" y="252822"/>
                    </a:cubicBezTo>
                    <a:lnTo>
                      <a:pt x="191808" y="272003"/>
                    </a:lnTo>
                    <a:lnTo>
                      <a:pt x="383616" y="272003"/>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89" name="Freeform: Shape 88">
                <a:extLst>
                  <a:ext uri="{FF2B5EF4-FFF2-40B4-BE49-F238E27FC236}">
                    <a16:creationId xmlns:a16="http://schemas.microsoft.com/office/drawing/2014/main" id="{FEF37705-D2E9-A089-B689-BE8921FFFB21}"/>
                  </a:ext>
                </a:extLst>
              </p:cNvPr>
              <p:cNvSpPr/>
              <p:nvPr/>
            </p:nvSpPr>
            <p:spPr>
              <a:xfrm>
                <a:off x="4635935" y="3307521"/>
                <a:ext cx="12787" cy="12787"/>
              </a:xfrm>
              <a:custGeom>
                <a:avLst/>
                <a:gdLst>
                  <a:gd name="connsiteX0" fmla="*/ 12787 w 12787"/>
                  <a:gd name="connsiteY0" fmla="*/ 6394 h 12787"/>
                  <a:gd name="connsiteX1" fmla="*/ 6394 w 12787"/>
                  <a:gd name="connsiteY1" fmla="*/ 12787 h 12787"/>
                  <a:gd name="connsiteX2" fmla="*/ 0 w 12787"/>
                  <a:gd name="connsiteY2" fmla="*/ 6394 h 12787"/>
                  <a:gd name="connsiteX3" fmla="*/ 6394 w 12787"/>
                  <a:gd name="connsiteY3" fmla="*/ 0 h 12787"/>
                  <a:gd name="connsiteX4" fmla="*/ 12787 w 12787"/>
                  <a:gd name="connsiteY4" fmla="*/ 6394 h 12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87" h="12787">
                    <a:moveTo>
                      <a:pt x="12787" y="6394"/>
                    </a:moveTo>
                    <a:cubicBezTo>
                      <a:pt x="12787" y="9925"/>
                      <a:pt x="9925" y="12787"/>
                      <a:pt x="6394" y="12787"/>
                    </a:cubicBezTo>
                    <a:cubicBezTo>
                      <a:pt x="2863" y="12787"/>
                      <a:pt x="0" y="9925"/>
                      <a:pt x="0" y="6394"/>
                    </a:cubicBezTo>
                    <a:cubicBezTo>
                      <a:pt x="0" y="2863"/>
                      <a:pt x="2863" y="0"/>
                      <a:pt x="6394" y="0"/>
                    </a:cubicBezTo>
                    <a:cubicBezTo>
                      <a:pt x="9925" y="0"/>
                      <a:pt x="12787" y="2863"/>
                      <a:pt x="12787" y="6394"/>
                    </a:cubicBez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90" name="Freeform: Shape 89">
                <a:extLst>
                  <a:ext uri="{FF2B5EF4-FFF2-40B4-BE49-F238E27FC236}">
                    <a16:creationId xmlns:a16="http://schemas.microsoft.com/office/drawing/2014/main" id="{96072183-459B-34ED-3564-14C033A2935F}"/>
                  </a:ext>
                </a:extLst>
              </p:cNvPr>
              <p:cNvSpPr/>
              <p:nvPr/>
            </p:nvSpPr>
            <p:spPr>
              <a:xfrm>
                <a:off x="4488883" y="3333096"/>
                <a:ext cx="12787" cy="12787"/>
              </a:xfrm>
              <a:custGeom>
                <a:avLst/>
                <a:gdLst>
                  <a:gd name="connsiteX0" fmla="*/ 0 w 12787"/>
                  <a:gd name="connsiteY0" fmla="*/ 0 h 12787"/>
                  <a:gd name="connsiteX1" fmla="*/ 12787 w 12787"/>
                  <a:gd name="connsiteY1" fmla="*/ 0 h 12787"/>
                  <a:gd name="connsiteX2" fmla="*/ 12787 w 12787"/>
                  <a:gd name="connsiteY2" fmla="*/ 12787 h 12787"/>
                  <a:gd name="connsiteX3" fmla="*/ 0 w 12787"/>
                  <a:gd name="connsiteY3" fmla="*/ 12787 h 12787"/>
                </a:gdLst>
                <a:ahLst/>
                <a:cxnLst>
                  <a:cxn ang="0">
                    <a:pos x="connsiteX0" y="connsiteY0"/>
                  </a:cxn>
                  <a:cxn ang="0">
                    <a:pos x="connsiteX1" y="connsiteY1"/>
                  </a:cxn>
                  <a:cxn ang="0">
                    <a:pos x="connsiteX2" y="connsiteY2"/>
                  </a:cxn>
                  <a:cxn ang="0">
                    <a:pos x="connsiteX3" y="connsiteY3"/>
                  </a:cxn>
                </a:cxnLst>
                <a:rect l="l" t="t" r="r" b="b"/>
                <a:pathLst>
                  <a:path w="12787" h="12787">
                    <a:moveTo>
                      <a:pt x="0" y="0"/>
                    </a:moveTo>
                    <a:lnTo>
                      <a:pt x="12787" y="0"/>
                    </a:lnTo>
                    <a:lnTo>
                      <a:pt x="12787" y="12787"/>
                    </a:lnTo>
                    <a:lnTo>
                      <a:pt x="0" y="12787"/>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91" name="Freeform: Shape 90">
                <a:extLst>
                  <a:ext uri="{FF2B5EF4-FFF2-40B4-BE49-F238E27FC236}">
                    <a16:creationId xmlns:a16="http://schemas.microsoft.com/office/drawing/2014/main" id="{191D3E0F-DB79-3878-C5DF-A42836AE2281}"/>
                  </a:ext>
                </a:extLst>
              </p:cNvPr>
              <p:cNvSpPr/>
              <p:nvPr/>
            </p:nvSpPr>
            <p:spPr>
              <a:xfrm>
                <a:off x="4514457" y="3333096"/>
                <a:ext cx="12787" cy="12787"/>
              </a:xfrm>
              <a:custGeom>
                <a:avLst/>
                <a:gdLst>
                  <a:gd name="connsiteX0" fmla="*/ 0 w 12787"/>
                  <a:gd name="connsiteY0" fmla="*/ 0 h 12787"/>
                  <a:gd name="connsiteX1" fmla="*/ 12787 w 12787"/>
                  <a:gd name="connsiteY1" fmla="*/ 0 h 12787"/>
                  <a:gd name="connsiteX2" fmla="*/ 12787 w 12787"/>
                  <a:gd name="connsiteY2" fmla="*/ 12787 h 12787"/>
                  <a:gd name="connsiteX3" fmla="*/ 0 w 12787"/>
                  <a:gd name="connsiteY3" fmla="*/ 12787 h 12787"/>
                </a:gdLst>
                <a:ahLst/>
                <a:cxnLst>
                  <a:cxn ang="0">
                    <a:pos x="connsiteX0" y="connsiteY0"/>
                  </a:cxn>
                  <a:cxn ang="0">
                    <a:pos x="connsiteX1" y="connsiteY1"/>
                  </a:cxn>
                  <a:cxn ang="0">
                    <a:pos x="connsiteX2" y="connsiteY2"/>
                  </a:cxn>
                  <a:cxn ang="0">
                    <a:pos x="connsiteX3" y="connsiteY3"/>
                  </a:cxn>
                </a:cxnLst>
                <a:rect l="l" t="t" r="r" b="b"/>
                <a:pathLst>
                  <a:path w="12787" h="12787">
                    <a:moveTo>
                      <a:pt x="0" y="0"/>
                    </a:moveTo>
                    <a:lnTo>
                      <a:pt x="12787" y="0"/>
                    </a:lnTo>
                    <a:lnTo>
                      <a:pt x="12787" y="12787"/>
                    </a:lnTo>
                    <a:lnTo>
                      <a:pt x="0" y="12787"/>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92" name="Freeform: Shape 91">
                <a:extLst>
                  <a:ext uri="{FF2B5EF4-FFF2-40B4-BE49-F238E27FC236}">
                    <a16:creationId xmlns:a16="http://schemas.microsoft.com/office/drawing/2014/main" id="{05F2FDCE-0EC6-DE13-6B79-2599E5003CEB}"/>
                  </a:ext>
                </a:extLst>
              </p:cNvPr>
              <p:cNvSpPr/>
              <p:nvPr/>
            </p:nvSpPr>
            <p:spPr>
              <a:xfrm>
                <a:off x="4540032" y="3333096"/>
                <a:ext cx="12787" cy="12787"/>
              </a:xfrm>
              <a:custGeom>
                <a:avLst/>
                <a:gdLst>
                  <a:gd name="connsiteX0" fmla="*/ 0 w 12787"/>
                  <a:gd name="connsiteY0" fmla="*/ 0 h 12787"/>
                  <a:gd name="connsiteX1" fmla="*/ 12787 w 12787"/>
                  <a:gd name="connsiteY1" fmla="*/ 0 h 12787"/>
                  <a:gd name="connsiteX2" fmla="*/ 12787 w 12787"/>
                  <a:gd name="connsiteY2" fmla="*/ 12787 h 12787"/>
                  <a:gd name="connsiteX3" fmla="*/ 0 w 12787"/>
                  <a:gd name="connsiteY3" fmla="*/ 12787 h 12787"/>
                </a:gdLst>
                <a:ahLst/>
                <a:cxnLst>
                  <a:cxn ang="0">
                    <a:pos x="connsiteX0" y="connsiteY0"/>
                  </a:cxn>
                  <a:cxn ang="0">
                    <a:pos x="connsiteX1" y="connsiteY1"/>
                  </a:cxn>
                  <a:cxn ang="0">
                    <a:pos x="connsiteX2" y="connsiteY2"/>
                  </a:cxn>
                  <a:cxn ang="0">
                    <a:pos x="connsiteX3" y="connsiteY3"/>
                  </a:cxn>
                </a:cxnLst>
                <a:rect l="l" t="t" r="r" b="b"/>
                <a:pathLst>
                  <a:path w="12787" h="12787">
                    <a:moveTo>
                      <a:pt x="0" y="0"/>
                    </a:moveTo>
                    <a:lnTo>
                      <a:pt x="12787" y="0"/>
                    </a:lnTo>
                    <a:lnTo>
                      <a:pt x="12787" y="12787"/>
                    </a:lnTo>
                    <a:lnTo>
                      <a:pt x="0" y="12787"/>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93" name="Freeform: Shape 92">
                <a:extLst>
                  <a:ext uri="{FF2B5EF4-FFF2-40B4-BE49-F238E27FC236}">
                    <a16:creationId xmlns:a16="http://schemas.microsoft.com/office/drawing/2014/main" id="{80D5CA3B-8078-3402-C642-D8B1189384B4}"/>
                  </a:ext>
                </a:extLst>
              </p:cNvPr>
              <p:cNvSpPr/>
              <p:nvPr/>
            </p:nvSpPr>
            <p:spPr>
              <a:xfrm>
                <a:off x="4488883" y="3358670"/>
                <a:ext cx="63935" cy="12787"/>
              </a:xfrm>
              <a:custGeom>
                <a:avLst/>
                <a:gdLst>
                  <a:gd name="connsiteX0" fmla="*/ 0 w 63935"/>
                  <a:gd name="connsiteY0" fmla="*/ 0 h 12787"/>
                  <a:gd name="connsiteX1" fmla="*/ 63936 w 63935"/>
                  <a:gd name="connsiteY1" fmla="*/ 0 h 12787"/>
                  <a:gd name="connsiteX2" fmla="*/ 63936 w 63935"/>
                  <a:gd name="connsiteY2" fmla="*/ 12787 h 12787"/>
                  <a:gd name="connsiteX3" fmla="*/ 0 w 63935"/>
                  <a:gd name="connsiteY3" fmla="*/ 12787 h 12787"/>
                </a:gdLst>
                <a:ahLst/>
                <a:cxnLst>
                  <a:cxn ang="0">
                    <a:pos x="connsiteX0" y="connsiteY0"/>
                  </a:cxn>
                  <a:cxn ang="0">
                    <a:pos x="connsiteX1" y="connsiteY1"/>
                  </a:cxn>
                  <a:cxn ang="0">
                    <a:pos x="connsiteX2" y="connsiteY2"/>
                  </a:cxn>
                  <a:cxn ang="0">
                    <a:pos x="connsiteX3" y="connsiteY3"/>
                  </a:cxn>
                </a:cxnLst>
                <a:rect l="l" t="t" r="r" b="b"/>
                <a:pathLst>
                  <a:path w="63935" h="12787">
                    <a:moveTo>
                      <a:pt x="0" y="0"/>
                    </a:moveTo>
                    <a:lnTo>
                      <a:pt x="63936" y="0"/>
                    </a:lnTo>
                    <a:lnTo>
                      <a:pt x="63936" y="12787"/>
                    </a:lnTo>
                    <a:lnTo>
                      <a:pt x="0" y="12787"/>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94" name="Freeform: Shape 93">
                <a:extLst>
                  <a:ext uri="{FF2B5EF4-FFF2-40B4-BE49-F238E27FC236}">
                    <a16:creationId xmlns:a16="http://schemas.microsoft.com/office/drawing/2014/main" id="{11E11AF0-E547-F81F-9FEB-60A5E3B5FA3B}"/>
                  </a:ext>
                </a:extLst>
              </p:cNvPr>
              <p:cNvSpPr/>
              <p:nvPr/>
            </p:nvSpPr>
            <p:spPr>
              <a:xfrm>
                <a:off x="4591180" y="3512116"/>
                <a:ext cx="153446" cy="89510"/>
              </a:xfrm>
              <a:custGeom>
                <a:avLst/>
                <a:gdLst>
                  <a:gd name="connsiteX0" fmla="*/ 153446 w 153446"/>
                  <a:gd name="connsiteY0" fmla="*/ 0 h 89510"/>
                  <a:gd name="connsiteX1" fmla="*/ 0 w 153446"/>
                  <a:gd name="connsiteY1" fmla="*/ 0 h 89510"/>
                  <a:gd name="connsiteX2" fmla="*/ 0 w 153446"/>
                  <a:gd name="connsiteY2" fmla="*/ 89510 h 89510"/>
                  <a:gd name="connsiteX3" fmla="*/ 153446 w 153446"/>
                  <a:gd name="connsiteY3" fmla="*/ 89510 h 89510"/>
                  <a:gd name="connsiteX4" fmla="*/ 140659 w 153446"/>
                  <a:gd name="connsiteY4" fmla="*/ 76723 h 89510"/>
                  <a:gd name="connsiteX5" fmla="*/ 12787 w 153446"/>
                  <a:gd name="connsiteY5" fmla="*/ 76723 h 89510"/>
                  <a:gd name="connsiteX6" fmla="*/ 12787 w 153446"/>
                  <a:gd name="connsiteY6" fmla="*/ 12787 h 89510"/>
                  <a:gd name="connsiteX7" fmla="*/ 140659 w 153446"/>
                  <a:gd name="connsiteY7" fmla="*/ 12787 h 89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3446" h="89510">
                    <a:moveTo>
                      <a:pt x="153446" y="0"/>
                    </a:moveTo>
                    <a:lnTo>
                      <a:pt x="0" y="0"/>
                    </a:lnTo>
                    <a:lnTo>
                      <a:pt x="0" y="89510"/>
                    </a:lnTo>
                    <a:lnTo>
                      <a:pt x="153446" y="89510"/>
                    </a:lnTo>
                    <a:close/>
                    <a:moveTo>
                      <a:pt x="140659" y="76723"/>
                    </a:moveTo>
                    <a:lnTo>
                      <a:pt x="12787" y="76723"/>
                    </a:lnTo>
                    <a:lnTo>
                      <a:pt x="12787" y="12787"/>
                    </a:lnTo>
                    <a:lnTo>
                      <a:pt x="140659" y="12787"/>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95" name="Freeform: Shape 94">
                <a:extLst>
                  <a:ext uri="{FF2B5EF4-FFF2-40B4-BE49-F238E27FC236}">
                    <a16:creationId xmlns:a16="http://schemas.microsoft.com/office/drawing/2014/main" id="{91719DF2-62C3-682B-90C4-6B853BC9E244}"/>
                  </a:ext>
                </a:extLst>
              </p:cNvPr>
              <p:cNvSpPr/>
              <p:nvPr/>
            </p:nvSpPr>
            <p:spPr>
              <a:xfrm>
                <a:off x="4616755" y="3537691"/>
                <a:ext cx="102297" cy="12787"/>
              </a:xfrm>
              <a:custGeom>
                <a:avLst/>
                <a:gdLst>
                  <a:gd name="connsiteX0" fmla="*/ 0 w 102297"/>
                  <a:gd name="connsiteY0" fmla="*/ 0 h 12787"/>
                  <a:gd name="connsiteX1" fmla="*/ 102298 w 102297"/>
                  <a:gd name="connsiteY1" fmla="*/ 0 h 12787"/>
                  <a:gd name="connsiteX2" fmla="*/ 102298 w 102297"/>
                  <a:gd name="connsiteY2" fmla="*/ 12787 h 12787"/>
                  <a:gd name="connsiteX3" fmla="*/ 0 w 102297"/>
                  <a:gd name="connsiteY3" fmla="*/ 12787 h 12787"/>
                </a:gdLst>
                <a:ahLst/>
                <a:cxnLst>
                  <a:cxn ang="0">
                    <a:pos x="connsiteX0" y="connsiteY0"/>
                  </a:cxn>
                  <a:cxn ang="0">
                    <a:pos x="connsiteX1" y="connsiteY1"/>
                  </a:cxn>
                  <a:cxn ang="0">
                    <a:pos x="connsiteX2" y="connsiteY2"/>
                  </a:cxn>
                  <a:cxn ang="0">
                    <a:pos x="connsiteX3" y="connsiteY3"/>
                  </a:cxn>
                </a:cxnLst>
                <a:rect l="l" t="t" r="r" b="b"/>
                <a:pathLst>
                  <a:path w="102297" h="12787">
                    <a:moveTo>
                      <a:pt x="0" y="0"/>
                    </a:moveTo>
                    <a:lnTo>
                      <a:pt x="102298" y="0"/>
                    </a:lnTo>
                    <a:lnTo>
                      <a:pt x="102298" y="12787"/>
                    </a:lnTo>
                    <a:lnTo>
                      <a:pt x="0" y="12787"/>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96" name="Freeform: Shape 95">
                <a:extLst>
                  <a:ext uri="{FF2B5EF4-FFF2-40B4-BE49-F238E27FC236}">
                    <a16:creationId xmlns:a16="http://schemas.microsoft.com/office/drawing/2014/main" id="{96D5A55B-8A82-5046-7361-DC7E8C02BCCC}"/>
                  </a:ext>
                </a:extLst>
              </p:cNvPr>
              <p:cNvSpPr/>
              <p:nvPr/>
            </p:nvSpPr>
            <p:spPr>
              <a:xfrm>
                <a:off x="4616755" y="3563265"/>
                <a:ext cx="102297" cy="12787"/>
              </a:xfrm>
              <a:custGeom>
                <a:avLst/>
                <a:gdLst>
                  <a:gd name="connsiteX0" fmla="*/ 0 w 102297"/>
                  <a:gd name="connsiteY0" fmla="*/ 0 h 12787"/>
                  <a:gd name="connsiteX1" fmla="*/ 102298 w 102297"/>
                  <a:gd name="connsiteY1" fmla="*/ 0 h 12787"/>
                  <a:gd name="connsiteX2" fmla="*/ 102298 w 102297"/>
                  <a:gd name="connsiteY2" fmla="*/ 12787 h 12787"/>
                  <a:gd name="connsiteX3" fmla="*/ 0 w 102297"/>
                  <a:gd name="connsiteY3" fmla="*/ 12787 h 12787"/>
                </a:gdLst>
                <a:ahLst/>
                <a:cxnLst>
                  <a:cxn ang="0">
                    <a:pos x="connsiteX0" y="connsiteY0"/>
                  </a:cxn>
                  <a:cxn ang="0">
                    <a:pos x="connsiteX1" y="connsiteY1"/>
                  </a:cxn>
                  <a:cxn ang="0">
                    <a:pos x="connsiteX2" y="connsiteY2"/>
                  </a:cxn>
                  <a:cxn ang="0">
                    <a:pos x="connsiteX3" y="connsiteY3"/>
                  </a:cxn>
                </a:cxnLst>
                <a:rect l="l" t="t" r="r" b="b"/>
                <a:pathLst>
                  <a:path w="102297" h="12787">
                    <a:moveTo>
                      <a:pt x="0" y="0"/>
                    </a:moveTo>
                    <a:lnTo>
                      <a:pt x="102298" y="0"/>
                    </a:lnTo>
                    <a:lnTo>
                      <a:pt x="102298" y="12787"/>
                    </a:lnTo>
                    <a:lnTo>
                      <a:pt x="0" y="12787"/>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grpSp>
        <p:grpSp>
          <p:nvGrpSpPr>
            <p:cNvPr id="24" name="Graphic 36">
              <a:extLst>
                <a:ext uri="{FF2B5EF4-FFF2-40B4-BE49-F238E27FC236}">
                  <a16:creationId xmlns:a16="http://schemas.microsoft.com/office/drawing/2014/main" id="{496397E5-2216-ADBB-9BBE-DF10FDEB6D42}"/>
                </a:ext>
              </a:extLst>
            </p:cNvPr>
            <p:cNvGrpSpPr/>
            <p:nvPr/>
          </p:nvGrpSpPr>
          <p:grpSpPr>
            <a:xfrm>
              <a:off x="7925990" y="3740813"/>
              <a:ext cx="464727" cy="484751"/>
              <a:chOff x="4373798" y="3230798"/>
              <a:chExt cx="396402" cy="396402"/>
            </a:xfrm>
            <a:solidFill>
              <a:srgbClr val="44546A">
                <a:lumMod val="75000"/>
              </a:srgbClr>
            </a:solidFill>
          </p:grpSpPr>
          <p:sp>
            <p:nvSpPr>
              <p:cNvPr id="74" name="Freeform: Shape 73">
                <a:extLst>
                  <a:ext uri="{FF2B5EF4-FFF2-40B4-BE49-F238E27FC236}">
                    <a16:creationId xmlns:a16="http://schemas.microsoft.com/office/drawing/2014/main" id="{7ACF1156-840F-A816-F0EF-9F3694EE6AE5}"/>
                  </a:ext>
                </a:extLst>
              </p:cNvPr>
              <p:cNvSpPr/>
              <p:nvPr/>
            </p:nvSpPr>
            <p:spPr>
              <a:xfrm>
                <a:off x="4444128" y="3371457"/>
                <a:ext cx="12787" cy="12787"/>
              </a:xfrm>
              <a:custGeom>
                <a:avLst/>
                <a:gdLst>
                  <a:gd name="connsiteX0" fmla="*/ 0 w 12787"/>
                  <a:gd name="connsiteY0" fmla="*/ 0 h 12787"/>
                  <a:gd name="connsiteX1" fmla="*/ 12787 w 12787"/>
                  <a:gd name="connsiteY1" fmla="*/ 0 h 12787"/>
                  <a:gd name="connsiteX2" fmla="*/ 12787 w 12787"/>
                  <a:gd name="connsiteY2" fmla="*/ 12787 h 12787"/>
                  <a:gd name="connsiteX3" fmla="*/ 0 w 12787"/>
                  <a:gd name="connsiteY3" fmla="*/ 12787 h 12787"/>
                </a:gdLst>
                <a:ahLst/>
                <a:cxnLst>
                  <a:cxn ang="0">
                    <a:pos x="connsiteX0" y="connsiteY0"/>
                  </a:cxn>
                  <a:cxn ang="0">
                    <a:pos x="connsiteX1" y="connsiteY1"/>
                  </a:cxn>
                  <a:cxn ang="0">
                    <a:pos x="connsiteX2" y="connsiteY2"/>
                  </a:cxn>
                  <a:cxn ang="0">
                    <a:pos x="connsiteX3" y="connsiteY3"/>
                  </a:cxn>
                </a:cxnLst>
                <a:rect l="l" t="t" r="r" b="b"/>
                <a:pathLst>
                  <a:path w="12787" h="12787">
                    <a:moveTo>
                      <a:pt x="0" y="0"/>
                    </a:moveTo>
                    <a:lnTo>
                      <a:pt x="12787" y="0"/>
                    </a:lnTo>
                    <a:lnTo>
                      <a:pt x="12787" y="12787"/>
                    </a:lnTo>
                    <a:lnTo>
                      <a:pt x="0" y="12787"/>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75" name="Freeform: Shape 74">
                <a:extLst>
                  <a:ext uri="{FF2B5EF4-FFF2-40B4-BE49-F238E27FC236}">
                    <a16:creationId xmlns:a16="http://schemas.microsoft.com/office/drawing/2014/main" id="{B6EC0366-2AB5-0BAF-240C-F4E6FF634675}"/>
                  </a:ext>
                </a:extLst>
              </p:cNvPr>
              <p:cNvSpPr/>
              <p:nvPr/>
            </p:nvSpPr>
            <p:spPr>
              <a:xfrm>
                <a:off x="4444128" y="3397032"/>
                <a:ext cx="12787" cy="12787"/>
              </a:xfrm>
              <a:custGeom>
                <a:avLst/>
                <a:gdLst>
                  <a:gd name="connsiteX0" fmla="*/ 0 w 12787"/>
                  <a:gd name="connsiteY0" fmla="*/ 0 h 12787"/>
                  <a:gd name="connsiteX1" fmla="*/ 12787 w 12787"/>
                  <a:gd name="connsiteY1" fmla="*/ 0 h 12787"/>
                  <a:gd name="connsiteX2" fmla="*/ 12787 w 12787"/>
                  <a:gd name="connsiteY2" fmla="*/ 12787 h 12787"/>
                  <a:gd name="connsiteX3" fmla="*/ 0 w 12787"/>
                  <a:gd name="connsiteY3" fmla="*/ 12787 h 12787"/>
                </a:gdLst>
                <a:ahLst/>
                <a:cxnLst>
                  <a:cxn ang="0">
                    <a:pos x="connsiteX0" y="connsiteY0"/>
                  </a:cxn>
                  <a:cxn ang="0">
                    <a:pos x="connsiteX1" y="connsiteY1"/>
                  </a:cxn>
                  <a:cxn ang="0">
                    <a:pos x="connsiteX2" y="connsiteY2"/>
                  </a:cxn>
                  <a:cxn ang="0">
                    <a:pos x="connsiteX3" y="connsiteY3"/>
                  </a:cxn>
                </a:cxnLst>
                <a:rect l="l" t="t" r="r" b="b"/>
                <a:pathLst>
                  <a:path w="12787" h="12787">
                    <a:moveTo>
                      <a:pt x="0" y="0"/>
                    </a:moveTo>
                    <a:lnTo>
                      <a:pt x="12787" y="0"/>
                    </a:lnTo>
                    <a:lnTo>
                      <a:pt x="12787" y="12787"/>
                    </a:lnTo>
                    <a:lnTo>
                      <a:pt x="0" y="12787"/>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76" name="Freeform: Shape 75">
                <a:extLst>
                  <a:ext uri="{FF2B5EF4-FFF2-40B4-BE49-F238E27FC236}">
                    <a16:creationId xmlns:a16="http://schemas.microsoft.com/office/drawing/2014/main" id="{F4426F03-12C6-7C3F-4B0D-839C5219B11A}"/>
                  </a:ext>
                </a:extLst>
              </p:cNvPr>
              <p:cNvSpPr/>
              <p:nvPr/>
            </p:nvSpPr>
            <p:spPr>
              <a:xfrm>
                <a:off x="4514457" y="3352276"/>
                <a:ext cx="230169" cy="274924"/>
              </a:xfrm>
              <a:custGeom>
                <a:avLst/>
                <a:gdLst>
                  <a:gd name="connsiteX0" fmla="*/ 179021 w 230169"/>
                  <a:gd name="connsiteY0" fmla="*/ 262137 h 274924"/>
                  <a:gd name="connsiteX1" fmla="*/ 140659 w 230169"/>
                  <a:gd name="connsiteY1" fmla="*/ 262137 h 274924"/>
                  <a:gd name="connsiteX2" fmla="*/ 140659 w 230169"/>
                  <a:gd name="connsiteY2" fmla="*/ 83117 h 274924"/>
                  <a:gd name="connsiteX3" fmla="*/ 89510 w 230169"/>
                  <a:gd name="connsiteY3" fmla="*/ 83117 h 274924"/>
                  <a:gd name="connsiteX4" fmla="*/ 89510 w 230169"/>
                  <a:gd name="connsiteY4" fmla="*/ 262137 h 274924"/>
                  <a:gd name="connsiteX5" fmla="*/ 51149 w 230169"/>
                  <a:gd name="connsiteY5" fmla="*/ 262137 h 274924"/>
                  <a:gd name="connsiteX6" fmla="*/ 51149 w 230169"/>
                  <a:gd name="connsiteY6" fmla="*/ 147053 h 274924"/>
                  <a:gd name="connsiteX7" fmla="*/ 0 w 230169"/>
                  <a:gd name="connsiteY7" fmla="*/ 147053 h 274924"/>
                  <a:gd name="connsiteX8" fmla="*/ 0 w 230169"/>
                  <a:gd name="connsiteY8" fmla="*/ 274925 h 274924"/>
                  <a:gd name="connsiteX9" fmla="*/ 230169 w 230169"/>
                  <a:gd name="connsiteY9" fmla="*/ 274925 h 274924"/>
                  <a:gd name="connsiteX10" fmla="*/ 230169 w 230169"/>
                  <a:gd name="connsiteY10" fmla="*/ 0 h 274924"/>
                  <a:gd name="connsiteX11" fmla="*/ 179021 w 230169"/>
                  <a:gd name="connsiteY11" fmla="*/ 0 h 274924"/>
                  <a:gd name="connsiteX12" fmla="*/ 38362 w 230169"/>
                  <a:gd name="connsiteY12" fmla="*/ 262137 h 274924"/>
                  <a:gd name="connsiteX13" fmla="*/ 12787 w 230169"/>
                  <a:gd name="connsiteY13" fmla="*/ 262137 h 274924"/>
                  <a:gd name="connsiteX14" fmla="*/ 12787 w 230169"/>
                  <a:gd name="connsiteY14" fmla="*/ 159840 h 274924"/>
                  <a:gd name="connsiteX15" fmla="*/ 38362 w 230169"/>
                  <a:gd name="connsiteY15" fmla="*/ 159840 h 274924"/>
                  <a:gd name="connsiteX16" fmla="*/ 102298 w 230169"/>
                  <a:gd name="connsiteY16" fmla="*/ 95904 h 274924"/>
                  <a:gd name="connsiteX17" fmla="*/ 127872 w 230169"/>
                  <a:gd name="connsiteY17" fmla="*/ 95904 h 274924"/>
                  <a:gd name="connsiteX18" fmla="*/ 127872 w 230169"/>
                  <a:gd name="connsiteY18" fmla="*/ 262137 h 274924"/>
                  <a:gd name="connsiteX19" fmla="*/ 102298 w 230169"/>
                  <a:gd name="connsiteY19" fmla="*/ 262137 h 274924"/>
                  <a:gd name="connsiteX20" fmla="*/ 191808 w 230169"/>
                  <a:gd name="connsiteY20" fmla="*/ 12787 h 274924"/>
                  <a:gd name="connsiteX21" fmla="*/ 217382 w 230169"/>
                  <a:gd name="connsiteY21" fmla="*/ 12787 h 274924"/>
                  <a:gd name="connsiteX22" fmla="*/ 217382 w 230169"/>
                  <a:gd name="connsiteY22" fmla="*/ 262137 h 274924"/>
                  <a:gd name="connsiteX23" fmla="*/ 191808 w 230169"/>
                  <a:gd name="connsiteY23" fmla="*/ 262137 h 274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0169" h="274924">
                    <a:moveTo>
                      <a:pt x="179021" y="262137"/>
                    </a:moveTo>
                    <a:lnTo>
                      <a:pt x="140659" y="262137"/>
                    </a:lnTo>
                    <a:lnTo>
                      <a:pt x="140659" y="83117"/>
                    </a:lnTo>
                    <a:lnTo>
                      <a:pt x="89510" y="83117"/>
                    </a:lnTo>
                    <a:lnTo>
                      <a:pt x="89510" y="262137"/>
                    </a:lnTo>
                    <a:lnTo>
                      <a:pt x="51149" y="262137"/>
                    </a:lnTo>
                    <a:lnTo>
                      <a:pt x="51149" y="147053"/>
                    </a:lnTo>
                    <a:lnTo>
                      <a:pt x="0" y="147053"/>
                    </a:lnTo>
                    <a:lnTo>
                      <a:pt x="0" y="274925"/>
                    </a:lnTo>
                    <a:lnTo>
                      <a:pt x="230169" y="274925"/>
                    </a:lnTo>
                    <a:lnTo>
                      <a:pt x="230169" y="0"/>
                    </a:lnTo>
                    <a:lnTo>
                      <a:pt x="179021" y="0"/>
                    </a:lnTo>
                    <a:close/>
                    <a:moveTo>
                      <a:pt x="38362" y="262137"/>
                    </a:moveTo>
                    <a:lnTo>
                      <a:pt x="12787" y="262137"/>
                    </a:lnTo>
                    <a:lnTo>
                      <a:pt x="12787" y="159840"/>
                    </a:lnTo>
                    <a:lnTo>
                      <a:pt x="38362" y="159840"/>
                    </a:lnTo>
                    <a:close/>
                    <a:moveTo>
                      <a:pt x="102298" y="95904"/>
                    </a:moveTo>
                    <a:lnTo>
                      <a:pt x="127872" y="95904"/>
                    </a:lnTo>
                    <a:lnTo>
                      <a:pt x="127872" y="262137"/>
                    </a:lnTo>
                    <a:lnTo>
                      <a:pt x="102298" y="262137"/>
                    </a:lnTo>
                    <a:close/>
                    <a:moveTo>
                      <a:pt x="191808" y="12787"/>
                    </a:moveTo>
                    <a:lnTo>
                      <a:pt x="217382" y="12787"/>
                    </a:lnTo>
                    <a:lnTo>
                      <a:pt x="217382" y="262137"/>
                    </a:lnTo>
                    <a:lnTo>
                      <a:pt x="191808" y="262137"/>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77" name="Freeform: Shape 76">
                <a:extLst>
                  <a:ext uri="{FF2B5EF4-FFF2-40B4-BE49-F238E27FC236}">
                    <a16:creationId xmlns:a16="http://schemas.microsoft.com/office/drawing/2014/main" id="{71B1B25B-D916-FA55-0C80-7DB18DD1D2BF}"/>
                  </a:ext>
                </a:extLst>
              </p:cNvPr>
              <p:cNvSpPr/>
              <p:nvPr/>
            </p:nvSpPr>
            <p:spPr>
              <a:xfrm>
                <a:off x="4693478" y="3281947"/>
                <a:ext cx="12787" cy="12787"/>
              </a:xfrm>
              <a:custGeom>
                <a:avLst/>
                <a:gdLst>
                  <a:gd name="connsiteX0" fmla="*/ 0 w 12787"/>
                  <a:gd name="connsiteY0" fmla="*/ 0 h 12787"/>
                  <a:gd name="connsiteX1" fmla="*/ 12787 w 12787"/>
                  <a:gd name="connsiteY1" fmla="*/ 0 h 12787"/>
                  <a:gd name="connsiteX2" fmla="*/ 12787 w 12787"/>
                  <a:gd name="connsiteY2" fmla="*/ 12787 h 12787"/>
                  <a:gd name="connsiteX3" fmla="*/ 0 w 12787"/>
                  <a:gd name="connsiteY3" fmla="*/ 12787 h 12787"/>
                </a:gdLst>
                <a:ahLst/>
                <a:cxnLst>
                  <a:cxn ang="0">
                    <a:pos x="connsiteX0" y="connsiteY0"/>
                  </a:cxn>
                  <a:cxn ang="0">
                    <a:pos x="connsiteX1" y="connsiteY1"/>
                  </a:cxn>
                  <a:cxn ang="0">
                    <a:pos x="connsiteX2" y="connsiteY2"/>
                  </a:cxn>
                  <a:cxn ang="0">
                    <a:pos x="connsiteX3" y="connsiteY3"/>
                  </a:cxn>
                </a:cxnLst>
                <a:rect l="l" t="t" r="r" b="b"/>
                <a:pathLst>
                  <a:path w="12787" h="12787">
                    <a:moveTo>
                      <a:pt x="0" y="0"/>
                    </a:moveTo>
                    <a:lnTo>
                      <a:pt x="12787" y="0"/>
                    </a:lnTo>
                    <a:lnTo>
                      <a:pt x="12787" y="12787"/>
                    </a:lnTo>
                    <a:lnTo>
                      <a:pt x="0" y="12787"/>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78" name="Freeform: Shape 77">
                <a:extLst>
                  <a:ext uri="{FF2B5EF4-FFF2-40B4-BE49-F238E27FC236}">
                    <a16:creationId xmlns:a16="http://schemas.microsoft.com/office/drawing/2014/main" id="{5DB7AD5C-3A1E-E41C-DB2D-A98F0F5B31A6}"/>
                  </a:ext>
                </a:extLst>
              </p:cNvPr>
              <p:cNvSpPr/>
              <p:nvPr/>
            </p:nvSpPr>
            <p:spPr>
              <a:xfrm>
                <a:off x="4719052" y="3281947"/>
                <a:ext cx="25574" cy="12787"/>
              </a:xfrm>
              <a:custGeom>
                <a:avLst/>
                <a:gdLst>
                  <a:gd name="connsiteX0" fmla="*/ 0 w 25574"/>
                  <a:gd name="connsiteY0" fmla="*/ 0 h 12787"/>
                  <a:gd name="connsiteX1" fmla="*/ 25574 w 25574"/>
                  <a:gd name="connsiteY1" fmla="*/ 0 h 12787"/>
                  <a:gd name="connsiteX2" fmla="*/ 25574 w 25574"/>
                  <a:gd name="connsiteY2" fmla="*/ 12787 h 12787"/>
                  <a:gd name="connsiteX3" fmla="*/ 0 w 25574"/>
                  <a:gd name="connsiteY3" fmla="*/ 12787 h 12787"/>
                </a:gdLst>
                <a:ahLst/>
                <a:cxnLst>
                  <a:cxn ang="0">
                    <a:pos x="connsiteX0" y="connsiteY0"/>
                  </a:cxn>
                  <a:cxn ang="0">
                    <a:pos x="connsiteX1" y="connsiteY1"/>
                  </a:cxn>
                  <a:cxn ang="0">
                    <a:pos x="connsiteX2" y="connsiteY2"/>
                  </a:cxn>
                  <a:cxn ang="0">
                    <a:pos x="connsiteX3" y="connsiteY3"/>
                  </a:cxn>
                </a:cxnLst>
                <a:rect l="l" t="t" r="r" b="b"/>
                <a:pathLst>
                  <a:path w="25574" h="12787">
                    <a:moveTo>
                      <a:pt x="0" y="0"/>
                    </a:moveTo>
                    <a:lnTo>
                      <a:pt x="25574" y="0"/>
                    </a:lnTo>
                    <a:lnTo>
                      <a:pt x="25574" y="12787"/>
                    </a:lnTo>
                    <a:lnTo>
                      <a:pt x="0" y="12787"/>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79" name="Freeform: Shape 78">
                <a:extLst>
                  <a:ext uri="{FF2B5EF4-FFF2-40B4-BE49-F238E27FC236}">
                    <a16:creationId xmlns:a16="http://schemas.microsoft.com/office/drawing/2014/main" id="{484C831F-73D7-E771-DE2A-E41E8D46F18F}"/>
                  </a:ext>
                </a:extLst>
              </p:cNvPr>
              <p:cNvSpPr/>
              <p:nvPr/>
            </p:nvSpPr>
            <p:spPr>
              <a:xfrm>
                <a:off x="4667903" y="3256372"/>
                <a:ext cx="102297" cy="88250"/>
              </a:xfrm>
              <a:custGeom>
                <a:avLst/>
                <a:gdLst>
                  <a:gd name="connsiteX0" fmla="*/ 83117 w 102297"/>
                  <a:gd name="connsiteY0" fmla="*/ 0 h 88250"/>
                  <a:gd name="connsiteX1" fmla="*/ 19181 w 102297"/>
                  <a:gd name="connsiteY1" fmla="*/ 0 h 88250"/>
                  <a:gd name="connsiteX2" fmla="*/ 0 w 102297"/>
                  <a:gd name="connsiteY2" fmla="*/ 19181 h 88250"/>
                  <a:gd name="connsiteX3" fmla="*/ 0 w 102297"/>
                  <a:gd name="connsiteY3" fmla="*/ 44755 h 88250"/>
                  <a:gd name="connsiteX4" fmla="*/ 19181 w 102297"/>
                  <a:gd name="connsiteY4" fmla="*/ 63936 h 88250"/>
                  <a:gd name="connsiteX5" fmla="*/ 34941 w 102297"/>
                  <a:gd name="connsiteY5" fmla="*/ 63936 h 88250"/>
                  <a:gd name="connsiteX6" fmla="*/ 51149 w 102297"/>
                  <a:gd name="connsiteY6" fmla="*/ 88251 h 88250"/>
                  <a:gd name="connsiteX7" fmla="*/ 67357 w 102297"/>
                  <a:gd name="connsiteY7" fmla="*/ 63936 h 88250"/>
                  <a:gd name="connsiteX8" fmla="*/ 83117 w 102297"/>
                  <a:gd name="connsiteY8" fmla="*/ 63936 h 88250"/>
                  <a:gd name="connsiteX9" fmla="*/ 102298 w 102297"/>
                  <a:gd name="connsiteY9" fmla="*/ 44755 h 88250"/>
                  <a:gd name="connsiteX10" fmla="*/ 102298 w 102297"/>
                  <a:gd name="connsiteY10" fmla="*/ 19181 h 88250"/>
                  <a:gd name="connsiteX11" fmla="*/ 83117 w 102297"/>
                  <a:gd name="connsiteY11" fmla="*/ 0 h 88250"/>
                  <a:gd name="connsiteX12" fmla="*/ 89510 w 102297"/>
                  <a:gd name="connsiteY12" fmla="*/ 44755 h 88250"/>
                  <a:gd name="connsiteX13" fmla="*/ 83117 w 102297"/>
                  <a:gd name="connsiteY13" fmla="*/ 51149 h 88250"/>
                  <a:gd name="connsiteX14" fmla="*/ 60515 w 102297"/>
                  <a:gd name="connsiteY14" fmla="*/ 51149 h 88250"/>
                  <a:gd name="connsiteX15" fmla="*/ 51149 w 102297"/>
                  <a:gd name="connsiteY15" fmla="*/ 65195 h 88250"/>
                  <a:gd name="connsiteX16" fmla="*/ 41782 w 102297"/>
                  <a:gd name="connsiteY16" fmla="*/ 51149 h 88250"/>
                  <a:gd name="connsiteX17" fmla="*/ 19181 w 102297"/>
                  <a:gd name="connsiteY17" fmla="*/ 51149 h 88250"/>
                  <a:gd name="connsiteX18" fmla="*/ 12787 w 102297"/>
                  <a:gd name="connsiteY18" fmla="*/ 44755 h 88250"/>
                  <a:gd name="connsiteX19" fmla="*/ 12787 w 102297"/>
                  <a:gd name="connsiteY19" fmla="*/ 19181 h 88250"/>
                  <a:gd name="connsiteX20" fmla="*/ 19181 w 102297"/>
                  <a:gd name="connsiteY20" fmla="*/ 12787 h 88250"/>
                  <a:gd name="connsiteX21" fmla="*/ 83117 w 102297"/>
                  <a:gd name="connsiteY21" fmla="*/ 12787 h 88250"/>
                  <a:gd name="connsiteX22" fmla="*/ 89510 w 102297"/>
                  <a:gd name="connsiteY22" fmla="*/ 19181 h 8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2297" h="88250">
                    <a:moveTo>
                      <a:pt x="83117" y="0"/>
                    </a:moveTo>
                    <a:lnTo>
                      <a:pt x="19181" y="0"/>
                    </a:lnTo>
                    <a:cubicBezTo>
                      <a:pt x="8606" y="0"/>
                      <a:pt x="0" y="8606"/>
                      <a:pt x="0" y="19181"/>
                    </a:cubicBezTo>
                    <a:lnTo>
                      <a:pt x="0" y="44755"/>
                    </a:lnTo>
                    <a:cubicBezTo>
                      <a:pt x="0" y="55330"/>
                      <a:pt x="8606" y="63936"/>
                      <a:pt x="19181" y="63936"/>
                    </a:cubicBezTo>
                    <a:lnTo>
                      <a:pt x="34941" y="63936"/>
                    </a:lnTo>
                    <a:lnTo>
                      <a:pt x="51149" y="88251"/>
                    </a:lnTo>
                    <a:lnTo>
                      <a:pt x="67357" y="63936"/>
                    </a:lnTo>
                    <a:lnTo>
                      <a:pt x="83117" y="63936"/>
                    </a:lnTo>
                    <a:cubicBezTo>
                      <a:pt x="93692" y="63936"/>
                      <a:pt x="102298" y="55330"/>
                      <a:pt x="102298" y="44755"/>
                    </a:cubicBezTo>
                    <a:lnTo>
                      <a:pt x="102298" y="19181"/>
                    </a:lnTo>
                    <a:cubicBezTo>
                      <a:pt x="102298" y="8606"/>
                      <a:pt x="93692" y="0"/>
                      <a:pt x="83117" y="0"/>
                    </a:cubicBezTo>
                    <a:close/>
                    <a:moveTo>
                      <a:pt x="89510" y="44755"/>
                    </a:moveTo>
                    <a:cubicBezTo>
                      <a:pt x="89510" y="48284"/>
                      <a:pt x="86640" y="51149"/>
                      <a:pt x="83117" y="51149"/>
                    </a:cubicBezTo>
                    <a:lnTo>
                      <a:pt x="60515" y="51149"/>
                    </a:lnTo>
                    <a:lnTo>
                      <a:pt x="51149" y="65195"/>
                    </a:lnTo>
                    <a:lnTo>
                      <a:pt x="41782" y="51149"/>
                    </a:lnTo>
                    <a:lnTo>
                      <a:pt x="19181" y="51149"/>
                    </a:lnTo>
                    <a:cubicBezTo>
                      <a:pt x="15658" y="51149"/>
                      <a:pt x="12787" y="48284"/>
                      <a:pt x="12787" y="44755"/>
                    </a:cubicBezTo>
                    <a:lnTo>
                      <a:pt x="12787" y="19181"/>
                    </a:lnTo>
                    <a:cubicBezTo>
                      <a:pt x="12787" y="15652"/>
                      <a:pt x="15658" y="12787"/>
                      <a:pt x="19181" y="12787"/>
                    </a:cubicBezTo>
                    <a:lnTo>
                      <a:pt x="83117" y="12787"/>
                    </a:lnTo>
                    <a:cubicBezTo>
                      <a:pt x="86640" y="12787"/>
                      <a:pt x="89510" y="15652"/>
                      <a:pt x="89510" y="19181"/>
                    </a:cubicBez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80" name="Freeform: Shape 79">
                <a:extLst>
                  <a:ext uri="{FF2B5EF4-FFF2-40B4-BE49-F238E27FC236}">
                    <a16:creationId xmlns:a16="http://schemas.microsoft.com/office/drawing/2014/main" id="{7868D12D-5A7F-4A38-419B-8F714C3D86D0}"/>
                  </a:ext>
                </a:extLst>
              </p:cNvPr>
              <p:cNvSpPr/>
              <p:nvPr/>
            </p:nvSpPr>
            <p:spPr>
              <a:xfrm>
                <a:off x="4603967" y="3358670"/>
                <a:ext cx="12787" cy="12787"/>
              </a:xfrm>
              <a:custGeom>
                <a:avLst/>
                <a:gdLst>
                  <a:gd name="connsiteX0" fmla="*/ 0 w 12787"/>
                  <a:gd name="connsiteY0" fmla="*/ 0 h 12787"/>
                  <a:gd name="connsiteX1" fmla="*/ 12787 w 12787"/>
                  <a:gd name="connsiteY1" fmla="*/ 0 h 12787"/>
                  <a:gd name="connsiteX2" fmla="*/ 12787 w 12787"/>
                  <a:gd name="connsiteY2" fmla="*/ 12787 h 12787"/>
                  <a:gd name="connsiteX3" fmla="*/ 0 w 12787"/>
                  <a:gd name="connsiteY3" fmla="*/ 12787 h 12787"/>
                </a:gdLst>
                <a:ahLst/>
                <a:cxnLst>
                  <a:cxn ang="0">
                    <a:pos x="connsiteX0" y="connsiteY0"/>
                  </a:cxn>
                  <a:cxn ang="0">
                    <a:pos x="connsiteX1" y="connsiteY1"/>
                  </a:cxn>
                  <a:cxn ang="0">
                    <a:pos x="connsiteX2" y="connsiteY2"/>
                  </a:cxn>
                  <a:cxn ang="0">
                    <a:pos x="connsiteX3" y="connsiteY3"/>
                  </a:cxn>
                </a:cxnLst>
                <a:rect l="l" t="t" r="r" b="b"/>
                <a:pathLst>
                  <a:path w="12787" h="12787">
                    <a:moveTo>
                      <a:pt x="0" y="0"/>
                    </a:moveTo>
                    <a:lnTo>
                      <a:pt x="12787" y="0"/>
                    </a:lnTo>
                    <a:lnTo>
                      <a:pt x="12787" y="12787"/>
                    </a:lnTo>
                    <a:lnTo>
                      <a:pt x="0" y="12787"/>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81" name="Freeform: Shape 80">
                <a:extLst>
                  <a:ext uri="{FF2B5EF4-FFF2-40B4-BE49-F238E27FC236}">
                    <a16:creationId xmlns:a16="http://schemas.microsoft.com/office/drawing/2014/main" id="{E9C1AC7D-0542-62D2-4AD4-96ED7FFA258C}"/>
                  </a:ext>
                </a:extLst>
              </p:cNvPr>
              <p:cNvSpPr/>
              <p:nvPr/>
            </p:nvSpPr>
            <p:spPr>
              <a:xfrm>
                <a:off x="4629542" y="3358670"/>
                <a:ext cx="25574" cy="12787"/>
              </a:xfrm>
              <a:custGeom>
                <a:avLst/>
                <a:gdLst>
                  <a:gd name="connsiteX0" fmla="*/ 0 w 25574"/>
                  <a:gd name="connsiteY0" fmla="*/ 0 h 12787"/>
                  <a:gd name="connsiteX1" fmla="*/ 25574 w 25574"/>
                  <a:gd name="connsiteY1" fmla="*/ 0 h 12787"/>
                  <a:gd name="connsiteX2" fmla="*/ 25574 w 25574"/>
                  <a:gd name="connsiteY2" fmla="*/ 12787 h 12787"/>
                  <a:gd name="connsiteX3" fmla="*/ 0 w 25574"/>
                  <a:gd name="connsiteY3" fmla="*/ 12787 h 12787"/>
                </a:gdLst>
                <a:ahLst/>
                <a:cxnLst>
                  <a:cxn ang="0">
                    <a:pos x="connsiteX0" y="connsiteY0"/>
                  </a:cxn>
                  <a:cxn ang="0">
                    <a:pos x="connsiteX1" y="connsiteY1"/>
                  </a:cxn>
                  <a:cxn ang="0">
                    <a:pos x="connsiteX2" y="connsiteY2"/>
                  </a:cxn>
                  <a:cxn ang="0">
                    <a:pos x="connsiteX3" y="connsiteY3"/>
                  </a:cxn>
                </a:cxnLst>
                <a:rect l="l" t="t" r="r" b="b"/>
                <a:pathLst>
                  <a:path w="25574" h="12787">
                    <a:moveTo>
                      <a:pt x="0" y="0"/>
                    </a:moveTo>
                    <a:lnTo>
                      <a:pt x="25574" y="0"/>
                    </a:lnTo>
                    <a:lnTo>
                      <a:pt x="25574" y="12787"/>
                    </a:lnTo>
                    <a:lnTo>
                      <a:pt x="0" y="12787"/>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82" name="Freeform: Shape 81">
                <a:extLst>
                  <a:ext uri="{FF2B5EF4-FFF2-40B4-BE49-F238E27FC236}">
                    <a16:creationId xmlns:a16="http://schemas.microsoft.com/office/drawing/2014/main" id="{82814450-651A-3600-41AF-F3F3803DB2AC}"/>
                  </a:ext>
                </a:extLst>
              </p:cNvPr>
              <p:cNvSpPr/>
              <p:nvPr/>
            </p:nvSpPr>
            <p:spPr>
              <a:xfrm>
                <a:off x="4578393" y="3333096"/>
                <a:ext cx="102297" cy="88250"/>
              </a:xfrm>
              <a:custGeom>
                <a:avLst/>
                <a:gdLst>
                  <a:gd name="connsiteX0" fmla="*/ 19181 w 102297"/>
                  <a:gd name="connsiteY0" fmla="*/ 63936 h 88250"/>
                  <a:gd name="connsiteX1" fmla="*/ 34941 w 102297"/>
                  <a:gd name="connsiteY1" fmla="*/ 63936 h 88250"/>
                  <a:gd name="connsiteX2" fmla="*/ 51149 w 102297"/>
                  <a:gd name="connsiteY2" fmla="*/ 88251 h 88250"/>
                  <a:gd name="connsiteX3" fmla="*/ 67357 w 102297"/>
                  <a:gd name="connsiteY3" fmla="*/ 63936 h 88250"/>
                  <a:gd name="connsiteX4" fmla="*/ 83117 w 102297"/>
                  <a:gd name="connsiteY4" fmla="*/ 63936 h 88250"/>
                  <a:gd name="connsiteX5" fmla="*/ 102298 w 102297"/>
                  <a:gd name="connsiteY5" fmla="*/ 44755 h 88250"/>
                  <a:gd name="connsiteX6" fmla="*/ 102298 w 102297"/>
                  <a:gd name="connsiteY6" fmla="*/ 19181 h 88250"/>
                  <a:gd name="connsiteX7" fmla="*/ 83117 w 102297"/>
                  <a:gd name="connsiteY7" fmla="*/ 0 h 88250"/>
                  <a:gd name="connsiteX8" fmla="*/ 19181 w 102297"/>
                  <a:gd name="connsiteY8" fmla="*/ 0 h 88250"/>
                  <a:gd name="connsiteX9" fmla="*/ 0 w 102297"/>
                  <a:gd name="connsiteY9" fmla="*/ 19181 h 88250"/>
                  <a:gd name="connsiteX10" fmla="*/ 0 w 102297"/>
                  <a:gd name="connsiteY10" fmla="*/ 44755 h 88250"/>
                  <a:gd name="connsiteX11" fmla="*/ 19181 w 102297"/>
                  <a:gd name="connsiteY11" fmla="*/ 63936 h 88250"/>
                  <a:gd name="connsiteX12" fmla="*/ 12787 w 102297"/>
                  <a:gd name="connsiteY12" fmla="*/ 19181 h 88250"/>
                  <a:gd name="connsiteX13" fmla="*/ 19181 w 102297"/>
                  <a:gd name="connsiteY13" fmla="*/ 12787 h 88250"/>
                  <a:gd name="connsiteX14" fmla="*/ 83117 w 102297"/>
                  <a:gd name="connsiteY14" fmla="*/ 12787 h 88250"/>
                  <a:gd name="connsiteX15" fmla="*/ 89510 w 102297"/>
                  <a:gd name="connsiteY15" fmla="*/ 19181 h 88250"/>
                  <a:gd name="connsiteX16" fmla="*/ 89510 w 102297"/>
                  <a:gd name="connsiteY16" fmla="*/ 44755 h 88250"/>
                  <a:gd name="connsiteX17" fmla="*/ 83117 w 102297"/>
                  <a:gd name="connsiteY17" fmla="*/ 51149 h 88250"/>
                  <a:gd name="connsiteX18" fmla="*/ 60515 w 102297"/>
                  <a:gd name="connsiteY18" fmla="*/ 51149 h 88250"/>
                  <a:gd name="connsiteX19" fmla="*/ 51149 w 102297"/>
                  <a:gd name="connsiteY19" fmla="*/ 65195 h 88250"/>
                  <a:gd name="connsiteX20" fmla="*/ 41782 w 102297"/>
                  <a:gd name="connsiteY20" fmla="*/ 51149 h 88250"/>
                  <a:gd name="connsiteX21" fmla="*/ 19181 w 102297"/>
                  <a:gd name="connsiteY21" fmla="*/ 51149 h 88250"/>
                  <a:gd name="connsiteX22" fmla="*/ 12787 w 102297"/>
                  <a:gd name="connsiteY22" fmla="*/ 44755 h 8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2297" h="88250">
                    <a:moveTo>
                      <a:pt x="19181" y="63936"/>
                    </a:moveTo>
                    <a:lnTo>
                      <a:pt x="34941" y="63936"/>
                    </a:lnTo>
                    <a:lnTo>
                      <a:pt x="51149" y="88251"/>
                    </a:lnTo>
                    <a:lnTo>
                      <a:pt x="67357" y="63936"/>
                    </a:lnTo>
                    <a:lnTo>
                      <a:pt x="83117" y="63936"/>
                    </a:lnTo>
                    <a:cubicBezTo>
                      <a:pt x="93692" y="63936"/>
                      <a:pt x="102298" y="55330"/>
                      <a:pt x="102298" y="44755"/>
                    </a:cubicBezTo>
                    <a:lnTo>
                      <a:pt x="102298" y="19181"/>
                    </a:lnTo>
                    <a:cubicBezTo>
                      <a:pt x="102298" y="8606"/>
                      <a:pt x="93692" y="0"/>
                      <a:pt x="83117" y="0"/>
                    </a:cubicBezTo>
                    <a:lnTo>
                      <a:pt x="19181" y="0"/>
                    </a:lnTo>
                    <a:cubicBezTo>
                      <a:pt x="8606" y="0"/>
                      <a:pt x="0" y="8606"/>
                      <a:pt x="0" y="19181"/>
                    </a:cubicBezTo>
                    <a:lnTo>
                      <a:pt x="0" y="44755"/>
                    </a:lnTo>
                    <a:cubicBezTo>
                      <a:pt x="0" y="55330"/>
                      <a:pt x="8606" y="63936"/>
                      <a:pt x="19181" y="63936"/>
                    </a:cubicBezTo>
                    <a:close/>
                    <a:moveTo>
                      <a:pt x="12787" y="19181"/>
                    </a:moveTo>
                    <a:cubicBezTo>
                      <a:pt x="12787" y="15652"/>
                      <a:pt x="15658" y="12787"/>
                      <a:pt x="19181" y="12787"/>
                    </a:cubicBezTo>
                    <a:lnTo>
                      <a:pt x="83117" y="12787"/>
                    </a:lnTo>
                    <a:cubicBezTo>
                      <a:pt x="86640" y="12787"/>
                      <a:pt x="89510" y="15652"/>
                      <a:pt x="89510" y="19181"/>
                    </a:cubicBezTo>
                    <a:lnTo>
                      <a:pt x="89510" y="44755"/>
                    </a:lnTo>
                    <a:cubicBezTo>
                      <a:pt x="89510" y="48284"/>
                      <a:pt x="86640" y="51149"/>
                      <a:pt x="83117" y="51149"/>
                    </a:cubicBezTo>
                    <a:lnTo>
                      <a:pt x="60515" y="51149"/>
                    </a:lnTo>
                    <a:lnTo>
                      <a:pt x="51149" y="65195"/>
                    </a:lnTo>
                    <a:lnTo>
                      <a:pt x="41782" y="51149"/>
                    </a:lnTo>
                    <a:lnTo>
                      <a:pt x="19181" y="51149"/>
                    </a:lnTo>
                    <a:cubicBezTo>
                      <a:pt x="15658" y="51149"/>
                      <a:pt x="12787" y="48284"/>
                      <a:pt x="12787" y="44755"/>
                    </a:cubicBez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83" name="Freeform: Shape 82">
                <a:extLst>
                  <a:ext uri="{FF2B5EF4-FFF2-40B4-BE49-F238E27FC236}">
                    <a16:creationId xmlns:a16="http://schemas.microsoft.com/office/drawing/2014/main" id="{9F45A4DB-D6F3-CDF3-2D18-47D76C2548DF}"/>
                  </a:ext>
                </a:extLst>
              </p:cNvPr>
              <p:cNvSpPr/>
              <p:nvPr/>
            </p:nvSpPr>
            <p:spPr>
              <a:xfrm>
                <a:off x="4508064" y="3429000"/>
                <a:ext cx="12787" cy="12787"/>
              </a:xfrm>
              <a:custGeom>
                <a:avLst/>
                <a:gdLst>
                  <a:gd name="connsiteX0" fmla="*/ 0 w 12787"/>
                  <a:gd name="connsiteY0" fmla="*/ 0 h 12787"/>
                  <a:gd name="connsiteX1" fmla="*/ 12787 w 12787"/>
                  <a:gd name="connsiteY1" fmla="*/ 0 h 12787"/>
                  <a:gd name="connsiteX2" fmla="*/ 12787 w 12787"/>
                  <a:gd name="connsiteY2" fmla="*/ 12787 h 12787"/>
                  <a:gd name="connsiteX3" fmla="*/ 0 w 12787"/>
                  <a:gd name="connsiteY3" fmla="*/ 12787 h 12787"/>
                </a:gdLst>
                <a:ahLst/>
                <a:cxnLst>
                  <a:cxn ang="0">
                    <a:pos x="connsiteX0" y="connsiteY0"/>
                  </a:cxn>
                  <a:cxn ang="0">
                    <a:pos x="connsiteX1" y="connsiteY1"/>
                  </a:cxn>
                  <a:cxn ang="0">
                    <a:pos x="connsiteX2" y="connsiteY2"/>
                  </a:cxn>
                  <a:cxn ang="0">
                    <a:pos x="connsiteX3" y="connsiteY3"/>
                  </a:cxn>
                </a:cxnLst>
                <a:rect l="l" t="t" r="r" b="b"/>
                <a:pathLst>
                  <a:path w="12787" h="12787">
                    <a:moveTo>
                      <a:pt x="0" y="0"/>
                    </a:moveTo>
                    <a:lnTo>
                      <a:pt x="12787" y="0"/>
                    </a:lnTo>
                    <a:lnTo>
                      <a:pt x="12787" y="12787"/>
                    </a:lnTo>
                    <a:lnTo>
                      <a:pt x="0" y="12787"/>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84" name="Freeform: Shape 83">
                <a:extLst>
                  <a:ext uri="{FF2B5EF4-FFF2-40B4-BE49-F238E27FC236}">
                    <a16:creationId xmlns:a16="http://schemas.microsoft.com/office/drawing/2014/main" id="{D11B2DD5-3324-021E-2B2B-269C575CF011}"/>
                  </a:ext>
                </a:extLst>
              </p:cNvPr>
              <p:cNvSpPr/>
              <p:nvPr/>
            </p:nvSpPr>
            <p:spPr>
              <a:xfrm>
                <a:off x="4533638" y="3429000"/>
                <a:ext cx="31967" cy="12787"/>
              </a:xfrm>
              <a:custGeom>
                <a:avLst/>
                <a:gdLst>
                  <a:gd name="connsiteX0" fmla="*/ 0 w 31967"/>
                  <a:gd name="connsiteY0" fmla="*/ 0 h 12787"/>
                  <a:gd name="connsiteX1" fmla="*/ 31968 w 31967"/>
                  <a:gd name="connsiteY1" fmla="*/ 0 h 12787"/>
                  <a:gd name="connsiteX2" fmla="*/ 31968 w 31967"/>
                  <a:gd name="connsiteY2" fmla="*/ 12787 h 12787"/>
                  <a:gd name="connsiteX3" fmla="*/ 0 w 31967"/>
                  <a:gd name="connsiteY3" fmla="*/ 12787 h 12787"/>
                </a:gdLst>
                <a:ahLst/>
                <a:cxnLst>
                  <a:cxn ang="0">
                    <a:pos x="connsiteX0" y="connsiteY0"/>
                  </a:cxn>
                  <a:cxn ang="0">
                    <a:pos x="connsiteX1" y="connsiteY1"/>
                  </a:cxn>
                  <a:cxn ang="0">
                    <a:pos x="connsiteX2" y="connsiteY2"/>
                  </a:cxn>
                  <a:cxn ang="0">
                    <a:pos x="connsiteX3" y="connsiteY3"/>
                  </a:cxn>
                </a:cxnLst>
                <a:rect l="l" t="t" r="r" b="b"/>
                <a:pathLst>
                  <a:path w="31967" h="12787">
                    <a:moveTo>
                      <a:pt x="0" y="0"/>
                    </a:moveTo>
                    <a:lnTo>
                      <a:pt x="31968" y="0"/>
                    </a:lnTo>
                    <a:lnTo>
                      <a:pt x="31968" y="12787"/>
                    </a:lnTo>
                    <a:lnTo>
                      <a:pt x="0" y="12787"/>
                    </a:ln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85" name="Freeform: Shape 84">
                <a:extLst>
                  <a:ext uri="{FF2B5EF4-FFF2-40B4-BE49-F238E27FC236}">
                    <a16:creationId xmlns:a16="http://schemas.microsoft.com/office/drawing/2014/main" id="{00CB74DD-40DC-B5B5-B25D-63E05D5211E1}"/>
                  </a:ext>
                </a:extLst>
              </p:cNvPr>
              <p:cNvSpPr/>
              <p:nvPr/>
            </p:nvSpPr>
            <p:spPr>
              <a:xfrm>
                <a:off x="4373798" y="3230798"/>
                <a:ext cx="217382" cy="396402"/>
              </a:xfrm>
              <a:custGeom>
                <a:avLst/>
                <a:gdLst>
                  <a:gd name="connsiteX0" fmla="*/ 150026 w 217382"/>
                  <a:gd name="connsiteY0" fmla="*/ 236563 h 396402"/>
                  <a:gd name="connsiteX1" fmla="*/ 166233 w 217382"/>
                  <a:gd name="connsiteY1" fmla="*/ 260878 h 396402"/>
                  <a:gd name="connsiteX2" fmla="*/ 182441 w 217382"/>
                  <a:gd name="connsiteY2" fmla="*/ 236563 h 396402"/>
                  <a:gd name="connsiteX3" fmla="*/ 198201 w 217382"/>
                  <a:gd name="connsiteY3" fmla="*/ 236563 h 396402"/>
                  <a:gd name="connsiteX4" fmla="*/ 217382 w 217382"/>
                  <a:gd name="connsiteY4" fmla="*/ 217382 h 396402"/>
                  <a:gd name="connsiteX5" fmla="*/ 217382 w 217382"/>
                  <a:gd name="connsiteY5" fmla="*/ 191808 h 396402"/>
                  <a:gd name="connsiteX6" fmla="*/ 198201 w 217382"/>
                  <a:gd name="connsiteY6" fmla="*/ 172627 h 396402"/>
                  <a:gd name="connsiteX7" fmla="*/ 121478 w 217382"/>
                  <a:gd name="connsiteY7" fmla="*/ 172627 h 396402"/>
                  <a:gd name="connsiteX8" fmla="*/ 121478 w 217382"/>
                  <a:gd name="connsiteY8" fmla="*/ 133709 h 396402"/>
                  <a:gd name="connsiteX9" fmla="*/ 162736 w 217382"/>
                  <a:gd name="connsiteY9" fmla="*/ 129963 h 396402"/>
                  <a:gd name="connsiteX10" fmla="*/ 191808 w 217382"/>
                  <a:gd name="connsiteY10" fmla="*/ 98122 h 396402"/>
                  <a:gd name="connsiteX11" fmla="*/ 191808 w 217382"/>
                  <a:gd name="connsiteY11" fmla="*/ 22378 h 396402"/>
                  <a:gd name="connsiteX12" fmla="*/ 169430 w 217382"/>
                  <a:gd name="connsiteY12" fmla="*/ 0 h 396402"/>
                  <a:gd name="connsiteX13" fmla="*/ 147053 w 217382"/>
                  <a:gd name="connsiteY13" fmla="*/ 22378 h 396402"/>
                  <a:gd name="connsiteX14" fmla="*/ 147053 w 217382"/>
                  <a:gd name="connsiteY14" fmla="*/ 83673 h 396402"/>
                  <a:gd name="connsiteX15" fmla="*/ 110302 w 217382"/>
                  <a:gd name="connsiteY15" fmla="*/ 87030 h 396402"/>
                  <a:gd name="connsiteX16" fmla="*/ 121478 w 217382"/>
                  <a:gd name="connsiteY16" fmla="*/ 57542 h 396402"/>
                  <a:gd name="connsiteX17" fmla="*/ 76723 w 217382"/>
                  <a:gd name="connsiteY17" fmla="*/ 12787 h 396402"/>
                  <a:gd name="connsiteX18" fmla="*/ 31968 w 217382"/>
                  <a:gd name="connsiteY18" fmla="*/ 57542 h 396402"/>
                  <a:gd name="connsiteX19" fmla="*/ 49205 w 217382"/>
                  <a:gd name="connsiteY19" fmla="*/ 92765 h 396402"/>
                  <a:gd name="connsiteX20" fmla="*/ 0 w 217382"/>
                  <a:gd name="connsiteY20" fmla="*/ 159840 h 396402"/>
                  <a:gd name="connsiteX21" fmla="*/ 0 w 217382"/>
                  <a:gd name="connsiteY21" fmla="*/ 204595 h 396402"/>
                  <a:gd name="connsiteX22" fmla="*/ 31968 w 217382"/>
                  <a:gd name="connsiteY22" fmla="*/ 236563 h 396402"/>
                  <a:gd name="connsiteX23" fmla="*/ 31968 w 217382"/>
                  <a:gd name="connsiteY23" fmla="*/ 370828 h 396402"/>
                  <a:gd name="connsiteX24" fmla="*/ 57542 w 217382"/>
                  <a:gd name="connsiteY24" fmla="*/ 396403 h 396402"/>
                  <a:gd name="connsiteX25" fmla="*/ 76723 w 217382"/>
                  <a:gd name="connsiteY25" fmla="*/ 387567 h 396402"/>
                  <a:gd name="connsiteX26" fmla="*/ 95904 w 217382"/>
                  <a:gd name="connsiteY26" fmla="*/ 396403 h 396402"/>
                  <a:gd name="connsiteX27" fmla="*/ 121478 w 217382"/>
                  <a:gd name="connsiteY27" fmla="*/ 370828 h 396402"/>
                  <a:gd name="connsiteX28" fmla="*/ 121478 w 217382"/>
                  <a:gd name="connsiteY28" fmla="*/ 236563 h 396402"/>
                  <a:gd name="connsiteX29" fmla="*/ 198201 w 217382"/>
                  <a:gd name="connsiteY29" fmla="*/ 185414 h 396402"/>
                  <a:gd name="connsiteX30" fmla="*/ 204595 w 217382"/>
                  <a:gd name="connsiteY30" fmla="*/ 191808 h 396402"/>
                  <a:gd name="connsiteX31" fmla="*/ 204595 w 217382"/>
                  <a:gd name="connsiteY31" fmla="*/ 217382 h 396402"/>
                  <a:gd name="connsiteX32" fmla="*/ 198201 w 217382"/>
                  <a:gd name="connsiteY32" fmla="*/ 223776 h 396402"/>
                  <a:gd name="connsiteX33" fmla="*/ 175600 w 217382"/>
                  <a:gd name="connsiteY33" fmla="*/ 223776 h 396402"/>
                  <a:gd name="connsiteX34" fmla="*/ 166233 w 217382"/>
                  <a:gd name="connsiteY34" fmla="*/ 237823 h 396402"/>
                  <a:gd name="connsiteX35" fmla="*/ 156867 w 217382"/>
                  <a:gd name="connsiteY35" fmla="*/ 223776 h 396402"/>
                  <a:gd name="connsiteX36" fmla="*/ 121478 w 217382"/>
                  <a:gd name="connsiteY36" fmla="*/ 223776 h 396402"/>
                  <a:gd name="connsiteX37" fmla="*/ 121478 w 217382"/>
                  <a:gd name="connsiteY37" fmla="*/ 185414 h 396402"/>
                  <a:gd name="connsiteX38" fmla="*/ 44755 w 217382"/>
                  <a:gd name="connsiteY38" fmla="*/ 57542 h 396402"/>
                  <a:gd name="connsiteX39" fmla="*/ 76723 w 217382"/>
                  <a:gd name="connsiteY39" fmla="*/ 25574 h 396402"/>
                  <a:gd name="connsiteX40" fmla="*/ 108691 w 217382"/>
                  <a:gd name="connsiteY40" fmla="*/ 57542 h 396402"/>
                  <a:gd name="connsiteX41" fmla="*/ 76723 w 217382"/>
                  <a:gd name="connsiteY41" fmla="*/ 89510 h 396402"/>
                  <a:gd name="connsiteX42" fmla="*/ 44755 w 217382"/>
                  <a:gd name="connsiteY42" fmla="*/ 57542 h 396402"/>
                  <a:gd name="connsiteX43" fmla="*/ 76723 w 217382"/>
                  <a:gd name="connsiteY43" fmla="*/ 102298 h 396402"/>
                  <a:gd name="connsiteX44" fmla="*/ 76966 w 217382"/>
                  <a:gd name="connsiteY44" fmla="*/ 102285 h 396402"/>
                  <a:gd name="connsiteX45" fmla="*/ 83692 w 217382"/>
                  <a:gd name="connsiteY45" fmla="*/ 102272 h 396402"/>
                  <a:gd name="connsiteX46" fmla="*/ 95054 w 217382"/>
                  <a:gd name="connsiteY46" fmla="*/ 101236 h 396402"/>
                  <a:gd name="connsiteX47" fmla="*/ 76723 w 217382"/>
                  <a:gd name="connsiteY47" fmla="*/ 115085 h 396402"/>
                  <a:gd name="connsiteX48" fmla="*/ 59262 w 217382"/>
                  <a:gd name="connsiteY48" fmla="*/ 103391 h 396402"/>
                  <a:gd name="connsiteX49" fmla="*/ 70330 w 217382"/>
                  <a:gd name="connsiteY49" fmla="*/ 102298 h 396402"/>
                  <a:gd name="connsiteX50" fmla="*/ 76493 w 217382"/>
                  <a:gd name="connsiteY50" fmla="*/ 102285 h 396402"/>
                  <a:gd name="connsiteX51" fmla="*/ 76723 w 217382"/>
                  <a:gd name="connsiteY51" fmla="*/ 102298 h 396402"/>
                  <a:gd name="connsiteX52" fmla="*/ 108691 w 217382"/>
                  <a:gd name="connsiteY52" fmla="*/ 122035 h 396402"/>
                  <a:gd name="connsiteX53" fmla="*/ 108691 w 217382"/>
                  <a:gd name="connsiteY53" fmla="*/ 370828 h 396402"/>
                  <a:gd name="connsiteX54" fmla="*/ 95904 w 217382"/>
                  <a:gd name="connsiteY54" fmla="*/ 383616 h 396402"/>
                  <a:gd name="connsiteX55" fmla="*/ 83117 w 217382"/>
                  <a:gd name="connsiteY55" fmla="*/ 370828 h 396402"/>
                  <a:gd name="connsiteX56" fmla="*/ 83117 w 217382"/>
                  <a:gd name="connsiteY56" fmla="*/ 217382 h 396402"/>
                  <a:gd name="connsiteX57" fmla="*/ 70330 w 217382"/>
                  <a:gd name="connsiteY57" fmla="*/ 217382 h 396402"/>
                  <a:gd name="connsiteX58" fmla="*/ 70330 w 217382"/>
                  <a:gd name="connsiteY58" fmla="*/ 370828 h 396402"/>
                  <a:gd name="connsiteX59" fmla="*/ 57542 w 217382"/>
                  <a:gd name="connsiteY59" fmla="*/ 383616 h 396402"/>
                  <a:gd name="connsiteX60" fmla="*/ 44755 w 217382"/>
                  <a:gd name="connsiteY60" fmla="*/ 370828 h 396402"/>
                  <a:gd name="connsiteX61" fmla="*/ 44755 w 217382"/>
                  <a:gd name="connsiteY61" fmla="*/ 127872 h 396402"/>
                  <a:gd name="connsiteX62" fmla="*/ 31968 w 217382"/>
                  <a:gd name="connsiteY62" fmla="*/ 127872 h 396402"/>
                  <a:gd name="connsiteX63" fmla="*/ 31968 w 217382"/>
                  <a:gd name="connsiteY63" fmla="*/ 223776 h 396402"/>
                  <a:gd name="connsiteX64" fmla="*/ 12787 w 217382"/>
                  <a:gd name="connsiteY64" fmla="*/ 204595 h 396402"/>
                  <a:gd name="connsiteX65" fmla="*/ 12787 w 217382"/>
                  <a:gd name="connsiteY65" fmla="*/ 159840 h 396402"/>
                  <a:gd name="connsiteX66" fmla="*/ 47082 w 217382"/>
                  <a:gd name="connsiteY66" fmla="*/ 107246 h 396402"/>
                  <a:gd name="connsiteX67" fmla="*/ 76723 w 217382"/>
                  <a:gd name="connsiteY67" fmla="*/ 127872 h 396402"/>
                  <a:gd name="connsiteX68" fmla="*/ 108276 w 217382"/>
                  <a:gd name="connsiteY68" fmla="*/ 100034 h 396402"/>
                  <a:gd name="connsiteX69" fmla="*/ 159840 w 217382"/>
                  <a:gd name="connsiteY69" fmla="*/ 95348 h 396402"/>
                  <a:gd name="connsiteX70" fmla="*/ 159840 w 217382"/>
                  <a:gd name="connsiteY70" fmla="*/ 22378 h 396402"/>
                  <a:gd name="connsiteX71" fmla="*/ 169430 w 217382"/>
                  <a:gd name="connsiteY71" fmla="*/ 12787 h 396402"/>
                  <a:gd name="connsiteX72" fmla="*/ 179021 w 217382"/>
                  <a:gd name="connsiteY72" fmla="*/ 22378 h 396402"/>
                  <a:gd name="connsiteX73" fmla="*/ 179021 w 217382"/>
                  <a:gd name="connsiteY73" fmla="*/ 98122 h 396402"/>
                  <a:gd name="connsiteX74" fmla="*/ 161579 w 217382"/>
                  <a:gd name="connsiteY74" fmla="*/ 117227 h 39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17382" h="396402">
                    <a:moveTo>
                      <a:pt x="150026" y="236563"/>
                    </a:moveTo>
                    <a:lnTo>
                      <a:pt x="166233" y="260878"/>
                    </a:lnTo>
                    <a:lnTo>
                      <a:pt x="182441" y="236563"/>
                    </a:lnTo>
                    <a:lnTo>
                      <a:pt x="198201" y="236563"/>
                    </a:lnTo>
                    <a:cubicBezTo>
                      <a:pt x="208776" y="236563"/>
                      <a:pt x="217382" y="227957"/>
                      <a:pt x="217382" y="217382"/>
                    </a:cubicBezTo>
                    <a:lnTo>
                      <a:pt x="217382" y="191808"/>
                    </a:lnTo>
                    <a:cubicBezTo>
                      <a:pt x="217382" y="181233"/>
                      <a:pt x="208776" y="172627"/>
                      <a:pt x="198201" y="172627"/>
                    </a:cubicBezTo>
                    <a:lnTo>
                      <a:pt x="121478" y="172627"/>
                    </a:lnTo>
                    <a:lnTo>
                      <a:pt x="121478" y="133709"/>
                    </a:lnTo>
                    <a:lnTo>
                      <a:pt x="162736" y="129963"/>
                    </a:lnTo>
                    <a:cubicBezTo>
                      <a:pt x="179308" y="128454"/>
                      <a:pt x="191808" y="114765"/>
                      <a:pt x="191808" y="98122"/>
                    </a:cubicBezTo>
                    <a:lnTo>
                      <a:pt x="191808" y="22378"/>
                    </a:lnTo>
                    <a:cubicBezTo>
                      <a:pt x="191808" y="10038"/>
                      <a:pt x="181770" y="0"/>
                      <a:pt x="169430" y="0"/>
                    </a:cubicBezTo>
                    <a:cubicBezTo>
                      <a:pt x="157091" y="0"/>
                      <a:pt x="147053" y="10038"/>
                      <a:pt x="147053" y="22378"/>
                    </a:cubicBezTo>
                    <a:lnTo>
                      <a:pt x="147053" y="83673"/>
                    </a:lnTo>
                    <a:lnTo>
                      <a:pt x="110302" y="87030"/>
                    </a:lnTo>
                    <a:cubicBezTo>
                      <a:pt x="117239" y="79140"/>
                      <a:pt x="121478" y="68840"/>
                      <a:pt x="121478" y="57542"/>
                    </a:cubicBezTo>
                    <a:cubicBezTo>
                      <a:pt x="121478" y="32869"/>
                      <a:pt x="101402" y="12787"/>
                      <a:pt x="76723" y="12787"/>
                    </a:cubicBezTo>
                    <a:cubicBezTo>
                      <a:pt x="52044" y="12787"/>
                      <a:pt x="31968" y="32869"/>
                      <a:pt x="31968" y="57542"/>
                    </a:cubicBezTo>
                    <a:cubicBezTo>
                      <a:pt x="31968" y="71838"/>
                      <a:pt x="38732" y="84562"/>
                      <a:pt x="49205" y="92765"/>
                    </a:cubicBezTo>
                    <a:cubicBezTo>
                      <a:pt x="20715" y="101754"/>
                      <a:pt x="0" y="128422"/>
                      <a:pt x="0" y="159840"/>
                    </a:cubicBezTo>
                    <a:lnTo>
                      <a:pt x="0" y="204595"/>
                    </a:lnTo>
                    <a:cubicBezTo>
                      <a:pt x="0" y="222222"/>
                      <a:pt x="14341" y="236563"/>
                      <a:pt x="31968" y="236563"/>
                    </a:cubicBezTo>
                    <a:lnTo>
                      <a:pt x="31968" y="370828"/>
                    </a:lnTo>
                    <a:cubicBezTo>
                      <a:pt x="31968" y="384933"/>
                      <a:pt x="43438" y="396403"/>
                      <a:pt x="57542" y="396403"/>
                    </a:cubicBezTo>
                    <a:cubicBezTo>
                      <a:pt x="65215" y="396403"/>
                      <a:pt x="72030" y="392938"/>
                      <a:pt x="76723" y="387567"/>
                    </a:cubicBezTo>
                    <a:cubicBezTo>
                      <a:pt x="81416" y="392938"/>
                      <a:pt x="88232" y="396403"/>
                      <a:pt x="95904" y="396403"/>
                    </a:cubicBezTo>
                    <a:cubicBezTo>
                      <a:pt x="110008" y="396403"/>
                      <a:pt x="121478" y="384933"/>
                      <a:pt x="121478" y="370828"/>
                    </a:cubicBezTo>
                    <a:lnTo>
                      <a:pt x="121478" y="236563"/>
                    </a:lnTo>
                    <a:close/>
                    <a:moveTo>
                      <a:pt x="198201" y="185414"/>
                    </a:moveTo>
                    <a:cubicBezTo>
                      <a:pt x="201724" y="185414"/>
                      <a:pt x="204595" y="188279"/>
                      <a:pt x="204595" y="191808"/>
                    </a:cubicBezTo>
                    <a:lnTo>
                      <a:pt x="204595" y="217382"/>
                    </a:lnTo>
                    <a:cubicBezTo>
                      <a:pt x="204595" y="220911"/>
                      <a:pt x="201724" y="223776"/>
                      <a:pt x="198201" y="223776"/>
                    </a:cubicBezTo>
                    <a:lnTo>
                      <a:pt x="175600" y="223776"/>
                    </a:lnTo>
                    <a:lnTo>
                      <a:pt x="166233" y="237823"/>
                    </a:lnTo>
                    <a:lnTo>
                      <a:pt x="156867" y="223776"/>
                    </a:lnTo>
                    <a:lnTo>
                      <a:pt x="121478" y="223776"/>
                    </a:lnTo>
                    <a:lnTo>
                      <a:pt x="121478" y="185414"/>
                    </a:lnTo>
                    <a:close/>
                    <a:moveTo>
                      <a:pt x="44755" y="57542"/>
                    </a:moveTo>
                    <a:cubicBezTo>
                      <a:pt x="44755" y="39915"/>
                      <a:pt x="59096" y="25574"/>
                      <a:pt x="76723" y="25574"/>
                    </a:cubicBezTo>
                    <a:cubicBezTo>
                      <a:pt x="94350" y="25574"/>
                      <a:pt x="108691" y="39915"/>
                      <a:pt x="108691" y="57542"/>
                    </a:cubicBezTo>
                    <a:cubicBezTo>
                      <a:pt x="108691" y="75169"/>
                      <a:pt x="94350" y="89510"/>
                      <a:pt x="76723" y="89510"/>
                    </a:cubicBezTo>
                    <a:cubicBezTo>
                      <a:pt x="59096" y="89510"/>
                      <a:pt x="44755" y="75169"/>
                      <a:pt x="44755" y="57542"/>
                    </a:cubicBezTo>
                    <a:close/>
                    <a:moveTo>
                      <a:pt x="76723" y="102298"/>
                    </a:moveTo>
                    <a:cubicBezTo>
                      <a:pt x="76806" y="102298"/>
                      <a:pt x="76883" y="102285"/>
                      <a:pt x="76966" y="102285"/>
                    </a:cubicBezTo>
                    <a:lnTo>
                      <a:pt x="83692" y="102272"/>
                    </a:lnTo>
                    <a:lnTo>
                      <a:pt x="95054" y="101236"/>
                    </a:lnTo>
                    <a:cubicBezTo>
                      <a:pt x="92726" y="109209"/>
                      <a:pt x="85438" y="115085"/>
                      <a:pt x="76723" y="115085"/>
                    </a:cubicBezTo>
                    <a:cubicBezTo>
                      <a:pt x="68917" y="115085"/>
                      <a:pt x="62190" y="110302"/>
                      <a:pt x="59262" y="103391"/>
                    </a:cubicBezTo>
                    <a:cubicBezTo>
                      <a:pt x="62849" y="102688"/>
                      <a:pt x="66545" y="102298"/>
                      <a:pt x="70330" y="102298"/>
                    </a:cubicBezTo>
                    <a:lnTo>
                      <a:pt x="76493" y="102285"/>
                    </a:lnTo>
                    <a:cubicBezTo>
                      <a:pt x="76570" y="102285"/>
                      <a:pt x="76646" y="102298"/>
                      <a:pt x="76723" y="102298"/>
                    </a:cubicBezTo>
                    <a:close/>
                    <a:moveTo>
                      <a:pt x="108691" y="122035"/>
                    </a:moveTo>
                    <a:lnTo>
                      <a:pt x="108691" y="370828"/>
                    </a:lnTo>
                    <a:cubicBezTo>
                      <a:pt x="108691" y="377881"/>
                      <a:pt x="102956" y="383616"/>
                      <a:pt x="95904" y="383616"/>
                    </a:cubicBezTo>
                    <a:cubicBezTo>
                      <a:pt x="88852" y="383616"/>
                      <a:pt x="83117" y="377881"/>
                      <a:pt x="83117" y="370828"/>
                    </a:cubicBezTo>
                    <a:lnTo>
                      <a:pt x="83117" y="217382"/>
                    </a:lnTo>
                    <a:lnTo>
                      <a:pt x="70330" y="217382"/>
                    </a:lnTo>
                    <a:lnTo>
                      <a:pt x="70330" y="370828"/>
                    </a:lnTo>
                    <a:cubicBezTo>
                      <a:pt x="70330" y="377881"/>
                      <a:pt x="64594" y="383616"/>
                      <a:pt x="57542" y="383616"/>
                    </a:cubicBezTo>
                    <a:cubicBezTo>
                      <a:pt x="50490" y="383616"/>
                      <a:pt x="44755" y="377881"/>
                      <a:pt x="44755" y="370828"/>
                    </a:cubicBezTo>
                    <a:lnTo>
                      <a:pt x="44755" y="127872"/>
                    </a:lnTo>
                    <a:lnTo>
                      <a:pt x="31968" y="127872"/>
                    </a:lnTo>
                    <a:lnTo>
                      <a:pt x="31968" y="223776"/>
                    </a:lnTo>
                    <a:cubicBezTo>
                      <a:pt x="21393" y="223776"/>
                      <a:pt x="12787" y="215170"/>
                      <a:pt x="12787" y="204595"/>
                    </a:cubicBezTo>
                    <a:lnTo>
                      <a:pt x="12787" y="159840"/>
                    </a:lnTo>
                    <a:cubicBezTo>
                      <a:pt x="12787" y="136388"/>
                      <a:pt x="26911" y="116197"/>
                      <a:pt x="47082" y="107246"/>
                    </a:cubicBezTo>
                    <a:cubicBezTo>
                      <a:pt x="51686" y="119388"/>
                      <a:pt x="63245" y="127872"/>
                      <a:pt x="76723" y="127872"/>
                    </a:cubicBezTo>
                    <a:cubicBezTo>
                      <a:pt x="92931" y="127872"/>
                      <a:pt x="106223" y="115698"/>
                      <a:pt x="108276" y="100034"/>
                    </a:cubicBezTo>
                    <a:lnTo>
                      <a:pt x="159840" y="95348"/>
                    </a:lnTo>
                    <a:lnTo>
                      <a:pt x="159840" y="22378"/>
                    </a:lnTo>
                    <a:cubicBezTo>
                      <a:pt x="159840" y="17090"/>
                      <a:pt x="164143" y="12787"/>
                      <a:pt x="169430" y="12787"/>
                    </a:cubicBezTo>
                    <a:cubicBezTo>
                      <a:pt x="174718" y="12787"/>
                      <a:pt x="179021" y="17090"/>
                      <a:pt x="179021" y="22378"/>
                    </a:cubicBezTo>
                    <a:lnTo>
                      <a:pt x="179021" y="98122"/>
                    </a:lnTo>
                    <a:cubicBezTo>
                      <a:pt x="179021" y="108109"/>
                      <a:pt x="171521" y="116325"/>
                      <a:pt x="161579" y="117227"/>
                    </a:cubicBezTo>
                    <a:close/>
                  </a:path>
                </a:pathLst>
              </a:custGeom>
              <a:grpFill/>
              <a:ln w="625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grpSp>
        <p:grpSp>
          <p:nvGrpSpPr>
            <p:cNvPr id="25" name="Graphic 51">
              <a:extLst>
                <a:ext uri="{FF2B5EF4-FFF2-40B4-BE49-F238E27FC236}">
                  <a16:creationId xmlns:a16="http://schemas.microsoft.com/office/drawing/2014/main" id="{2E20B07D-27DD-72A3-65D5-950F5E5499BD}"/>
                </a:ext>
              </a:extLst>
            </p:cNvPr>
            <p:cNvGrpSpPr/>
            <p:nvPr/>
          </p:nvGrpSpPr>
          <p:grpSpPr>
            <a:xfrm>
              <a:off x="10859089" y="3863144"/>
              <a:ext cx="805186" cy="781957"/>
              <a:chOff x="4415066" y="3295316"/>
              <a:chExt cx="337117" cy="313867"/>
            </a:xfrm>
            <a:solidFill>
              <a:srgbClr val="0070C0">
                <a:lumMod val="75000"/>
              </a:srgbClr>
            </a:solidFill>
          </p:grpSpPr>
          <p:sp>
            <p:nvSpPr>
              <p:cNvPr id="66" name="Freeform: Shape 65">
                <a:extLst>
                  <a:ext uri="{FF2B5EF4-FFF2-40B4-BE49-F238E27FC236}">
                    <a16:creationId xmlns:a16="http://schemas.microsoft.com/office/drawing/2014/main" id="{868F49E3-DF62-80EC-4A82-6CC86FA129CB}"/>
                  </a:ext>
                </a:extLst>
              </p:cNvPr>
              <p:cNvSpPr/>
              <p:nvPr/>
            </p:nvSpPr>
            <p:spPr>
              <a:xfrm>
                <a:off x="4473190" y="3388313"/>
                <a:ext cx="127871" cy="127871"/>
              </a:xfrm>
              <a:custGeom>
                <a:avLst/>
                <a:gdLst>
                  <a:gd name="connsiteX0" fmla="*/ 63936 w 127871"/>
                  <a:gd name="connsiteY0" fmla="*/ 0 h 127871"/>
                  <a:gd name="connsiteX1" fmla="*/ 0 w 127871"/>
                  <a:gd name="connsiteY1" fmla="*/ 63936 h 127871"/>
                  <a:gd name="connsiteX2" fmla="*/ 63936 w 127871"/>
                  <a:gd name="connsiteY2" fmla="*/ 127872 h 127871"/>
                  <a:gd name="connsiteX3" fmla="*/ 127872 w 127871"/>
                  <a:gd name="connsiteY3" fmla="*/ 63936 h 127871"/>
                  <a:gd name="connsiteX4" fmla="*/ 63936 w 127871"/>
                  <a:gd name="connsiteY4" fmla="*/ 0 h 127871"/>
                  <a:gd name="connsiteX5" fmla="*/ 63936 w 127871"/>
                  <a:gd name="connsiteY5" fmla="*/ 116247 h 127871"/>
                  <a:gd name="connsiteX6" fmla="*/ 11625 w 127871"/>
                  <a:gd name="connsiteY6" fmla="*/ 63936 h 127871"/>
                  <a:gd name="connsiteX7" fmla="*/ 63936 w 127871"/>
                  <a:gd name="connsiteY7" fmla="*/ 11625 h 127871"/>
                  <a:gd name="connsiteX8" fmla="*/ 116247 w 127871"/>
                  <a:gd name="connsiteY8" fmla="*/ 63936 h 127871"/>
                  <a:gd name="connsiteX9" fmla="*/ 63936 w 127871"/>
                  <a:gd name="connsiteY9" fmla="*/ 116247 h 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871" h="127871">
                    <a:moveTo>
                      <a:pt x="63936" y="0"/>
                    </a:moveTo>
                    <a:cubicBezTo>
                      <a:pt x="28684" y="0"/>
                      <a:pt x="0" y="28684"/>
                      <a:pt x="0" y="63936"/>
                    </a:cubicBezTo>
                    <a:cubicBezTo>
                      <a:pt x="0" y="99188"/>
                      <a:pt x="28684" y="127872"/>
                      <a:pt x="63936" y="127872"/>
                    </a:cubicBezTo>
                    <a:cubicBezTo>
                      <a:pt x="99188" y="127872"/>
                      <a:pt x="127872" y="99188"/>
                      <a:pt x="127872" y="63936"/>
                    </a:cubicBezTo>
                    <a:cubicBezTo>
                      <a:pt x="127872" y="28684"/>
                      <a:pt x="99188" y="0"/>
                      <a:pt x="63936" y="0"/>
                    </a:cubicBezTo>
                    <a:close/>
                    <a:moveTo>
                      <a:pt x="63936" y="116247"/>
                    </a:moveTo>
                    <a:cubicBezTo>
                      <a:pt x="35095" y="116247"/>
                      <a:pt x="11625" y="92783"/>
                      <a:pt x="11625" y="63936"/>
                    </a:cubicBezTo>
                    <a:cubicBezTo>
                      <a:pt x="11625" y="35089"/>
                      <a:pt x="35095" y="11625"/>
                      <a:pt x="63936" y="11625"/>
                    </a:cubicBezTo>
                    <a:cubicBezTo>
                      <a:pt x="92777" y="11625"/>
                      <a:pt x="116247" y="35089"/>
                      <a:pt x="116247" y="63936"/>
                    </a:cubicBezTo>
                    <a:cubicBezTo>
                      <a:pt x="116247" y="92783"/>
                      <a:pt x="92777" y="116247"/>
                      <a:pt x="63936" y="116247"/>
                    </a:cubicBez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68" name="Freeform: Shape 67">
                <a:extLst>
                  <a:ext uri="{FF2B5EF4-FFF2-40B4-BE49-F238E27FC236}">
                    <a16:creationId xmlns:a16="http://schemas.microsoft.com/office/drawing/2014/main" id="{BE753EAD-A890-51AD-D30D-EE35C94BBDFD}"/>
                  </a:ext>
                </a:extLst>
              </p:cNvPr>
              <p:cNvSpPr/>
              <p:nvPr/>
            </p:nvSpPr>
            <p:spPr>
              <a:xfrm>
                <a:off x="4612687" y="3504561"/>
                <a:ext cx="139496" cy="104622"/>
              </a:xfrm>
              <a:custGeom>
                <a:avLst/>
                <a:gdLst>
                  <a:gd name="connsiteX0" fmla="*/ 122060 w 139496"/>
                  <a:gd name="connsiteY0" fmla="*/ 0 h 104622"/>
                  <a:gd name="connsiteX1" fmla="*/ 17437 w 139496"/>
                  <a:gd name="connsiteY1" fmla="*/ 0 h 104622"/>
                  <a:gd name="connsiteX2" fmla="*/ 0 w 139496"/>
                  <a:gd name="connsiteY2" fmla="*/ 17437 h 104622"/>
                  <a:gd name="connsiteX3" fmla="*/ 0 w 139496"/>
                  <a:gd name="connsiteY3" fmla="*/ 87185 h 104622"/>
                  <a:gd name="connsiteX4" fmla="*/ 17437 w 139496"/>
                  <a:gd name="connsiteY4" fmla="*/ 104622 h 104622"/>
                  <a:gd name="connsiteX5" fmla="*/ 122060 w 139496"/>
                  <a:gd name="connsiteY5" fmla="*/ 104622 h 104622"/>
                  <a:gd name="connsiteX6" fmla="*/ 139497 w 139496"/>
                  <a:gd name="connsiteY6" fmla="*/ 87185 h 104622"/>
                  <a:gd name="connsiteX7" fmla="*/ 139497 w 139496"/>
                  <a:gd name="connsiteY7" fmla="*/ 17437 h 104622"/>
                  <a:gd name="connsiteX8" fmla="*/ 122060 w 139496"/>
                  <a:gd name="connsiteY8" fmla="*/ 0 h 104622"/>
                  <a:gd name="connsiteX9" fmla="*/ 127872 w 139496"/>
                  <a:gd name="connsiteY9" fmla="*/ 87185 h 104622"/>
                  <a:gd name="connsiteX10" fmla="*/ 122060 w 139496"/>
                  <a:gd name="connsiteY10" fmla="*/ 92998 h 104622"/>
                  <a:gd name="connsiteX11" fmla="*/ 17437 w 139496"/>
                  <a:gd name="connsiteY11" fmla="*/ 92998 h 104622"/>
                  <a:gd name="connsiteX12" fmla="*/ 11625 w 139496"/>
                  <a:gd name="connsiteY12" fmla="*/ 87185 h 104622"/>
                  <a:gd name="connsiteX13" fmla="*/ 11625 w 139496"/>
                  <a:gd name="connsiteY13" fmla="*/ 17437 h 104622"/>
                  <a:gd name="connsiteX14" fmla="*/ 17437 w 139496"/>
                  <a:gd name="connsiteY14" fmla="*/ 11625 h 104622"/>
                  <a:gd name="connsiteX15" fmla="*/ 122060 w 139496"/>
                  <a:gd name="connsiteY15" fmla="*/ 11625 h 104622"/>
                  <a:gd name="connsiteX16" fmla="*/ 127872 w 139496"/>
                  <a:gd name="connsiteY16" fmla="*/ 17437 h 104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496" h="104622">
                    <a:moveTo>
                      <a:pt x="122060" y="0"/>
                    </a:moveTo>
                    <a:lnTo>
                      <a:pt x="17437" y="0"/>
                    </a:lnTo>
                    <a:cubicBezTo>
                      <a:pt x="7823" y="0"/>
                      <a:pt x="0" y="7823"/>
                      <a:pt x="0" y="17437"/>
                    </a:cubicBezTo>
                    <a:lnTo>
                      <a:pt x="0" y="87185"/>
                    </a:lnTo>
                    <a:cubicBezTo>
                      <a:pt x="0" y="96799"/>
                      <a:pt x="7823" y="104622"/>
                      <a:pt x="17437" y="104622"/>
                    </a:cubicBezTo>
                    <a:lnTo>
                      <a:pt x="122060" y="104622"/>
                    </a:lnTo>
                    <a:cubicBezTo>
                      <a:pt x="131673" y="104622"/>
                      <a:pt x="139497" y="96799"/>
                      <a:pt x="139497" y="87185"/>
                    </a:cubicBezTo>
                    <a:lnTo>
                      <a:pt x="139497" y="17437"/>
                    </a:lnTo>
                    <a:cubicBezTo>
                      <a:pt x="139497" y="7823"/>
                      <a:pt x="131673" y="0"/>
                      <a:pt x="122060" y="0"/>
                    </a:cubicBezTo>
                    <a:close/>
                    <a:moveTo>
                      <a:pt x="127872" y="87185"/>
                    </a:moveTo>
                    <a:cubicBezTo>
                      <a:pt x="127872" y="90394"/>
                      <a:pt x="125262" y="92998"/>
                      <a:pt x="122060" y="92998"/>
                    </a:cubicBezTo>
                    <a:lnTo>
                      <a:pt x="17437" y="92998"/>
                    </a:lnTo>
                    <a:cubicBezTo>
                      <a:pt x="14234" y="92998"/>
                      <a:pt x="11625" y="90394"/>
                      <a:pt x="11625" y="87185"/>
                    </a:cubicBezTo>
                    <a:lnTo>
                      <a:pt x="11625" y="17437"/>
                    </a:lnTo>
                    <a:cubicBezTo>
                      <a:pt x="11625" y="14229"/>
                      <a:pt x="14234" y="11625"/>
                      <a:pt x="17437" y="11625"/>
                    </a:cubicBezTo>
                    <a:lnTo>
                      <a:pt x="122060" y="11625"/>
                    </a:lnTo>
                    <a:cubicBezTo>
                      <a:pt x="125262" y="11625"/>
                      <a:pt x="127872" y="14229"/>
                      <a:pt x="127872" y="17437"/>
                    </a:cubicBez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69" name="Freeform: Shape 68">
                <a:extLst>
                  <a:ext uri="{FF2B5EF4-FFF2-40B4-BE49-F238E27FC236}">
                    <a16:creationId xmlns:a16="http://schemas.microsoft.com/office/drawing/2014/main" id="{34EABF55-0C68-5536-C2AF-9A4D75683526}"/>
                  </a:ext>
                </a:extLst>
              </p:cNvPr>
              <p:cNvSpPr/>
              <p:nvPr/>
            </p:nvSpPr>
            <p:spPr>
              <a:xfrm>
                <a:off x="4635936" y="3527810"/>
                <a:ext cx="92997" cy="58123"/>
              </a:xfrm>
              <a:custGeom>
                <a:avLst/>
                <a:gdLst>
                  <a:gd name="connsiteX0" fmla="*/ 81373 w 92997"/>
                  <a:gd name="connsiteY0" fmla="*/ 11625 h 58123"/>
                  <a:gd name="connsiteX1" fmla="*/ 69748 w 92997"/>
                  <a:gd name="connsiteY1" fmla="*/ 11625 h 58123"/>
                  <a:gd name="connsiteX2" fmla="*/ 69748 w 92997"/>
                  <a:gd name="connsiteY2" fmla="*/ 46499 h 58123"/>
                  <a:gd name="connsiteX3" fmla="*/ 58124 w 92997"/>
                  <a:gd name="connsiteY3" fmla="*/ 46499 h 58123"/>
                  <a:gd name="connsiteX4" fmla="*/ 58124 w 92997"/>
                  <a:gd name="connsiteY4" fmla="*/ 23249 h 58123"/>
                  <a:gd name="connsiteX5" fmla="*/ 46499 w 92997"/>
                  <a:gd name="connsiteY5" fmla="*/ 23249 h 58123"/>
                  <a:gd name="connsiteX6" fmla="*/ 46499 w 92997"/>
                  <a:gd name="connsiteY6" fmla="*/ 46499 h 58123"/>
                  <a:gd name="connsiteX7" fmla="*/ 34874 w 92997"/>
                  <a:gd name="connsiteY7" fmla="*/ 46499 h 58123"/>
                  <a:gd name="connsiteX8" fmla="*/ 34874 w 92997"/>
                  <a:gd name="connsiteY8" fmla="*/ 34874 h 58123"/>
                  <a:gd name="connsiteX9" fmla="*/ 23249 w 92997"/>
                  <a:gd name="connsiteY9" fmla="*/ 34874 h 58123"/>
                  <a:gd name="connsiteX10" fmla="*/ 23249 w 92997"/>
                  <a:gd name="connsiteY10" fmla="*/ 46499 h 58123"/>
                  <a:gd name="connsiteX11" fmla="*/ 11625 w 92997"/>
                  <a:gd name="connsiteY11" fmla="*/ 46499 h 58123"/>
                  <a:gd name="connsiteX12" fmla="*/ 11625 w 92997"/>
                  <a:gd name="connsiteY12" fmla="*/ 0 h 58123"/>
                  <a:gd name="connsiteX13" fmla="*/ 0 w 92997"/>
                  <a:gd name="connsiteY13" fmla="*/ 0 h 58123"/>
                  <a:gd name="connsiteX14" fmla="*/ 0 w 92997"/>
                  <a:gd name="connsiteY14" fmla="*/ 58124 h 58123"/>
                  <a:gd name="connsiteX15" fmla="*/ 92998 w 92997"/>
                  <a:gd name="connsiteY15" fmla="*/ 58124 h 58123"/>
                  <a:gd name="connsiteX16" fmla="*/ 92998 w 92997"/>
                  <a:gd name="connsiteY16" fmla="*/ 46499 h 58123"/>
                  <a:gd name="connsiteX17" fmla="*/ 81373 w 92997"/>
                  <a:gd name="connsiteY17" fmla="*/ 46499 h 58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2997" h="58123">
                    <a:moveTo>
                      <a:pt x="81373" y="11625"/>
                    </a:moveTo>
                    <a:lnTo>
                      <a:pt x="69748" y="11625"/>
                    </a:lnTo>
                    <a:lnTo>
                      <a:pt x="69748" y="46499"/>
                    </a:lnTo>
                    <a:lnTo>
                      <a:pt x="58124" y="46499"/>
                    </a:lnTo>
                    <a:lnTo>
                      <a:pt x="58124" y="23249"/>
                    </a:lnTo>
                    <a:lnTo>
                      <a:pt x="46499" y="23249"/>
                    </a:lnTo>
                    <a:lnTo>
                      <a:pt x="46499" y="46499"/>
                    </a:lnTo>
                    <a:lnTo>
                      <a:pt x="34874" y="46499"/>
                    </a:lnTo>
                    <a:lnTo>
                      <a:pt x="34874" y="34874"/>
                    </a:lnTo>
                    <a:lnTo>
                      <a:pt x="23249" y="34874"/>
                    </a:lnTo>
                    <a:lnTo>
                      <a:pt x="23249" y="46499"/>
                    </a:lnTo>
                    <a:lnTo>
                      <a:pt x="11625" y="46499"/>
                    </a:lnTo>
                    <a:lnTo>
                      <a:pt x="11625" y="0"/>
                    </a:lnTo>
                    <a:lnTo>
                      <a:pt x="0" y="0"/>
                    </a:lnTo>
                    <a:lnTo>
                      <a:pt x="0" y="58124"/>
                    </a:lnTo>
                    <a:lnTo>
                      <a:pt x="92998" y="58124"/>
                    </a:lnTo>
                    <a:lnTo>
                      <a:pt x="92998" y="46499"/>
                    </a:lnTo>
                    <a:lnTo>
                      <a:pt x="81373" y="46499"/>
                    </a:ln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70" name="Freeform: Shape 69">
                <a:extLst>
                  <a:ext uri="{FF2B5EF4-FFF2-40B4-BE49-F238E27FC236}">
                    <a16:creationId xmlns:a16="http://schemas.microsoft.com/office/drawing/2014/main" id="{37B78C19-D8F9-6206-ADFE-E504BF973753}"/>
                  </a:ext>
                </a:extLst>
              </p:cNvPr>
              <p:cNvSpPr/>
              <p:nvPr/>
            </p:nvSpPr>
            <p:spPr>
              <a:xfrm>
                <a:off x="4705684" y="3365064"/>
                <a:ext cx="11624" cy="11624"/>
              </a:xfrm>
              <a:custGeom>
                <a:avLst/>
                <a:gdLst>
                  <a:gd name="connsiteX0" fmla="*/ 0 w 11624"/>
                  <a:gd name="connsiteY0" fmla="*/ 0 h 11624"/>
                  <a:gd name="connsiteX1" fmla="*/ 11625 w 11624"/>
                  <a:gd name="connsiteY1" fmla="*/ 0 h 11624"/>
                  <a:gd name="connsiteX2" fmla="*/ 11625 w 11624"/>
                  <a:gd name="connsiteY2" fmla="*/ 11625 h 11624"/>
                  <a:gd name="connsiteX3" fmla="*/ 0 w 11624"/>
                  <a:gd name="connsiteY3" fmla="*/ 11625 h 11624"/>
                </a:gdLst>
                <a:ahLst/>
                <a:cxnLst>
                  <a:cxn ang="0">
                    <a:pos x="connsiteX0" y="connsiteY0"/>
                  </a:cxn>
                  <a:cxn ang="0">
                    <a:pos x="connsiteX1" y="connsiteY1"/>
                  </a:cxn>
                  <a:cxn ang="0">
                    <a:pos x="connsiteX2" y="connsiteY2"/>
                  </a:cxn>
                  <a:cxn ang="0">
                    <a:pos x="connsiteX3" y="connsiteY3"/>
                  </a:cxn>
                </a:cxnLst>
                <a:rect l="l" t="t" r="r" b="b"/>
                <a:pathLst>
                  <a:path w="11624" h="11624">
                    <a:moveTo>
                      <a:pt x="0" y="0"/>
                    </a:moveTo>
                    <a:lnTo>
                      <a:pt x="11625" y="0"/>
                    </a:lnTo>
                    <a:lnTo>
                      <a:pt x="11625" y="11625"/>
                    </a:lnTo>
                    <a:lnTo>
                      <a:pt x="0" y="11625"/>
                    </a:ln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71" name="Freeform: Shape 70">
                <a:extLst>
                  <a:ext uri="{FF2B5EF4-FFF2-40B4-BE49-F238E27FC236}">
                    <a16:creationId xmlns:a16="http://schemas.microsoft.com/office/drawing/2014/main" id="{4EB0F15B-197B-F5FD-315C-EB8C99E64567}"/>
                  </a:ext>
                </a:extLst>
              </p:cNvPr>
              <p:cNvSpPr/>
              <p:nvPr/>
            </p:nvSpPr>
            <p:spPr>
              <a:xfrm>
                <a:off x="4705684" y="3388313"/>
                <a:ext cx="11624" cy="11624"/>
              </a:xfrm>
              <a:custGeom>
                <a:avLst/>
                <a:gdLst>
                  <a:gd name="connsiteX0" fmla="*/ 0 w 11624"/>
                  <a:gd name="connsiteY0" fmla="*/ 0 h 11624"/>
                  <a:gd name="connsiteX1" fmla="*/ 11625 w 11624"/>
                  <a:gd name="connsiteY1" fmla="*/ 0 h 11624"/>
                  <a:gd name="connsiteX2" fmla="*/ 11625 w 11624"/>
                  <a:gd name="connsiteY2" fmla="*/ 11625 h 11624"/>
                  <a:gd name="connsiteX3" fmla="*/ 0 w 11624"/>
                  <a:gd name="connsiteY3" fmla="*/ 11625 h 11624"/>
                </a:gdLst>
                <a:ahLst/>
                <a:cxnLst>
                  <a:cxn ang="0">
                    <a:pos x="connsiteX0" y="connsiteY0"/>
                  </a:cxn>
                  <a:cxn ang="0">
                    <a:pos x="connsiteX1" y="connsiteY1"/>
                  </a:cxn>
                  <a:cxn ang="0">
                    <a:pos x="connsiteX2" y="connsiteY2"/>
                  </a:cxn>
                  <a:cxn ang="0">
                    <a:pos x="connsiteX3" y="connsiteY3"/>
                  </a:cxn>
                </a:cxnLst>
                <a:rect l="l" t="t" r="r" b="b"/>
                <a:pathLst>
                  <a:path w="11624" h="11624">
                    <a:moveTo>
                      <a:pt x="0" y="0"/>
                    </a:moveTo>
                    <a:lnTo>
                      <a:pt x="11625" y="0"/>
                    </a:lnTo>
                    <a:lnTo>
                      <a:pt x="11625" y="11625"/>
                    </a:lnTo>
                    <a:lnTo>
                      <a:pt x="0" y="11625"/>
                    </a:ln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72" name="Freeform: Shape 71">
                <a:extLst>
                  <a:ext uri="{FF2B5EF4-FFF2-40B4-BE49-F238E27FC236}">
                    <a16:creationId xmlns:a16="http://schemas.microsoft.com/office/drawing/2014/main" id="{978F1E76-F46B-7ABA-6E0C-C152ED968A54}"/>
                  </a:ext>
                </a:extLst>
              </p:cNvPr>
              <p:cNvSpPr/>
              <p:nvPr/>
            </p:nvSpPr>
            <p:spPr>
              <a:xfrm>
                <a:off x="4415066" y="3295316"/>
                <a:ext cx="11624" cy="11624"/>
              </a:xfrm>
              <a:custGeom>
                <a:avLst/>
                <a:gdLst>
                  <a:gd name="connsiteX0" fmla="*/ 0 w 11624"/>
                  <a:gd name="connsiteY0" fmla="*/ 0 h 11624"/>
                  <a:gd name="connsiteX1" fmla="*/ 11625 w 11624"/>
                  <a:gd name="connsiteY1" fmla="*/ 0 h 11624"/>
                  <a:gd name="connsiteX2" fmla="*/ 11625 w 11624"/>
                  <a:gd name="connsiteY2" fmla="*/ 11625 h 11624"/>
                  <a:gd name="connsiteX3" fmla="*/ 0 w 11624"/>
                  <a:gd name="connsiteY3" fmla="*/ 11625 h 11624"/>
                </a:gdLst>
                <a:ahLst/>
                <a:cxnLst>
                  <a:cxn ang="0">
                    <a:pos x="connsiteX0" y="connsiteY0"/>
                  </a:cxn>
                  <a:cxn ang="0">
                    <a:pos x="connsiteX1" y="connsiteY1"/>
                  </a:cxn>
                  <a:cxn ang="0">
                    <a:pos x="connsiteX2" y="connsiteY2"/>
                  </a:cxn>
                  <a:cxn ang="0">
                    <a:pos x="connsiteX3" y="connsiteY3"/>
                  </a:cxn>
                </a:cxnLst>
                <a:rect l="l" t="t" r="r" b="b"/>
                <a:pathLst>
                  <a:path w="11624" h="11624">
                    <a:moveTo>
                      <a:pt x="0" y="0"/>
                    </a:moveTo>
                    <a:lnTo>
                      <a:pt x="11625" y="0"/>
                    </a:lnTo>
                    <a:lnTo>
                      <a:pt x="11625" y="11625"/>
                    </a:lnTo>
                    <a:lnTo>
                      <a:pt x="0" y="11625"/>
                    </a:ln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73" name="Freeform: Shape 72">
                <a:extLst>
                  <a:ext uri="{FF2B5EF4-FFF2-40B4-BE49-F238E27FC236}">
                    <a16:creationId xmlns:a16="http://schemas.microsoft.com/office/drawing/2014/main" id="{9EBF9015-FAE1-E65C-EE7C-B8CE0D80164C}"/>
                  </a:ext>
                </a:extLst>
              </p:cNvPr>
              <p:cNvSpPr/>
              <p:nvPr/>
            </p:nvSpPr>
            <p:spPr>
              <a:xfrm>
                <a:off x="4415066" y="3318565"/>
                <a:ext cx="11624" cy="11624"/>
              </a:xfrm>
              <a:custGeom>
                <a:avLst/>
                <a:gdLst>
                  <a:gd name="connsiteX0" fmla="*/ 0 w 11624"/>
                  <a:gd name="connsiteY0" fmla="*/ 0 h 11624"/>
                  <a:gd name="connsiteX1" fmla="*/ 11625 w 11624"/>
                  <a:gd name="connsiteY1" fmla="*/ 0 h 11624"/>
                  <a:gd name="connsiteX2" fmla="*/ 11625 w 11624"/>
                  <a:gd name="connsiteY2" fmla="*/ 11625 h 11624"/>
                  <a:gd name="connsiteX3" fmla="*/ 0 w 11624"/>
                  <a:gd name="connsiteY3" fmla="*/ 11625 h 11624"/>
                </a:gdLst>
                <a:ahLst/>
                <a:cxnLst>
                  <a:cxn ang="0">
                    <a:pos x="connsiteX0" y="connsiteY0"/>
                  </a:cxn>
                  <a:cxn ang="0">
                    <a:pos x="connsiteX1" y="connsiteY1"/>
                  </a:cxn>
                  <a:cxn ang="0">
                    <a:pos x="connsiteX2" y="connsiteY2"/>
                  </a:cxn>
                  <a:cxn ang="0">
                    <a:pos x="connsiteX3" y="connsiteY3"/>
                  </a:cxn>
                </a:cxnLst>
                <a:rect l="l" t="t" r="r" b="b"/>
                <a:pathLst>
                  <a:path w="11624" h="11624">
                    <a:moveTo>
                      <a:pt x="0" y="0"/>
                    </a:moveTo>
                    <a:lnTo>
                      <a:pt x="11625" y="0"/>
                    </a:lnTo>
                    <a:lnTo>
                      <a:pt x="11625" y="11625"/>
                    </a:lnTo>
                    <a:lnTo>
                      <a:pt x="0" y="11625"/>
                    </a:ln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grpSp>
        <p:sp>
          <p:nvSpPr>
            <p:cNvPr id="27" name="Rectangle: Rounded Corners 26">
              <a:extLst>
                <a:ext uri="{FF2B5EF4-FFF2-40B4-BE49-F238E27FC236}">
                  <a16:creationId xmlns:a16="http://schemas.microsoft.com/office/drawing/2014/main" id="{6E2CB84D-5875-0E50-9A57-1CB49547625C}"/>
                </a:ext>
              </a:extLst>
            </p:cNvPr>
            <p:cNvSpPr/>
            <p:nvPr/>
          </p:nvSpPr>
          <p:spPr bwMode="auto">
            <a:xfrm>
              <a:off x="12501299" y="3213628"/>
              <a:ext cx="2677702" cy="141973"/>
            </a:xfrm>
            <a:prstGeom prst="roundRect">
              <a:avLst>
                <a:gd name="adj" fmla="val 50000"/>
              </a:avLst>
            </a:prstGeom>
            <a:solidFill>
              <a:srgbClr val="44546A">
                <a:lumMod val="60000"/>
                <a:lumOff val="40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28" name="Rectangle: Rounded Corners 27">
              <a:extLst>
                <a:ext uri="{FF2B5EF4-FFF2-40B4-BE49-F238E27FC236}">
                  <a16:creationId xmlns:a16="http://schemas.microsoft.com/office/drawing/2014/main" id="{AF7823C1-617C-E036-54C7-48108D44004F}"/>
                </a:ext>
              </a:extLst>
            </p:cNvPr>
            <p:cNvSpPr/>
            <p:nvPr/>
          </p:nvSpPr>
          <p:spPr bwMode="auto">
            <a:xfrm>
              <a:off x="12687607" y="3385136"/>
              <a:ext cx="2305086" cy="123583"/>
            </a:xfrm>
            <a:prstGeom prst="roundRect">
              <a:avLst>
                <a:gd name="adj" fmla="val 50000"/>
              </a:avLst>
            </a:prstGeom>
            <a:solidFill>
              <a:srgbClr val="44546A">
                <a:lumMod val="60000"/>
                <a:lumOff val="40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29" name="Rectangle 28">
              <a:extLst>
                <a:ext uri="{FF2B5EF4-FFF2-40B4-BE49-F238E27FC236}">
                  <a16:creationId xmlns:a16="http://schemas.microsoft.com/office/drawing/2014/main" id="{D768F084-6430-C797-8812-B7536714CFE1}"/>
                </a:ext>
              </a:extLst>
            </p:cNvPr>
            <p:cNvSpPr/>
            <p:nvPr/>
          </p:nvSpPr>
          <p:spPr bwMode="auto">
            <a:xfrm>
              <a:off x="12900716" y="3558335"/>
              <a:ext cx="1874365" cy="3840480"/>
            </a:xfrm>
            <a:prstGeom prst="rect">
              <a:avLst/>
            </a:prstGeom>
            <a:solidFill>
              <a:schemeClr val="accent5">
                <a:lumMod val="75000"/>
              </a:scheme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30" name="Rectangle: Rounded Corners 29">
              <a:extLst>
                <a:ext uri="{FF2B5EF4-FFF2-40B4-BE49-F238E27FC236}">
                  <a16:creationId xmlns:a16="http://schemas.microsoft.com/office/drawing/2014/main" id="{7310F192-A38A-65CB-9854-6297DE462CAE}"/>
                </a:ext>
              </a:extLst>
            </p:cNvPr>
            <p:cNvSpPr/>
            <p:nvPr/>
          </p:nvSpPr>
          <p:spPr bwMode="auto">
            <a:xfrm rot="10800000">
              <a:off x="12775300" y="7515391"/>
              <a:ext cx="2129698" cy="85399"/>
            </a:xfrm>
            <a:prstGeom prst="roundRect">
              <a:avLst>
                <a:gd name="adj" fmla="val 50000"/>
              </a:avLst>
            </a:prstGeom>
            <a:solidFill>
              <a:srgbClr val="44546A">
                <a:lumMod val="60000"/>
                <a:lumOff val="40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31" name="TextBox 156">
              <a:extLst>
                <a:ext uri="{FF2B5EF4-FFF2-40B4-BE49-F238E27FC236}">
                  <a16:creationId xmlns:a16="http://schemas.microsoft.com/office/drawing/2014/main" id="{C22A9D00-2A17-F756-1257-C7676BA3B84F}"/>
                </a:ext>
              </a:extLst>
            </p:cNvPr>
            <p:cNvSpPr txBox="1"/>
            <p:nvPr/>
          </p:nvSpPr>
          <p:spPr>
            <a:xfrm>
              <a:off x="12933605" y="5085318"/>
              <a:ext cx="1829356" cy="1661993"/>
            </a:xfrm>
            <a:prstGeom prst="rect">
              <a:avLst/>
            </a:prstGeom>
            <a:solidFill>
              <a:schemeClr val="accent5">
                <a:lumMod val="75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8588" indent="-128588" fontAlgn="base">
                <a:lnSpc>
                  <a:spcPts val="1013"/>
                </a:lnSpc>
                <a:spcAft>
                  <a:spcPts val="450"/>
                </a:spcAft>
                <a:buFont typeface="Arial" panose="020B0604020202020204" pitchFamily="34" charset="0"/>
                <a:buChar char="•"/>
                <a:defRPr/>
              </a:pPr>
              <a:r>
                <a:rPr lang="en-US" sz="900" kern="0">
                  <a:solidFill>
                    <a:prstClr val="white"/>
                  </a:solidFill>
                  <a:latin typeface="+mj-lt"/>
                </a:rPr>
                <a:t>Enterprise-wide AI upskilling programs</a:t>
              </a:r>
            </a:p>
            <a:p>
              <a:pPr marL="128588" indent="-128588" fontAlgn="base">
                <a:lnSpc>
                  <a:spcPts val="1013"/>
                </a:lnSpc>
                <a:spcAft>
                  <a:spcPts val="450"/>
                </a:spcAft>
                <a:buFont typeface="Arial" panose="020B0604020202020204" pitchFamily="34" charset="0"/>
                <a:buChar char="•"/>
                <a:defRPr/>
              </a:pPr>
              <a:r>
                <a:rPr lang="en-US" sz="900" kern="0">
                  <a:solidFill>
                    <a:prstClr val="white"/>
                  </a:solidFill>
                  <a:latin typeface="+mj-lt"/>
                </a:rPr>
                <a:t>Cultural alignment around data-driven decision-making</a:t>
              </a:r>
            </a:p>
            <a:p>
              <a:pPr marL="128588" indent="-128588" fontAlgn="base">
                <a:lnSpc>
                  <a:spcPts val="1013"/>
                </a:lnSpc>
                <a:spcAft>
                  <a:spcPts val="450"/>
                </a:spcAft>
                <a:buFont typeface="Arial" panose="020B0604020202020204" pitchFamily="34" charset="0"/>
                <a:buChar char="•"/>
                <a:defRPr/>
              </a:pPr>
              <a:r>
                <a:rPr lang="en-US" sz="900" kern="0">
                  <a:solidFill>
                    <a:prstClr val="white"/>
                  </a:solidFill>
                  <a:latin typeface="+mj-lt"/>
                </a:rPr>
                <a:t>Stakeholder alignment from day 0</a:t>
              </a:r>
            </a:p>
          </p:txBody>
        </p:sp>
        <p:grpSp>
          <p:nvGrpSpPr>
            <p:cNvPr id="32" name="Graphic 51">
              <a:extLst>
                <a:ext uri="{FF2B5EF4-FFF2-40B4-BE49-F238E27FC236}">
                  <a16:creationId xmlns:a16="http://schemas.microsoft.com/office/drawing/2014/main" id="{57D5484A-08E1-00CA-5318-D00E0EF0AAB3}"/>
                </a:ext>
              </a:extLst>
            </p:cNvPr>
            <p:cNvGrpSpPr/>
            <p:nvPr/>
          </p:nvGrpSpPr>
          <p:grpSpPr>
            <a:xfrm>
              <a:off x="13605564" y="3740650"/>
              <a:ext cx="464704" cy="484730"/>
              <a:chOff x="4391817" y="3248817"/>
              <a:chExt cx="360366" cy="360366"/>
            </a:xfrm>
            <a:solidFill>
              <a:srgbClr val="44546A">
                <a:lumMod val="60000"/>
                <a:lumOff val="40000"/>
              </a:srgbClr>
            </a:solidFill>
          </p:grpSpPr>
          <p:sp>
            <p:nvSpPr>
              <p:cNvPr id="58" name="Freeform: Shape 57">
                <a:extLst>
                  <a:ext uri="{FF2B5EF4-FFF2-40B4-BE49-F238E27FC236}">
                    <a16:creationId xmlns:a16="http://schemas.microsoft.com/office/drawing/2014/main" id="{BE975A88-47BA-993E-9F74-4D76CF9E094C}"/>
                  </a:ext>
                </a:extLst>
              </p:cNvPr>
              <p:cNvSpPr/>
              <p:nvPr/>
            </p:nvSpPr>
            <p:spPr>
              <a:xfrm>
                <a:off x="4473190" y="3388313"/>
                <a:ext cx="127871" cy="127871"/>
              </a:xfrm>
              <a:custGeom>
                <a:avLst/>
                <a:gdLst>
                  <a:gd name="connsiteX0" fmla="*/ 63936 w 127871"/>
                  <a:gd name="connsiteY0" fmla="*/ 0 h 127871"/>
                  <a:gd name="connsiteX1" fmla="*/ 0 w 127871"/>
                  <a:gd name="connsiteY1" fmla="*/ 63936 h 127871"/>
                  <a:gd name="connsiteX2" fmla="*/ 63936 w 127871"/>
                  <a:gd name="connsiteY2" fmla="*/ 127872 h 127871"/>
                  <a:gd name="connsiteX3" fmla="*/ 127872 w 127871"/>
                  <a:gd name="connsiteY3" fmla="*/ 63936 h 127871"/>
                  <a:gd name="connsiteX4" fmla="*/ 63936 w 127871"/>
                  <a:gd name="connsiteY4" fmla="*/ 0 h 127871"/>
                  <a:gd name="connsiteX5" fmla="*/ 63936 w 127871"/>
                  <a:gd name="connsiteY5" fmla="*/ 116247 h 127871"/>
                  <a:gd name="connsiteX6" fmla="*/ 11625 w 127871"/>
                  <a:gd name="connsiteY6" fmla="*/ 63936 h 127871"/>
                  <a:gd name="connsiteX7" fmla="*/ 63936 w 127871"/>
                  <a:gd name="connsiteY7" fmla="*/ 11625 h 127871"/>
                  <a:gd name="connsiteX8" fmla="*/ 116247 w 127871"/>
                  <a:gd name="connsiteY8" fmla="*/ 63936 h 127871"/>
                  <a:gd name="connsiteX9" fmla="*/ 63936 w 127871"/>
                  <a:gd name="connsiteY9" fmla="*/ 116247 h 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871" h="127871">
                    <a:moveTo>
                      <a:pt x="63936" y="0"/>
                    </a:moveTo>
                    <a:cubicBezTo>
                      <a:pt x="28684" y="0"/>
                      <a:pt x="0" y="28684"/>
                      <a:pt x="0" y="63936"/>
                    </a:cubicBezTo>
                    <a:cubicBezTo>
                      <a:pt x="0" y="99188"/>
                      <a:pt x="28684" y="127872"/>
                      <a:pt x="63936" y="127872"/>
                    </a:cubicBezTo>
                    <a:cubicBezTo>
                      <a:pt x="99188" y="127872"/>
                      <a:pt x="127872" y="99188"/>
                      <a:pt x="127872" y="63936"/>
                    </a:cubicBezTo>
                    <a:cubicBezTo>
                      <a:pt x="127872" y="28684"/>
                      <a:pt x="99188" y="0"/>
                      <a:pt x="63936" y="0"/>
                    </a:cubicBezTo>
                    <a:close/>
                    <a:moveTo>
                      <a:pt x="63936" y="116247"/>
                    </a:moveTo>
                    <a:cubicBezTo>
                      <a:pt x="35095" y="116247"/>
                      <a:pt x="11625" y="92783"/>
                      <a:pt x="11625" y="63936"/>
                    </a:cubicBezTo>
                    <a:cubicBezTo>
                      <a:pt x="11625" y="35089"/>
                      <a:pt x="35095" y="11625"/>
                      <a:pt x="63936" y="11625"/>
                    </a:cubicBezTo>
                    <a:cubicBezTo>
                      <a:pt x="92777" y="11625"/>
                      <a:pt x="116247" y="35089"/>
                      <a:pt x="116247" y="63936"/>
                    </a:cubicBezTo>
                    <a:cubicBezTo>
                      <a:pt x="116247" y="92783"/>
                      <a:pt x="92777" y="116247"/>
                      <a:pt x="63936" y="116247"/>
                    </a:cubicBez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59" name="Freeform: Shape 58">
                <a:extLst>
                  <a:ext uri="{FF2B5EF4-FFF2-40B4-BE49-F238E27FC236}">
                    <a16:creationId xmlns:a16="http://schemas.microsoft.com/office/drawing/2014/main" id="{D7CE64E4-1212-33A4-5664-BA0672D524B3}"/>
                  </a:ext>
                </a:extLst>
              </p:cNvPr>
              <p:cNvSpPr/>
              <p:nvPr/>
            </p:nvSpPr>
            <p:spPr>
              <a:xfrm>
                <a:off x="4391817" y="3248817"/>
                <a:ext cx="348741" cy="348741"/>
              </a:xfrm>
              <a:custGeom>
                <a:avLst/>
                <a:gdLst>
                  <a:gd name="connsiteX0" fmla="*/ 267369 w 348741"/>
                  <a:gd name="connsiteY0" fmla="*/ 220870 h 348741"/>
                  <a:gd name="connsiteX1" fmla="*/ 267369 w 348741"/>
                  <a:gd name="connsiteY1" fmla="*/ 249164 h 348741"/>
                  <a:gd name="connsiteX2" fmla="*/ 309816 w 348741"/>
                  <a:gd name="connsiteY2" fmla="*/ 220870 h 348741"/>
                  <a:gd name="connsiteX3" fmla="*/ 319680 w 348741"/>
                  <a:gd name="connsiteY3" fmla="*/ 220870 h 348741"/>
                  <a:gd name="connsiteX4" fmla="*/ 348742 w 348741"/>
                  <a:gd name="connsiteY4" fmla="*/ 191808 h 348741"/>
                  <a:gd name="connsiteX5" fmla="*/ 348742 w 348741"/>
                  <a:gd name="connsiteY5" fmla="*/ 122060 h 348741"/>
                  <a:gd name="connsiteX6" fmla="*/ 319680 w 348741"/>
                  <a:gd name="connsiteY6" fmla="*/ 92998 h 348741"/>
                  <a:gd name="connsiteX7" fmla="*/ 288584 w 348741"/>
                  <a:gd name="connsiteY7" fmla="*/ 92998 h 348741"/>
                  <a:gd name="connsiteX8" fmla="*/ 255744 w 348741"/>
                  <a:gd name="connsiteY8" fmla="*/ 69748 h 348741"/>
                  <a:gd name="connsiteX9" fmla="*/ 222904 w 348741"/>
                  <a:gd name="connsiteY9" fmla="*/ 92998 h 348741"/>
                  <a:gd name="connsiteX10" fmla="*/ 191808 w 348741"/>
                  <a:gd name="connsiteY10" fmla="*/ 92998 h 348741"/>
                  <a:gd name="connsiteX11" fmla="*/ 185996 w 348741"/>
                  <a:gd name="connsiteY11" fmla="*/ 93585 h 348741"/>
                  <a:gd name="connsiteX12" fmla="*/ 185996 w 348741"/>
                  <a:gd name="connsiteY12" fmla="*/ 52311 h 348741"/>
                  <a:gd name="connsiteX13" fmla="*/ 156934 w 348741"/>
                  <a:gd name="connsiteY13" fmla="*/ 23249 h 348741"/>
                  <a:gd name="connsiteX14" fmla="*/ 125838 w 348741"/>
                  <a:gd name="connsiteY14" fmla="*/ 23249 h 348741"/>
                  <a:gd name="connsiteX15" fmla="*/ 92998 w 348741"/>
                  <a:gd name="connsiteY15" fmla="*/ 0 h 348741"/>
                  <a:gd name="connsiteX16" fmla="*/ 60158 w 348741"/>
                  <a:gd name="connsiteY16" fmla="*/ 23249 h 348741"/>
                  <a:gd name="connsiteX17" fmla="*/ 29062 w 348741"/>
                  <a:gd name="connsiteY17" fmla="*/ 23249 h 348741"/>
                  <a:gd name="connsiteX18" fmla="*/ 0 w 348741"/>
                  <a:gd name="connsiteY18" fmla="*/ 52311 h 348741"/>
                  <a:gd name="connsiteX19" fmla="*/ 0 w 348741"/>
                  <a:gd name="connsiteY19" fmla="*/ 122060 h 348741"/>
                  <a:gd name="connsiteX20" fmla="*/ 29062 w 348741"/>
                  <a:gd name="connsiteY20" fmla="*/ 151121 h 348741"/>
                  <a:gd name="connsiteX21" fmla="*/ 75723 w 348741"/>
                  <a:gd name="connsiteY21" fmla="*/ 151121 h 348741"/>
                  <a:gd name="connsiteX22" fmla="*/ 58124 w 348741"/>
                  <a:gd name="connsiteY22" fmla="*/ 203433 h 348741"/>
                  <a:gd name="connsiteX23" fmla="*/ 72242 w 348741"/>
                  <a:gd name="connsiteY23" fmla="*/ 250844 h 348741"/>
                  <a:gd name="connsiteX24" fmla="*/ 63936 w 348741"/>
                  <a:gd name="connsiteY24" fmla="*/ 259150 h 348741"/>
                  <a:gd name="connsiteX25" fmla="*/ 58124 w 348741"/>
                  <a:gd name="connsiteY25" fmla="*/ 253337 h 348741"/>
                  <a:gd name="connsiteX26" fmla="*/ 7725 w 348741"/>
                  <a:gd name="connsiteY26" fmla="*/ 303742 h 348741"/>
                  <a:gd name="connsiteX27" fmla="*/ 0 w 348741"/>
                  <a:gd name="connsiteY27" fmla="*/ 322383 h 348741"/>
                  <a:gd name="connsiteX28" fmla="*/ 26365 w 348741"/>
                  <a:gd name="connsiteY28" fmla="*/ 348742 h 348741"/>
                  <a:gd name="connsiteX29" fmla="*/ 45005 w 348741"/>
                  <a:gd name="connsiteY29" fmla="*/ 341023 h 348741"/>
                  <a:gd name="connsiteX30" fmla="*/ 95404 w 348741"/>
                  <a:gd name="connsiteY30" fmla="*/ 290618 h 348741"/>
                  <a:gd name="connsiteX31" fmla="*/ 89592 w 348741"/>
                  <a:gd name="connsiteY31" fmla="*/ 284806 h 348741"/>
                  <a:gd name="connsiteX32" fmla="*/ 97898 w 348741"/>
                  <a:gd name="connsiteY32" fmla="*/ 276500 h 348741"/>
                  <a:gd name="connsiteX33" fmla="*/ 145309 w 348741"/>
                  <a:gd name="connsiteY33" fmla="*/ 290618 h 348741"/>
                  <a:gd name="connsiteX34" fmla="*/ 230739 w 348741"/>
                  <a:gd name="connsiteY34" fmla="*/ 220870 h 348741"/>
                  <a:gd name="connsiteX35" fmla="*/ 290618 w 348741"/>
                  <a:gd name="connsiteY35" fmla="*/ 104622 h 348741"/>
                  <a:gd name="connsiteX36" fmla="*/ 319680 w 348741"/>
                  <a:gd name="connsiteY36" fmla="*/ 104622 h 348741"/>
                  <a:gd name="connsiteX37" fmla="*/ 337117 w 348741"/>
                  <a:gd name="connsiteY37" fmla="*/ 122060 h 348741"/>
                  <a:gd name="connsiteX38" fmla="*/ 337117 w 348741"/>
                  <a:gd name="connsiteY38" fmla="*/ 191808 h 348741"/>
                  <a:gd name="connsiteX39" fmla="*/ 319680 w 348741"/>
                  <a:gd name="connsiteY39" fmla="*/ 209245 h 348741"/>
                  <a:gd name="connsiteX40" fmla="*/ 306294 w 348741"/>
                  <a:gd name="connsiteY40" fmla="*/ 209245 h 348741"/>
                  <a:gd name="connsiteX41" fmla="*/ 278993 w 348741"/>
                  <a:gd name="connsiteY41" fmla="*/ 227449 h 348741"/>
                  <a:gd name="connsiteX42" fmla="*/ 278993 w 348741"/>
                  <a:gd name="connsiteY42" fmla="*/ 209245 h 348741"/>
                  <a:gd name="connsiteX43" fmla="*/ 232198 w 348741"/>
                  <a:gd name="connsiteY43" fmla="*/ 209245 h 348741"/>
                  <a:gd name="connsiteX44" fmla="*/ 232494 w 348741"/>
                  <a:gd name="connsiteY44" fmla="*/ 203433 h 348741"/>
                  <a:gd name="connsiteX45" fmla="*/ 232198 w 348741"/>
                  <a:gd name="connsiteY45" fmla="*/ 197620 h 348741"/>
                  <a:gd name="connsiteX46" fmla="*/ 313867 w 348741"/>
                  <a:gd name="connsiteY46" fmla="*/ 197620 h 348741"/>
                  <a:gd name="connsiteX47" fmla="*/ 313867 w 348741"/>
                  <a:gd name="connsiteY47" fmla="*/ 185996 h 348741"/>
                  <a:gd name="connsiteX48" fmla="*/ 277226 w 348741"/>
                  <a:gd name="connsiteY48" fmla="*/ 132039 h 348741"/>
                  <a:gd name="connsiteX49" fmla="*/ 290618 w 348741"/>
                  <a:gd name="connsiteY49" fmla="*/ 104622 h 348741"/>
                  <a:gd name="connsiteX50" fmla="*/ 272739 w 348741"/>
                  <a:gd name="connsiteY50" fmla="*/ 185996 h 348741"/>
                  <a:gd name="connsiteX51" fmla="*/ 269188 w 348741"/>
                  <a:gd name="connsiteY51" fmla="*/ 141496 h 348741"/>
                  <a:gd name="connsiteX52" fmla="*/ 302243 w 348741"/>
                  <a:gd name="connsiteY52" fmla="*/ 185996 h 348741"/>
                  <a:gd name="connsiteX53" fmla="*/ 257365 w 348741"/>
                  <a:gd name="connsiteY53" fmla="*/ 139578 h 348741"/>
                  <a:gd name="connsiteX54" fmla="*/ 261074 w 348741"/>
                  <a:gd name="connsiteY54" fmla="*/ 185996 h 348741"/>
                  <a:gd name="connsiteX55" fmla="*/ 250414 w 348741"/>
                  <a:gd name="connsiteY55" fmla="*/ 185996 h 348741"/>
                  <a:gd name="connsiteX56" fmla="*/ 254116 w 348741"/>
                  <a:gd name="connsiteY56" fmla="*/ 139595 h 348741"/>
                  <a:gd name="connsiteX57" fmla="*/ 255744 w 348741"/>
                  <a:gd name="connsiteY57" fmla="*/ 139497 h 348741"/>
                  <a:gd name="connsiteX58" fmla="*/ 257365 w 348741"/>
                  <a:gd name="connsiteY58" fmla="*/ 139578 h 348741"/>
                  <a:gd name="connsiteX59" fmla="*/ 238748 w 348741"/>
                  <a:gd name="connsiteY59" fmla="*/ 185996 h 348741"/>
                  <a:gd name="connsiteX60" fmla="*/ 230733 w 348741"/>
                  <a:gd name="connsiteY60" fmla="*/ 185996 h 348741"/>
                  <a:gd name="connsiteX61" fmla="*/ 219196 w 348741"/>
                  <a:gd name="connsiteY61" fmla="*/ 157375 h 348741"/>
                  <a:gd name="connsiteX62" fmla="*/ 242294 w 348741"/>
                  <a:gd name="connsiteY62" fmla="*/ 141566 h 348741"/>
                  <a:gd name="connsiteX63" fmla="*/ 255744 w 348741"/>
                  <a:gd name="connsiteY63" fmla="*/ 81373 h 348741"/>
                  <a:gd name="connsiteX64" fmla="*/ 278993 w 348741"/>
                  <a:gd name="connsiteY64" fmla="*/ 104622 h 348741"/>
                  <a:gd name="connsiteX65" fmla="*/ 255744 w 348741"/>
                  <a:gd name="connsiteY65" fmla="*/ 127872 h 348741"/>
                  <a:gd name="connsiteX66" fmla="*/ 232494 w 348741"/>
                  <a:gd name="connsiteY66" fmla="*/ 104622 h 348741"/>
                  <a:gd name="connsiteX67" fmla="*/ 255744 w 348741"/>
                  <a:gd name="connsiteY67" fmla="*/ 81373 h 348741"/>
                  <a:gd name="connsiteX68" fmla="*/ 220870 w 348741"/>
                  <a:gd name="connsiteY68" fmla="*/ 104622 h 348741"/>
                  <a:gd name="connsiteX69" fmla="*/ 234244 w 348741"/>
                  <a:gd name="connsiteY69" fmla="*/ 132028 h 348741"/>
                  <a:gd name="connsiteX70" fmla="*/ 212157 w 348741"/>
                  <a:gd name="connsiteY70" fmla="*/ 147564 h 348741"/>
                  <a:gd name="connsiteX71" fmla="*/ 174441 w 348741"/>
                  <a:gd name="connsiteY71" fmla="*/ 121362 h 348741"/>
                  <a:gd name="connsiteX72" fmla="*/ 191808 w 348741"/>
                  <a:gd name="connsiteY72" fmla="*/ 104622 h 348741"/>
                  <a:gd name="connsiteX73" fmla="*/ 127872 w 348741"/>
                  <a:gd name="connsiteY73" fmla="*/ 34874 h 348741"/>
                  <a:gd name="connsiteX74" fmla="*/ 156934 w 348741"/>
                  <a:gd name="connsiteY74" fmla="*/ 34874 h 348741"/>
                  <a:gd name="connsiteX75" fmla="*/ 174371 w 348741"/>
                  <a:gd name="connsiteY75" fmla="*/ 52311 h 348741"/>
                  <a:gd name="connsiteX76" fmla="*/ 174371 w 348741"/>
                  <a:gd name="connsiteY76" fmla="*/ 98961 h 348741"/>
                  <a:gd name="connsiteX77" fmla="*/ 163147 w 348741"/>
                  <a:gd name="connsiteY77" fmla="*/ 118101 h 348741"/>
                  <a:gd name="connsiteX78" fmla="*/ 151121 w 348741"/>
                  <a:gd name="connsiteY78" fmla="*/ 116549 h 348741"/>
                  <a:gd name="connsiteX79" fmla="*/ 151121 w 348741"/>
                  <a:gd name="connsiteY79" fmla="*/ 116247 h 348741"/>
                  <a:gd name="connsiteX80" fmla="*/ 114480 w 348741"/>
                  <a:gd name="connsiteY80" fmla="*/ 62291 h 348741"/>
                  <a:gd name="connsiteX81" fmla="*/ 127872 w 348741"/>
                  <a:gd name="connsiteY81" fmla="*/ 34874 h 348741"/>
                  <a:gd name="connsiteX82" fmla="*/ 46499 w 348741"/>
                  <a:gd name="connsiteY82" fmla="*/ 116247 h 348741"/>
                  <a:gd name="connsiteX83" fmla="*/ 79560 w 348741"/>
                  <a:gd name="connsiteY83" fmla="*/ 71748 h 348741"/>
                  <a:gd name="connsiteX84" fmla="*/ 76002 w 348741"/>
                  <a:gd name="connsiteY84" fmla="*/ 116247 h 348741"/>
                  <a:gd name="connsiteX85" fmla="*/ 91376 w 348741"/>
                  <a:gd name="connsiteY85" fmla="*/ 69830 h 348741"/>
                  <a:gd name="connsiteX86" fmla="*/ 92998 w 348741"/>
                  <a:gd name="connsiteY86" fmla="*/ 69748 h 348741"/>
                  <a:gd name="connsiteX87" fmla="*/ 94619 w 348741"/>
                  <a:gd name="connsiteY87" fmla="*/ 69830 h 348741"/>
                  <a:gd name="connsiteX88" fmla="*/ 98328 w 348741"/>
                  <a:gd name="connsiteY88" fmla="*/ 116247 h 348741"/>
                  <a:gd name="connsiteX89" fmla="*/ 87668 w 348741"/>
                  <a:gd name="connsiteY89" fmla="*/ 116247 h 348741"/>
                  <a:gd name="connsiteX90" fmla="*/ 106436 w 348741"/>
                  <a:gd name="connsiteY90" fmla="*/ 71748 h 348741"/>
                  <a:gd name="connsiteX91" fmla="*/ 139497 w 348741"/>
                  <a:gd name="connsiteY91" fmla="*/ 116247 h 348741"/>
                  <a:gd name="connsiteX92" fmla="*/ 109993 w 348741"/>
                  <a:gd name="connsiteY92" fmla="*/ 116247 h 348741"/>
                  <a:gd name="connsiteX93" fmla="*/ 92998 w 348741"/>
                  <a:gd name="connsiteY93" fmla="*/ 11625 h 348741"/>
                  <a:gd name="connsiteX94" fmla="*/ 116247 w 348741"/>
                  <a:gd name="connsiteY94" fmla="*/ 34874 h 348741"/>
                  <a:gd name="connsiteX95" fmla="*/ 92998 w 348741"/>
                  <a:gd name="connsiteY95" fmla="*/ 58124 h 348741"/>
                  <a:gd name="connsiteX96" fmla="*/ 69748 w 348741"/>
                  <a:gd name="connsiteY96" fmla="*/ 34874 h 348741"/>
                  <a:gd name="connsiteX97" fmla="*/ 92998 w 348741"/>
                  <a:gd name="connsiteY97" fmla="*/ 11625 h 348741"/>
                  <a:gd name="connsiteX98" fmla="*/ 11625 w 348741"/>
                  <a:gd name="connsiteY98" fmla="*/ 122060 h 348741"/>
                  <a:gd name="connsiteX99" fmla="*/ 11625 w 348741"/>
                  <a:gd name="connsiteY99" fmla="*/ 52311 h 348741"/>
                  <a:gd name="connsiteX100" fmla="*/ 29062 w 348741"/>
                  <a:gd name="connsiteY100" fmla="*/ 34874 h 348741"/>
                  <a:gd name="connsiteX101" fmla="*/ 58124 w 348741"/>
                  <a:gd name="connsiteY101" fmla="*/ 34874 h 348741"/>
                  <a:gd name="connsiteX102" fmla="*/ 71515 w 348741"/>
                  <a:gd name="connsiteY102" fmla="*/ 62291 h 348741"/>
                  <a:gd name="connsiteX103" fmla="*/ 34874 w 348741"/>
                  <a:gd name="connsiteY103" fmla="*/ 116247 h 348741"/>
                  <a:gd name="connsiteX104" fmla="*/ 34874 w 348741"/>
                  <a:gd name="connsiteY104" fmla="*/ 127872 h 348741"/>
                  <a:gd name="connsiteX105" fmla="*/ 102001 w 348741"/>
                  <a:gd name="connsiteY105" fmla="*/ 127872 h 348741"/>
                  <a:gd name="connsiteX106" fmla="*/ 86238 w 348741"/>
                  <a:gd name="connsiteY106" fmla="*/ 139497 h 348741"/>
                  <a:gd name="connsiteX107" fmla="*/ 29062 w 348741"/>
                  <a:gd name="connsiteY107" fmla="*/ 139497 h 348741"/>
                  <a:gd name="connsiteX108" fmla="*/ 11625 w 348741"/>
                  <a:gd name="connsiteY108" fmla="*/ 122060 h 348741"/>
                  <a:gd name="connsiteX109" fmla="*/ 36786 w 348741"/>
                  <a:gd name="connsiteY109" fmla="*/ 332804 h 348741"/>
                  <a:gd name="connsiteX110" fmla="*/ 26365 w 348741"/>
                  <a:gd name="connsiteY110" fmla="*/ 337117 h 348741"/>
                  <a:gd name="connsiteX111" fmla="*/ 11625 w 348741"/>
                  <a:gd name="connsiteY111" fmla="*/ 322383 h 348741"/>
                  <a:gd name="connsiteX112" fmla="*/ 15943 w 348741"/>
                  <a:gd name="connsiteY112" fmla="*/ 311961 h 348741"/>
                  <a:gd name="connsiteX113" fmla="*/ 58124 w 348741"/>
                  <a:gd name="connsiteY113" fmla="*/ 269775 h 348741"/>
                  <a:gd name="connsiteX114" fmla="*/ 78967 w 348741"/>
                  <a:gd name="connsiteY114" fmla="*/ 290618 h 348741"/>
                  <a:gd name="connsiteX115" fmla="*/ 81373 w 348741"/>
                  <a:gd name="connsiteY115" fmla="*/ 276587 h 348741"/>
                  <a:gd name="connsiteX116" fmla="*/ 72155 w 348741"/>
                  <a:gd name="connsiteY116" fmla="*/ 267369 h 348741"/>
                  <a:gd name="connsiteX117" fmla="*/ 79298 w 348741"/>
                  <a:gd name="connsiteY117" fmla="*/ 260225 h 348741"/>
                  <a:gd name="connsiteX118" fmla="*/ 88516 w 348741"/>
                  <a:gd name="connsiteY118" fmla="*/ 269444 h 348741"/>
                  <a:gd name="connsiteX119" fmla="*/ 145309 w 348741"/>
                  <a:gd name="connsiteY119" fmla="*/ 278993 h 348741"/>
                  <a:gd name="connsiteX120" fmla="*/ 69748 w 348741"/>
                  <a:gd name="connsiteY120" fmla="*/ 203433 h 348741"/>
                  <a:gd name="connsiteX121" fmla="*/ 145309 w 348741"/>
                  <a:gd name="connsiteY121" fmla="*/ 127872 h 348741"/>
                  <a:gd name="connsiteX122" fmla="*/ 220870 w 348741"/>
                  <a:gd name="connsiteY122" fmla="*/ 203433 h 348741"/>
                  <a:gd name="connsiteX123" fmla="*/ 145309 w 348741"/>
                  <a:gd name="connsiteY123" fmla="*/ 278993 h 34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348741" h="348741">
                    <a:moveTo>
                      <a:pt x="267369" y="220870"/>
                    </a:moveTo>
                    <a:lnTo>
                      <a:pt x="267369" y="249164"/>
                    </a:lnTo>
                    <a:lnTo>
                      <a:pt x="309816" y="220870"/>
                    </a:lnTo>
                    <a:lnTo>
                      <a:pt x="319680" y="220870"/>
                    </a:lnTo>
                    <a:cubicBezTo>
                      <a:pt x="335704" y="220870"/>
                      <a:pt x="348742" y="207833"/>
                      <a:pt x="348742" y="191808"/>
                    </a:cubicBezTo>
                    <a:lnTo>
                      <a:pt x="348742" y="122060"/>
                    </a:lnTo>
                    <a:cubicBezTo>
                      <a:pt x="348742" y="106035"/>
                      <a:pt x="335704" y="92998"/>
                      <a:pt x="319680" y="92998"/>
                    </a:cubicBezTo>
                    <a:lnTo>
                      <a:pt x="288584" y="92998"/>
                    </a:lnTo>
                    <a:cubicBezTo>
                      <a:pt x="283783" y="79472"/>
                      <a:pt x="270897" y="69748"/>
                      <a:pt x="255744" y="69748"/>
                    </a:cubicBezTo>
                    <a:cubicBezTo>
                      <a:pt x="240591" y="69748"/>
                      <a:pt x="227705" y="79472"/>
                      <a:pt x="222904" y="92998"/>
                    </a:cubicBezTo>
                    <a:lnTo>
                      <a:pt x="191808" y="92998"/>
                    </a:lnTo>
                    <a:cubicBezTo>
                      <a:pt x="189820" y="92998"/>
                      <a:pt x="187873" y="93201"/>
                      <a:pt x="185996" y="93585"/>
                    </a:cubicBezTo>
                    <a:lnTo>
                      <a:pt x="185996" y="52311"/>
                    </a:lnTo>
                    <a:cubicBezTo>
                      <a:pt x="185996" y="36287"/>
                      <a:pt x="172958" y="23249"/>
                      <a:pt x="156934" y="23249"/>
                    </a:cubicBezTo>
                    <a:lnTo>
                      <a:pt x="125838" y="23249"/>
                    </a:lnTo>
                    <a:cubicBezTo>
                      <a:pt x="121037" y="9724"/>
                      <a:pt x="108151" y="0"/>
                      <a:pt x="92998" y="0"/>
                    </a:cubicBezTo>
                    <a:cubicBezTo>
                      <a:pt x="77845" y="0"/>
                      <a:pt x="64959" y="9724"/>
                      <a:pt x="60158" y="23249"/>
                    </a:cubicBezTo>
                    <a:lnTo>
                      <a:pt x="29062" y="23249"/>
                    </a:lnTo>
                    <a:cubicBezTo>
                      <a:pt x="13037" y="23249"/>
                      <a:pt x="0" y="36287"/>
                      <a:pt x="0" y="52311"/>
                    </a:cubicBezTo>
                    <a:lnTo>
                      <a:pt x="0" y="122060"/>
                    </a:lnTo>
                    <a:cubicBezTo>
                      <a:pt x="0" y="138084"/>
                      <a:pt x="13037" y="151121"/>
                      <a:pt x="29062" y="151121"/>
                    </a:cubicBezTo>
                    <a:lnTo>
                      <a:pt x="75723" y="151121"/>
                    </a:lnTo>
                    <a:cubicBezTo>
                      <a:pt x="64726" y="165710"/>
                      <a:pt x="58124" y="183793"/>
                      <a:pt x="58124" y="203433"/>
                    </a:cubicBezTo>
                    <a:cubicBezTo>
                      <a:pt x="58124" y="220916"/>
                      <a:pt x="63343" y="237179"/>
                      <a:pt x="72242" y="250844"/>
                    </a:cubicBezTo>
                    <a:lnTo>
                      <a:pt x="63936" y="259150"/>
                    </a:lnTo>
                    <a:lnTo>
                      <a:pt x="58124" y="253337"/>
                    </a:lnTo>
                    <a:lnTo>
                      <a:pt x="7725" y="303742"/>
                    </a:lnTo>
                    <a:cubicBezTo>
                      <a:pt x="2743" y="308718"/>
                      <a:pt x="0" y="315344"/>
                      <a:pt x="0" y="322383"/>
                    </a:cubicBezTo>
                    <a:cubicBezTo>
                      <a:pt x="0" y="336919"/>
                      <a:pt x="11828" y="348742"/>
                      <a:pt x="26365" y="348742"/>
                    </a:cubicBezTo>
                    <a:cubicBezTo>
                      <a:pt x="33409" y="348742"/>
                      <a:pt x="40030" y="345998"/>
                      <a:pt x="45005" y="341023"/>
                    </a:cubicBezTo>
                    <a:lnTo>
                      <a:pt x="95404" y="290618"/>
                    </a:lnTo>
                    <a:lnTo>
                      <a:pt x="89592" y="284806"/>
                    </a:lnTo>
                    <a:lnTo>
                      <a:pt x="97898" y="276500"/>
                    </a:lnTo>
                    <a:cubicBezTo>
                      <a:pt x="111562" y="285398"/>
                      <a:pt x="127825" y="290618"/>
                      <a:pt x="145309" y="290618"/>
                    </a:cubicBezTo>
                    <a:cubicBezTo>
                      <a:pt x="187414" y="290618"/>
                      <a:pt x="222637" y="260620"/>
                      <a:pt x="230739" y="220870"/>
                    </a:cubicBezTo>
                    <a:close/>
                    <a:moveTo>
                      <a:pt x="290618" y="104622"/>
                    </a:moveTo>
                    <a:lnTo>
                      <a:pt x="319680" y="104622"/>
                    </a:lnTo>
                    <a:cubicBezTo>
                      <a:pt x="329293" y="104622"/>
                      <a:pt x="337117" y="112446"/>
                      <a:pt x="337117" y="122060"/>
                    </a:cubicBezTo>
                    <a:lnTo>
                      <a:pt x="337117" y="191808"/>
                    </a:lnTo>
                    <a:cubicBezTo>
                      <a:pt x="337117" y="201422"/>
                      <a:pt x="329293" y="209245"/>
                      <a:pt x="319680" y="209245"/>
                    </a:cubicBezTo>
                    <a:lnTo>
                      <a:pt x="306294" y="209245"/>
                    </a:lnTo>
                    <a:lnTo>
                      <a:pt x="278993" y="227449"/>
                    </a:lnTo>
                    <a:lnTo>
                      <a:pt x="278993" y="209245"/>
                    </a:lnTo>
                    <a:lnTo>
                      <a:pt x="232198" y="209245"/>
                    </a:lnTo>
                    <a:cubicBezTo>
                      <a:pt x="232326" y="207315"/>
                      <a:pt x="232494" y="205397"/>
                      <a:pt x="232494" y="203433"/>
                    </a:cubicBezTo>
                    <a:cubicBezTo>
                      <a:pt x="232494" y="201468"/>
                      <a:pt x="232326" y="199550"/>
                      <a:pt x="232198" y="197620"/>
                    </a:cubicBezTo>
                    <a:lnTo>
                      <a:pt x="313867" y="197620"/>
                    </a:lnTo>
                    <a:lnTo>
                      <a:pt x="313867" y="185996"/>
                    </a:lnTo>
                    <a:cubicBezTo>
                      <a:pt x="313867" y="161543"/>
                      <a:pt x="298662" y="140607"/>
                      <a:pt x="277226" y="132039"/>
                    </a:cubicBezTo>
                    <a:cubicBezTo>
                      <a:pt x="285364" y="125646"/>
                      <a:pt x="290618" y="115747"/>
                      <a:pt x="290618" y="104622"/>
                    </a:cubicBezTo>
                    <a:close/>
                    <a:moveTo>
                      <a:pt x="272739" y="185996"/>
                    </a:moveTo>
                    <a:lnTo>
                      <a:pt x="269188" y="141496"/>
                    </a:lnTo>
                    <a:cubicBezTo>
                      <a:pt x="288287" y="147279"/>
                      <a:pt x="302243" y="165030"/>
                      <a:pt x="302243" y="185996"/>
                    </a:cubicBezTo>
                    <a:close/>
                    <a:moveTo>
                      <a:pt x="257365" y="139578"/>
                    </a:moveTo>
                    <a:lnTo>
                      <a:pt x="261074" y="185996"/>
                    </a:lnTo>
                    <a:lnTo>
                      <a:pt x="250414" y="185996"/>
                    </a:lnTo>
                    <a:lnTo>
                      <a:pt x="254116" y="139595"/>
                    </a:lnTo>
                    <a:cubicBezTo>
                      <a:pt x="254663" y="139578"/>
                      <a:pt x="255197" y="139497"/>
                      <a:pt x="255744" y="139497"/>
                    </a:cubicBezTo>
                    <a:cubicBezTo>
                      <a:pt x="256290" y="139497"/>
                      <a:pt x="256825" y="139561"/>
                      <a:pt x="257365" y="139578"/>
                    </a:cubicBezTo>
                    <a:close/>
                    <a:moveTo>
                      <a:pt x="238748" y="185996"/>
                    </a:moveTo>
                    <a:lnTo>
                      <a:pt x="230733" y="185996"/>
                    </a:lnTo>
                    <a:cubicBezTo>
                      <a:pt x="228629" y="175661"/>
                      <a:pt x="224613" y="166036"/>
                      <a:pt x="219196" y="157375"/>
                    </a:cubicBezTo>
                    <a:cubicBezTo>
                      <a:pt x="225153" y="149773"/>
                      <a:pt x="233221" y="144309"/>
                      <a:pt x="242294" y="141566"/>
                    </a:cubicBezTo>
                    <a:close/>
                    <a:moveTo>
                      <a:pt x="255744" y="81373"/>
                    </a:moveTo>
                    <a:cubicBezTo>
                      <a:pt x="268566" y="81373"/>
                      <a:pt x="278993" y="91800"/>
                      <a:pt x="278993" y="104622"/>
                    </a:cubicBezTo>
                    <a:cubicBezTo>
                      <a:pt x="278993" y="117445"/>
                      <a:pt x="268566" y="127872"/>
                      <a:pt x="255744" y="127872"/>
                    </a:cubicBezTo>
                    <a:cubicBezTo>
                      <a:pt x="242922" y="127872"/>
                      <a:pt x="232494" y="117445"/>
                      <a:pt x="232494" y="104622"/>
                    </a:cubicBezTo>
                    <a:cubicBezTo>
                      <a:pt x="232494" y="91800"/>
                      <a:pt x="242922" y="81373"/>
                      <a:pt x="255744" y="81373"/>
                    </a:cubicBezTo>
                    <a:close/>
                    <a:moveTo>
                      <a:pt x="220870" y="104622"/>
                    </a:moveTo>
                    <a:cubicBezTo>
                      <a:pt x="220870" y="115742"/>
                      <a:pt x="226118" y="125634"/>
                      <a:pt x="234244" y="132028"/>
                    </a:cubicBezTo>
                    <a:cubicBezTo>
                      <a:pt x="225828" y="135381"/>
                      <a:pt x="218242" y="140659"/>
                      <a:pt x="212157" y="147564"/>
                    </a:cubicBezTo>
                    <a:cubicBezTo>
                      <a:pt x="202253" y="135736"/>
                      <a:pt x="189250" y="126634"/>
                      <a:pt x="174441" y="121362"/>
                    </a:cubicBezTo>
                    <a:cubicBezTo>
                      <a:pt x="174818" y="112074"/>
                      <a:pt x="182433" y="104622"/>
                      <a:pt x="191808" y="104622"/>
                    </a:cubicBezTo>
                    <a:close/>
                    <a:moveTo>
                      <a:pt x="127872" y="34874"/>
                    </a:moveTo>
                    <a:lnTo>
                      <a:pt x="156934" y="34874"/>
                    </a:lnTo>
                    <a:cubicBezTo>
                      <a:pt x="166547" y="34874"/>
                      <a:pt x="174371" y="42698"/>
                      <a:pt x="174371" y="52311"/>
                    </a:cubicBezTo>
                    <a:lnTo>
                      <a:pt x="174371" y="98961"/>
                    </a:lnTo>
                    <a:cubicBezTo>
                      <a:pt x="168361" y="103512"/>
                      <a:pt x="164228" y="110290"/>
                      <a:pt x="163147" y="118101"/>
                    </a:cubicBezTo>
                    <a:cubicBezTo>
                      <a:pt x="159235" y="117282"/>
                      <a:pt x="155207" y="116817"/>
                      <a:pt x="151121" y="116549"/>
                    </a:cubicBezTo>
                    <a:lnTo>
                      <a:pt x="151121" y="116247"/>
                    </a:lnTo>
                    <a:cubicBezTo>
                      <a:pt x="151121" y="91795"/>
                      <a:pt x="135916" y="70858"/>
                      <a:pt x="114480" y="62291"/>
                    </a:cubicBezTo>
                    <a:cubicBezTo>
                      <a:pt x="122618" y="55897"/>
                      <a:pt x="127872" y="45999"/>
                      <a:pt x="127872" y="34874"/>
                    </a:cubicBezTo>
                    <a:close/>
                    <a:moveTo>
                      <a:pt x="46499" y="116247"/>
                    </a:moveTo>
                    <a:cubicBezTo>
                      <a:pt x="46499" y="95282"/>
                      <a:pt x="60454" y="77531"/>
                      <a:pt x="79560" y="71748"/>
                    </a:cubicBezTo>
                    <a:lnTo>
                      <a:pt x="76002" y="116247"/>
                    </a:lnTo>
                    <a:close/>
                    <a:moveTo>
                      <a:pt x="91376" y="69830"/>
                    </a:moveTo>
                    <a:cubicBezTo>
                      <a:pt x="91917" y="69812"/>
                      <a:pt x="92451" y="69748"/>
                      <a:pt x="92998" y="69748"/>
                    </a:cubicBezTo>
                    <a:cubicBezTo>
                      <a:pt x="93544" y="69748"/>
                      <a:pt x="94079" y="69812"/>
                      <a:pt x="94619" y="69830"/>
                    </a:cubicBezTo>
                    <a:lnTo>
                      <a:pt x="98328" y="116247"/>
                    </a:lnTo>
                    <a:lnTo>
                      <a:pt x="87668" y="116247"/>
                    </a:lnTo>
                    <a:close/>
                    <a:moveTo>
                      <a:pt x="106436" y="71748"/>
                    </a:moveTo>
                    <a:cubicBezTo>
                      <a:pt x="125541" y="77531"/>
                      <a:pt x="139497" y="95282"/>
                      <a:pt x="139497" y="116247"/>
                    </a:cubicBezTo>
                    <a:lnTo>
                      <a:pt x="109993" y="116247"/>
                    </a:lnTo>
                    <a:close/>
                    <a:moveTo>
                      <a:pt x="92998" y="11625"/>
                    </a:moveTo>
                    <a:cubicBezTo>
                      <a:pt x="105820" y="11625"/>
                      <a:pt x="116247" y="22052"/>
                      <a:pt x="116247" y="34874"/>
                    </a:cubicBezTo>
                    <a:cubicBezTo>
                      <a:pt x="116247" y="47696"/>
                      <a:pt x="105820" y="58124"/>
                      <a:pt x="92998" y="58124"/>
                    </a:cubicBezTo>
                    <a:cubicBezTo>
                      <a:pt x="80176" y="58124"/>
                      <a:pt x="69748" y="47696"/>
                      <a:pt x="69748" y="34874"/>
                    </a:cubicBezTo>
                    <a:cubicBezTo>
                      <a:pt x="69748" y="22052"/>
                      <a:pt x="80176" y="11625"/>
                      <a:pt x="92998" y="11625"/>
                    </a:cubicBezTo>
                    <a:close/>
                    <a:moveTo>
                      <a:pt x="11625" y="122060"/>
                    </a:moveTo>
                    <a:lnTo>
                      <a:pt x="11625" y="52311"/>
                    </a:lnTo>
                    <a:cubicBezTo>
                      <a:pt x="11625" y="42698"/>
                      <a:pt x="19448" y="34874"/>
                      <a:pt x="29062" y="34874"/>
                    </a:cubicBezTo>
                    <a:lnTo>
                      <a:pt x="58124" y="34874"/>
                    </a:lnTo>
                    <a:cubicBezTo>
                      <a:pt x="58124" y="45999"/>
                      <a:pt x="63378" y="55897"/>
                      <a:pt x="71515" y="62291"/>
                    </a:cubicBezTo>
                    <a:cubicBezTo>
                      <a:pt x="50079" y="70858"/>
                      <a:pt x="34874" y="91795"/>
                      <a:pt x="34874" y="116247"/>
                    </a:cubicBezTo>
                    <a:lnTo>
                      <a:pt x="34874" y="127872"/>
                    </a:lnTo>
                    <a:lnTo>
                      <a:pt x="102001" y="127872"/>
                    </a:lnTo>
                    <a:cubicBezTo>
                      <a:pt x="96305" y="131150"/>
                      <a:pt x="91033" y="135062"/>
                      <a:pt x="86238" y="139497"/>
                    </a:cubicBezTo>
                    <a:lnTo>
                      <a:pt x="29062" y="139497"/>
                    </a:lnTo>
                    <a:cubicBezTo>
                      <a:pt x="19448" y="139497"/>
                      <a:pt x="11625" y="131673"/>
                      <a:pt x="11625" y="122060"/>
                    </a:cubicBezTo>
                    <a:close/>
                    <a:moveTo>
                      <a:pt x="36786" y="332804"/>
                    </a:moveTo>
                    <a:cubicBezTo>
                      <a:pt x="34002" y="335582"/>
                      <a:pt x="30300" y="337117"/>
                      <a:pt x="26365" y="337117"/>
                    </a:cubicBezTo>
                    <a:cubicBezTo>
                      <a:pt x="18239" y="337117"/>
                      <a:pt x="11625" y="330502"/>
                      <a:pt x="11625" y="322383"/>
                    </a:cubicBezTo>
                    <a:cubicBezTo>
                      <a:pt x="11625" y="318448"/>
                      <a:pt x="13159" y="314751"/>
                      <a:pt x="15943" y="311961"/>
                    </a:cubicBezTo>
                    <a:lnTo>
                      <a:pt x="58124" y="269775"/>
                    </a:lnTo>
                    <a:lnTo>
                      <a:pt x="78967" y="290618"/>
                    </a:lnTo>
                    <a:close/>
                    <a:moveTo>
                      <a:pt x="81373" y="276587"/>
                    </a:moveTo>
                    <a:lnTo>
                      <a:pt x="72155" y="267369"/>
                    </a:lnTo>
                    <a:lnTo>
                      <a:pt x="79298" y="260225"/>
                    </a:lnTo>
                    <a:cubicBezTo>
                      <a:pt x="82140" y="263521"/>
                      <a:pt x="85221" y="266601"/>
                      <a:pt x="88516" y="269444"/>
                    </a:cubicBezTo>
                    <a:close/>
                    <a:moveTo>
                      <a:pt x="145309" y="278993"/>
                    </a:moveTo>
                    <a:cubicBezTo>
                      <a:pt x="103646" y="278993"/>
                      <a:pt x="69748" y="245096"/>
                      <a:pt x="69748" y="203433"/>
                    </a:cubicBezTo>
                    <a:cubicBezTo>
                      <a:pt x="69748" y="161770"/>
                      <a:pt x="103646" y="127872"/>
                      <a:pt x="145309" y="127872"/>
                    </a:cubicBezTo>
                    <a:cubicBezTo>
                      <a:pt x="186972" y="127872"/>
                      <a:pt x="220870" y="161770"/>
                      <a:pt x="220870" y="203433"/>
                    </a:cubicBezTo>
                    <a:cubicBezTo>
                      <a:pt x="220870" y="245096"/>
                      <a:pt x="186972" y="278993"/>
                      <a:pt x="145309" y="278993"/>
                    </a:cubicBez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60" name="Freeform: Shape 59">
                <a:extLst>
                  <a:ext uri="{FF2B5EF4-FFF2-40B4-BE49-F238E27FC236}">
                    <a16:creationId xmlns:a16="http://schemas.microsoft.com/office/drawing/2014/main" id="{320F357B-F9EE-C66F-F2F3-73316DB899B6}"/>
                  </a:ext>
                </a:extLst>
              </p:cNvPr>
              <p:cNvSpPr/>
              <p:nvPr/>
            </p:nvSpPr>
            <p:spPr>
              <a:xfrm>
                <a:off x="4612687" y="3504561"/>
                <a:ext cx="139496" cy="104622"/>
              </a:xfrm>
              <a:custGeom>
                <a:avLst/>
                <a:gdLst>
                  <a:gd name="connsiteX0" fmla="*/ 122060 w 139496"/>
                  <a:gd name="connsiteY0" fmla="*/ 0 h 104622"/>
                  <a:gd name="connsiteX1" fmla="*/ 17437 w 139496"/>
                  <a:gd name="connsiteY1" fmla="*/ 0 h 104622"/>
                  <a:gd name="connsiteX2" fmla="*/ 0 w 139496"/>
                  <a:gd name="connsiteY2" fmla="*/ 17437 h 104622"/>
                  <a:gd name="connsiteX3" fmla="*/ 0 w 139496"/>
                  <a:gd name="connsiteY3" fmla="*/ 87185 h 104622"/>
                  <a:gd name="connsiteX4" fmla="*/ 17437 w 139496"/>
                  <a:gd name="connsiteY4" fmla="*/ 104622 h 104622"/>
                  <a:gd name="connsiteX5" fmla="*/ 122060 w 139496"/>
                  <a:gd name="connsiteY5" fmla="*/ 104622 h 104622"/>
                  <a:gd name="connsiteX6" fmla="*/ 139497 w 139496"/>
                  <a:gd name="connsiteY6" fmla="*/ 87185 h 104622"/>
                  <a:gd name="connsiteX7" fmla="*/ 139497 w 139496"/>
                  <a:gd name="connsiteY7" fmla="*/ 17437 h 104622"/>
                  <a:gd name="connsiteX8" fmla="*/ 122060 w 139496"/>
                  <a:gd name="connsiteY8" fmla="*/ 0 h 104622"/>
                  <a:gd name="connsiteX9" fmla="*/ 127872 w 139496"/>
                  <a:gd name="connsiteY9" fmla="*/ 87185 h 104622"/>
                  <a:gd name="connsiteX10" fmla="*/ 122060 w 139496"/>
                  <a:gd name="connsiteY10" fmla="*/ 92998 h 104622"/>
                  <a:gd name="connsiteX11" fmla="*/ 17437 w 139496"/>
                  <a:gd name="connsiteY11" fmla="*/ 92998 h 104622"/>
                  <a:gd name="connsiteX12" fmla="*/ 11625 w 139496"/>
                  <a:gd name="connsiteY12" fmla="*/ 87185 h 104622"/>
                  <a:gd name="connsiteX13" fmla="*/ 11625 w 139496"/>
                  <a:gd name="connsiteY13" fmla="*/ 17437 h 104622"/>
                  <a:gd name="connsiteX14" fmla="*/ 17437 w 139496"/>
                  <a:gd name="connsiteY14" fmla="*/ 11625 h 104622"/>
                  <a:gd name="connsiteX15" fmla="*/ 122060 w 139496"/>
                  <a:gd name="connsiteY15" fmla="*/ 11625 h 104622"/>
                  <a:gd name="connsiteX16" fmla="*/ 127872 w 139496"/>
                  <a:gd name="connsiteY16" fmla="*/ 17437 h 104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496" h="104622">
                    <a:moveTo>
                      <a:pt x="122060" y="0"/>
                    </a:moveTo>
                    <a:lnTo>
                      <a:pt x="17437" y="0"/>
                    </a:lnTo>
                    <a:cubicBezTo>
                      <a:pt x="7823" y="0"/>
                      <a:pt x="0" y="7823"/>
                      <a:pt x="0" y="17437"/>
                    </a:cubicBezTo>
                    <a:lnTo>
                      <a:pt x="0" y="87185"/>
                    </a:lnTo>
                    <a:cubicBezTo>
                      <a:pt x="0" y="96799"/>
                      <a:pt x="7823" y="104622"/>
                      <a:pt x="17437" y="104622"/>
                    </a:cubicBezTo>
                    <a:lnTo>
                      <a:pt x="122060" y="104622"/>
                    </a:lnTo>
                    <a:cubicBezTo>
                      <a:pt x="131673" y="104622"/>
                      <a:pt x="139497" y="96799"/>
                      <a:pt x="139497" y="87185"/>
                    </a:cubicBezTo>
                    <a:lnTo>
                      <a:pt x="139497" y="17437"/>
                    </a:lnTo>
                    <a:cubicBezTo>
                      <a:pt x="139497" y="7823"/>
                      <a:pt x="131673" y="0"/>
                      <a:pt x="122060" y="0"/>
                    </a:cubicBezTo>
                    <a:close/>
                    <a:moveTo>
                      <a:pt x="127872" y="87185"/>
                    </a:moveTo>
                    <a:cubicBezTo>
                      <a:pt x="127872" y="90394"/>
                      <a:pt x="125262" y="92998"/>
                      <a:pt x="122060" y="92998"/>
                    </a:cubicBezTo>
                    <a:lnTo>
                      <a:pt x="17437" y="92998"/>
                    </a:lnTo>
                    <a:cubicBezTo>
                      <a:pt x="14234" y="92998"/>
                      <a:pt x="11625" y="90394"/>
                      <a:pt x="11625" y="87185"/>
                    </a:cubicBezTo>
                    <a:lnTo>
                      <a:pt x="11625" y="17437"/>
                    </a:lnTo>
                    <a:cubicBezTo>
                      <a:pt x="11625" y="14229"/>
                      <a:pt x="14234" y="11625"/>
                      <a:pt x="17437" y="11625"/>
                    </a:cubicBezTo>
                    <a:lnTo>
                      <a:pt x="122060" y="11625"/>
                    </a:lnTo>
                    <a:cubicBezTo>
                      <a:pt x="125262" y="11625"/>
                      <a:pt x="127872" y="14229"/>
                      <a:pt x="127872" y="17437"/>
                    </a:cubicBez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61" name="Freeform: Shape 60">
                <a:extLst>
                  <a:ext uri="{FF2B5EF4-FFF2-40B4-BE49-F238E27FC236}">
                    <a16:creationId xmlns:a16="http://schemas.microsoft.com/office/drawing/2014/main" id="{36B1EF9D-FE54-D23F-442B-F43BCAAF01AB}"/>
                  </a:ext>
                </a:extLst>
              </p:cNvPr>
              <p:cNvSpPr/>
              <p:nvPr/>
            </p:nvSpPr>
            <p:spPr>
              <a:xfrm>
                <a:off x="4635936" y="3527810"/>
                <a:ext cx="92997" cy="58123"/>
              </a:xfrm>
              <a:custGeom>
                <a:avLst/>
                <a:gdLst>
                  <a:gd name="connsiteX0" fmla="*/ 81373 w 92997"/>
                  <a:gd name="connsiteY0" fmla="*/ 11625 h 58123"/>
                  <a:gd name="connsiteX1" fmla="*/ 69748 w 92997"/>
                  <a:gd name="connsiteY1" fmla="*/ 11625 h 58123"/>
                  <a:gd name="connsiteX2" fmla="*/ 69748 w 92997"/>
                  <a:gd name="connsiteY2" fmla="*/ 46499 h 58123"/>
                  <a:gd name="connsiteX3" fmla="*/ 58124 w 92997"/>
                  <a:gd name="connsiteY3" fmla="*/ 46499 h 58123"/>
                  <a:gd name="connsiteX4" fmla="*/ 58124 w 92997"/>
                  <a:gd name="connsiteY4" fmla="*/ 23249 h 58123"/>
                  <a:gd name="connsiteX5" fmla="*/ 46499 w 92997"/>
                  <a:gd name="connsiteY5" fmla="*/ 23249 h 58123"/>
                  <a:gd name="connsiteX6" fmla="*/ 46499 w 92997"/>
                  <a:gd name="connsiteY6" fmla="*/ 46499 h 58123"/>
                  <a:gd name="connsiteX7" fmla="*/ 34874 w 92997"/>
                  <a:gd name="connsiteY7" fmla="*/ 46499 h 58123"/>
                  <a:gd name="connsiteX8" fmla="*/ 34874 w 92997"/>
                  <a:gd name="connsiteY8" fmla="*/ 34874 h 58123"/>
                  <a:gd name="connsiteX9" fmla="*/ 23249 w 92997"/>
                  <a:gd name="connsiteY9" fmla="*/ 34874 h 58123"/>
                  <a:gd name="connsiteX10" fmla="*/ 23249 w 92997"/>
                  <a:gd name="connsiteY10" fmla="*/ 46499 h 58123"/>
                  <a:gd name="connsiteX11" fmla="*/ 11625 w 92997"/>
                  <a:gd name="connsiteY11" fmla="*/ 46499 h 58123"/>
                  <a:gd name="connsiteX12" fmla="*/ 11625 w 92997"/>
                  <a:gd name="connsiteY12" fmla="*/ 0 h 58123"/>
                  <a:gd name="connsiteX13" fmla="*/ 0 w 92997"/>
                  <a:gd name="connsiteY13" fmla="*/ 0 h 58123"/>
                  <a:gd name="connsiteX14" fmla="*/ 0 w 92997"/>
                  <a:gd name="connsiteY14" fmla="*/ 58124 h 58123"/>
                  <a:gd name="connsiteX15" fmla="*/ 92998 w 92997"/>
                  <a:gd name="connsiteY15" fmla="*/ 58124 h 58123"/>
                  <a:gd name="connsiteX16" fmla="*/ 92998 w 92997"/>
                  <a:gd name="connsiteY16" fmla="*/ 46499 h 58123"/>
                  <a:gd name="connsiteX17" fmla="*/ 81373 w 92997"/>
                  <a:gd name="connsiteY17" fmla="*/ 46499 h 58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2997" h="58123">
                    <a:moveTo>
                      <a:pt x="81373" y="11625"/>
                    </a:moveTo>
                    <a:lnTo>
                      <a:pt x="69748" y="11625"/>
                    </a:lnTo>
                    <a:lnTo>
                      <a:pt x="69748" y="46499"/>
                    </a:lnTo>
                    <a:lnTo>
                      <a:pt x="58124" y="46499"/>
                    </a:lnTo>
                    <a:lnTo>
                      <a:pt x="58124" y="23249"/>
                    </a:lnTo>
                    <a:lnTo>
                      <a:pt x="46499" y="23249"/>
                    </a:lnTo>
                    <a:lnTo>
                      <a:pt x="46499" y="46499"/>
                    </a:lnTo>
                    <a:lnTo>
                      <a:pt x="34874" y="46499"/>
                    </a:lnTo>
                    <a:lnTo>
                      <a:pt x="34874" y="34874"/>
                    </a:lnTo>
                    <a:lnTo>
                      <a:pt x="23249" y="34874"/>
                    </a:lnTo>
                    <a:lnTo>
                      <a:pt x="23249" y="46499"/>
                    </a:lnTo>
                    <a:lnTo>
                      <a:pt x="11625" y="46499"/>
                    </a:lnTo>
                    <a:lnTo>
                      <a:pt x="11625" y="0"/>
                    </a:lnTo>
                    <a:lnTo>
                      <a:pt x="0" y="0"/>
                    </a:lnTo>
                    <a:lnTo>
                      <a:pt x="0" y="58124"/>
                    </a:lnTo>
                    <a:lnTo>
                      <a:pt x="92998" y="58124"/>
                    </a:lnTo>
                    <a:lnTo>
                      <a:pt x="92998" y="46499"/>
                    </a:lnTo>
                    <a:lnTo>
                      <a:pt x="81373" y="46499"/>
                    </a:ln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62" name="Freeform: Shape 61">
                <a:extLst>
                  <a:ext uri="{FF2B5EF4-FFF2-40B4-BE49-F238E27FC236}">
                    <a16:creationId xmlns:a16="http://schemas.microsoft.com/office/drawing/2014/main" id="{29422017-300C-E347-DCFE-9A884BA23713}"/>
                  </a:ext>
                </a:extLst>
              </p:cNvPr>
              <p:cNvSpPr/>
              <p:nvPr/>
            </p:nvSpPr>
            <p:spPr>
              <a:xfrm>
                <a:off x="4705684" y="3365064"/>
                <a:ext cx="11624" cy="11624"/>
              </a:xfrm>
              <a:custGeom>
                <a:avLst/>
                <a:gdLst>
                  <a:gd name="connsiteX0" fmla="*/ 0 w 11624"/>
                  <a:gd name="connsiteY0" fmla="*/ 0 h 11624"/>
                  <a:gd name="connsiteX1" fmla="*/ 11625 w 11624"/>
                  <a:gd name="connsiteY1" fmla="*/ 0 h 11624"/>
                  <a:gd name="connsiteX2" fmla="*/ 11625 w 11624"/>
                  <a:gd name="connsiteY2" fmla="*/ 11625 h 11624"/>
                  <a:gd name="connsiteX3" fmla="*/ 0 w 11624"/>
                  <a:gd name="connsiteY3" fmla="*/ 11625 h 11624"/>
                </a:gdLst>
                <a:ahLst/>
                <a:cxnLst>
                  <a:cxn ang="0">
                    <a:pos x="connsiteX0" y="connsiteY0"/>
                  </a:cxn>
                  <a:cxn ang="0">
                    <a:pos x="connsiteX1" y="connsiteY1"/>
                  </a:cxn>
                  <a:cxn ang="0">
                    <a:pos x="connsiteX2" y="connsiteY2"/>
                  </a:cxn>
                  <a:cxn ang="0">
                    <a:pos x="connsiteX3" y="connsiteY3"/>
                  </a:cxn>
                </a:cxnLst>
                <a:rect l="l" t="t" r="r" b="b"/>
                <a:pathLst>
                  <a:path w="11624" h="11624">
                    <a:moveTo>
                      <a:pt x="0" y="0"/>
                    </a:moveTo>
                    <a:lnTo>
                      <a:pt x="11625" y="0"/>
                    </a:lnTo>
                    <a:lnTo>
                      <a:pt x="11625" y="11625"/>
                    </a:lnTo>
                    <a:lnTo>
                      <a:pt x="0" y="11625"/>
                    </a:ln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63" name="Freeform: Shape 62">
                <a:extLst>
                  <a:ext uri="{FF2B5EF4-FFF2-40B4-BE49-F238E27FC236}">
                    <a16:creationId xmlns:a16="http://schemas.microsoft.com/office/drawing/2014/main" id="{DE32B368-9330-EDB0-D6D9-AE6565CAA2B4}"/>
                  </a:ext>
                </a:extLst>
              </p:cNvPr>
              <p:cNvSpPr/>
              <p:nvPr/>
            </p:nvSpPr>
            <p:spPr>
              <a:xfrm>
                <a:off x="4705684" y="3388313"/>
                <a:ext cx="11624" cy="11624"/>
              </a:xfrm>
              <a:custGeom>
                <a:avLst/>
                <a:gdLst>
                  <a:gd name="connsiteX0" fmla="*/ 0 w 11624"/>
                  <a:gd name="connsiteY0" fmla="*/ 0 h 11624"/>
                  <a:gd name="connsiteX1" fmla="*/ 11625 w 11624"/>
                  <a:gd name="connsiteY1" fmla="*/ 0 h 11624"/>
                  <a:gd name="connsiteX2" fmla="*/ 11625 w 11624"/>
                  <a:gd name="connsiteY2" fmla="*/ 11625 h 11624"/>
                  <a:gd name="connsiteX3" fmla="*/ 0 w 11624"/>
                  <a:gd name="connsiteY3" fmla="*/ 11625 h 11624"/>
                </a:gdLst>
                <a:ahLst/>
                <a:cxnLst>
                  <a:cxn ang="0">
                    <a:pos x="connsiteX0" y="connsiteY0"/>
                  </a:cxn>
                  <a:cxn ang="0">
                    <a:pos x="connsiteX1" y="connsiteY1"/>
                  </a:cxn>
                  <a:cxn ang="0">
                    <a:pos x="connsiteX2" y="connsiteY2"/>
                  </a:cxn>
                  <a:cxn ang="0">
                    <a:pos x="connsiteX3" y="connsiteY3"/>
                  </a:cxn>
                </a:cxnLst>
                <a:rect l="l" t="t" r="r" b="b"/>
                <a:pathLst>
                  <a:path w="11624" h="11624">
                    <a:moveTo>
                      <a:pt x="0" y="0"/>
                    </a:moveTo>
                    <a:lnTo>
                      <a:pt x="11625" y="0"/>
                    </a:lnTo>
                    <a:lnTo>
                      <a:pt x="11625" y="11625"/>
                    </a:lnTo>
                    <a:lnTo>
                      <a:pt x="0" y="11625"/>
                    </a:ln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64" name="Freeform: Shape 63">
                <a:extLst>
                  <a:ext uri="{FF2B5EF4-FFF2-40B4-BE49-F238E27FC236}">
                    <a16:creationId xmlns:a16="http://schemas.microsoft.com/office/drawing/2014/main" id="{09F4C2FB-C05B-6BEA-D312-C6615E987747}"/>
                  </a:ext>
                </a:extLst>
              </p:cNvPr>
              <p:cNvSpPr/>
              <p:nvPr/>
            </p:nvSpPr>
            <p:spPr>
              <a:xfrm>
                <a:off x="4415066" y="3295316"/>
                <a:ext cx="11624" cy="11624"/>
              </a:xfrm>
              <a:custGeom>
                <a:avLst/>
                <a:gdLst>
                  <a:gd name="connsiteX0" fmla="*/ 0 w 11624"/>
                  <a:gd name="connsiteY0" fmla="*/ 0 h 11624"/>
                  <a:gd name="connsiteX1" fmla="*/ 11625 w 11624"/>
                  <a:gd name="connsiteY1" fmla="*/ 0 h 11624"/>
                  <a:gd name="connsiteX2" fmla="*/ 11625 w 11624"/>
                  <a:gd name="connsiteY2" fmla="*/ 11625 h 11624"/>
                  <a:gd name="connsiteX3" fmla="*/ 0 w 11624"/>
                  <a:gd name="connsiteY3" fmla="*/ 11625 h 11624"/>
                </a:gdLst>
                <a:ahLst/>
                <a:cxnLst>
                  <a:cxn ang="0">
                    <a:pos x="connsiteX0" y="connsiteY0"/>
                  </a:cxn>
                  <a:cxn ang="0">
                    <a:pos x="connsiteX1" y="connsiteY1"/>
                  </a:cxn>
                  <a:cxn ang="0">
                    <a:pos x="connsiteX2" y="connsiteY2"/>
                  </a:cxn>
                  <a:cxn ang="0">
                    <a:pos x="connsiteX3" y="connsiteY3"/>
                  </a:cxn>
                </a:cxnLst>
                <a:rect l="l" t="t" r="r" b="b"/>
                <a:pathLst>
                  <a:path w="11624" h="11624">
                    <a:moveTo>
                      <a:pt x="0" y="0"/>
                    </a:moveTo>
                    <a:lnTo>
                      <a:pt x="11625" y="0"/>
                    </a:lnTo>
                    <a:lnTo>
                      <a:pt x="11625" y="11625"/>
                    </a:lnTo>
                    <a:lnTo>
                      <a:pt x="0" y="11625"/>
                    </a:ln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65" name="Freeform: Shape 64">
                <a:extLst>
                  <a:ext uri="{FF2B5EF4-FFF2-40B4-BE49-F238E27FC236}">
                    <a16:creationId xmlns:a16="http://schemas.microsoft.com/office/drawing/2014/main" id="{78349CC2-35BF-9C1F-8496-9E8D334086E2}"/>
                  </a:ext>
                </a:extLst>
              </p:cNvPr>
              <p:cNvSpPr/>
              <p:nvPr/>
            </p:nvSpPr>
            <p:spPr>
              <a:xfrm>
                <a:off x="4415066" y="3318565"/>
                <a:ext cx="11624" cy="11624"/>
              </a:xfrm>
              <a:custGeom>
                <a:avLst/>
                <a:gdLst>
                  <a:gd name="connsiteX0" fmla="*/ 0 w 11624"/>
                  <a:gd name="connsiteY0" fmla="*/ 0 h 11624"/>
                  <a:gd name="connsiteX1" fmla="*/ 11625 w 11624"/>
                  <a:gd name="connsiteY1" fmla="*/ 0 h 11624"/>
                  <a:gd name="connsiteX2" fmla="*/ 11625 w 11624"/>
                  <a:gd name="connsiteY2" fmla="*/ 11625 h 11624"/>
                  <a:gd name="connsiteX3" fmla="*/ 0 w 11624"/>
                  <a:gd name="connsiteY3" fmla="*/ 11625 h 11624"/>
                </a:gdLst>
                <a:ahLst/>
                <a:cxnLst>
                  <a:cxn ang="0">
                    <a:pos x="connsiteX0" y="connsiteY0"/>
                  </a:cxn>
                  <a:cxn ang="0">
                    <a:pos x="connsiteX1" y="connsiteY1"/>
                  </a:cxn>
                  <a:cxn ang="0">
                    <a:pos x="connsiteX2" y="connsiteY2"/>
                  </a:cxn>
                  <a:cxn ang="0">
                    <a:pos x="connsiteX3" y="connsiteY3"/>
                  </a:cxn>
                </a:cxnLst>
                <a:rect l="l" t="t" r="r" b="b"/>
                <a:pathLst>
                  <a:path w="11624" h="11624">
                    <a:moveTo>
                      <a:pt x="0" y="0"/>
                    </a:moveTo>
                    <a:lnTo>
                      <a:pt x="11625" y="0"/>
                    </a:lnTo>
                    <a:lnTo>
                      <a:pt x="11625" y="11625"/>
                    </a:lnTo>
                    <a:lnTo>
                      <a:pt x="0" y="11625"/>
                    </a:ln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grpSp>
        <p:sp>
          <p:nvSpPr>
            <p:cNvPr id="33" name="Rectangle: Rounded Corners 32">
              <a:extLst>
                <a:ext uri="{FF2B5EF4-FFF2-40B4-BE49-F238E27FC236}">
                  <a16:creationId xmlns:a16="http://schemas.microsoft.com/office/drawing/2014/main" id="{33DE741A-72B3-3754-B454-6ABF5DD31846}"/>
                </a:ext>
              </a:extLst>
            </p:cNvPr>
            <p:cNvSpPr/>
            <p:nvPr/>
          </p:nvSpPr>
          <p:spPr bwMode="auto">
            <a:xfrm>
              <a:off x="1142390" y="3226705"/>
              <a:ext cx="2677702" cy="141973"/>
            </a:xfrm>
            <a:prstGeom prst="roundRect">
              <a:avLst>
                <a:gd name="adj" fmla="val 50000"/>
              </a:avLst>
            </a:prstGeom>
            <a:solidFill>
              <a:srgbClr val="034A90">
                <a:lumMod val="50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35" name="Rectangle: Rounded Corners 34">
              <a:extLst>
                <a:ext uri="{FF2B5EF4-FFF2-40B4-BE49-F238E27FC236}">
                  <a16:creationId xmlns:a16="http://schemas.microsoft.com/office/drawing/2014/main" id="{56F2215B-521D-B723-6701-5B1AAFDACCD5}"/>
                </a:ext>
              </a:extLst>
            </p:cNvPr>
            <p:cNvSpPr/>
            <p:nvPr/>
          </p:nvSpPr>
          <p:spPr bwMode="auto">
            <a:xfrm>
              <a:off x="1328698" y="3398213"/>
              <a:ext cx="2305086" cy="123583"/>
            </a:xfrm>
            <a:prstGeom prst="roundRect">
              <a:avLst>
                <a:gd name="adj" fmla="val 50000"/>
              </a:avLst>
            </a:prstGeom>
            <a:solidFill>
              <a:srgbClr val="034A90">
                <a:lumMod val="50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36" name="Rectangle 35">
              <a:extLst>
                <a:ext uri="{FF2B5EF4-FFF2-40B4-BE49-F238E27FC236}">
                  <a16:creationId xmlns:a16="http://schemas.microsoft.com/office/drawing/2014/main" id="{9DC17347-29D0-9268-932F-35E0744CE15F}"/>
                </a:ext>
              </a:extLst>
            </p:cNvPr>
            <p:cNvSpPr/>
            <p:nvPr/>
          </p:nvSpPr>
          <p:spPr bwMode="auto">
            <a:xfrm>
              <a:off x="1541807" y="3571410"/>
              <a:ext cx="1874365" cy="3840478"/>
            </a:xfrm>
            <a:prstGeom prst="rect">
              <a:avLst/>
            </a:prstGeom>
            <a:solidFill>
              <a:srgbClr val="034A90">
                <a:lumMod val="50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37" name="Rectangle: Rounded Corners 36">
              <a:extLst>
                <a:ext uri="{FF2B5EF4-FFF2-40B4-BE49-F238E27FC236}">
                  <a16:creationId xmlns:a16="http://schemas.microsoft.com/office/drawing/2014/main" id="{0BABFA16-29D3-0AC1-6E7A-33A6E91B776C}"/>
                </a:ext>
              </a:extLst>
            </p:cNvPr>
            <p:cNvSpPr/>
            <p:nvPr/>
          </p:nvSpPr>
          <p:spPr bwMode="auto">
            <a:xfrm rot="10800000">
              <a:off x="1416389" y="7528469"/>
              <a:ext cx="2129698" cy="85399"/>
            </a:xfrm>
            <a:prstGeom prst="roundRect">
              <a:avLst>
                <a:gd name="adj" fmla="val 50000"/>
              </a:avLst>
            </a:prstGeom>
            <a:solidFill>
              <a:srgbClr val="034A90">
                <a:lumMod val="50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38" name="TextBox 170">
              <a:extLst>
                <a:ext uri="{FF2B5EF4-FFF2-40B4-BE49-F238E27FC236}">
                  <a16:creationId xmlns:a16="http://schemas.microsoft.com/office/drawing/2014/main" id="{1F27FD52-7A70-3865-28F9-7B9538A6919D}"/>
                </a:ext>
              </a:extLst>
            </p:cNvPr>
            <p:cNvSpPr txBox="1"/>
            <p:nvPr/>
          </p:nvSpPr>
          <p:spPr>
            <a:xfrm>
              <a:off x="1576503" y="5085315"/>
              <a:ext cx="1829356" cy="1633780"/>
            </a:xfrm>
            <a:prstGeom prst="rect">
              <a:avLst/>
            </a:prstGeom>
            <a:solidFill>
              <a:srgbClr val="034A90">
                <a:lumMod val="50000"/>
              </a:srgbClr>
            </a:solidFill>
          </p:spPr>
          <p:txBody>
            <a:bodyPr wrap="square" rtlCol="0">
              <a:spAutoFit/>
            </a:bodyPr>
            <a:lstStyle>
              <a:defPPr>
                <a:defRPr lang="en-US"/>
              </a:defPPr>
              <a:lvl1pPr marL="171450" marR="0" lvl="0" indent="-171450" fontAlgn="base">
                <a:lnSpc>
                  <a:spcPts val="1350"/>
                </a:lnSpc>
                <a:spcBef>
                  <a:spcPts val="0"/>
                </a:spcBef>
                <a:spcAft>
                  <a:spcPts val="600"/>
                </a:spcAft>
                <a:buClrTx/>
                <a:buSzTx/>
                <a:buFont typeface="Arial" panose="020B0604020202020204" pitchFamily="34" charset="0"/>
                <a:buChar char="•"/>
                <a:tabLst/>
                <a:defRPr kumimoji="0" sz="1200" b="0" i="0" u="none" strike="noStrike" kern="0" cap="none" spc="0" normalizeH="0" baseline="0">
                  <a:ln>
                    <a:noFill/>
                  </a:ln>
                  <a:solidFill>
                    <a:prstClr val="white"/>
                  </a:solidFill>
                  <a:effectLst/>
                  <a:uLnTx/>
                  <a:uFillTx/>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a:t>AI initiatives aligned with business objectives</a:t>
              </a:r>
            </a:p>
            <a:p>
              <a:r>
                <a:rPr lang="en-US" sz="900"/>
                <a:t>Phased AI implementation with ROI tracking </a:t>
              </a:r>
            </a:p>
          </p:txBody>
        </p:sp>
        <p:sp>
          <p:nvSpPr>
            <p:cNvPr id="39" name="Rectangle 38">
              <a:extLst>
                <a:ext uri="{FF2B5EF4-FFF2-40B4-BE49-F238E27FC236}">
                  <a16:creationId xmlns:a16="http://schemas.microsoft.com/office/drawing/2014/main" id="{DE569352-EDF9-FDB8-0838-80C1202A929A}"/>
                </a:ext>
              </a:extLst>
            </p:cNvPr>
            <p:cNvSpPr/>
            <p:nvPr/>
          </p:nvSpPr>
          <p:spPr>
            <a:xfrm>
              <a:off x="1614463" y="4409816"/>
              <a:ext cx="1613031" cy="461665"/>
            </a:xfrm>
            <a:prstGeom prst="rect">
              <a:avLst/>
            </a:prstGeom>
            <a:solidFill>
              <a:srgbClr val="034A90">
                <a:lumMod val="50000"/>
              </a:srgbClr>
            </a:solid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r>
                <a:rPr lang="en-US" sz="825" b="1" kern="0">
                  <a:solidFill>
                    <a:prstClr val="white"/>
                  </a:solidFill>
                  <a:ea typeface="Tahoma" panose="020B0604030504040204" pitchFamily="34" charset="0"/>
                  <a:cs typeface="Tahoma" panose="020B0604030504040204" pitchFamily="34" charset="0"/>
                </a:rPr>
                <a:t>OUTCOME LED AI STRATEGY</a:t>
              </a:r>
            </a:p>
          </p:txBody>
        </p:sp>
        <p:grpSp>
          <p:nvGrpSpPr>
            <p:cNvPr id="40" name="Graphic 51">
              <a:extLst>
                <a:ext uri="{FF2B5EF4-FFF2-40B4-BE49-F238E27FC236}">
                  <a16:creationId xmlns:a16="http://schemas.microsoft.com/office/drawing/2014/main" id="{8A8682CB-1573-1DA0-B536-76516B7FD1EE}"/>
                </a:ext>
              </a:extLst>
            </p:cNvPr>
            <p:cNvGrpSpPr/>
            <p:nvPr/>
          </p:nvGrpSpPr>
          <p:grpSpPr>
            <a:xfrm>
              <a:off x="2246654" y="3753725"/>
              <a:ext cx="464704" cy="484730"/>
              <a:chOff x="4391817" y="3248817"/>
              <a:chExt cx="360366" cy="360366"/>
            </a:xfrm>
            <a:solidFill>
              <a:srgbClr val="034A90">
                <a:lumMod val="50000"/>
              </a:srgbClr>
            </a:solidFill>
          </p:grpSpPr>
          <p:sp>
            <p:nvSpPr>
              <p:cNvPr id="50" name="Freeform: Shape 49">
                <a:extLst>
                  <a:ext uri="{FF2B5EF4-FFF2-40B4-BE49-F238E27FC236}">
                    <a16:creationId xmlns:a16="http://schemas.microsoft.com/office/drawing/2014/main" id="{D71D4C10-7AC9-5CC4-3F4E-C73E13F0DCDB}"/>
                  </a:ext>
                </a:extLst>
              </p:cNvPr>
              <p:cNvSpPr/>
              <p:nvPr/>
            </p:nvSpPr>
            <p:spPr>
              <a:xfrm>
                <a:off x="4473190" y="3388313"/>
                <a:ext cx="127871" cy="127871"/>
              </a:xfrm>
              <a:custGeom>
                <a:avLst/>
                <a:gdLst>
                  <a:gd name="connsiteX0" fmla="*/ 63936 w 127871"/>
                  <a:gd name="connsiteY0" fmla="*/ 0 h 127871"/>
                  <a:gd name="connsiteX1" fmla="*/ 0 w 127871"/>
                  <a:gd name="connsiteY1" fmla="*/ 63936 h 127871"/>
                  <a:gd name="connsiteX2" fmla="*/ 63936 w 127871"/>
                  <a:gd name="connsiteY2" fmla="*/ 127872 h 127871"/>
                  <a:gd name="connsiteX3" fmla="*/ 127872 w 127871"/>
                  <a:gd name="connsiteY3" fmla="*/ 63936 h 127871"/>
                  <a:gd name="connsiteX4" fmla="*/ 63936 w 127871"/>
                  <a:gd name="connsiteY4" fmla="*/ 0 h 127871"/>
                  <a:gd name="connsiteX5" fmla="*/ 63936 w 127871"/>
                  <a:gd name="connsiteY5" fmla="*/ 116247 h 127871"/>
                  <a:gd name="connsiteX6" fmla="*/ 11625 w 127871"/>
                  <a:gd name="connsiteY6" fmla="*/ 63936 h 127871"/>
                  <a:gd name="connsiteX7" fmla="*/ 63936 w 127871"/>
                  <a:gd name="connsiteY7" fmla="*/ 11625 h 127871"/>
                  <a:gd name="connsiteX8" fmla="*/ 116247 w 127871"/>
                  <a:gd name="connsiteY8" fmla="*/ 63936 h 127871"/>
                  <a:gd name="connsiteX9" fmla="*/ 63936 w 127871"/>
                  <a:gd name="connsiteY9" fmla="*/ 116247 h 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871" h="127871">
                    <a:moveTo>
                      <a:pt x="63936" y="0"/>
                    </a:moveTo>
                    <a:cubicBezTo>
                      <a:pt x="28684" y="0"/>
                      <a:pt x="0" y="28684"/>
                      <a:pt x="0" y="63936"/>
                    </a:cubicBezTo>
                    <a:cubicBezTo>
                      <a:pt x="0" y="99188"/>
                      <a:pt x="28684" y="127872"/>
                      <a:pt x="63936" y="127872"/>
                    </a:cubicBezTo>
                    <a:cubicBezTo>
                      <a:pt x="99188" y="127872"/>
                      <a:pt x="127872" y="99188"/>
                      <a:pt x="127872" y="63936"/>
                    </a:cubicBezTo>
                    <a:cubicBezTo>
                      <a:pt x="127872" y="28684"/>
                      <a:pt x="99188" y="0"/>
                      <a:pt x="63936" y="0"/>
                    </a:cubicBezTo>
                    <a:close/>
                    <a:moveTo>
                      <a:pt x="63936" y="116247"/>
                    </a:moveTo>
                    <a:cubicBezTo>
                      <a:pt x="35095" y="116247"/>
                      <a:pt x="11625" y="92783"/>
                      <a:pt x="11625" y="63936"/>
                    </a:cubicBezTo>
                    <a:cubicBezTo>
                      <a:pt x="11625" y="35089"/>
                      <a:pt x="35095" y="11625"/>
                      <a:pt x="63936" y="11625"/>
                    </a:cubicBezTo>
                    <a:cubicBezTo>
                      <a:pt x="92777" y="11625"/>
                      <a:pt x="116247" y="35089"/>
                      <a:pt x="116247" y="63936"/>
                    </a:cubicBezTo>
                    <a:cubicBezTo>
                      <a:pt x="116247" y="92783"/>
                      <a:pt x="92777" y="116247"/>
                      <a:pt x="63936" y="116247"/>
                    </a:cubicBez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51" name="Freeform: Shape 50">
                <a:extLst>
                  <a:ext uri="{FF2B5EF4-FFF2-40B4-BE49-F238E27FC236}">
                    <a16:creationId xmlns:a16="http://schemas.microsoft.com/office/drawing/2014/main" id="{F3FA9B11-2A1C-06E3-BDCA-32AE338526B3}"/>
                  </a:ext>
                </a:extLst>
              </p:cNvPr>
              <p:cNvSpPr/>
              <p:nvPr/>
            </p:nvSpPr>
            <p:spPr>
              <a:xfrm>
                <a:off x="4391817" y="3248817"/>
                <a:ext cx="348741" cy="348741"/>
              </a:xfrm>
              <a:custGeom>
                <a:avLst/>
                <a:gdLst>
                  <a:gd name="connsiteX0" fmla="*/ 267369 w 348741"/>
                  <a:gd name="connsiteY0" fmla="*/ 220870 h 348741"/>
                  <a:gd name="connsiteX1" fmla="*/ 267369 w 348741"/>
                  <a:gd name="connsiteY1" fmla="*/ 249164 h 348741"/>
                  <a:gd name="connsiteX2" fmla="*/ 309816 w 348741"/>
                  <a:gd name="connsiteY2" fmla="*/ 220870 h 348741"/>
                  <a:gd name="connsiteX3" fmla="*/ 319680 w 348741"/>
                  <a:gd name="connsiteY3" fmla="*/ 220870 h 348741"/>
                  <a:gd name="connsiteX4" fmla="*/ 348742 w 348741"/>
                  <a:gd name="connsiteY4" fmla="*/ 191808 h 348741"/>
                  <a:gd name="connsiteX5" fmla="*/ 348742 w 348741"/>
                  <a:gd name="connsiteY5" fmla="*/ 122060 h 348741"/>
                  <a:gd name="connsiteX6" fmla="*/ 319680 w 348741"/>
                  <a:gd name="connsiteY6" fmla="*/ 92998 h 348741"/>
                  <a:gd name="connsiteX7" fmla="*/ 288584 w 348741"/>
                  <a:gd name="connsiteY7" fmla="*/ 92998 h 348741"/>
                  <a:gd name="connsiteX8" fmla="*/ 255744 w 348741"/>
                  <a:gd name="connsiteY8" fmla="*/ 69748 h 348741"/>
                  <a:gd name="connsiteX9" fmla="*/ 222904 w 348741"/>
                  <a:gd name="connsiteY9" fmla="*/ 92998 h 348741"/>
                  <a:gd name="connsiteX10" fmla="*/ 191808 w 348741"/>
                  <a:gd name="connsiteY10" fmla="*/ 92998 h 348741"/>
                  <a:gd name="connsiteX11" fmla="*/ 185996 w 348741"/>
                  <a:gd name="connsiteY11" fmla="*/ 93585 h 348741"/>
                  <a:gd name="connsiteX12" fmla="*/ 185996 w 348741"/>
                  <a:gd name="connsiteY12" fmla="*/ 52311 h 348741"/>
                  <a:gd name="connsiteX13" fmla="*/ 156934 w 348741"/>
                  <a:gd name="connsiteY13" fmla="*/ 23249 h 348741"/>
                  <a:gd name="connsiteX14" fmla="*/ 125838 w 348741"/>
                  <a:gd name="connsiteY14" fmla="*/ 23249 h 348741"/>
                  <a:gd name="connsiteX15" fmla="*/ 92998 w 348741"/>
                  <a:gd name="connsiteY15" fmla="*/ 0 h 348741"/>
                  <a:gd name="connsiteX16" fmla="*/ 60158 w 348741"/>
                  <a:gd name="connsiteY16" fmla="*/ 23249 h 348741"/>
                  <a:gd name="connsiteX17" fmla="*/ 29062 w 348741"/>
                  <a:gd name="connsiteY17" fmla="*/ 23249 h 348741"/>
                  <a:gd name="connsiteX18" fmla="*/ 0 w 348741"/>
                  <a:gd name="connsiteY18" fmla="*/ 52311 h 348741"/>
                  <a:gd name="connsiteX19" fmla="*/ 0 w 348741"/>
                  <a:gd name="connsiteY19" fmla="*/ 122060 h 348741"/>
                  <a:gd name="connsiteX20" fmla="*/ 29062 w 348741"/>
                  <a:gd name="connsiteY20" fmla="*/ 151121 h 348741"/>
                  <a:gd name="connsiteX21" fmla="*/ 75723 w 348741"/>
                  <a:gd name="connsiteY21" fmla="*/ 151121 h 348741"/>
                  <a:gd name="connsiteX22" fmla="*/ 58124 w 348741"/>
                  <a:gd name="connsiteY22" fmla="*/ 203433 h 348741"/>
                  <a:gd name="connsiteX23" fmla="*/ 72242 w 348741"/>
                  <a:gd name="connsiteY23" fmla="*/ 250844 h 348741"/>
                  <a:gd name="connsiteX24" fmla="*/ 63936 w 348741"/>
                  <a:gd name="connsiteY24" fmla="*/ 259150 h 348741"/>
                  <a:gd name="connsiteX25" fmla="*/ 58124 w 348741"/>
                  <a:gd name="connsiteY25" fmla="*/ 253337 h 348741"/>
                  <a:gd name="connsiteX26" fmla="*/ 7725 w 348741"/>
                  <a:gd name="connsiteY26" fmla="*/ 303742 h 348741"/>
                  <a:gd name="connsiteX27" fmla="*/ 0 w 348741"/>
                  <a:gd name="connsiteY27" fmla="*/ 322383 h 348741"/>
                  <a:gd name="connsiteX28" fmla="*/ 26365 w 348741"/>
                  <a:gd name="connsiteY28" fmla="*/ 348742 h 348741"/>
                  <a:gd name="connsiteX29" fmla="*/ 45005 w 348741"/>
                  <a:gd name="connsiteY29" fmla="*/ 341023 h 348741"/>
                  <a:gd name="connsiteX30" fmla="*/ 95404 w 348741"/>
                  <a:gd name="connsiteY30" fmla="*/ 290618 h 348741"/>
                  <a:gd name="connsiteX31" fmla="*/ 89592 w 348741"/>
                  <a:gd name="connsiteY31" fmla="*/ 284806 h 348741"/>
                  <a:gd name="connsiteX32" fmla="*/ 97898 w 348741"/>
                  <a:gd name="connsiteY32" fmla="*/ 276500 h 348741"/>
                  <a:gd name="connsiteX33" fmla="*/ 145309 w 348741"/>
                  <a:gd name="connsiteY33" fmla="*/ 290618 h 348741"/>
                  <a:gd name="connsiteX34" fmla="*/ 230739 w 348741"/>
                  <a:gd name="connsiteY34" fmla="*/ 220870 h 348741"/>
                  <a:gd name="connsiteX35" fmla="*/ 290618 w 348741"/>
                  <a:gd name="connsiteY35" fmla="*/ 104622 h 348741"/>
                  <a:gd name="connsiteX36" fmla="*/ 319680 w 348741"/>
                  <a:gd name="connsiteY36" fmla="*/ 104622 h 348741"/>
                  <a:gd name="connsiteX37" fmla="*/ 337117 w 348741"/>
                  <a:gd name="connsiteY37" fmla="*/ 122060 h 348741"/>
                  <a:gd name="connsiteX38" fmla="*/ 337117 w 348741"/>
                  <a:gd name="connsiteY38" fmla="*/ 191808 h 348741"/>
                  <a:gd name="connsiteX39" fmla="*/ 319680 w 348741"/>
                  <a:gd name="connsiteY39" fmla="*/ 209245 h 348741"/>
                  <a:gd name="connsiteX40" fmla="*/ 306294 w 348741"/>
                  <a:gd name="connsiteY40" fmla="*/ 209245 h 348741"/>
                  <a:gd name="connsiteX41" fmla="*/ 278993 w 348741"/>
                  <a:gd name="connsiteY41" fmla="*/ 227449 h 348741"/>
                  <a:gd name="connsiteX42" fmla="*/ 278993 w 348741"/>
                  <a:gd name="connsiteY42" fmla="*/ 209245 h 348741"/>
                  <a:gd name="connsiteX43" fmla="*/ 232198 w 348741"/>
                  <a:gd name="connsiteY43" fmla="*/ 209245 h 348741"/>
                  <a:gd name="connsiteX44" fmla="*/ 232494 w 348741"/>
                  <a:gd name="connsiteY44" fmla="*/ 203433 h 348741"/>
                  <a:gd name="connsiteX45" fmla="*/ 232198 w 348741"/>
                  <a:gd name="connsiteY45" fmla="*/ 197620 h 348741"/>
                  <a:gd name="connsiteX46" fmla="*/ 313867 w 348741"/>
                  <a:gd name="connsiteY46" fmla="*/ 197620 h 348741"/>
                  <a:gd name="connsiteX47" fmla="*/ 313867 w 348741"/>
                  <a:gd name="connsiteY47" fmla="*/ 185996 h 348741"/>
                  <a:gd name="connsiteX48" fmla="*/ 277226 w 348741"/>
                  <a:gd name="connsiteY48" fmla="*/ 132039 h 348741"/>
                  <a:gd name="connsiteX49" fmla="*/ 290618 w 348741"/>
                  <a:gd name="connsiteY49" fmla="*/ 104622 h 348741"/>
                  <a:gd name="connsiteX50" fmla="*/ 272739 w 348741"/>
                  <a:gd name="connsiteY50" fmla="*/ 185996 h 348741"/>
                  <a:gd name="connsiteX51" fmla="*/ 269188 w 348741"/>
                  <a:gd name="connsiteY51" fmla="*/ 141496 h 348741"/>
                  <a:gd name="connsiteX52" fmla="*/ 302243 w 348741"/>
                  <a:gd name="connsiteY52" fmla="*/ 185996 h 348741"/>
                  <a:gd name="connsiteX53" fmla="*/ 257365 w 348741"/>
                  <a:gd name="connsiteY53" fmla="*/ 139578 h 348741"/>
                  <a:gd name="connsiteX54" fmla="*/ 261074 w 348741"/>
                  <a:gd name="connsiteY54" fmla="*/ 185996 h 348741"/>
                  <a:gd name="connsiteX55" fmla="*/ 250414 w 348741"/>
                  <a:gd name="connsiteY55" fmla="*/ 185996 h 348741"/>
                  <a:gd name="connsiteX56" fmla="*/ 254116 w 348741"/>
                  <a:gd name="connsiteY56" fmla="*/ 139595 h 348741"/>
                  <a:gd name="connsiteX57" fmla="*/ 255744 w 348741"/>
                  <a:gd name="connsiteY57" fmla="*/ 139497 h 348741"/>
                  <a:gd name="connsiteX58" fmla="*/ 257365 w 348741"/>
                  <a:gd name="connsiteY58" fmla="*/ 139578 h 348741"/>
                  <a:gd name="connsiteX59" fmla="*/ 238748 w 348741"/>
                  <a:gd name="connsiteY59" fmla="*/ 185996 h 348741"/>
                  <a:gd name="connsiteX60" fmla="*/ 230733 w 348741"/>
                  <a:gd name="connsiteY60" fmla="*/ 185996 h 348741"/>
                  <a:gd name="connsiteX61" fmla="*/ 219196 w 348741"/>
                  <a:gd name="connsiteY61" fmla="*/ 157375 h 348741"/>
                  <a:gd name="connsiteX62" fmla="*/ 242294 w 348741"/>
                  <a:gd name="connsiteY62" fmla="*/ 141566 h 348741"/>
                  <a:gd name="connsiteX63" fmla="*/ 255744 w 348741"/>
                  <a:gd name="connsiteY63" fmla="*/ 81373 h 348741"/>
                  <a:gd name="connsiteX64" fmla="*/ 278993 w 348741"/>
                  <a:gd name="connsiteY64" fmla="*/ 104622 h 348741"/>
                  <a:gd name="connsiteX65" fmla="*/ 255744 w 348741"/>
                  <a:gd name="connsiteY65" fmla="*/ 127872 h 348741"/>
                  <a:gd name="connsiteX66" fmla="*/ 232494 w 348741"/>
                  <a:gd name="connsiteY66" fmla="*/ 104622 h 348741"/>
                  <a:gd name="connsiteX67" fmla="*/ 255744 w 348741"/>
                  <a:gd name="connsiteY67" fmla="*/ 81373 h 348741"/>
                  <a:gd name="connsiteX68" fmla="*/ 220870 w 348741"/>
                  <a:gd name="connsiteY68" fmla="*/ 104622 h 348741"/>
                  <a:gd name="connsiteX69" fmla="*/ 234244 w 348741"/>
                  <a:gd name="connsiteY69" fmla="*/ 132028 h 348741"/>
                  <a:gd name="connsiteX70" fmla="*/ 212157 w 348741"/>
                  <a:gd name="connsiteY70" fmla="*/ 147564 h 348741"/>
                  <a:gd name="connsiteX71" fmla="*/ 174441 w 348741"/>
                  <a:gd name="connsiteY71" fmla="*/ 121362 h 348741"/>
                  <a:gd name="connsiteX72" fmla="*/ 191808 w 348741"/>
                  <a:gd name="connsiteY72" fmla="*/ 104622 h 348741"/>
                  <a:gd name="connsiteX73" fmla="*/ 127872 w 348741"/>
                  <a:gd name="connsiteY73" fmla="*/ 34874 h 348741"/>
                  <a:gd name="connsiteX74" fmla="*/ 156934 w 348741"/>
                  <a:gd name="connsiteY74" fmla="*/ 34874 h 348741"/>
                  <a:gd name="connsiteX75" fmla="*/ 174371 w 348741"/>
                  <a:gd name="connsiteY75" fmla="*/ 52311 h 348741"/>
                  <a:gd name="connsiteX76" fmla="*/ 174371 w 348741"/>
                  <a:gd name="connsiteY76" fmla="*/ 98961 h 348741"/>
                  <a:gd name="connsiteX77" fmla="*/ 163147 w 348741"/>
                  <a:gd name="connsiteY77" fmla="*/ 118101 h 348741"/>
                  <a:gd name="connsiteX78" fmla="*/ 151121 w 348741"/>
                  <a:gd name="connsiteY78" fmla="*/ 116549 h 348741"/>
                  <a:gd name="connsiteX79" fmla="*/ 151121 w 348741"/>
                  <a:gd name="connsiteY79" fmla="*/ 116247 h 348741"/>
                  <a:gd name="connsiteX80" fmla="*/ 114480 w 348741"/>
                  <a:gd name="connsiteY80" fmla="*/ 62291 h 348741"/>
                  <a:gd name="connsiteX81" fmla="*/ 127872 w 348741"/>
                  <a:gd name="connsiteY81" fmla="*/ 34874 h 348741"/>
                  <a:gd name="connsiteX82" fmla="*/ 46499 w 348741"/>
                  <a:gd name="connsiteY82" fmla="*/ 116247 h 348741"/>
                  <a:gd name="connsiteX83" fmla="*/ 79560 w 348741"/>
                  <a:gd name="connsiteY83" fmla="*/ 71748 h 348741"/>
                  <a:gd name="connsiteX84" fmla="*/ 76002 w 348741"/>
                  <a:gd name="connsiteY84" fmla="*/ 116247 h 348741"/>
                  <a:gd name="connsiteX85" fmla="*/ 91376 w 348741"/>
                  <a:gd name="connsiteY85" fmla="*/ 69830 h 348741"/>
                  <a:gd name="connsiteX86" fmla="*/ 92998 w 348741"/>
                  <a:gd name="connsiteY86" fmla="*/ 69748 h 348741"/>
                  <a:gd name="connsiteX87" fmla="*/ 94619 w 348741"/>
                  <a:gd name="connsiteY87" fmla="*/ 69830 h 348741"/>
                  <a:gd name="connsiteX88" fmla="*/ 98328 w 348741"/>
                  <a:gd name="connsiteY88" fmla="*/ 116247 h 348741"/>
                  <a:gd name="connsiteX89" fmla="*/ 87668 w 348741"/>
                  <a:gd name="connsiteY89" fmla="*/ 116247 h 348741"/>
                  <a:gd name="connsiteX90" fmla="*/ 106436 w 348741"/>
                  <a:gd name="connsiteY90" fmla="*/ 71748 h 348741"/>
                  <a:gd name="connsiteX91" fmla="*/ 139497 w 348741"/>
                  <a:gd name="connsiteY91" fmla="*/ 116247 h 348741"/>
                  <a:gd name="connsiteX92" fmla="*/ 109993 w 348741"/>
                  <a:gd name="connsiteY92" fmla="*/ 116247 h 348741"/>
                  <a:gd name="connsiteX93" fmla="*/ 92998 w 348741"/>
                  <a:gd name="connsiteY93" fmla="*/ 11625 h 348741"/>
                  <a:gd name="connsiteX94" fmla="*/ 116247 w 348741"/>
                  <a:gd name="connsiteY94" fmla="*/ 34874 h 348741"/>
                  <a:gd name="connsiteX95" fmla="*/ 92998 w 348741"/>
                  <a:gd name="connsiteY95" fmla="*/ 58124 h 348741"/>
                  <a:gd name="connsiteX96" fmla="*/ 69748 w 348741"/>
                  <a:gd name="connsiteY96" fmla="*/ 34874 h 348741"/>
                  <a:gd name="connsiteX97" fmla="*/ 92998 w 348741"/>
                  <a:gd name="connsiteY97" fmla="*/ 11625 h 348741"/>
                  <a:gd name="connsiteX98" fmla="*/ 11625 w 348741"/>
                  <a:gd name="connsiteY98" fmla="*/ 122060 h 348741"/>
                  <a:gd name="connsiteX99" fmla="*/ 11625 w 348741"/>
                  <a:gd name="connsiteY99" fmla="*/ 52311 h 348741"/>
                  <a:gd name="connsiteX100" fmla="*/ 29062 w 348741"/>
                  <a:gd name="connsiteY100" fmla="*/ 34874 h 348741"/>
                  <a:gd name="connsiteX101" fmla="*/ 58124 w 348741"/>
                  <a:gd name="connsiteY101" fmla="*/ 34874 h 348741"/>
                  <a:gd name="connsiteX102" fmla="*/ 71515 w 348741"/>
                  <a:gd name="connsiteY102" fmla="*/ 62291 h 348741"/>
                  <a:gd name="connsiteX103" fmla="*/ 34874 w 348741"/>
                  <a:gd name="connsiteY103" fmla="*/ 116247 h 348741"/>
                  <a:gd name="connsiteX104" fmla="*/ 34874 w 348741"/>
                  <a:gd name="connsiteY104" fmla="*/ 127872 h 348741"/>
                  <a:gd name="connsiteX105" fmla="*/ 102001 w 348741"/>
                  <a:gd name="connsiteY105" fmla="*/ 127872 h 348741"/>
                  <a:gd name="connsiteX106" fmla="*/ 86238 w 348741"/>
                  <a:gd name="connsiteY106" fmla="*/ 139497 h 348741"/>
                  <a:gd name="connsiteX107" fmla="*/ 29062 w 348741"/>
                  <a:gd name="connsiteY107" fmla="*/ 139497 h 348741"/>
                  <a:gd name="connsiteX108" fmla="*/ 11625 w 348741"/>
                  <a:gd name="connsiteY108" fmla="*/ 122060 h 348741"/>
                  <a:gd name="connsiteX109" fmla="*/ 36786 w 348741"/>
                  <a:gd name="connsiteY109" fmla="*/ 332804 h 348741"/>
                  <a:gd name="connsiteX110" fmla="*/ 26365 w 348741"/>
                  <a:gd name="connsiteY110" fmla="*/ 337117 h 348741"/>
                  <a:gd name="connsiteX111" fmla="*/ 11625 w 348741"/>
                  <a:gd name="connsiteY111" fmla="*/ 322383 h 348741"/>
                  <a:gd name="connsiteX112" fmla="*/ 15943 w 348741"/>
                  <a:gd name="connsiteY112" fmla="*/ 311961 h 348741"/>
                  <a:gd name="connsiteX113" fmla="*/ 58124 w 348741"/>
                  <a:gd name="connsiteY113" fmla="*/ 269775 h 348741"/>
                  <a:gd name="connsiteX114" fmla="*/ 78967 w 348741"/>
                  <a:gd name="connsiteY114" fmla="*/ 290618 h 348741"/>
                  <a:gd name="connsiteX115" fmla="*/ 81373 w 348741"/>
                  <a:gd name="connsiteY115" fmla="*/ 276587 h 348741"/>
                  <a:gd name="connsiteX116" fmla="*/ 72155 w 348741"/>
                  <a:gd name="connsiteY116" fmla="*/ 267369 h 348741"/>
                  <a:gd name="connsiteX117" fmla="*/ 79298 w 348741"/>
                  <a:gd name="connsiteY117" fmla="*/ 260225 h 348741"/>
                  <a:gd name="connsiteX118" fmla="*/ 88516 w 348741"/>
                  <a:gd name="connsiteY118" fmla="*/ 269444 h 348741"/>
                  <a:gd name="connsiteX119" fmla="*/ 145309 w 348741"/>
                  <a:gd name="connsiteY119" fmla="*/ 278993 h 348741"/>
                  <a:gd name="connsiteX120" fmla="*/ 69748 w 348741"/>
                  <a:gd name="connsiteY120" fmla="*/ 203433 h 348741"/>
                  <a:gd name="connsiteX121" fmla="*/ 145309 w 348741"/>
                  <a:gd name="connsiteY121" fmla="*/ 127872 h 348741"/>
                  <a:gd name="connsiteX122" fmla="*/ 220870 w 348741"/>
                  <a:gd name="connsiteY122" fmla="*/ 203433 h 348741"/>
                  <a:gd name="connsiteX123" fmla="*/ 145309 w 348741"/>
                  <a:gd name="connsiteY123" fmla="*/ 278993 h 34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348741" h="348741">
                    <a:moveTo>
                      <a:pt x="267369" y="220870"/>
                    </a:moveTo>
                    <a:lnTo>
                      <a:pt x="267369" y="249164"/>
                    </a:lnTo>
                    <a:lnTo>
                      <a:pt x="309816" y="220870"/>
                    </a:lnTo>
                    <a:lnTo>
                      <a:pt x="319680" y="220870"/>
                    </a:lnTo>
                    <a:cubicBezTo>
                      <a:pt x="335704" y="220870"/>
                      <a:pt x="348742" y="207833"/>
                      <a:pt x="348742" y="191808"/>
                    </a:cubicBezTo>
                    <a:lnTo>
                      <a:pt x="348742" y="122060"/>
                    </a:lnTo>
                    <a:cubicBezTo>
                      <a:pt x="348742" y="106035"/>
                      <a:pt x="335704" y="92998"/>
                      <a:pt x="319680" y="92998"/>
                    </a:cubicBezTo>
                    <a:lnTo>
                      <a:pt x="288584" y="92998"/>
                    </a:lnTo>
                    <a:cubicBezTo>
                      <a:pt x="283783" y="79472"/>
                      <a:pt x="270897" y="69748"/>
                      <a:pt x="255744" y="69748"/>
                    </a:cubicBezTo>
                    <a:cubicBezTo>
                      <a:pt x="240591" y="69748"/>
                      <a:pt x="227705" y="79472"/>
                      <a:pt x="222904" y="92998"/>
                    </a:cubicBezTo>
                    <a:lnTo>
                      <a:pt x="191808" y="92998"/>
                    </a:lnTo>
                    <a:cubicBezTo>
                      <a:pt x="189820" y="92998"/>
                      <a:pt x="187873" y="93201"/>
                      <a:pt x="185996" y="93585"/>
                    </a:cubicBezTo>
                    <a:lnTo>
                      <a:pt x="185996" y="52311"/>
                    </a:lnTo>
                    <a:cubicBezTo>
                      <a:pt x="185996" y="36287"/>
                      <a:pt x="172958" y="23249"/>
                      <a:pt x="156934" y="23249"/>
                    </a:cubicBezTo>
                    <a:lnTo>
                      <a:pt x="125838" y="23249"/>
                    </a:lnTo>
                    <a:cubicBezTo>
                      <a:pt x="121037" y="9724"/>
                      <a:pt x="108151" y="0"/>
                      <a:pt x="92998" y="0"/>
                    </a:cubicBezTo>
                    <a:cubicBezTo>
                      <a:pt x="77845" y="0"/>
                      <a:pt x="64959" y="9724"/>
                      <a:pt x="60158" y="23249"/>
                    </a:cubicBezTo>
                    <a:lnTo>
                      <a:pt x="29062" y="23249"/>
                    </a:lnTo>
                    <a:cubicBezTo>
                      <a:pt x="13037" y="23249"/>
                      <a:pt x="0" y="36287"/>
                      <a:pt x="0" y="52311"/>
                    </a:cubicBezTo>
                    <a:lnTo>
                      <a:pt x="0" y="122060"/>
                    </a:lnTo>
                    <a:cubicBezTo>
                      <a:pt x="0" y="138084"/>
                      <a:pt x="13037" y="151121"/>
                      <a:pt x="29062" y="151121"/>
                    </a:cubicBezTo>
                    <a:lnTo>
                      <a:pt x="75723" y="151121"/>
                    </a:lnTo>
                    <a:cubicBezTo>
                      <a:pt x="64726" y="165710"/>
                      <a:pt x="58124" y="183793"/>
                      <a:pt x="58124" y="203433"/>
                    </a:cubicBezTo>
                    <a:cubicBezTo>
                      <a:pt x="58124" y="220916"/>
                      <a:pt x="63343" y="237179"/>
                      <a:pt x="72242" y="250844"/>
                    </a:cubicBezTo>
                    <a:lnTo>
                      <a:pt x="63936" y="259150"/>
                    </a:lnTo>
                    <a:lnTo>
                      <a:pt x="58124" y="253337"/>
                    </a:lnTo>
                    <a:lnTo>
                      <a:pt x="7725" y="303742"/>
                    </a:lnTo>
                    <a:cubicBezTo>
                      <a:pt x="2743" y="308718"/>
                      <a:pt x="0" y="315344"/>
                      <a:pt x="0" y="322383"/>
                    </a:cubicBezTo>
                    <a:cubicBezTo>
                      <a:pt x="0" y="336919"/>
                      <a:pt x="11828" y="348742"/>
                      <a:pt x="26365" y="348742"/>
                    </a:cubicBezTo>
                    <a:cubicBezTo>
                      <a:pt x="33409" y="348742"/>
                      <a:pt x="40030" y="345998"/>
                      <a:pt x="45005" y="341023"/>
                    </a:cubicBezTo>
                    <a:lnTo>
                      <a:pt x="95404" y="290618"/>
                    </a:lnTo>
                    <a:lnTo>
                      <a:pt x="89592" y="284806"/>
                    </a:lnTo>
                    <a:lnTo>
                      <a:pt x="97898" y="276500"/>
                    </a:lnTo>
                    <a:cubicBezTo>
                      <a:pt x="111562" y="285398"/>
                      <a:pt x="127825" y="290618"/>
                      <a:pt x="145309" y="290618"/>
                    </a:cubicBezTo>
                    <a:cubicBezTo>
                      <a:pt x="187414" y="290618"/>
                      <a:pt x="222637" y="260620"/>
                      <a:pt x="230739" y="220870"/>
                    </a:cubicBezTo>
                    <a:close/>
                    <a:moveTo>
                      <a:pt x="290618" y="104622"/>
                    </a:moveTo>
                    <a:lnTo>
                      <a:pt x="319680" y="104622"/>
                    </a:lnTo>
                    <a:cubicBezTo>
                      <a:pt x="329293" y="104622"/>
                      <a:pt x="337117" y="112446"/>
                      <a:pt x="337117" y="122060"/>
                    </a:cubicBezTo>
                    <a:lnTo>
                      <a:pt x="337117" y="191808"/>
                    </a:lnTo>
                    <a:cubicBezTo>
                      <a:pt x="337117" y="201422"/>
                      <a:pt x="329293" y="209245"/>
                      <a:pt x="319680" y="209245"/>
                    </a:cubicBezTo>
                    <a:lnTo>
                      <a:pt x="306294" y="209245"/>
                    </a:lnTo>
                    <a:lnTo>
                      <a:pt x="278993" y="227449"/>
                    </a:lnTo>
                    <a:lnTo>
                      <a:pt x="278993" y="209245"/>
                    </a:lnTo>
                    <a:lnTo>
                      <a:pt x="232198" y="209245"/>
                    </a:lnTo>
                    <a:cubicBezTo>
                      <a:pt x="232326" y="207315"/>
                      <a:pt x="232494" y="205397"/>
                      <a:pt x="232494" y="203433"/>
                    </a:cubicBezTo>
                    <a:cubicBezTo>
                      <a:pt x="232494" y="201468"/>
                      <a:pt x="232326" y="199550"/>
                      <a:pt x="232198" y="197620"/>
                    </a:cubicBezTo>
                    <a:lnTo>
                      <a:pt x="313867" y="197620"/>
                    </a:lnTo>
                    <a:lnTo>
                      <a:pt x="313867" y="185996"/>
                    </a:lnTo>
                    <a:cubicBezTo>
                      <a:pt x="313867" y="161543"/>
                      <a:pt x="298662" y="140607"/>
                      <a:pt x="277226" y="132039"/>
                    </a:cubicBezTo>
                    <a:cubicBezTo>
                      <a:pt x="285364" y="125646"/>
                      <a:pt x="290618" y="115747"/>
                      <a:pt x="290618" y="104622"/>
                    </a:cubicBezTo>
                    <a:close/>
                    <a:moveTo>
                      <a:pt x="272739" y="185996"/>
                    </a:moveTo>
                    <a:lnTo>
                      <a:pt x="269188" y="141496"/>
                    </a:lnTo>
                    <a:cubicBezTo>
                      <a:pt x="288287" y="147279"/>
                      <a:pt x="302243" y="165030"/>
                      <a:pt x="302243" y="185996"/>
                    </a:cubicBezTo>
                    <a:close/>
                    <a:moveTo>
                      <a:pt x="257365" y="139578"/>
                    </a:moveTo>
                    <a:lnTo>
                      <a:pt x="261074" y="185996"/>
                    </a:lnTo>
                    <a:lnTo>
                      <a:pt x="250414" y="185996"/>
                    </a:lnTo>
                    <a:lnTo>
                      <a:pt x="254116" y="139595"/>
                    </a:lnTo>
                    <a:cubicBezTo>
                      <a:pt x="254663" y="139578"/>
                      <a:pt x="255197" y="139497"/>
                      <a:pt x="255744" y="139497"/>
                    </a:cubicBezTo>
                    <a:cubicBezTo>
                      <a:pt x="256290" y="139497"/>
                      <a:pt x="256825" y="139561"/>
                      <a:pt x="257365" y="139578"/>
                    </a:cubicBezTo>
                    <a:close/>
                    <a:moveTo>
                      <a:pt x="238748" y="185996"/>
                    </a:moveTo>
                    <a:lnTo>
                      <a:pt x="230733" y="185996"/>
                    </a:lnTo>
                    <a:cubicBezTo>
                      <a:pt x="228629" y="175661"/>
                      <a:pt x="224613" y="166036"/>
                      <a:pt x="219196" y="157375"/>
                    </a:cubicBezTo>
                    <a:cubicBezTo>
                      <a:pt x="225153" y="149773"/>
                      <a:pt x="233221" y="144309"/>
                      <a:pt x="242294" y="141566"/>
                    </a:cubicBezTo>
                    <a:close/>
                    <a:moveTo>
                      <a:pt x="255744" y="81373"/>
                    </a:moveTo>
                    <a:cubicBezTo>
                      <a:pt x="268566" y="81373"/>
                      <a:pt x="278993" y="91800"/>
                      <a:pt x="278993" y="104622"/>
                    </a:cubicBezTo>
                    <a:cubicBezTo>
                      <a:pt x="278993" y="117445"/>
                      <a:pt x="268566" y="127872"/>
                      <a:pt x="255744" y="127872"/>
                    </a:cubicBezTo>
                    <a:cubicBezTo>
                      <a:pt x="242922" y="127872"/>
                      <a:pt x="232494" y="117445"/>
                      <a:pt x="232494" y="104622"/>
                    </a:cubicBezTo>
                    <a:cubicBezTo>
                      <a:pt x="232494" y="91800"/>
                      <a:pt x="242922" y="81373"/>
                      <a:pt x="255744" y="81373"/>
                    </a:cubicBezTo>
                    <a:close/>
                    <a:moveTo>
                      <a:pt x="220870" y="104622"/>
                    </a:moveTo>
                    <a:cubicBezTo>
                      <a:pt x="220870" y="115742"/>
                      <a:pt x="226118" y="125634"/>
                      <a:pt x="234244" y="132028"/>
                    </a:cubicBezTo>
                    <a:cubicBezTo>
                      <a:pt x="225828" y="135381"/>
                      <a:pt x="218242" y="140659"/>
                      <a:pt x="212157" y="147564"/>
                    </a:cubicBezTo>
                    <a:cubicBezTo>
                      <a:pt x="202253" y="135736"/>
                      <a:pt x="189250" y="126634"/>
                      <a:pt x="174441" y="121362"/>
                    </a:cubicBezTo>
                    <a:cubicBezTo>
                      <a:pt x="174818" y="112074"/>
                      <a:pt x="182433" y="104622"/>
                      <a:pt x="191808" y="104622"/>
                    </a:cubicBezTo>
                    <a:close/>
                    <a:moveTo>
                      <a:pt x="127872" y="34874"/>
                    </a:moveTo>
                    <a:lnTo>
                      <a:pt x="156934" y="34874"/>
                    </a:lnTo>
                    <a:cubicBezTo>
                      <a:pt x="166547" y="34874"/>
                      <a:pt x="174371" y="42698"/>
                      <a:pt x="174371" y="52311"/>
                    </a:cubicBezTo>
                    <a:lnTo>
                      <a:pt x="174371" y="98961"/>
                    </a:lnTo>
                    <a:cubicBezTo>
                      <a:pt x="168361" y="103512"/>
                      <a:pt x="164228" y="110290"/>
                      <a:pt x="163147" y="118101"/>
                    </a:cubicBezTo>
                    <a:cubicBezTo>
                      <a:pt x="159235" y="117282"/>
                      <a:pt x="155207" y="116817"/>
                      <a:pt x="151121" y="116549"/>
                    </a:cubicBezTo>
                    <a:lnTo>
                      <a:pt x="151121" y="116247"/>
                    </a:lnTo>
                    <a:cubicBezTo>
                      <a:pt x="151121" y="91795"/>
                      <a:pt x="135916" y="70858"/>
                      <a:pt x="114480" y="62291"/>
                    </a:cubicBezTo>
                    <a:cubicBezTo>
                      <a:pt x="122618" y="55897"/>
                      <a:pt x="127872" y="45999"/>
                      <a:pt x="127872" y="34874"/>
                    </a:cubicBezTo>
                    <a:close/>
                    <a:moveTo>
                      <a:pt x="46499" y="116247"/>
                    </a:moveTo>
                    <a:cubicBezTo>
                      <a:pt x="46499" y="95282"/>
                      <a:pt x="60454" y="77531"/>
                      <a:pt x="79560" y="71748"/>
                    </a:cubicBezTo>
                    <a:lnTo>
                      <a:pt x="76002" y="116247"/>
                    </a:lnTo>
                    <a:close/>
                    <a:moveTo>
                      <a:pt x="91376" y="69830"/>
                    </a:moveTo>
                    <a:cubicBezTo>
                      <a:pt x="91917" y="69812"/>
                      <a:pt x="92451" y="69748"/>
                      <a:pt x="92998" y="69748"/>
                    </a:cubicBezTo>
                    <a:cubicBezTo>
                      <a:pt x="93544" y="69748"/>
                      <a:pt x="94079" y="69812"/>
                      <a:pt x="94619" y="69830"/>
                    </a:cubicBezTo>
                    <a:lnTo>
                      <a:pt x="98328" y="116247"/>
                    </a:lnTo>
                    <a:lnTo>
                      <a:pt x="87668" y="116247"/>
                    </a:lnTo>
                    <a:close/>
                    <a:moveTo>
                      <a:pt x="106436" y="71748"/>
                    </a:moveTo>
                    <a:cubicBezTo>
                      <a:pt x="125541" y="77531"/>
                      <a:pt x="139497" y="95282"/>
                      <a:pt x="139497" y="116247"/>
                    </a:cubicBezTo>
                    <a:lnTo>
                      <a:pt x="109993" y="116247"/>
                    </a:lnTo>
                    <a:close/>
                    <a:moveTo>
                      <a:pt x="92998" y="11625"/>
                    </a:moveTo>
                    <a:cubicBezTo>
                      <a:pt x="105820" y="11625"/>
                      <a:pt x="116247" y="22052"/>
                      <a:pt x="116247" y="34874"/>
                    </a:cubicBezTo>
                    <a:cubicBezTo>
                      <a:pt x="116247" y="47696"/>
                      <a:pt x="105820" y="58124"/>
                      <a:pt x="92998" y="58124"/>
                    </a:cubicBezTo>
                    <a:cubicBezTo>
                      <a:pt x="80176" y="58124"/>
                      <a:pt x="69748" y="47696"/>
                      <a:pt x="69748" y="34874"/>
                    </a:cubicBezTo>
                    <a:cubicBezTo>
                      <a:pt x="69748" y="22052"/>
                      <a:pt x="80176" y="11625"/>
                      <a:pt x="92998" y="11625"/>
                    </a:cubicBezTo>
                    <a:close/>
                    <a:moveTo>
                      <a:pt x="11625" y="122060"/>
                    </a:moveTo>
                    <a:lnTo>
                      <a:pt x="11625" y="52311"/>
                    </a:lnTo>
                    <a:cubicBezTo>
                      <a:pt x="11625" y="42698"/>
                      <a:pt x="19448" y="34874"/>
                      <a:pt x="29062" y="34874"/>
                    </a:cubicBezTo>
                    <a:lnTo>
                      <a:pt x="58124" y="34874"/>
                    </a:lnTo>
                    <a:cubicBezTo>
                      <a:pt x="58124" y="45999"/>
                      <a:pt x="63378" y="55897"/>
                      <a:pt x="71515" y="62291"/>
                    </a:cubicBezTo>
                    <a:cubicBezTo>
                      <a:pt x="50079" y="70858"/>
                      <a:pt x="34874" y="91795"/>
                      <a:pt x="34874" y="116247"/>
                    </a:cubicBezTo>
                    <a:lnTo>
                      <a:pt x="34874" y="127872"/>
                    </a:lnTo>
                    <a:lnTo>
                      <a:pt x="102001" y="127872"/>
                    </a:lnTo>
                    <a:cubicBezTo>
                      <a:pt x="96305" y="131150"/>
                      <a:pt x="91033" y="135062"/>
                      <a:pt x="86238" y="139497"/>
                    </a:cubicBezTo>
                    <a:lnTo>
                      <a:pt x="29062" y="139497"/>
                    </a:lnTo>
                    <a:cubicBezTo>
                      <a:pt x="19448" y="139497"/>
                      <a:pt x="11625" y="131673"/>
                      <a:pt x="11625" y="122060"/>
                    </a:cubicBezTo>
                    <a:close/>
                    <a:moveTo>
                      <a:pt x="36786" y="332804"/>
                    </a:moveTo>
                    <a:cubicBezTo>
                      <a:pt x="34002" y="335582"/>
                      <a:pt x="30300" y="337117"/>
                      <a:pt x="26365" y="337117"/>
                    </a:cubicBezTo>
                    <a:cubicBezTo>
                      <a:pt x="18239" y="337117"/>
                      <a:pt x="11625" y="330502"/>
                      <a:pt x="11625" y="322383"/>
                    </a:cubicBezTo>
                    <a:cubicBezTo>
                      <a:pt x="11625" y="318448"/>
                      <a:pt x="13159" y="314751"/>
                      <a:pt x="15943" y="311961"/>
                    </a:cubicBezTo>
                    <a:lnTo>
                      <a:pt x="58124" y="269775"/>
                    </a:lnTo>
                    <a:lnTo>
                      <a:pt x="78967" y="290618"/>
                    </a:lnTo>
                    <a:close/>
                    <a:moveTo>
                      <a:pt x="81373" y="276587"/>
                    </a:moveTo>
                    <a:lnTo>
                      <a:pt x="72155" y="267369"/>
                    </a:lnTo>
                    <a:lnTo>
                      <a:pt x="79298" y="260225"/>
                    </a:lnTo>
                    <a:cubicBezTo>
                      <a:pt x="82140" y="263521"/>
                      <a:pt x="85221" y="266601"/>
                      <a:pt x="88516" y="269444"/>
                    </a:cubicBezTo>
                    <a:close/>
                    <a:moveTo>
                      <a:pt x="145309" y="278993"/>
                    </a:moveTo>
                    <a:cubicBezTo>
                      <a:pt x="103646" y="278993"/>
                      <a:pt x="69748" y="245096"/>
                      <a:pt x="69748" y="203433"/>
                    </a:cubicBezTo>
                    <a:cubicBezTo>
                      <a:pt x="69748" y="161770"/>
                      <a:pt x="103646" y="127872"/>
                      <a:pt x="145309" y="127872"/>
                    </a:cubicBezTo>
                    <a:cubicBezTo>
                      <a:pt x="186972" y="127872"/>
                      <a:pt x="220870" y="161770"/>
                      <a:pt x="220870" y="203433"/>
                    </a:cubicBezTo>
                    <a:cubicBezTo>
                      <a:pt x="220870" y="245096"/>
                      <a:pt x="186972" y="278993"/>
                      <a:pt x="145309" y="278993"/>
                    </a:cubicBez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52" name="Freeform: Shape 51">
                <a:extLst>
                  <a:ext uri="{FF2B5EF4-FFF2-40B4-BE49-F238E27FC236}">
                    <a16:creationId xmlns:a16="http://schemas.microsoft.com/office/drawing/2014/main" id="{AF7D3EA8-2559-CAE1-23B3-C6DA59CC732E}"/>
                  </a:ext>
                </a:extLst>
              </p:cNvPr>
              <p:cNvSpPr/>
              <p:nvPr/>
            </p:nvSpPr>
            <p:spPr>
              <a:xfrm>
                <a:off x="4612687" y="3504561"/>
                <a:ext cx="139496" cy="104622"/>
              </a:xfrm>
              <a:custGeom>
                <a:avLst/>
                <a:gdLst>
                  <a:gd name="connsiteX0" fmla="*/ 122060 w 139496"/>
                  <a:gd name="connsiteY0" fmla="*/ 0 h 104622"/>
                  <a:gd name="connsiteX1" fmla="*/ 17437 w 139496"/>
                  <a:gd name="connsiteY1" fmla="*/ 0 h 104622"/>
                  <a:gd name="connsiteX2" fmla="*/ 0 w 139496"/>
                  <a:gd name="connsiteY2" fmla="*/ 17437 h 104622"/>
                  <a:gd name="connsiteX3" fmla="*/ 0 w 139496"/>
                  <a:gd name="connsiteY3" fmla="*/ 87185 h 104622"/>
                  <a:gd name="connsiteX4" fmla="*/ 17437 w 139496"/>
                  <a:gd name="connsiteY4" fmla="*/ 104622 h 104622"/>
                  <a:gd name="connsiteX5" fmla="*/ 122060 w 139496"/>
                  <a:gd name="connsiteY5" fmla="*/ 104622 h 104622"/>
                  <a:gd name="connsiteX6" fmla="*/ 139497 w 139496"/>
                  <a:gd name="connsiteY6" fmla="*/ 87185 h 104622"/>
                  <a:gd name="connsiteX7" fmla="*/ 139497 w 139496"/>
                  <a:gd name="connsiteY7" fmla="*/ 17437 h 104622"/>
                  <a:gd name="connsiteX8" fmla="*/ 122060 w 139496"/>
                  <a:gd name="connsiteY8" fmla="*/ 0 h 104622"/>
                  <a:gd name="connsiteX9" fmla="*/ 127872 w 139496"/>
                  <a:gd name="connsiteY9" fmla="*/ 87185 h 104622"/>
                  <a:gd name="connsiteX10" fmla="*/ 122060 w 139496"/>
                  <a:gd name="connsiteY10" fmla="*/ 92998 h 104622"/>
                  <a:gd name="connsiteX11" fmla="*/ 17437 w 139496"/>
                  <a:gd name="connsiteY11" fmla="*/ 92998 h 104622"/>
                  <a:gd name="connsiteX12" fmla="*/ 11625 w 139496"/>
                  <a:gd name="connsiteY12" fmla="*/ 87185 h 104622"/>
                  <a:gd name="connsiteX13" fmla="*/ 11625 w 139496"/>
                  <a:gd name="connsiteY13" fmla="*/ 17437 h 104622"/>
                  <a:gd name="connsiteX14" fmla="*/ 17437 w 139496"/>
                  <a:gd name="connsiteY14" fmla="*/ 11625 h 104622"/>
                  <a:gd name="connsiteX15" fmla="*/ 122060 w 139496"/>
                  <a:gd name="connsiteY15" fmla="*/ 11625 h 104622"/>
                  <a:gd name="connsiteX16" fmla="*/ 127872 w 139496"/>
                  <a:gd name="connsiteY16" fmla="*/ 17437 h 104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496" h="104622">
                    <a:moveTo>
                      <a:pt x="122060" y="0"/>
                    </a:moveTo>
                    <a:lnTo>
                      <a:pt x="17437" y="0"/>
                    </a:lnTo>
                    <a:cubicBezTo>
                      <a:pt x="7823" y="0"/>
                      <a:pt x="0" y="7823"/>
                      <a:pt x="0" y="17437"/>
                    </a:cubicBezTo>
                    <a:lnTo>
                      <a:pt x="0" y="87185"/>
                    </a:lnTo>
                    <a:cubicBezTo>
                      <a:pt x="0" y="96799"/>
                      <a:pt x="7823" y="104622"/>
                      <a:pt x="17437" y="104622"/>
                    </a:cubicBezTo>
                    <a:lnTo>
                      <a:pt x="122060" y="104622"/>
                    </a:lnTo>
                    <a:cubicBezTo>
                      <a:pt x="131673" y="104622"/>
                      <a:pt x="139497" y="96799"/>
                      <a:pt x="139497" y="87185"/>
                    </a:cubicBezTo>
                    <a:lnTo>
                      <a:pt x="139497" y="17437"/>
                    </a:lnTo>
                    <a:cubicBezTo>
                      <a:pt x="139497" y="7823"/>
                      <a:pt x="131673" y="0"/>
                      <a:pt x="122060" y="0"/>
                    </a:cubicBezTo>
                    <a:close/>
                    <a:moveTo>
                      <a:pt x="127872" y="87185"/>
                    </a:moveTo>
                    <a:cubicBezTo>
                      <a:pt x="127872" y="90394"/>
                      <a:pt x="125262" y="92998"/>
                      <a:pt x="122060" y="92998"/>
                    </a:cubicBezTo>
                    <a:lnTo>
                      <a:pt x="17437" y="92998"/>
                    </a:lnTo>
                    <a:cubicBezTo>
                      <a:pt x="14234" y="92998"/>
                      <a:pt x="11625" y="90394"/>
                      <a:pt x="11625" y="87185"/>
                    </a:cubicBezTo>
                    <a:lnTo>
                      <a:pt x="11625" y="17437"/>
                    </a:lnTo>
                    <a:cubicBezTo>
                      <a:pt x="11625" y="14229"/>
                      <a:pt x="14234" y="11625"/>
                      <a:pt x="17437" y="11625"/>
                    </a:cubicBezTo>
                    <a:lnTo>
                      <a:pt x="122060" y="11625"/>
                    </a:lnTo>
                    <a:cubicBezTo>
                      <a:pt x="125262" y="11625"/>
                      <a:pt x="127872" y="14229"/>
                      <a:pt x="127872" y="17437"/>
                    </a:cubicBez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53" name="Freeform: Shape 52">
                <a:extLst>
                  <a:ext uri="{FF2B5EF4-FFF2-40B4-BE49-F238E27FC236}">
                    <a16:creationId xmlns:a16="http://schemas.microsoft.com/office/drawing/2014/main" id="{B546204C-F39F-D22F-40FB-2D97B16FBEF9}"/>
                  </a:ext>
                </a:extLst>
              </p:cNvPr>
              <p:cNvSpPr/>
              <p:nvPr/>
            </p:nvSpPr>
            <p:spPr>
              <a:xfrm>
                <a:off x="4635936" y="3527810"/>
                <a:ext cx="92997" cy="58123"/>
              </a:xfrm>
              <a:custGeom>
                <a:avLst/>
                <a:gdLst>
                  <a:gd name="connsiteX0" fmla="*/ 81373 w 92997"/>
                  <a:gd name="connsiteY0" fmla="*/ 11625 h 58123"/>
                  <a:gd name="connsiteX1" fmla="*/ 69748 w 92997"/>
                  <a:gd name="connsiteY1" fmla="*/ 11625 h 58123"/>
                  <a:gd name="connsiteX2" fmla="*/ 69748 w 92997"/>
                  <a:gd name="connsiteY2" fmla="*/ 46499 h 58123"/>
                  <a:gd name="connsiteX3" fmla="*/ 58124 w 92997"/>
                  <a:gd name="connsiteY3" fmla="*/ 46499 h 58123"/>
                  <a:gd name="connsiteX4" fmla="*/ 58124 w 92997"/>
                  <a:gd name="connsiteY4" fmla="*/ 23249 h 58123"/>
                  <a:gd name="connsiteX5" fmla="*/ 46499 w 92997"/>
                  <a:gd name="connsiteY5" fmla="*/ 23249 h 58123"/>
                  <a:gd name="connsiteX6" fmla="*/ 46499 w 92997"/>
                  <a:gd name="connsiteY6" fmla="*/ 46499 h 58123"/>
                  <a:gd name="connsiteX7" fmla="*/ 34874 w 92997"/>
                  <a:gd name="connsiteY7" fmla="*/ 46499 h 58123"/>
                  <a:gd name="connsiteX8" fmla="*/ 34874 w 92997"/>
                  <a:gd name="connsiteY8" fmla="*/ 34874 h 58123"/>
                  <a:gd name="connsiteX9" fmla="*/ 23249 w 92997"/>
                  <a:gd name="connsiteY9" fmla="*/ 34874 h 58123"/>
                  <a:gd name="connsiteX10" fmla="*/ 23249 w 92997"/>
                  <a:gd name="connsiteY10" fmla="*/ 46499 h 58123"/>
                  <a:gd name="connsiteX11" fmla="*/ 11625 w 92997"/>
                  <a:gd name="connsiteY11" fmla="*/ 46499 h 58123"/>
                  <a:gd name="connsiteX12" fmla="*/ 11625 w 92997"/>
                  <a:gd name="connsiteY12" fmla="*/ 0 h 58123"/>
                  <a:gd name="connsiteX13" fmla="*/ 0 w 92997"/>
                  <a:gd name="connsiteY13" fmla="*/ 0 h 58123"/>
                  <a:gd name="connsiteX14" fmla="*/ 0 w 92997"/>
                  <a:gd name="connsiteY14" fmla="*/ 58124 h 58123"/>
                  <a:gd name="connsiteX15" fmla="*/ 92998 w 92997"/>
                  <a:gd name="connsiteY15" fmla="*/ 58124 h 58123"/>
                  <a:gd name="connsiteX16" fmla="*/ 92998 w 92997"/>
                  <a:gd name="connsiteY16" fmla="*/ 46499 h 58123"/>
                  <a:gd name="connsiteX17" fmla="*/ 81373 w 92997"/>
                  <a:gd name="connsiteY17" fmla="*/ 46499 h 58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2997" h="58123">
                    <a:moveTo>
                      <a:pt x="81373" y="11625"/>
                    </a:moveTo>
                    <a:lnTo>
                      <a:pt x="69748" y="11625"/>
                    </a:lnTo>
                    <a:lnTo>
                      <a:pt x="69748" y="46499"/>
                    </a:lnTo>
                    <a:lnTo>
                      <a:pt x="58124" y="46499"/>
                    </a:lnTo>
                    <a:lnTo>
                      <a:pt x="58124" y="23249"/>
                    </a:lnTo>
                    <a:lnTo>
                      <a:pt x="46499" y="23249"/>
                    </a:lnTo>
                    <a:lnTo>
                      <a:pt x="46499" y="46499"/>
                    </a:lnTo>
                    <a:lnTo>
                      <a:pt x="34874" y="46499"/>
                    </a:lnTo>
                    <a:lnTo>
                      <a:pt x="34874" y="34874"/>
                    </a:lnTo>
                    <a:lnTo>
                      <a:pt x="23249" y="34874"/>
                    </a:lnTo>
                    <a:lnTo>
                      <a:pt x="23249" y="46499"/>
                    </a:lnTo>
                    <a:lnTo>
                      <a:pt x="11625" y="46499"/>
                    </a:lnTo>
                    <a:lnTo>
                      <a:pt x="11625" y="0"/>
                    </a:lnTo>
                    <a:lnTo>
                      <a:pt x="0" y="0"/>
                    </a:lnTo>
                    <a:lnTo>
                      <a:pt x="0" y="58124"/>
                    </a:lnTo>
                    <a:lnTo>
                      <a:pt x="92998" y="58124"/>
                    </a:lnTo>
                    <a:lnTo>
                      <a:pt x="92998" y="46499"/>
                    </a:lnTo>
                    <a:lnTo>
                      <a:pt x="81373" y="46499"/>
                    </a:ln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54" name="Freeform: Shape 53">
                <a:extLst>
                  <a:ext uri="{FF2B5EF4-FFF2-40B4-BE49-F238E27FC236}">
                    <a16:creationId xmlns:a16="http://schemas.microsoft.com/office/drawing/2014/main" id="{9485BF69-359D-893E-0D6B-A4ED4D608A78}"/>
                  </a:ext>
                </a:extLst>
              </p:cNvPr>
              <p:cNvSpPr/>
              <p:nvPr/>
            </p:nvSpPr>
            <p:spPr>
              <a:xfrm>
                <a:off x="4705684" y="3365064"/>
                <a:ext cx="11624" cy="11624"/>
              </a:xfrm>
              <a:custGeom>
                <a:avLst/>
                <a:gdLst>
                  <a:gd name="connsiteX0" fmla="*/ 0 w 11624"/>
                  <a:gd name="connsiteY0" fmla="*/ 0 h 11624"/>
                  <a:gd name="connsiteX1" fmla="*/ 11625 w 11624"/>
                  <a:gd name="connsiteY1" fmla="*/ 0 h 11624"/>
                  <a:gd name="connsiteX2" fmla="*/ 11625 w 11624"/>
                  <a:gd name="connsiteY2" fmla="*/ 11625 h 11624"/>
                  <a:gd name="connsiteX3" fmla="*/ 0 w 11624"/>
                  <a:gd name="connsiteY3" fmla="*/ 11625 h 11624"/>
                </a:gdLst>
                <a:ahLst/>
                <a:cxnLst>
                  <a:cxn ang="0">
                    <a:pos x="connsiteX0" y="connsiteY0"/>
                  </a:cxn>
                  <a:cxn ang="0">
                    <a:pos x="connsiteX1" y="connsiteY1"/>
                  </a:cxn>
                  <a:cxn ang="0">
                    <a:pos x="connsiteX2" y="connsiteY2"/>
                  </a:cxn>
                  <a:cxn ang="0">
                    <a:pos x="connsiteX3" y="connsiteY3"/>
                  </a:cxn>
                </a:cxnLst>
                <a:rect l="l" t="t" r="r" b="b"/>
                <a:pathLst>
                  <a:path w="11624" h="11624">
                    <a:moveTo>
                      <a:pt x="0" y="0"/>
                    </a:moveTo>
                    <a:lnTo>
                      <a:pt x="11625" y="0"/>
                    </a:lnTo>
                    <a:lnTo>
                      <a:pt x="11625" y="11625"/>
                    </a:lnTo>
                    <a:lnTo>
                      <a:pt x="0" y="11625"/>
                    </a:ln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55" name="Freeform: Shape 54">
                <a:extLst>
                  <a:ext uri="{FF2B5EF4-FFF2-40B4-BE49-F238E27FC236}">
                    <a16:creationId xmlns:a16="http://schemas.microsoft.com/office/drawing/2014/main" id="{65E8B906-1EA8-80D3-FC6C-D51C8956B3A7}"/>
                  </a:ext>
                </a:extLst>
              </p:cNvPr>
              <p:cNvSpPr/>
              <p:nvPr/>
            </p:nvSpPr>
            <p:spPr>
              <a:xfrm>
                <a:off x="4705684" y="3388313"/>
                <a:ext cx="11624" cy="11624"/>
              </a:xfrm>
              <a:custGeom>
                <a:avLst/>
                <a:gdLst>
                  <a:gd name="connsiteX0" fmla="*/ 0 w 11624"/>
                  <a:gd name="connsiteY0" fmla="*/ 0 h 11624"/>
                  <a:gd name="connsiteX1" fmla="*/ 11625 w 11624"/>
                  <a:gd name="connsiteY1" fmla="*/ 0 h 11624"/>
                  <a:gd name="connsiteX2" fmla="*/ 11625 w 11624"/>
                  <a:gd name="connsiteY2" fmla="*/ 11625 h 11624"/>
                  <a:gd name="connsiteX3" fmla="*/ 0 w 11624"/>
                  <a:gd name="connsiteY3" fmla="*/ 11625 h 11624"/>
                </a:gdLst>
                <a:ahLst/>
                <a:cxnLst>
                  <a:cxn ang="0">
                    <a:pos x="connsiteX0" y="connsiteY0"/>
                  </a:cxn>
                  <a:cxn ang="0">
                    <a:pos x="connsiteX1" y="connsiteY1"/>
                  </a:cxn>
                  <a:cxn ang="0">
                    <a:pos x="connsiteX2" y="connsiteY2"/>
                  </a:cxn>
                  <a:cxn ang="0">
                    <a:pos x="connsiteX3" y="connsiteY3"/>
                  </a:cxn>
                </a:cxnLst>
                <a:rect l="l" t="t" r="r" b="b"/>
                <a:pathLst>
                  <a:path w="11624" h="11624">
                    <a:moveTo>
                      <a:pt x="0" y="0"/>
                    </a:moveTo>
                    <a:lnTo>
                      <a:pt x="11625" y="0"/>
                    </a:lnTo>
                    <a:lnTo>
                      <a:pt x="11625" y="11625"/>
                    </a:lnTo>
                    <a:lnTo>
                      <a:pt x="0" y="11625"/>
                    </a:ln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56" name="Freeform: Shape 55">
                <a:extLst>
                  <a:ext uri="{FF2B5EF4-FFF2-40B4-BE49-F238E27FC236}">
                    <a16:creationId xmlns:a16="http://schemas.microsoft.com/office/drawing/2014/main" id="{3BAB3CA7-48FA-2462-7F3E-A3041BF4C354}"/>
                  </a:ext>
                </a:extLst>
              </p:cNvPr>
              <p:cNvSpPr/>
              <p:nvPr/>
            </p:nvSpPr>
            <p:spPr>
              <a:xfrm>
                <a:off x="4415066" y="3295316"/>
                <a:ext cx="11624" cy="11624"/>
              </a:xfrm>
              <a:custGeom>
                <a:avLst/>
                <a:gdLst>
                  <a:gd name="connsiteX0" fmla="*/ 0 w 11624"/>
                  <a:gd name="connsiteY0" fmla="*/ 0 h 11624"/>
                  <a:gd name="connsiteX1" fmla="*/ 11625 w 11624"/>
                  <a:gd name="connsiteY1" fmla="*/ 0 h 11624"/>
                  <a:gd name="connsiteX2" fmla="*/ 11625 w 11624"/>
                  <a:gd name="connsiteY2" fmla="*/ 11625 h 11624"/>
                  <a:gd name="connsiteX3" fmla="*/ 0 w 11624"/>
                  <a:gd name="connsiteY3" fmla="*/ 11625 h 11624"/>
                </a:gdLst>
                <a:ahLst/>
                <a:cxnLst>
                  <a:cxn ang="0">
                    <a:pos x="connsiteX0" y="connsiteY0"/>
                  </a:cxn>
                  <a:cxn ang="0">
                    <a:pos x="connsiteX1" y="connsiteY1"/>
                  </a:cxn>
                  <a:cxn ang="0">
                    <a:pos x="connsiteX2" y="connsiteY2"/>
                  </a:cxn>
                  <a:cxn ang="0">
                    <a:pos x="connsiteX3" y="connsiteY3"/>
                  </a:cxn>
                </a:cxnLst>
                <a:rect l="l" t="t" r="r" b="b"/>
                <a:pathLst>
                  <a:path w="11624" h="11624">
                    <a:moveTo>
                      <a:pt x="0" y="0"/>
                    </a:moveTo>
                    <a:lnTo>
                      <a:pt x="11625" y="0"/>
                    </a:lnTo>
                    <a:lnTo>
                      <a:pt x="11625" y="11625"/>
                    </a:lnTo>
                    <a:lnTo>
                      <a:pt x="0" y="11625"/>
                    </a:ln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sp>
            <p:nvSpPr>
              <p:cNvPr id="57" name="Freeform: Shape 56">
                <a:extLst>
                  <a:ext uri="{FF2B5EF4-FFF2-40B4-BE49-F238E27FC236}">
                    <a16:creationId xmlns:a16="http://schemas.microsoft.com/office/drawing/2014/main" id="{C987928A-A043-E44D-5DA0-F84315B8FD37}"/>
                  </a:ext>
                </a:extLst>
              </p:cNvPr>
              <p:cNvSpPr/>
              <p:nvPr/>
            </p:nvSpPr>
            <p:spPr>
              <a:xfrm>
                <a:off x="4415066" y="3318565"/>
                <a:ext cx="11624" cy="11624"/>
              </a:xfrm>
              <a:custGeom>
                <a:avLst/>
                <a:gdLst>
                  <a:gd name="connsiteX0" fmla="*/ 0 w 11624"/>
                  <a:gd name="connsiteY0" fmla="*/ 0 h 11624"/>
                  <a:gd name="connsiteX1" fmla="*/ 11625 w 11624"/>
                  <a:gd name="connsiteY1" fmla="*/ 0 h 11624"/>
                  <a:gd name="connsiteX2" fmla="*/ 11625 w 11624"/>
                  <a:gd name="connsiteY2" fmla="*/ 11625 h 11624"/>
                  <a:gd name="connsiteX3" fmla="*/ 0 w 11624"/>
                  <a:gd name="connsiteY3" fmla="*/ 11625 h 11624"/>
                </a:gdLst>
                <a:ahLst/>
                <a:cxnLst>
                  <a:cxn ang="0">
                    <a:pos x="connsiteX0" y="connsiteY0"/>
                  </a:cxn>
                  <a:cxn ang="0">
                    <a:pos x="connsiteX1" y="connsiteY1"/>
                  </a:cxn>
                  <a:cxn ang="0">
                    <a:pos x="connsiteX2" y="connsiteY2"/>
                  </a:cxn>
                  <a:cxn ang="0">
                    <a:pos x="connsiteX3" y="connsiteY3"/>
                  </a:cxn>
                </a:cxnLst>
                <a:rect l="l" t="t" r="r" b="b"/>
                <a:pathLst>
                  <a:path w="11624" h="11624">
                    <a:moveTo>
                      <a:pt x="0" y="0"/>
                    </a:moveTo>
                    <a:lnTo>
                      <a:pt x="11625" y="0"/>
                    </a:lnTo>
                    <a:lnTo>
                      <a:pt x="11625" y="11625"/>
                    </a:lnTo>
                    <a:lnTo>
                      <a:pt x="0" y="11625"/>
                    </a:lnTo>
                    <a:close/>
                  </a:path>
                </a:pathLst>
              </a:custGeom>
              <a:grpFill/>
              <a:ln w="58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US" sz="1350" kern="0">
                  <a:solidFill>
                    <a:prstClr val="black"/>
                  </a:solidFill>
                  <a:ea typeface="Tahoma" panose="020B0604030504040204" pitchFamily="34" charset="0"/>
                  <a:cs typeface="Tahoma" panose="020B0604030504040204" pitchFamily="34" charset="0"/>
                </a:endParaRPr>
              </a:p>
            </p:txBody>
          </p:sp>
        </p:grpSp>
        <p:sp>
          <p:nvSpPr>
            <p:cNvPr id="42" name="Rectangle 41" descr="Diamond with solid fill">
              <a:extLst>
                <a:ext uri="{FF2B5EF4-FFF2-40B4-BE49-F238E27FC236}">
                  <a16:creationId xmlns:a16="http://schemas.microsoft.com/office/drawing/2014/main" id="{BE002F13-2E5E-BC2C-D01D-466E22D708E2}"/>
                </a:ext>
              </a:extLst>
            </p:cNvPr>
            <p:cNvSpPr/>
            <p:nvPr/>
          </p:nvSpPr>
          <p:spPr>
            <a:xfrm>
              <a:off x="2126370" y="3578937"/>
              <a:ext cx="685800" cy="685800"/>
            </a:xfrm>
            <a:prstGeom prst="rect">
              <a:avLst/>
            </a:prstGeom>
            <a:blipFill>
              <a:blip>
                <a:extLst>
                  <a:ext uri="{96DAC541-7B7A-43D3-8B79-37D633B846F1}">
                    <asvg:svgBlip xmlns:asvg="http://schemas.microsoft.com/office/drawing/2016/SVG/main" r:embed="rId3"/>
                  </a:ext>
                </a:extLst>
              </a:blip>
              <a:srcRect/>
              <a:stretch>
                <a:fillRect/>
              </a:stretch>
            </a:blip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IN" sz="1350" kern="0">
                <a:solidFill>
                  <a:prstClr val="white">
                    <a:hueOff val="0"/>
                    <a:satOff val="0"/>
                    <a:lumOff val="0"/>
                    <a:alphaOff val="0"/>
                  </a:prstClr>
                </a:solidFill>
                <a:latin typeface="Calibri" panose="020F0502020204030204"/>
              </a:endParaRPr>
            </a:p>
          </p:txBody>
        </p:sp>
        <p:sp>
          <p:nvSpPr>
            <p:cNvPr id="43" name="Rectangle 42" descr="Artificial Intelligence with solid fill">
              <a:extLst>
                <a:ext uri="{FF2B5EF4-FFF2-40B4-BE49-F238E27FC236}">
                  <a16:creationId xmlns:a16="http://schemas.microsoft.com/office/drawing/2014/main" id="{7B243E10-9B90-63F9-EC68-E46ABB2D3DCA}"/>
                </a:ext>
              </a:extLst>
            </p:cNvPr>
            <p:cNvSpPr/>
            <p:nvPr/>
          </p:nvSpPr>
          <p:spPr>
            <a:xfrm>
              <a:off x="4973983" y="3578939"/>
              <a:ext cx="685800" cy="685800"/>
            </a:xfrm>
            <a:prstGeom prst="rect">
              <a:avLst/>
            </a:prstGeom>
            <a:blipFill>
              <a:blip>
                <a:extLst>
                  <a:ext uri="{96DAC541-7B7A-43D3-8B79-37D633B846F1}">
                    <asvg:svgBlip xmlns:asvg="http://schemas.microsoft.com/office/drawing/2016/SVG/main" r:embed="rId4"/>
                  </a:ext>
                </a:extLst>
              </a:blip>
              <a:srcRect/>
              <a:stretch>
                <a:fillRect/>
              </a:stretch>
            </a:blip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IN" sz="1350" kern="0">
                <a:solidFill>
                  <a:prstClr val="white">
                    <a:hueOff val="0"/>
                    <a:satOff val="0"/>
                    <a:lumOff val="0"/>
                    <a:alphaOff val="0"/>
                  </a:prstClr>
                </a:solidFill>
                <a:latin typeface="Calibri" panose="020F0502020204030204"/>
              </a:endParaRPr>
            </a:p>
          </p:txBody>
        </p:sp>
        <p:sp>
          <p:nvSpPr>
            <p:cNvPr id="44" name="Rectangle 43">
              <a:extLst>
                <a:ext uri="{FF2B5EF4-FFF2-40B4-BE49-F238E27FC236}">
                  <a16:creationId xmlns:a16="http://schemas.microsoft.com/office/drawing/2014/main" id="{4F500450-EC3D-1E51-D4F9-4196CB51713E}"/>
                </a:ext>
              </a:extLst>
            </p:cNvPr>
            <p:cNvSpPr/>
            <p:nvPr/>
          </p:nvSpPr>
          <p:spPr>
            <a:xfrm>
              <a:off x="7320923" y="4409816"/>
              <a:ext cx="1692723" cy="461665"/>
            </a:xfrm>
            <a:prstGeom prst="rect">
              <a:avLst/>
            </a:prstGeom>
            <a:solidFill>
              <a:srgbClr val="333F50"/>
            </a:solid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25" b="1">
                  <a:solidFill>
                    <a:prstClr val="white"/>
                  </a:solidFill>
                  <a:ea typeface="Tahoma" panose="020B0604030504040204" pitchFamily="34" charset="0"/>
                  <a:cs typeface="Tahoma" panose="020B0604030504040204" pitchFamily="34" charset="0"/>
                </a:rPr>
                <a:t>ACCELERATED AI INNOVATION</a:t>
              </a:r>
            </a:p>
          </p:txBody>
        </p:sp>
        <p:sp>
          <p:nvSpPr>
            <p:cNvPr id="47" name="Rectangle 46" descr="Puzzle pieces with solid fill">
              <a:extLst>
                <a:ext uri="{FF2B5EF4-FFF2-40B4-BE49-F238E27FC236}">
                  <a16:creationId xmlns:a16="http://schemas.microsoft.com/office/drawing/2014/main" id="{D2161248-946C-7B79-CFAE-A0C03E2AA6E4}"/>
                </a:ext>
              </a:extLst>
            </p:cNvPr>
            <p:cNvSpPr/>
            <p:nvPr/>
          </p:nvSpPr>
          <p:spPr>
            <a:xfrm>
              <a:off x="7830261" y="3578941"/>
              <a:ext cx="685800" cy="685801"/>
            </a:xfrm>
            <a:prstGeom prst="rect">
              <a:avLst/>
            </a:prstGeom>
            <a:blipFill>
              <a:blip>
                <a:extLst>
                  <a:ext uri="{96DAC541-7B7A-43D3-8B79-37D633B846F1}">
                    <asvg:svgBlip xmlns:asvg="http://schemas.microsoft.com/office/drawing/2016/SVG/main" r:embed="rId5"/>
                  </a:ext>
                </a:extLst>
              </a:blip>
              <a:srcRect/>
              <a:stretch>
                <a:fillRect/>
              </a:stretch>
            </a:blip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IN" sz="1350" kern="0">
                <a:solidFill>
                  <a:prstClr val="white">
                    <a:hueOff val="0"/>
                    <a:satOff val="0"/>
                    <a:lumOff val="0"/>
                    <a:alphaOff val="0"/>
                  </a:prstClr>
                </a:solidFill>
                <a:latin typeface="Calibri" panose="020F0502020204030204"/>
              </a:endParaRPr>
            </a:p>
          </p:txBody>
        </p:sp>
        <p:sp>
          <p:nvSpPr>
            <p:cNvPr id="48" name="Rectangle 47" descr="Circles with arrows with solid fill">
              <a:extLst>
                <a:ext uri="{FF2B5EF4-FFF2-40B4-BE49-F238E27FC236}">
                  <a16:creationId xmlns:a16="http://schemas.microsoft.com/office/drawing/2014/main" id="{A00E9F01-AF22-B69C-742F-BA1058BEAD62}"/>
                </a:ext>
              </a:extLst>
            </p:cNvPr>
            <p:cNvSpPr/>
            <p:nvPr/>
          </p:nvSpPr>
          <p:spPr>
            <a:xfrm>
              <a:off x="10585641" y="3578944"/>
              <a:ext cx="685800" cy="685801"/>
            </a:xfrm>
            <a:prstGeom prst="rect">
              <a:avLst/>
            </a:prstGeom>
            <a:blipFill>
              <a:blip>
                <a:extLst>
                  <a:ext uri="{96DAC541-7B7A-43D3-8B79-37D633B846F1}">
                    <asvg:svgBlip xmlns:asvg="http://schemas.microsoft.com/office/drawing/2016/SVG/main" r:embed="rId6"/>
                  </a:ext>
                </a:extLst>
              </a:blip>
              <a:srcRect/>
              <a:stretch>
                <a:fillRect/>
              </a:stretch>
            </a:blip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IN" sz="1350" kern="0">
                <a:solidFill>
                  <a:prstClr val="white">
                    <a:hueOff val="0"/>
                    <a:satOff val="0"/>
                    <a:lumOff val="0"/>
                    <a:alphaOff val="0"/>
                  </a:prstClr>
                </a:solidFill>
                <a:latin typeface="Calibri" panose="020F0502020204030204"/>
              </a:endParaRPr>
            </a:p>
          </p:txBody>
        </p:sp>
        <p:sp>
          <p:nvSpPr>
            <p:cNvPr id="49" name="Rectangle 48" descr="Professor female with solid fill">
              <a:extLst>
                <a:ext uri="{FF2B5EF4-FFF2-40B4-BE49-F238E27FC236}">
                  <a16:creationId xmlns:a16="http://schemas.microsoft.com/office/drawing/2014/main" id="{098CB852-7419-1897-A966-9C39E3843BFB}"/>
                </a:ext>
              </a:extLst>
            </p:cNvPr>
            <p:cNvSpPr/>
            <p:nvPr/>
          </p:nvSpPr>
          <p:spPr>
            <a:xfrm>
              <a:off x="13562936" y="3578946"/>
              <a:ext cx="685800" cy="685801"/>
            </a:xfrm>
            <a:prstGeom prst="rect">
              <a:avLst/>
            </a:prstGeom>
            <a:blipFill>
              <a:blip>
                <a:extLst>
                  <a:ext uri="{96DAC541-7B7A-43D3-8B79-37D633B846F1}">
                    <asvg:svgBlip xmlns:asvg="http://schemas.microsoft.com/office/drawing/2016/SVG/main" r:embed="rId7"/>
                  </a:ext>
                </a:extLst>
              </a:blip>
              <a:srcRect/>
              <a:stretch>
                <a:fillRect/>
              </a:stretch>
            </a:blip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endParaRPr lang="en-IN" sz="1350" kern="0">
                <a:solidFill>
                  <a:prstClr val="white">
                    <a:hueOff val="0"/>
                    <a:satOff val="0"/>
                    <a:lumOff val="0"/>
                    <a:alphaOff val="0"/>
                  </a:prstClr>
                </a:solidFill>
                <a:latin typeface="Calibri" panose="020F0502020204030204"/>
              </a:endParaRPr>
            </a:p>
          </p:txBody>
        </p:sp>
        <p:sp>
          <p:nvSpPr>
            <p:cNvPr id="100" name="Rectangle 99">
              <a:extLst>
                <a:ext uri="{FF2B5EF4-FFF2-40B4-BE49-F238E27FC236}">
                  <a16:creationId xmlns:a16="http://schemas.microsoft.com/office/drawing/2014/main" id="{941467DF-049C-9915-08A6-B57762D71E89}"/>
                </a:ext>
              </a:extLst>
            </p:cNvPr>
            <p:cNvSpPr/>
            <p:nvPr/>
          </p:nvSpPr>
          <p:spPr>
            <a:xfrm>
              <a:off x="10125993" y="4418202"/>
              <a:ext cx="1850134" cy="461056"/>
            </a:xfrm>
            <a:prstGeom prst="rect">
              <a:avLst/>
            </a:prstGeom>
            <a:solidFill>
              <a:srgbClr val="0070C0">
                <a:lumMod val="75000"/>
              </a:srgb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825" b="1" kern="0">
                  <a:solidFill>
                    <a:prstClr val="white"/>
                  </a:solidFill>
                  <a:ea typeface="Tahoma" panose="020B0604030504040204" pitchFamily="34" charset="0"/>
                  <a:cs typeface="Tahoma" panose="020B0604030504040204" pitchFamily="34" charset="0"/>
                </a:rPr>
                <a:t>OPERATIONALIZATION &amp; SCALABILITY</a:t>
              </a:r>
            </a:p>
          </p:txBody>
        </p:sp>
        <p:sp>
          <p:nvSpPr>
            <p:cNvPr id="101" name="Rectangle 100">
              <a:extLst>
                <a:ext uri="{FF2B5EF4-FFF2-40B4-BE49-F238E27FC236}">
                  <a16:creationId xmlns:a16="http://schemas.microsoft.com/office/drawing/2014/main" id="{ED4C1AB6-E8ED-A1CE-D8A4-39010F8C570D}"/>
                </a:ext>
              </a:extLst>
            </p:cNvPr>
            <p:cNvSpPr/>
            <p:nvPr/>
          </p:nvSpPr>
          <p:spPr>
            <a:xfrm>
              <a:off x="12993383" y="4422012"/>
              <a:ext cx="1692723" cy="448319"/>
            </a:xfrm>
            <a:prstGeom prst="rect">
              <a:avLst/>
            </a:prstGeom>
            <a:solidFill>
              <a:schemeClr val="accent5">
                <a:lumMod val="75000"/>
              </a:schemeClr>
            </a:solidFill>
            <a:ln>
              <a:noFill/>
            </a:ln>
          </p:spPr>
          <p:txBody>
            <a:bodyPr vert="horz" wrap="square" lIns="68580" tIns="34290" rIns="68580" bIns="3429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25" b="1" kern="0">
                  <a:solidFill>
                    <a:prstClr val="white"/>
                  </a:solidFill>
                  <a:ea typeface="Tahoma" panose="020B0604030504040204" pitchFamily="34" charset="0"/>
                  <a:cs typeface="Tahoma" panose="020B0604030504040204" pitchFamily="34" charset="0"/>
                </a:rPr>
                <a:t>TALENT ENABLEMENT &amp; CULTURAL CHANGE</a:t>
              </a:r>
            </a:p>
          </p:txBody>
        </p:sp>
      </p:grpSp>
    </p:spTree>
    <p:extLst>
      <p:ext uri="{BB962C8B-B14F-4D97-AF65-F5344CB8AC3E}">
        <p14:creationId xmlns:p14="http://schemas.microsoft.com/office/powerpoint/2010/main" val="238529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DF98E-B690-06E7-2DCE-7EBDB97D227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EE3EF88-A418-30E1-2F4C-57619822854A}"/>
              </a:ext>
            </a:extLst>
          </p:cNvPr>
          <p:cNvSpPr>
            <a:spLocks noGrp="1"/>
          </p:cNvSpPr>
          <p:nvPr>
            <p:ph type="title"/>
          </p:nvPr>
        </p:nvSpPr>
        <p:spPr/>
        <p:txBody>
          <a:bodyPr>
            <a:normAutofit fontScale="90000"/>
          </a:bodyPr>
          <a:lstStyle/>
          <a:p>
            <a:r>
              <a:rPr lang="en-IN" sz="2700">
                <a:solidFill>
                  <a:schemeClr val="bg1"/>
                </a:solidFill>
                <a:latin typeface="+mj-lt"/>
              </a:rPr>
              <a:t>AI Driven Enterprise Transformation </a:t>
            </a:r>
            <a:br>
              <a:rPr lang="en-IN" sz="2700">
                <a:solidFill>
                  <a:schemeClr val="bg1"/>
                </a:solidFill>
                <a:latin typeface="+mj-lt"/>
              </a:rPr>
            </a:br>
            <a:r>
              <a:rPr lang="en-IN" sz="2700">
                <a:solidFill>
                  <a:schemeClr val="tx2"/>
                </a:solidFill>
                <a:latin typeface="+mj-lt"/>
              </a:rPr>
              <a:t>AI Driven Enterprise Transformation</a:t>
            </a:r>
            <a:br>
              <a:rPr lang="en-US" sz="1800">
                <a:latin typeface="+mn-lt"/>
              </a:rPr>
            </a:br>
            <a:br>
              <a:rPr lang="en-US" sz="1800">
                <a:latin typeface="+mn-lt"/>
              </a:rPr>
            </a:br>
            <a:r>
              <a:rPr lang="en-US" sz="1800">
                <a:latin typeface="+mn-lt"/>
              </a:rPr>
              <a:t>We’re bringing these </a:t>
            </a:r>
            <a:r>
              <a:rPr lang="en-US" sz="1800" b="1" kern="100" spc="-23">
                <a:solidFill>
                  <a:schemeClr val="accent2">
                    <a:lumMod val="75000"/>
                  </a:schemeClr>
                </a:solidFill>
                <a:latin typeface="+mn-lt"/>
                <a:ea typeface="Tahoma" panose="020B0604030504040204" pitchFamily="34" charset="0"/>
                <a:cs typeface="Tahoma" panose="020B0604030504040204" pitchFamily="34" charset="0"/>
              </a:rPr>
              <a:t>eight AI capabilities</a:t>
            </a:r>
            <a:r>
              <a:rPr lang="en-US" sz="1800" kern="100" spc="-23">
                <a:solidFill>
                  <a:schemeClr val="accent2">
                    <a:lumMod val="75000"/>
                  </a:schemeClr>
                </a:solidFill>
                <a:latin typeface="+mn-lt"/>
                <a:ea typeface="Tahoma" panose="020B0604030504040204" pitchFamily="34" charset="0"/>
                <a:cs typeface="Tahoma" panose="020B0604030504040204" pitchFamily="34" charset="0"/>
              </a:rPr>
              <a:t> </a:t>
            </a:r>
            <a:r>
              <a:rPr lang="en-US" sz="1800">
                <a:latin typeface="+mn-lt"/>
              </a:rPr>
              <a:t>to help drive faster, scalable adoption of AI across the enterprise</a:t>
            </a:r>
            <a:endParaRPr lang="en-US" sz="1800" kern="100" spc="-23">
              <a:solidFill>
                <a:schemeClr val="accent2">
                  <a:lumMod val="75000"/>
                </a:schemeClr>
              </a:solidFill>
              <a:latin typeface="+mn-lt"/>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98969F94-6C98-6465-6DDB-DB49952C3C27}"/>
              </a:ext>
            </a:extLst>
          </p:cNvPr>
          <p:cNvSpPr/>
          <p:nvPr/>
        </p:nvSpPr>
        <p:spPr>
          <a:xfrm>
            <a:off x="622417" y="7028651"/>
            <a:ext cx="2523642" cy="36101"/>
          </a:xfrm>
          <a:prstGeom prst="rect">
            <a:avLst/>
          </a:prstGeom>
          <a:solidFill>
            <a:srgbClr val="0F1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18" b="0" i="0" u="none" strike="noStrike" kern="1200" cap="none" spc="0" normalizeH="0" baseline="0" noProof="0">
              <a:ln>
                <a:noFill/>
              </a:ln>
              <a:solidFill>
                <a:prstClr val="white"/>
              </a:solidFill>
              <a:effectLst/>
              <a:uLnTx/>
              <a:uFillTx/>
              <a:latin typeface="Tahoma"/>
              <a:ea typeface="+mn-ea"/>
              <a:cs typeface="+mn-cs"/>
            </a:endParaRPr>
          </a:p>
        </p:txBody>
      </p:sp>
      <p:grpSp>
        <p:nvGrpSpPr>
          <p:cNvPr id="7" name="Group 6">
            <a:extLst>
              <a:ext uri="{FF2B5EF4-FFF2-40B4-BE49-F238E27FC236}">
                <a16:creationId xmlns:a16="http://schemas.microsoft.com/office/drawing/2014/main" id="{CCBE99CD-5DE6-D75A-C397-C0815B08CDA9}"/>
              </a:ext>
            </a:extLst>
          </p:cNvPr>
          <p:cNvGrpSpPr/>
          <p:nvPr/>
        </p:nvGrpSpPr>
        <p:grpSpPr>
          <a:xfrm>
            <a:off x="1018006" y="1504133"/>
            <a:ext cx="10162828" cy="4380086"/>
            <a:chOff x="1445947" y="1602949"/>
            <a:chExt cx="13550437" cy="5840115"/>
          </a:xfrm>
        </p:grpSpPr>
        <p:sp>
          <p:nvSpPr>
            <p:cNvPr id="9" name="Triangle 10">
              <a:extLst>
                <a:ext uri="{FF2B5EF4-FFF2-40B4-BE49-F238E27FC236}">
                  <a16:creationId xmlns:a16="http://schemas.microsoft.com/office/drawing/2014/main" id="{1BFA13FA-350A-365C-1950-793C084232CE}"/>
                </a:ext>
              </a:extLst>
            </p:cNvPr>
            <p:cNvSpPr/>
            <p:nvPr/>
          </p:nvSpPr>
          <p:spPr>
            <a:xfrm>
              <a:off x="1783470" y="1602949"/>
              <a:ext cx="12897761" cy="1214358"/>
            </a:xfrm>
            <a:prstGeom prst="triangle">
              <a:avLst/>
            </a:prstGeom>
          </p:spPr>
          <p:style>
            <a:lnRef idx="0">
              <a:schemeClr val="accent1"/>
            </a:lnRef>
            <a:fillRef idx="3">
              <a:schemeClr val="accent1"/>
            </a:fillRef>
            <a:effectRef idx="3">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prstClr val="white"/>
                  </a:solidFill>
                  <a:effectLst/>
                  <a:uLnTx/>
                  <a:uFillTx/>
                  <a:latin typeface="Tahoma"/>
                  <a:ea typeface="+mn-ea"/>
                  <a:cs typeface="+mn-cs"/>
                </a:rPr>
                <a:t>Adoption &amp; Governance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prstClr val="white"/>
                  </a:solidFill>
                  <a:effectLst/>
                  <a:uLnTx/>
                  <a:uFillTx/>
                  <a:latin typeface="Tahoma"/>
                  <a:ea typeface="+mn-ea"/>
                  <a:cs typeface="+mn-cs"/>
                </a:rPr>
                <a:t>(Talent Enablement, Industry Regulatory Guidelines &amp; Compliance)</a:t>
              </a:r>
              <a:endParaRPr kumimoji="0" lang="en-US" sz="1350" b="1" i="0" u="none" strike="noStrike" kern="1200" cap="none" spc="0" normalizeH="0" baseline="0" noProof="0">
                <a:ln>
                  <a:noFill/>
                </a:ln>
                <a:solidFill>
                  <a:prstClr val="white"/>
                </a:solidFill>
                <a:effectLst/>
                <a:uLnTx/>
                <a:uFillTx/>
                <a:latin typeface="Tahoma"/>
                <a:ea typeface="+mn-ea"/>
                <a:cs typeface="+mn-cs"/>
              </a:endParaRPr>
            </a:p>
          </p:txBody>
        </p:sp>
        <p:sp>
          <p:nvSpPr>
            <p:cNvPr id="10" name="Rounded Rectangle 11">
              <a:extLst>
                <a:ext uri="{FF2B5EF4-FFF2-40B4-BE49-F238E27FC236}">
                  <a16:creationId xmlns:a16="http://schemas.microsoft.com/office/drawing/2014/main" id="{AD59920B-3943-3DD6-3AEC-2AD1A8732AF6}"/>
                </a:ext>
              </a:extLst>
            </p:cNvPr>
            <p:cNvSpPr/>
            <p:nvPr/>
          </p:nvSpPr>
          <p:spPr>
            <a:xfrm>
              <a:off x="1445947" y="2943064"/>
              <a:ext cx="2103120" cy="45000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prstClr val="white"/>
                  </a:solidFill>
                  <a:effectLst/>
                  <a:uLnTx/>
                  <a:uFillTx/>
                  <a:latin typeface="Tahoma"/>
                  <a:ea typeface="+mn-ea"/>
                  <a:cs typeface="+mn-cs"/>
                </a:rPr>
                <a:t>Outcome Led AI-Roadmap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prstClr val="white"/>
                  </a:solidFill>
                  <a:effectLst/>
                  <a:uLnTx/>
                  <a:uFillTx/>
                  <a:latin typeface="Tahoma"/>
                  <a:ea typeface="+mn-ea"/>
                  <a:cs typeface="+mn-cs"/>
                </a:rPr>
                <a:t>(Strategy, Technology Blueprint &amp; Action Plan)</a:t>
              </a:r>
            </a:p>
          </p:txBody>
        </p:sp>
        <p:sp>
          <p:nvSpPr>
            <p:cNvPr id="11" name="Rounded Rectangle 13">
              <a:extLst>
                <a:ext uri="{FF2B5EF4-FFF2-40B4-BE49-F238E27FC236}">
                  <a16:creationId xmlns:a16="http://schemas.microsoft.com/office/drawing/2014/main" id="{39D54F88-EAE5-985E-4C46-0631BF79E947}"/>
                </a:ext>
              </a:extLst>
            </p:cNvPr>
            <p:cNvSpPr/>
            <p:nvPr/>
          </p:nvSpPr>
          <p:spPr>
            <a:xfrm>
              <a:off x="3704512" y="6541548"/>
              <a:ext cx="9108000" cy="8640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prstClr val="white"/>
                  </a:solidFill>
                  <a:effectLst/>
                  <a:uLnTx/>
                  <a:uFillTx/>
                  <a:latin typeface="Tahoma"/>
                  <a:ea typeface="+mn-ea"/>
                  <a:cs typeface="+mn-cs"/>
                </a:rPr>
                <a:t>Enterprise AI Foundation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prstClr val="white"/>
                  </a:solidFill>
                  <a:effectLst/>
                  <a:uLnTx/>
                  <a:uFillTx/>
                  <a:latin typeface="Tahoma"/>
                  <a:ea typeface="+mn-ea"/>
                  <a:cs typeface="+mn-cs"/>
                </a:rPr>
                <a:t>(Infrastructure , Architecture , Data &amp; Model )</a:t>
              </a:r>
            </a:p>
          </p:txBody>
        </p:sp>
        <p:sp>
          <p:nvSpPr>
            <p:cNvPr id="15" name="Rounded Rectangle 15">
              <a:extLst>
                <a:ext uri="{FF2B5EF4-FFF2-40B4-BE49-F238E27FC236}">
                  <a16:creationId xmlns:a16="http://schemas.microsoft.com/office/drawing/2014/main" id="{3E9F0229-F8C9-C8FD-EFF3-15B2FD5E5627}"/>
                </a:ext>
              </a:extLst>
            </p:cNvPr>
            <p:cNvSpPr/>
            <p:nvPr/>
          </p:nvSpPr>
          <p:spPr>
            <a:xfrm>
              <a:off x="3624124" y="3943813"/>
              <a:ext cx="2976406" cy="2438909"/>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prstClr val="white"/>
                  </a:solidFill>
                  <a:effectLst/>
                  <a:uLnTx/>
                  <a:uFillTx/>
                  <a:latin typeface="Tahoma"/>
                  <a:ea typeface="+mn-ea"/>
                  <a:cs typeface="+mn-cs"/>
                </a:rPr>
                <a:t>Industry &amp; Function Focused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prstClr val="white"/>
                  </a:solidFill>
                  <a:effectLst/>
                  <a:uLnTx/>
                  <a:uFillTx/>
                  <a:latin typeface="Tahoma"/>
                  <a:ea typeface="+mn-ea"/>
                  <a:cs typeface="+mn-cs"/>
                </a:rPr>
                <a:t>AI Solutions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prstClr val="white"/>
                  </a:solidFill>
                  <a:effectLst/>
                  <a:uLnTx/>
                  <a:uFillTx/>
                  <a:latin typeface="Tahoma"/>
                  <a:ea typeface="+mn-ea"/>
                  <a:cs typeface="+mn-cs"/>
                </a:rPr>
                <a:t>(Integration Services &amp; Assets)</a:t>
              </a:r>
            </a:p>
          </p:txBody>
        </p:sp>
        <p:sp>
          <p:nvSpPr>
            <p:cNvPr id="19" name="Rounded Rectangle 15">
              <a:extLst>
                <a:ext uri="{FF2B5EF4-FFF2-40B4-BE49-F238E27FC236}">
                  <a16:creationId xmlns:a16="http://schemas.microsoft.com/office/drawing/2014/main" id="{B68FB00C-EDFC-9510-E886-2B38AAAD2A4A}"/>
                </a:ext>
              </a:extLst>
            </p:cNvPr>
            <p:cNvSpPr/>
            <p:nvPr/>
          </p:nvSpPr>
          <p:spPr>
            <a:xfrm>
              <a:off x="6716771" y="3943813"/>
              <a:ext cx="2976406" cy="2438909"/>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prstClr val="white"/>
                  </a:solidFill>
                  <a:effectLst/>
                  <a:uLnTx/>
                  <a:uFillTx/>
                  <a:latin typeface="Tahoma"/>
                  <a:ea typeface="+mn-ea"/>
                  <a:cs typeface="+mn-cs"/>
                </a:rPr>
                <a:t>Agentic Frameworks &amp; Solutions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prstClr val="white"/>
                  </a:solidFill>
                  <a:effectLst/>
                  <a:uLnTx/>
                  <a:uFillTx/>
                  <a:latin typeface="Tahoma"/>
                  <a:ea typeface="+mn-ea"/>
                  <a:cs typeface="+mn-cs"/>
                </a:rPr>
                <a:t>(ROI driven MVP for Scale)</a:t>
              </a:r>
            </a:p>
          </p:txBody>
        </p:sp>
        <p:sp>
          <p:nvSpPr>
            <p:cNvPr id="20" name="Rounded Rectangle 15">
              <a:extLst>
                <a:ext uri="{FF2B5EF4-FFF2-40B4-BE49-F238E27FC236}">
                  <a16:creationId xmlns:a16="http://schemas.microsoft.com/office/drawing/2014/main" id="{20DC451A-B1CF-4C30-EDCE-94E6A77231C2}"/>
                </a:ext>
              </a:extLst>
            </p:cNvPr>
            <p:cNvSpPr/>
            <p:nvPr/>
          </p:nvSpPr>
          <p:spPr>
            <a:xfrm>
              <a:off x="9809419" y="3943813"/>
              <a:ext cx="2976406" cy="2438909"/>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prstClr val="white"/>
                  </a:solidFill>
                  <a:effectLst/>
                  <a:uLnTx/>
                  <a:uFillTx/>
                  <a:latin typeface="Tahoma"/>
                  <a:ea typeface="+mn-ea"/>
                  <a:cs typeface="+mn-cs"/>
                </a:rPr>
                <a:t>Model Lifecycle As a Service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prstClr val="white"/>
                  </a:solidFill>
                  <a:effectLst/>
                  <a:uLnTx/>
                  <a:uFillTx/>
                  <a:latin typeface="Tahoma"/>
                  <a:ea typeface="+mn-ea"/>
                  <a:cs typeface="+mn-cs"/>
                </a:rPr>
                <a:t>(Model Training, deployment, operations with automation)</a:t>
              </a:r>
            </a:p>
          </p:txBody>
        </p:sp>
        <p:sp>
          <p:nvSpPr>
            <p:cNvPr id="21" name="Rounded Rectangle 13">
              <a:extLst>
                <a:ext uri="{FF2B5EF4-FFF2-40B4-BE49-F238E27FC236}">
                  <a16:creationId xmlns:a16="http://schemas.microsoft.com/office/drawing/2014/main" id="{84809E7C-A846-F13F-1783-D2168DBB7936}"/>
                </a:ext>
              </a:extLst>
            </p:cNvPr>
            <p:cNvSpPr/>
            <p:nvPr/>
          </p:nvSpPr>
          <p:spPr>
            <a:xfrm>
              <a:off x="3645616" y="2957578"/>
              <a:ext cx="9108000" cy="8640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prstClr val="white"/>
                  </a:solidFill>
                  <a:effectLst/>
                  <a:uLnTx/>
                  <a:uFillTx/>
                  <a:latin typeface="Tahoma"/>
                  <a:ea typeface="+mn-ea"/>
                  <a:cs typeface="+mn-cs"/>
                </a:rPr>
                <a:t>Responsible 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prstClr val="white"/>
                  </a:solidFill>
                  <a:effectLst/>
                  <a:uLnTx/>
                  <a:uFillTx/>
                  <a:latin typeface="Tahoma"/>
                  <a:ea typeface="+mn-ea"/>
                  <a:cs typeface="+mn-cs"/>
                </a:rPr>
                <a:t>(Controls &amp; Guardrails for Bias, Transparency, Privacy, &amp; Ethical Concerns)</a:t>
              </a:r>
              <a:endParaRPr kumimoji="0" lang="en-US" sz="1050" b="1" i="0" u="none" strike="noStrike" kern="1200" cap="none" spc="0" normalizeH="0" baseline="0" noProof="0">
                <a:ln>
                  <a:noFill/>
                </a:ln>
                <a:solidFill>
                  <a:prstClr val="white"/>
                </a:solidFill>
                <a:effectLst/>
                <a:uLnTx/>
                <a:uFillTx/>
                <a:latin typeface="Tahoma"/>
                <a:ea typeface="+mn-ea"/>
                <a:cs typeface="+mn-cs"/>
              </a:endParaRPr>
            </a:p>
          </p:txBody>
        </p:sp>
        <p:sp>
          <p:nvSpPr>
            <p:cNvPr id="22" name="Rounded Rectangle 11">
              <a:extLst>
                <a:ext uri="{FF2B5EF4-FFF2-40B4-BE49-F238E27FC236}">
                  <a16:creationId xmlns:a16="http://schemas.microsoft.com/office/drawing/2014/main" id="{67F2CB2F-48ED-890C-DC33-44423E4CC2A0}"/>
                </a:ext>
              </a:extLst>
            </p:cNvPr>
            <p:cNvSpPr/>
            <p:nvPr/>
          </p:nvSpPr>
          <p:spPr>
            <a:xfrm>
              <a:off x="12893264" y="2943064"/>
              <a:ext cx="2103120" cy="45000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prstClr val="white"/>
                  </a:solidFill>
                  <a:effectLst/>
                  <a:uLnTx/>
                  <a:uFillTx/>
                  <a:latin typeface="Tahoma"/>
                  <a:ea typeface="+mn-ea"/>
                  <a:cs typeface="+mn-cs"/>
                </a:rPr>
                <a:t>Inference Acceleration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prstClr val="white"/>
                  </a:solidFill>
                  <a:effectLst/>
                  <a:uLnTx/>
                  <a:uFillTx/>
                  <a:latin typeface="Tahoma"/>
                  <a:ea typeface="+mn-ea"/>
                  <a:cs typeface="+mn-cs"/>
                </a:rPr>
                <a:t>(Strategy, Hardware, Architecture &amp; Model Optimizations)</a:t>
              </a:r>
            </a:p>
          </p:txBody>
        </p:sp>
      </p:grpSp>
    </p:spTree>
    <p:extLst>
      <p:ext uri="{BB962C8B-B14F-4D97-AF65-F5344CB8AC3E}">
        <p14:creationId xmlns:p14="http://schemas.microsoft.com/office/powerpoint/2010/main" val="592346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03370-B02B-4816-E62A-A12CEE8887D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1AF9DA4-E8CC-5BD9-6B3D-CE122C264428}"/>
              </a:ext>
            </a:extLst>
          </p:cNvPr>
          <p:cNvSpPr>
            <a:spLocks noGrp="1"/>
          </p:cNvSpPr>
          <p:nvPr>
            <p:ph type="title"/>
          </p:nvPr>
        </p:nvSpPr>
        <p:spPr>
          <a:xfrm>
            <a:off x="300556" y="239009"/>
            <a:ext cx="12062894" cy="945514"/>
          </a:xfrm>
        </p:spPr>
        <p:txBody>
          <a:bodyPr>
            <a:noAutofit/>
          </a:bodyPr>
          <a:lstStyle/>
          <a:p>
            <a:r>
              <a:rPr lang="en-US" sz="2400" kern="100" spc="-23">
                <a:solidFill>
                  <a:schemeClr val="accent2">
                    <a:lumMod val="75000"/>
                  </a:schemeClr>
                </a:solidFill>
                <a:latin typeface="+mn-lt"/>
                <a:ea typeface="Tahoma" panose="020B0604030504040204" pitchFamily="34" charset="0"/>
                <a:cs typeface="Tahoma" panose="020B0604030504040204" pitchFamily="34" charset="0"/>
              </a:rPr>
              <a:t>Coforge Foundational AI Assets </a:t>
            </a:r>
            <a:r>
              <a:rPr lang="en-US" sz="2400">
                <a:latin typeface="+mn-lt"/>
              </a:rPr>
              <a:t>which will help enterprise adopt AI at Scale</a:t>
            </a:r>
          </a:p>
        </p:txBody>
      </p:sp>
      <p:sp>
        <p:nvSpPr>
          <p:cNvPr id="15" name="TextBox 14">
            <a:extLst>
              <a:ext uri="{FF2B5EF4-FFF2-40B4-BE49-F238E27FC236}">
                <a16:creationId xmlns:a16="http://schemas.microsoft.com/office/drawing/2014/main" id="{EEB5BAB9-3B11-6E36-21A9-3418974B486A}"/>
              </a:ext>
            </a:extLst>
          </p:cNvPr>
          <p:cNvSpPr txBox="1"/>
          <p:nvPr/>
        </p:nvSpPr>
        <p:spPr>
          <a:xfrm>
            <a:off x="249523" y="955186"/>
            <a:ext cx="11692953" cy="300082"/>
          </a:xfrm>
          <a:prstGeom prst="rect">
            <a:avLst/>
          </a:prstGeom>
          <a:noFill/>
        </p:spPr>
        <p:txBody>
          <a:bodyPr wrap="square" rtlCol="0">
            <a:spAutoFit/>
          </a:bodyPr>
          <a:lstStyle/>
          <a:p>
            <a:pPr defTabSz="914378">
              <a:defRPr/>
            </a:pPr>
            <a:r>
              <a:rPr lang="en-US" sz="1350">
                <a:solidFill>
                  <a:srgbClr val="505050">
                    <a:lumMod val="75000"/>
                  </a:srgbClr>
                </a:solidFill>
                <a:latin typeface="Tahoma"/>
              </a:rPr>
              <a:t>We are strategically investing in robust foundational AI capabilities assets to serve as the bedrock for enterprise-wide transformation</a:t>
            </a:r>
          </a:p>
        </p:txBody>
      </p:sp>
      <p:grpSp>
        <p:nvGrpSpPr>
          <p:cNvPr id="2" name="Group 1">
            <a:extLst>
              <a:ext uri="{FF2B5EF4-FFF2-40B4-BE49-F238E27FC236}">
                <a16:creationId xmlns:a16="http://schemas.microsoft.com/office/drawing/2014/main" id="{E79201F9-A245-4A08-8384-DAB6100326C5}"/>
              </a:ext>
            </a:extLst>
          </p:cNvPr>
          <p:cNvGrpSpPr/>
          <p:nvPr/>
        </p:nvGrpSpPr>
        <p:grpSpPr>
          <a:xfrm>
            <a:off x="354479" y="2121571"/>
            <a:ext cx="11421645" cy="3453056"/>
            <a:chOff x="354479" y="2121571"/>
            <a:chExt cx="11421645" cy="3453056"/>
          </a:xfrm>
        </p:grpSpPr>
        <p:sp>
          <p:nvSpPr>
            <p:cNvPr id="3" name="Freeform: Shape 2">
              <a:extLst>
                <a:ext uri="{FF2B5EF4-FFF2-40B4-BE49-F238E27FC236}">
                  <a16:creationId xmlns:a16="http://schemas.microsoft.com/office/drawing/2014/main" id="{A8339CA4-C4DF-5780-3319-C080D2A42843}"/>
                </a:ext>
              </a:extLst>
            </p:cNvPr>
            <p:cNvSpPr/>
            <p:nvPr/>
          </p:nvSpPr>
          <p:spPr>
            <a:xfrm>
              <a:off x="354479" y="2121571"/>
              <a:ext cx="2656196" cy="1593718"/>
            </a:xfrm>
            <a:custGeom>
              <a:avLst/>
              <a:gdLst>
                <a:gd name="connsiteX0" fmla="*/ 0 w 2656196"/>
                <a:gd name="connsiteY0" fmla="*/ 0 h 1593718"/>
                <a:gd name="connsiteX1" fmla="*/ 2656196 w 2656196"/>
                <a:gd name="connsiteY1" fmla="*/ 0 h 1593718"/>
                <a:gd name="connsiteX2" fmla="*/ 2656196 w 2656196"/>
                <a:gd name="connsiteY2" fmla="*/ 1593718 h 1593718"/>
                <a:gd name="connsiteX3" fmla="*/ 0 w 2656196"/>
                <a:gd name="connsiteY3" fmla="*/ 1593718 h 1593718"/>
                <a:gd name="connsiteX4" fmla="*/ 0 w 2656196"/>
                <a:gd name="connsiteY4" fmla="*/ 0 h 1593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6196" h="1593718">
                  <a:moveTo>
                    <a:pt x="0" y="0"/>
                  </a:moveTo>
                  <a:lnTo>
                    <a:pt x="2656196" y="0"/>
                  </a:lnTo>
                  <a:lnTo>
                    <a:pt x="2656196" y="1593718"/>
                  </a:lnTo>
                  <a:lnTo>
                    <a:pt x="0" y="1593718"/>
                  </a:lnTo>
                  <a:lnTo>
                    <a:pt x="0" y="0"/>
                  </a:lnTo>
                  <a:close/>
                </a:path>
              </a:pathLst>
            </a:custGeom>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endParaRPr lang="en-US" sz="1800" kern="1200">
                <a:latin typeface="+mn-lt"/>
              </a:endParaRPr>
            </a:p>
            <a:p>
              <a:pPr marL="0" lvl="0" indent="0" algn="ctr" defTabSz="800100">
                <a:lnSpc>
                  <a:spcPct val="90000"/>
                </a:lnSpc>
                <a:spcBef>
                  <a:spcPct val="0"/>
                </a:spcBef>
                <a:spcAft>
                  <a:spcPct val="35000"/>
                </a:spcAft>
                <a:buNone/>
              </a:pPr>
              <a:endParaRPr lang="en-US" sz="1800" kern="1200">
                <a:latin typeface="+mn-lt"/>
              </a:endParaRPr>
            </a:p>
            <a:p>
              <a:pPr marL="0" lvl="0" indent="0" algn="ctr" defTabSz="800100">
                <a:lnSpc>
                  <a:spcPct val="90000"/>
                </a:lnSpc>
                <a:spcBef>
                  <a:spcPct val="0"/>
                </a:spcBef>
                <a:spcAft>
                  <a:spcPct val="35000"/>
                </a:spcAft>
                <a:buNone/>
              </a:pPr>
              <a:r>
                <a:rPr lang="en-US" sz="1600" b="1" kern="1200">
                  <a:latin typeface="+mn-lt"/>
                </a:rPr>
                <a:t>Coforge Quasar Market Place</a:t>
              </a:r>
            </a:p>
            <a:p>
              <a:pPr marL="0" lvl="0" indent="0" algn="ctr" defTabSz="800100">
                <a:lnSpc>
                  <a:spcPct val="90000"/>
                </a:lnSpc>
                <a:spcBef>
                  <a:spcPct val="0"/>
                </a:spcBef>
                <a:spcAft>
                  <a:spcPct val="35000"/>
                </a:spcAft>
                <a:buNone/>
              </a:pPr>
              <a:r>
                <a:rPr lang="en-US" sz="1100" kern="1200">
                  <a:latin typeface="+mn-lt"/>
                </a:rPr>
                <a:t>Curated Architecture Patterns  designed to accelerate business transformation and unlock new possibilities</a:t>
              </a:r>
            </a:p>
            <a:p>
              <a:pPr marL="0" lvl="0" indent="0" algn="ctr" defTabSz="800100">
                <a:lnSpc>
                  <a:spcPct val="90000"/>
                </a:lnSpc>
                <a:spcBef>
                  <a:spcPct val="0"/>
                </a:spcBef>
                <a:spcAft>
                  <a:spcPct val="35000"/>
                </a:spcAft>
                <a:buNone/>
              </a:pPr>
              <a:endParaRPr lang="en-IN" sz="1800" kern="1200">
                <a:latin typeface="+mn-lt"/>
              </a:endParaRPr>
            </a:p>
          </p:txBody>
        </p:sp>
        <p:sp>
          <p:nvSpPr>
            <p:cNvPr id="4" name="Freeform: Shape 3">
              <a:extLst>
                <a:ext uri="{FF2B5EF4-FFF2-40B4-BE49-F238E27FC236}">
                  <a16:creationId xmlns:a16="http://schemas.microsoft.com/office/drawing/2014/main" id="{15E79529-BC1E-0959-6AA9-59E7D2A39CDB}"/>
                </a:ext>
              </a:extLst>
            </p:cNvPr>
            <p:cNvSpPr/>
            <p:nvPr/>
          </p:nvSpPr>
          <p:spPr>
            <a:xfrm>
              <a:off x="3276295" y="2121571"/>
              <a:ext cx="2656196" cy="1593718"/>
            </a:xfrm>
            <a:custGeom>
              <a:avLst/>
              <a:gdLst>
                <a:gd name="connsiteX0" fmla="*/ 0 w 2656196"/>
                <a:gd name="connsiteY0" fmla="*/ 0 h 1593718"/>
                <a:gd name="connsiteX1" fmla="*/ 2656196 w 2656196"/>
                <a:gd name="connsiteY1" fmla="*/ 0 h 1593718"/>
                <a:gd name="connsiteX2" fmla="*/ 2656196 w 2656196"/>
                <a:gd name="connsiteY2" fmla="*/ 1593718 h 1593718"/>
                <a:gd name="connsiteX3" fmla="*/ 0 w 2656196"/>
                <a:gd name="connsiteY3" fmla="*/ 1593718 h 1593718"/>
                <a:gd name="connsiteX4" fmla="*/ 0 w 2656196"/>
                <a:gd name="connsiteY4" fmla="*/ 0 h 1593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6196" h="1593718">
                  <a:moveTo>
                    <a:pt x="0" y="0"/>
                  </a:moveTo>
                  <a:lnTo>
                    <a:pt x="2656196" y="0"/>
                  </a:lnTo>
                  <a:lnTo>
                    <a:pt x="2656196" y="1593718"/>
                  </a:lnTo>
                  <a:lnTo>
                    <a:pt x="0" y="1593718"/>
                  </a:lnTo>
                  <a:lnTo>
                    <a:pt x="0" y="0"/>
                  </a:lnTo>
                  <a:close/>
                </a:path>
              </a:pathLst>
            </a:custGeom>
          </p:spPr>
          <p:style>
            <a:lnRef idx="3">
              <a:schemeClr val="lt1">
                <a:hueOff val="0"/>
                <a:satOff val="0"/>
                <a:lumOff val="0"/>
                <a:alphaOff val="0"/>
              </a:schemeClr>
            </a:lnRef>
            <a:fillRef idx="1">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89000">
                <a:lnSpc>
                  <a:spcPct val="90000"/>
                </a:lnSpc>
                <a:spcBef>
                  <a:spcPct val="0"/>
                </a:spcBef>
                <a:spcAft>
                  <a:spcPct val="35000"/>
                </a:spcAft>
                <a:buNone/>
              </a:pPr>
              <a:endParaRPr lang="en-US" sz="1800" kern="1200">
                <a:latin typeface="+mn-lt"/>
              </a:endParaRPr>
            </a:p>
            <a:p>
              <a:pPr marL="0" lvl="0" indent="0" algn="ctr" defTabSz="889000">
                <a:lnSpc>
                  <a:spcPct val="90000"/>
                </a:lnSpc>
                <a:spcBef>
                  <a:spcPct val="0"/>
                </a:spcBef>
                <a:spcAft>
                  <a:spcPct val="35000"/>
                </a:spcAft>
                <a:buNone/>
              </a:pPr>
              <a:r>
                <a:rPr lang="en-US" sz="1600" b="1" kern="1200">
                  <a:solidFill>
                    <a:prstClr val="white"/>
                  </a:solidFill>
                  <a:latin typeface="+mn-lt"/>
                  <a:ea typeface="+mn-ea"/>
                  <a:cs typeface="+mn-cs"/>
                </a:rPr>
                <a:t>Coforge AI Studio</a:t>
              </a:r>
            </a:p>
            <a:p>
              <a:pPr marL="0" lvl="0" indent="0" algn="ctr" defTabSz="889000">
                <a:lnSpc>
                  <a:spcPct val="90000"/>
                </a:lnSpc>
                <a:spcBef>
                  <a:spcPct val="0"/>
                </a:spcBef>
                <a:spcAft>
                  <a:spcPct val="35000"/>
                </a:spcAft>
                <a:buNone/>
              </a:pPr>
              <a:r>
                <a:rPr lang="en-US" sz="1100" kern="1200" noProof="0">
                  <a:latin typeface="+mn-lt"/>
                  <a:ea typeface="+mn-ea"/>
                  <a:cs typeface="+mn-cs"/>
                </a:rPr>
                <a:t>Comprehensive Tooling to Support AI Lifecycle Engineering</a:t>
              </a:r>
              <a:endParaRPr lang="en-US" sz="1100" kern="1200">
                <a:latin typeface="+mn-lt"/>
                <a:ea typeface="+mn-ea"/>
                <a:cs typeface="+mn-cs"/>
              </a:endParaRPr>
            </a:p>
            <a:p>
              <a:pPr marL="0" lvl="0" indent="0" algn="ctr" defTabSz="889000">
                <a:lnSpc>
                  <a:spcPct val="90000"/>
                </a:lnSpc>
                <a:spcBef>
                  <a:spcPct val="0"/>
                </a:spcBef>
                <a:spcAft>
                  <a:spcPct val="35000"/>
                </a:spcAft>
                <a:buNone/>
              </a:pPr>
              <a:endParaRPr lang="en-IN" sz="2000" kern="1200">
                <a:latin typeface="+mn-lt"/>
              </a:endParaRPr>
            </a:p>
          </p:txBody>
        </p:sp>
        <p:sp>
          <p:nvSpPr>
            <p:cNvPr id="5" name="Freeform: Shape 4">
              <a:extLst>
                <a:ext uri="{FF2B5EF4-FFF2-40B4-BE49-F238E27FC236}">
                  <a16:creationId xmlns:a16="http://schemas.microsoft.com/office/drawing/2014/main" id="{DD39CFC7-4199-2B9B-7260-D82CA4D7520D}"/>
                </a:ext>
              </a:extLst>
            </p:cNvPr>
            <p:cNvSpPr/>
            <p:nvPr/>
          </p:nvSpPr>
          <p:spPr>
            <a:xfrm>
              <a:off x="6198112" y="2121571"/>
              <a:ext cx="2656196" cy="1593718"/>
            </a:xfrm>
            <a:custGeom>
              <a:avLst/>
              <a:gdLst>
                <a:gd name="connsiteX0" fmla="*/ 0 w 2656196"/>
                <a:gd name="connsiteY0" fmla="*/ 0 h 1593718"/>
                <a:gd name="connsiteX1" fmla="*/ 2656196 w 2656196"/>
                <a:gd name="connsiteY1" fmla="*/ 0 h 1593718"/>
                <a:gd name="connsiteX2" fmla="*/ 2656196 w 2656196"/>
                <a:gd name="connsiteY2" fmla="*/ 1593718 h 1593718"/>
                <a:gd name="connsiteX3" fmla="*/ 0 w 2656196"/>
                <a:gd name="connsiteY3" fmla="*/ 1593718 h 1593718"/>
                <a:gd name="connsiteX4" fmla="*/ 0 w 2656196"/>
                <a:gd name="connsiteY4" fmla="*/ 0 h 1593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6196" h="1593718">
                  <a:moveTo>
                    <a:pt x="0" y="0"/>
                  </a:moveTo>
                  <a:lnTo>
                    <a:pt x="2656196" y="0"/>
                  </a:lnTo>
                  <a:lnTo>
                    <a:pt x="2656196" y="1593718"/>
                  </a:lnTo>
                  <a:lnTo>
                    <a:pt x="0" y="1593718"/>
                  </a:lnTo>
                  <a:lnTo>
                    <a:pt x="0" y="0"/>
                  </a:lnTo>
                  <a:close/>
                </a:path>
              </a:pathLst>
            </a:custGeom>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889000">
                <a:lnSpc>
                  <a:spcPct val="90000"/>
                </a:lnSpc>
                <a:spcBef>
                  <a:spcPct val="0"/>
                </a:spcBef>
                <a:spcAft>
                  <a:spcPct val="35000"/>
                </a:spcAft>
                <a:buNone/>
              </a:pPr>
              <a:r>
                <a:rPr lang="en-US" sz="1600" b="1" kern="1200" err="1">
                  <a:solidFill>
                    <a:prstClr val="white"/>
                  </a:solidFill>
                  <a:latin typeface="+mn-lt"/>
                  <a:ea typeface="+mn-ea"/>
                  <a:cs typeface="+mn-cs"/>
                </a:rPr>
                <a:t>AgentSphere</a:t>
              </a:r>
              <a:r>
                <a:rPr lang="en-US" sz="1600" b="1" kern="1200">
                  <a:solidFill>
                    <a:prstClr val="white"/>
                  </a:solidFill>
                  <a:latin typeface="+mn-lt"/>
                  <a:ea typeface="+mn-ea"/>
                  <a:cs typeface="+mn-cs"/>
                </a:rPr>
                <a:t> by Coforge</a:t>
              </a:r>
            </a:p>
            <a:p>
              <a:pPr marL="0" lvl="0" indent="0" algn="ctr" defTabSz="889000">
                <a:lnSpc>
                  <a:spcPct val="90000"/>
                </a:lnSpc>
                <a:spcBef>
                  <a:spcPct val="0"/>
                </a:spcBef>
                <a:spcAft>
                  <a:spcPct val="35000"/>
                </a:spcAft>
                <a:buNone/>
              </a:pPr>
              <a:r>
                <a:rPr lang="en-US" sz="1100" kern="1200" noProof="0">
                  <a:latin typeface="+mn-lt"/>
                  <a:ea typeface="+mn-ea"/>
                  <a:cs typeface="+mn-cs"/>
                </a:rPr>
                <a:t>Curated agent marketplace with deployable agents</a:t>
              </a:r>
              <a:endParaRPr lang="en-IN" sz="1100" kern="1200">
                <a:latin typeface="+mn-lt"/>
                <a:ea typeface="+mn-ea"/>
                <a:cs typeface="+mn-cs"/>
              </a:endParaRPr>
            </a:p>
          </p:txBody>
        </p:sp>
        <p:sp>
          <p:nvSpPr>
            <p:cNvPr id="7" name="Freeform: Shape 6">
              <a:extLst>
                <a:ext uri="{FF2B5EF4-FFF2-40B4-BE49-F238E27FC236}">
                  <a16:creationId xmlns:a16="http://schemas.microsoft.com/office/drawing/2014/main" id="{865C2217-A326-D097-9AB5-9BCE456DC922}"/>
                </a:ext>
              </a:extLst>
            </p:cNvPr>
            <p:cNvSpPr/>
            <p:nvPr/>
          </p:nvSpPr>
          <p:spPr>
            <a:xfrm>
              <a:off x="9119928" y="2121571"/>
              <a:ext cx="2656196" cy="1593718"/>
            </a:xfrm>
            <a:custGeom>
              <a:avLst/>
              <a:gdLst>
                <a:gd name="connsiteX0" fmla="*/ 0 w 2656196"/>
                <a:gd name="connsiteY0" fmla="*/ 0 h 1593718"/>
                <a:gd name="connsiteX1" fmla="*/ 2656196 w 2656196"/>
                <a:gd name="connsiteY1" fmla="*/ 0 h 1593718"/>
                <a:gd name="connsiteX2" fmla="*/ 2656196 w 2656196"/>
                <a:gd name="connsiteY2" fmla="*/ 1593718 h 1593718"/>
                <a:gd name="connsiteX3" fmla="*/ 0 w 2656196"/>
                <a:gd name="connsiteY3" fmla="*/ 1593718 h 1593718"/>
                <a:gd name="connsiteX4" fmla="*/ 0 w 2656196"/>
                <a:gd name="connsiteY4" fmla="*/ 0 h 1593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6196" h="1593718">
                  <a:moveTo>
                    <a:pt x="0" y="0"/>
                  </a:moveTo>
                  <a:lnTo>
                    <a:pt x="2656196" y="0"/>
                  </a:lnTo>
                  <a:lnTo>
                    <a:pt x="2656196" y="1593718"/>
                  </a:lnTo>
                  <a:lnTo>
                    <a:pt x="0" y="1593718"/>
                  </a:lnTo>
                  <a:lnTo>
                    <a:pt x="0" y="0"/>
                  </a:lnTo>
                  <a:close/>
                </a:path>
              </a:pathLst>
            </a:custGeom>
          </p:spPr>
          <p:style>
            <a:lnRef idx="3">
              <a:schemeClr val="lt1">
                <a:hueOff val="0"/>
                <a:satOff val="0"/>
                <a:lumOff val="0"/>
                <a:alphaOff val="0"/>
              </a:schemeClr>
            </a:lnRef>
            <a:fillRef idx="1">
              <a:schemeClr val="accent5">
                <a:hueOff val="0"/>
                <a:satOff val="0"/>
                <a:lumOff val="0"/>
                <a:alphaOff val="0"/>
              </a:schemeClr>
            </a:fillRef>
            <a:effectRef idx="1">
              <a:schemeClr val="accent5">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889000">
                <a:lnSpc>
                  <a:spcPct val="90000"/>
                </a:lnSpc>
                <a:spcBef>
                  <a:spcPct val="0"/>
                </a:spcBef>
                <a:spcAft>
                  <a:spcPct val="35000"/>
                </a:spcAft>
                <a:buNone/>
              </a:pPr>
              <a:r>
                <a:rPr lang="en-US" sz="1600" b="1" kern="1200">
                  <a:solidFill>
                    <a:prstClr val="white"/>
                  </a:solidFill>
                  <a:latin typeface="+mn-lt"/>
                  <a:ea typeface="+mn-ea"/>
                  <a:cs typeface="+mn-cs"/>
                </a:rPr>
                <a:t>Coforge GenAI Central</a:t>
              </a:r>
            </a:p>
            <a:p>
              <a:pPr marL="0" lvl="0" indent="0" algn="ctr" defTabSz="889000">
                <a:lnSpc>
                  <a:spcPct val="90000"/>
                </a:lnSpc>
                <a:spcBef>
                  <a:spcPct val="0"/>
                </a:spcBef>
                <a:spcAft>
                  <a:spcPct val="35000"/>
                </a:spcAft>
                <a:buNone/>
              </a:pPr>
              <a:r>
                <a:rPr lang="en-US" sz="1100" kern="1200">
                  <a:latin typeface="+mn-lt"/>
                  <a:ea typeface="+mn-ea"/>
                  <a:cs typeface="+mn-cs"/>
                  <a:sym typeface="Futura PT Bold"/>
                </a:rPr>
                <a:t>For secure &amp; optimized internal LLM usage</a:t>
              </a:r>
              <a:endParaRPr lang="en-IN" sz="1100" kern="1200">
                <a:latin typeface="+mn-lt"/>
                <a:ea typeface="+mn-ea"/>
                <a:cs typeface="+mn-cs"/>
              </a:endParaRPr>
            </a:p>
          </p:txBody>
        </p:sp>
        <p:sp>
          <p:nvSpPr>
            <p:cNvPr id="8" name="Freeform: Shape 7">
              <a:extLst>
                <a:ext uri="{FF2B5EF4-FFF2-40B4-BE49-F238E27FC236}">
                  <a16:creationId xmlns:a16="http://schemas.microsoft.com/office/drawing/2014/main" id="{9234FD0C-2C91-F119-0628-C834FECBF930}"/>
                </a:ext>
              </a:extLst>
            </p:cNvPr>
            <p:cNvSpPr/>
            <p:nvPr/>
          </p:nvSpPr>
          <p:spPr>
            <a:xfrm>
              <a:off x="354479" y="3980909"/>
              <a:ext cx="2656196" cy="1593718"/>
            </a:xfrm>
            <a:custGeom>
              <a:avLst/>
              <a:gdLst>
                <a:gd name="connsiteX0" fmla="*/ 0 w 2656196"/>
                <a:gd name="connsiteY0" fmla="*/ 0 h 1593718"/>
                <a:gd name="connsiteX1" fmla="*/ 2656196 w 2656196"/>
                <a:gd name="connsiteY1" fmla="*/ 0 h 1593718"/>
                <a:gd name="connsiteX2" fmla="*/ 2656196 w 2656196"/>
                <a:gd name="connsiteY2" fmla="*/ 1593718 h 1593718"/>
                <a:gd name="connsiteX3" fmla="*/ 0 w 2656196"/>
                <a:gd name="connsiteY3" fmla="*/ 1593718 h 1593718"/>
                <a:gd name="connsiteX4" fmla="*/ 0 w 2656196"/>
                <a:gd name="connsiteY4" fmla="*/ 0 h 1593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6196" h="1593718">
                  <a:moveTo>
                    <a:pt x="0" y="0"/>
                  </a:moveTo>
                  <a:lnTo>
                    <a:pt x="2656196" y="0"/>
                  </a:lnTo>
                  <a:lnTo>
                    <a:pt x="2656196" y="1593718"/>
                  </a:lnTo>
                  <a:lnTo>
                    <a:pt x="0" y="1593718"/>
                  </a:lnTo>
                  <a:lnTo>
                    <a:pt x="0" y="0"/>
                  </a:lnTo>
                  <a:close/>
                </a:path>
              </a:pathLst>
            </a:custGeom>
          </p:spPr>
          <p:style>
            <a:lnRef idx="3">
              <a:schemeClr val="lt1">
                <a:hueOff val="0"/>
                <a:satOff val="0"/>
                <a:lumOff val="0"/>
                <a:alphaOff val="0"/>
              </a:schemeClr>
            </a:lnRef>
            <a:fillRef idx="1">
              <a:schemeClr val="accent6">
                <a:hueOff val="0"/>
                <a:satOff val="0"/>
                <a:lumOff val="0"/>
                <a:alphaOff val="0"/>
              </a:schemeClr>
            </a:fillRef>
            <a:effectRef idx="1">
              <a:schemeClr val="accent6">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889000">
                <a:lnSpc>
                  <a:spcPct val="90000"/>
                </a:lnSpc>
                <a:spcBef>
                  <a:spcPct val="0"/>
                </a:spcBef>
                <a:spcAft>
                  <a:spcPct val="35000"/>
                </a:spcAft>
                <a:buNone/>
              </a:pPr>
              <a:r>
                <a:rPr lang="en-US" sz="1600" b="1" kern="1200">
                  <a:solidFill>
                    <a:prstClr val="white"/>
                  </a:solidFill>
                  <a:latin typeface="+mn-lt"/>
                  <a:ea typeface="+mn-ea"/>
                  <a:cs typeface="+mn-cs"/>
                </a:rPr>
                <a:t>Coforge Quasar Gen AI Platform</a:t>
              </a:r>
            </a:p>
            <a:p>
              <a:pPr marL="0" lvl="0" indent="0" algn="ctr" defTabSz="889000">
                <a:lnSpc>
                  <a:spcPct val="90000"/>
                </a:lnSpc>
                <a:spcBef>
                  <a:spcPct val="0"/>
                </a:spcBef>
                <a:spcAft>
                  <a:spcPct val="35000"/>
                </a:spcAft>
                <a:buNone/>
              </a:pPr>
              <a:r>
                <a:rPr lang="en-IN" sz="1100" kern="1200">
                  <a:latin typeface="+mn-lt"/>
                  <a:ea typeface="+mn-ea"/>
                  <a:cs typeface="+mn-cs"/>
                </a:rPr>
                <a:t>Accelerate Gen AI solution deployment having 200+ pre-built Industry Solutions</a:t>
              </a:r>
            </a:p>
          </p:txBody>
        </p:sp>
        <p:sp>
          <p:nvSpPr>
            <p:cNvPr id="9" name="Freeform: Shape 8">
              <a:extLst>
                <a:ext uri="{FF2B5EF4-FFF2-40B4-BE49-F238E27FC236}">
                  <a16:creationId xmlns:a16="http://schemas.microsoft.com/office/drawing/2014/main" id="{7CBD4A8F-5151-0617-042F-A204EB31235A}"/>
                </a:ext>
              </a:extLst>
            </p:cNvPr>
            <p:cNvSpPr/>
            <p:nvPr/>
          </p:nvSpPr>
          <p:spPr>
            <a:xfrm>
              <a:off x="3276295" y="3980909"/>
              <a:ext cx="2656196" cy="1593718"/>
            </a:xfrm>
            <a:custGeom>
              <a:avLst/>
              <a:gdLst>
                <a:gd name="connsiteX0" fmla="*/ 0 w 2656196"/>
                <a:gd name="connsiteY0" fmla="*/ 0 h 1593718"/>
                <a:gd name="connsiteX1" fmla="*/ 2656196 w 2656196"/>
                <a:gd name="connsiteY1" fmla="*/ 0 h 1593718"/>
                <a:gd name="connsiteX2" fmla="*/ 2656196 w 2656196"/>
                <a:gd name="connsiteY2" fmla="*/ 1593718 h 1593718"/>
                <a:gd name="connsiteX3" fmla="*/ 0 w 2656196"/>
                <a:gd name="connsiteY3" fmla="*/ 1593718 h 1593718"/>
                <a:gd name="connsiteX4" fmla="*/ 0 w 2656196"/>
                <a:gd name="connsiteY4" fmla="*/ 0 h 1593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6196" h="1593718">
                  <a:moveTo>
                    <a:pt x="0" y="0"/>
                  </a:moveTo>
                  <a:lnTo>
                    <a:pt x="2656196" y="0"/>
                  </a:lnTo>
                  <a:lnTo>
                    <a:pt x="2656196" y="1593718"/>
                  </a:lnTo>
                  <a:lnTo>
                    <a:pt x="0" y="1593718"/>
                  </a:lnTo>
                  <a:lnTo>
                    <a:pt x="0" y="0"/>
                  </a:lnTo>
                  <a:close/>
                </a:path>
              </a:pathLst>
            </a:custGeom>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889000">
                <a:lnSpc>
                  <a:spcPct val="90000"/>
                </a:lnSpc>
                <a:spcBef>
                  <a:spcPct val="0"/>
                </a:spcBef>
                <a:spcAft>
                  <a:spcPct val="35000"/>
                </a:spcAft>
                <a:buNone/>
              </a:pPr>
              <a:r>
                <a:rPr lang="en-US" sz="1600" b="1" kern="1200">
                  <a:solidFill>
                    <a:prstClr val="white"/>
                  </a:solidFill>
                  <a:latin typeface="+mn-lt"/>
                  <a:ea typeface="+mn-ea"/>
                  <a:cs typeface="+mn-cs"/>
                </a:rPr>
                <a:t>Coforge Trust AI Solution</a:t>
              </a:r>
            </a:p>
            <a:p>
              <a:pPr marL="0" lvl="0" indent="0" algn="ctr" defTabSz="889000">
                <a:lnSpc>
                  <a:spcPct val="90000"/>
                </a:lnSpc>
                <a:spcBef>
                  <a:spcPct val="0"/>
                </a:spcBef>
                <a:spcAft>
                  <a:spcPct val="35000"/>
                </a:spcAft>
                <a:buNone/>
              </a:pPr>
              <a:r>
                <a:rPr lang="en-US" sz="1100" kern="1200">
                  <a:latin typeface="+mn-lt"/>
                  <a:ea typeface="+mn-ea"/>
                  <a:cs typeface="+mn-cs"/>
                </a:rPr>
                <a:t>Secure bridge between users and AI models to confidently adopt and deploy  AI solutions</a:t>
              </a:r>
              <a:endParaRPr lang="en-IN" sz="1100" kern="1200">
                <a:latin typeface="+mn-lt"/>
                <a:ea typeface="+mn-ea"/>
                <a:cs typeface="+mn-cs"/>
              </a:endParaRPr>
            </a:p>
          </p:txBody>
        </p:sp>
        <p:sp>
          <p:nvSpPr>
            <p:cNvPr id="10" name="Freeform: Shape 9">
              <a:extLst>
                <a:ext uri="{FF2B5EF4-FFF2-40B4-BE49-F238E27FC236}">
                  <a16:creationId xmlns:a16="http://schemas.microsoft.com/office/drawing/2014/main" id="{FA426590-08F9-6DBC-4A1A-9A6C7A20BAA4}"/>
                </a:ext>
              </a:extLst>
            </p:cNvPr>
            <p:cNvSpPr/>
            <p:nvPr/>
          </p:nvSpPr>
          <p:spPr>
            <a:xfrm>
              <a:off x="6198112" y="3980909"/>
              <a:ext cx="2656196" cy="1593718"/>
            </a:xfrm>
            <a:custGeom>
              <a:avLst/>
              <a:gdLst>
                <a:gd name="connsiteX0" fmla="*/ 0 w 2656196"/>
                <a:gd name="connsiteY0" fmla="*/ 0 h 1593718"/>
                <a:gd name="connsiteX1" fmla="*/ 2656196 w 2656196"/>
                <a:gd name="connsiteY1" fmla="*/ 0 h 1593718"/>
                <a:gd name="connsiteX2" fmla="*/ 2656196 w 2656196"/>
                <a:gd name="connsiteY2" fmla="*/ 1593718 h 1593718"/>
                <a:gd name="connsiteX3" fmla="*/ 0 w 2656196"/>
                <a:gd name="connsiteY3" fmla="*/ 1593718 h 1593718"/>
                <a:gd name="connsiteX4" fmla="*/ 0 w 2656196"/>
                <a:gd name="connsiteY4" fmla="*/ 0 h 1593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6196" h="1593718">
                  <a:moveTo>
                    <a:pt x="0" y="0"/>
                  </a:moveTo>
                  <a:lnTo>
                    <a:pt x="2656196" y="0"/>
                  </a:lnTo>
                  <a:lnTo>
                    <a:pt x="2656196" y="1593718"/>
                  </a:lnTo>
                  <a:lnTo>
                    <a:pt x="0" y="1593718"/>
                  </a:lnTo>
                  <a:lnTo>
                    <a:pt x="0" y="0"/>
                  </a:lnTo>
                  <a:close/>
                </a:path>
              </a:pathLst>
            </a:custGeom>
          </p:spPr>
          <p:style>
            <a:lnRef idx="3">
              <a:schemeClr val="lt1">
                <a:hueOff val="0"/>
                <a:satOff val="0"/>
                <a:lumOff val="0"/>
                <a:alphaOff val="0"/>
              </a:schemeClr>
            </a:lnRef>
            <a:fillRef idx="1">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76200" tIns="76200" rIns="76200" bIns="76200" numCol="1" spcCol="1270" anchor="ctr" anchorCtr="0">
              <a:noAutofit/>
            </a:bodyPr>
            <a:lstStyle/>
            <a:p>
              <a:pPr marL="0" lvl="0" indent="0" algn="ctr" defTabSz="977900">
                <a:lnSpc>
                  <a:spcPct val="90000"/>
                </a:lnSpc>
                <a:spcBef>
                  <a:spcPct val="0"/>
                </a:spcBef>
                <a:spcAft>
                  <a:spcPct val="35000"/>
                </a:spcAft>
                <a:buNone/>
              </a:pPr>
              <a:r>
                <a:rPr lang="en-US" sz="2000" kern="1200">
                  <a:latin typeface="+mn-lt"/>
                </a:rPr>
                <a:t> </a:t>
              </a:r>
              <a:r>
                <a:rPr lang="en-US" sz="1600" b="1" kern="1200" err="1">
                  <a:solidFill>
                    <a:prstClr val="white"/>
                  </a:solidFill>
                  <a:latin typeface="+mn-lt"/>
                  <a:ea typeface="+mn-ea"/>
                  <a:cs typeface="+mn-cs"/>
                </a:rPr>
                <a:t>LLMRouter</a:t>
              </a:r>
              <a:r>
                <a:rPr lang="en-US" sz="1600" b="1" kern="1200">
                  <a:solidFill>
                    <a:prstClr val="white"/>
                  </a:solidFill>
                  <a:latin typeface="+mn-lt"/>
                  <a:ea typeface="+mn-ea"/>
                  <a:cs typeface="+mn-cs"/>
                </a:rPr>
                <a:t> by Coforge</a:t>
              </a:r>
            </a:p>
            <a:p>
              <a:pPr marL="0" lvl="0" indent="0" algn="ctr" defTabSz="889000">
                <a:lnSpc>
                  <a:spcPct val="90000"/>
                </a:lnSpc>
                <a:spcBef>
                  <a:spcPct val="0"/>
                </a:spcBef>
                <a:spcAft>
                  <a:spcPct val="35000"/>
                </a:spcAft>
                <a:buNone/>
              </a:pPr>
              <a:r>
                <a:rPr lang="en-US" sz="1100" kern="1200">
                  <a:latin typeface="+mn-lt"/>
                  <a:ea typeface="+mn-ea"/>
                  <a:cs typeface="+mn-cs"/>
                </a:rPr>
                <a:t>Intelligent routing system that selects the optimal LLM for each query based on complexity. cost and performance.</a:t>
              </a:r>
              <a:endParaRPr lang="en-IN" sz="1100" kern="1200">
                <a:latin typeface="+mn-lt"/>
                <a:ea typeface="+mn-ea"/>
                <a:cs typeface="+mn-cs"/>
              </a:endParaRPr>
            </a:p>
          </p:txBody>
        </p:sp>
        <p:sp>
          <p:nvSpPr>
            <p:cNvPr id="11" name="Freeform: Shape 10">
              <a:extLst>
                <a:ext uri="{FF2B5EF4-FFF2-40B4-BE49-F238E27FC236}">
                  <a16:creationId xmlns:a16="http://schemas.microsoft.com/office/drawing/2014/main" id="{0B47E97F-9F74-62AF-3603-E656C2F7DEF4}"/>
                </a:ext>
              </a:extLst>
            </p:cNvPr>
            <p:cNvSpPr/>
            <p:nvPr/>
          </p:nvSpPr>
          <p:spPr>
            <a:xfrm>
              <a:off x="9119928" y="3980909"/>
              <a:ext cx="2656196" cy="1593718"/>
            </a:xfrm>
            <a:custGeom>
              <a:avLst/>
              <a:gdLst>
                <a:gd name="connsiteX0" fmla="*/ 0 w 2656196"/>
                <a:gd name="connsiteY0" fmla="*/ 0 h 1593718"/>
                <a:gd name="connsiteX1" fmla="*/ 2656196 w 2656196"/>
                <a:gd name="connsiteY1" fmla="*/ 0 h 1593718"/>
                <a:gd name="connsiteX2" fmla="*/ 2656196 w 2656196"/>
                <a:gd name="connsiteY2" fmla="*/ 1593718 h 1593718"/>
                <a:gd name="connsiteX3" fmla="*/ 0 w 2656196"/>
                <a:gd name="connsiteY3" fmla="*/ 1593718 h 1593718"/>
                <a:gd name="connsiteX4" fmla="*/ 0 w 2656196"/>
                <a:gd name="connsiteY4" fmla="*/ 0 h 1593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6196" h="1593718">
                  <a:moveTo>
                    <a:pt x="0" y="0"/>
                  </a:moveTo>
                  <a:lnTo>
                    <a:pt x="2656196" y="0"/>
                  </a:lnTo>
                  <a:lnTo>
                    <a:pt x="2656196" y="1593718"/>
                  </a:lnTo>
                  <a:lnTo>
                    <a:pt x="0" y="1593718"/>
                  </a:lnTo>
                  <a:lnTo>
                    <a:pt x="0" y="0"/>
                  </a:lnTo>
                  <a:close/>
                </a:path>
              </a:pathLst>
            </a:custGeom>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lvl="0" indent="0" algn="ctr" defTabSz="889000">
                <a:lnSpc>
                  <a:spcPct val="90000"/>
                </a:lnSpc>
                <a:spcBef>
                  <a:spcPct val="0"/>
                </a:spcBef>
                <a:spcAft>
                  <a:spcPct val="35000"/>
                </a:spcAft>
                <a:buNone/>
              </a:pPr>
              <a:r>
                <a:rPr lang="en-IN" sz="1600" b="1" kern="1200" noProof="0">
                  <a:solidFill>
                    <a:prstClr val="white"/>
                  </a:solidFill>
                  <a:latin typeface="Tahoma"/>
                  <a:ea typeface="+mn-ea"/>
                  <a:cs typeface="+mn-cs"/>
                </a:rPr>
                <a:t>Intelligent Document Processing</a:t>
              </a:r>
            </a:p>
            <a:p>
              <a:pPr marL="0" lvl="0" indent="0" algn="ctr" defTabSz="889000">
                <a:lnSpc>
                  <a:spcPct val="90000"/>
                </a:lnSpc>
                <a:spcBef>
                  <a:spcPct val="0"/>
                </a:spcBef>
                <a:spcAft>
                  <a:spcPct val="35000"/>
                </a:spcAft>
                <a:buNone/>
              </a:pPr>
              <a:r>
                <a:rPr kumimoji="0" lang="en-IN" sz="1100" b="0" i="0" u="none" strike="noStrike" kern="1200" cap="none" spc="0" normalizeH="0" baseline="0" noProof="0">
                  <a:ln>
                    <a:noFill/>
                  </a:ln>
                  <a:solidFill>
                    <a:prstClr val="white"/>
                  </a:solidFill>
                  <a:effectLst/>
                  <a:uLnTx/>
                  <a:uFillTx/>
                  <a:latin typeface="Tahoma"/>
                  <a:ea typeface="+mn-ea"/>
                  <a:cs typeface="+mn-cs"/>
                </a:rPr>
                <a:t>IDP for intelligent document classification and text extraction</a:t>
              </a:r>
              <a:endParaRPr lang="en-IN" sz="1100" kern="1200">
                <a:latin typeface="+mn-lt"/>
                <a:ea typeface="+mn-ea"/>
                <a:cs typeface="+mn-cs"/>
              </a:endParaRPr>
            </a:p>
          </p:txBody>
        </p:sp>
      </p:grpSp>
    </p:spTree>
    <p:extLst>
      <p:ext uri="{BB962C8B-B14F-4D97-AF65-F5344CB8AC3E}">
        <p14:creationId xmlns:p14="http://schemas.microsoft.com/office/powerpoint/2010/main" val="4073581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ADA64-0B8C-4ABB-5006-DCEC122ACB0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A609D2B-394E-30D8-3F02-2AA13A0072F5}"/>
              </a:ext>
            </a:extLst>
          </p:cNvPr>
          <p:cNvSpPr>
            <a:spLocks noGrp="1"/>
          </p:cNvSpPr>
          <p:nvPr>
            <p:ph type="title"/>
          </p:nvPr>
        </p:nvSpPr>
        <p:spPr/>
        <p:txBody>
          <a:bodyPr>
            <a:normAutofit/>
          </a:bodyPr>
          <a:lstStyle/>
          <a:p>
            <a:r>
              <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Outcome-led AI Roadmap: </a:t>
            </a:r>
            <a:r>
              <a:rPr lang="en-US"/>
              <a:t>Our approach to help establish a value-based AI roadmap</a:t>
            </a:r>
            <a:endPar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C6BF094B-F10B-7191-8EE4-B68A20FA5016}"/>
              </a:ext>
            </a:extLst>
          </p:cNvPr>
          <p:cNvSpPr/>
          <p:nvPr/>
        </p:nvSpPr>
        <p:spPr>
          <a:xfrm>
            <a:off x="622417" y="7028651"/>
            <a:ext cx="2523642" cy="36101"/>
          </a:xfrm>
          <a:prstGeom prst="rect">
            <a:avLst/>
          </a:prstGeom>
          <a:solidFill>
            <a:srgbClr val="0F1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18">
              <a:latin typeface="+mj-lt"/>
            </a:endParaRPr>
          </a:p>
        </p:txBody>
      </p:sp>
      <p:grpSp>
        <p:nvGrpSpPr>
          <p:cNvPr id="7" name="Group 6">
            <a:extLst>
              <a:ext uri="{FF2B5EF4-FFF2-40B4-BE49-F238E27FC236}">
                <a16:creationId xmlns:a16="http://schemas.microsoft.com/office/drawing/2014/main" id="{9713D29B-BBE0-C168-1C71-A04095835F7C}"/>
              </a:ext>
            </a:extLst>
          </p:cNvPr>
          <p:cNvGrpSpPr/>
          <p:nvPr/>
        </p:nvGrpSpPr>
        <p:grpSpPr>
          <a:xfrm>
            <a:off x="7193587" y="1119183"/>
            <a:ext cx="4800600" cy="205740"/>
            <a:chOff x="1888842" y="1836371"/>
            <a:chExt cx="8242711" cy="274320"/>
          </a:xfrm>
          <a:solidFill>
            <a:schemeClr val="accent2"/>
          </a:solidFill>
        </p:grpSpPr>
        <p:sp>
          <p:nvSpPr>
            <p:cNvPr id="9" name="Rectangle: Rounded Corners 8">
              <a:extLst>
                <a:ext uri="{FF2B5EF4-FFF2-40B4-BE49-F238E27FC236}">
                  <a16:creationId xmlns:a16="http://schemas.microsoft.com/office/drawing/2014/main" id="{021F8521-F692-A058-865B-51E8405A291D}"/>
                </a:ext>
              </a:extLst>
            </p:cNvPr>
            <p:cNvSpPr/>
            <p:nvPr/>
          </p:nvSpPr>
          <p:spPr>
            <a:xfrm>
              <a:off x="1888842" y="1963807"/>
              <a:ext cx="8229600" cy="457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IN" sz="900">
                <a:solidFill>
                  <a:prstClr val="white"/>
                </a:solidFill>
                <a:latin typeface="Poppins"/>
              </a:endParaRPr>
            </a:p>
          </p:txBody>
        </p:sp>
        <p:sp>
          <p:nvSpPr>
            <p:cNvPr id="10" name="TextBox 9">
              <a:extLst>
                <a:ext uri="{FF2B5EF4-FFF2-40B4-BE49-F238E27FC236}">
                  <a16:creationId xmlns:a16="http://schemas.microsoft.com/office/drawing/2014/main" id="{49FD2768-EA16-CAF0-BE18-FA3B8A2142C6}"/>
                </a:ext>
              </a:extLst>
            </p:cNvPr>
            <p:cNvSpPr txBox="1"/>
            <p:nvPr/>
          </p:nvSpPr>
          <p:spPr>
            <a:xfrm>
              <a:off x="4385579" y="1836371"/>
              <a:ext cx="3657600" cy="27432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defRPr/>
              </a:pPr>
              <a:r>
                <a:rPr lang="en-US" sz="1200">
                  <a:solidFill>
                    <a:prstClr val="white"/>
                  </a:solidFill>
                  <a:latin typeface="Poppins"/>
                </a:rPr>
                <a:t>ASSETS</a:t>
              </a:r>
              <a:endParaRPr lang="hi-IN" sz="1050">
                <a:solidFill>
                  <a:prstClr val="white"/>
                </a:solidFill>
                <a:latin typeface="Poppins"/>
              </a:endParaRPr>
            </a:p>
          </p:txBody>
        </p:sp>
        <p:grpSp>
          <p:nvGrpSpPr>
            <p:cNvPr id="11" name="Group 10">
              <a:extLst>
                <a:ext uri="{FF2B5EF4-FFF2-40B4-BE49-F238E27FC236}">
                  <a16:creationId xmlns:a16="http://schemas.microsoft.com/office/drawing/2014/main" id="{0FD5216C-768C-642F-52C7-2B92740AD95A}"/>
                </a:ext>
              </a:extLst>
            </p:cNvPr>
            <p:cNvGrpSpPr/>
            <p:nvPr/>
          </p:nvGrpSpPr>
          <p:grpSpPr>
            <a:xfrm>
              <a:off x="1888842" y="1887532"/>
              <a:ext cx="686778" cy="173384"/>
              <a:chOff x="10645552" y="925267"/>
              <a:chExt cx="686778" cy="173384"/>
            </a:xfrm>
            <a:grpFill/>
          </p:grpSpPr>
          <p:sp>
            <p:nvSpPr>
              <p:cNvPr id="21" name="Oval 20">
                <a:extLst>
                  <a:ext uri="{FF2B5EF4-FFF2-40B4-BE49-F238E27FC236}">
                    <a16:creationId xmlns:a16="http://schemas.microsoft.com/office/drawing/2014/main" id="{E784A7C7-9D33-1765-4C65-97B7751327C9}"/>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2" name="Oval 21">
                <a:extLst>
                  <a:ext uri="{FF2B5EF4-FFF2-40B4-BE49-F238E27FC236}">
                    <a16:creationId xmlns:a16="http://schemas.microsoft.com/office/drawing/2014/main" id="{A9FD46D9-1289-B07B-3F33-79D060AF7B47}"/>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 name="Oval 22">
                <a:extLst>
                  <a:ext uri="{FF2B5EF4-FFF2-40B4-BE49-F238E27FC236}">
                    <a16:creationId xmlns:a16="http://schemas.microsoft.com/office/drawing/2014/main" id="{ACF6AC90-94BC-3674-EE86-3FDA8CCC804B}"/>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15" name="Group 14">
              <a:extLst>
                <a:ext uri="{FF2B5EF4-FFF2-40B4-BE49-F238E27FC236}">
                  <a16:creationId xmlns:a16="http://schemas.microsoft.com/office/drawing/2014/main" id="{DF372FBB-1321-C510-833B-D85589DDFCE0}"/>
                </a:ext>
              </a:extLst>
            </p:cNvPr>
            <p:cNvGrpSpPr/>
            <p:nvPr/>
          </p:nvGrpSpPr>
          <p:grpSpPr>
            <a:xfrm>
              <a:off x="9444775" y="1898957"/>
              <a:ext cx="686778" cy="173384"/>
              <a:chOff x="10645552" y="925267"/>
              <a:chExt cx="686778" cy="173384"/>
            </a:xfrm>
            <a:grpFill/>
          </p:grpSpPr>
          <p:sp>
            <p:nvSpPr>
              <p:cNvPr id="18" name="Oval 17">
                <a:extLst>
                  <a:ext uri="{FF2B5EF4-FFF2-40B4-BE49-F238E27FC236}">
                    <a16:creationId xmlns:a16="http://schemas.microsoft.com/office/drawing/2014/main" id="{41D4E205-CC60-7679-7FEC-C0762E5F8E2C}"/>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9" name="Oval 18">
                <a:extLst>
                  <a:ext uri="{FF2B5EF4-FFF2-40B4-BE49-F238E27FC236}">
                    <a16:creationId xmlns:a16="http://schemas.microsoft.com/office/drawing/2014/main" id="{0B3797D9-F897-3277-6F0F-C6E3CF3A8BB1}"/>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0" name="Oval 19">
                <a:extLst>
                  <a:ext uri="{FF2B5EF4-FFF2-40B4-BE49-F238E27FC236}">
                    <a16:creationId xmlns:a16="http://schemas.microsoft.com/office/drawing/2014/main" id="{C8554F7F-4490-3DE2-290E-4C28E621E36E}"/>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grpSp>
        <p:nvGrpSpPr>
          <p:cNvPr id="78" name="Group 77">
            <a:extLst>
              <a:ext uri="{FF2B5EF4-FFF2-40B4-BE49-F238E27FC236}">
                <a16:creationId xmlns:a16="http://schemas.microsoft.com/office/drawing/2014/main" id="{B3372A72-8749-4C2B-3510-3E53170ADB23}"/>
              </a:ext>
            </a:extLst>
          </p:cNvPr>
          <p:cNvGrpSpPr/>
          <p:nvPr/>
        </p:nvGrpSpPr>
        <p:grpSpPr>
          <a:xfrm>
            <a:off x="7559272" y="1430434"/>
            <a:ext cx="4114801" cy="1714499"/>
            <a:chOff x="9486831" y="6530983"/>
            <a:chExt cx="6431311" cy="1643760"/>
          </a:xfrm>
        </p:grpSpPr>
        <p:sp>
          <p:nvSpPr>
            <p:cNvPr id="41" name="Rectangle 40">
              <a:extLst>
                <a:ext uri="{FF2B5EF4-FFF2-40B4-BE49-F238E27FC236}">
                  <a16:creationId xmlns:a16="http://schemas.microsoft.com/office/drawing/2014/main" id="{BC39CE17-25AC-1F33-F272-AC420A104040}"/>
                </a:ext>
              </a:extLst>
            </p:cNvPr>
            <p:cNvSpPr/>
            <p:nvPr/>
          </p:nvSpPr>
          <p:spPr>
            <a:xfrm>
              <a:off x="9505867" y="6530983"/>
              <a:ext cx="2011680" cy="45720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Business Alignment Framework</a:t>
              </a:r>
            </a:p>
          </p:txBody>
        </p:sp>
        <p:sp>
          <p:nvSpPr>
            <p:cNvPr id="50" name="Rectangle 49">
              <a:extLst>
                <a:ext uri="{FF2B5EF4-FFF2-40B4-BE49-F238E27FC236}">
                  <a16:creationId xmlns:a16="http://schemas.microsoft.com/office/drawing/2014/main" id="{6C51A1DC-4F8C-8FE6-401A-D44B9581B085}"/>
                </a:ext>
              </a:extLst>
            </p:cNvPr>
            <p:cNvSpPr/>
            <p:nvPr/>
          </p:nvSpPr>
          <p:spPr>
            <a:xfrm>
              <a:off x="11706165" y="6530983"/>
              <a:ext cx="2011680" cy="45720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Use Case Prioritization Matrix</a:t>
              </a:r>
            </a:p>
          </p:txBody>
        </p:sp>
        <p:sp>
          <p:nvSpPr>
            <p:cNvPr id="51" name="Rectangle 50">
              <a:extLst>
                <a:ext uri="{FF2B5EF4-FFF2-40B4-BE49-F238E27FC236}">
                  <a16:creationId xmlns:a16="http://schemas.microsoft.com/office/drawing/2014/main" id="{50BC9540-4501-7F23-372A-EED1C5482A7C}"/>
                </a:ext>
              </a:extLst>
            </p:cNvPr>
            <p:cNvSpPr/>
            <p:nvPr/>
          </p:nvSpPr>
          <p:spPr>
            <a:xfrm>
              <a:off x="13906462" y="6530983"/>
              <a:ext cx="2011680" cy="45720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Value Realization Framework</a:t>
              </a:r>
            </a:p>
          </p:txBody>
        </p:sp>
        <p:sp>
          <p:nvSpPr>
            <p:cNvPr id="52" name="Rectangle 51">
              <a:extLst>
                <a:ext uri="{FF2B5EF4-FFF2-40B4-BE49-F238E27FC236}">
                  <a16:creationId xmlns:a16="http://schemas.microsoft.com/office/drawing/2014/main" id="{E3354DFE-EC1D-98CF-E101-C5087512AA7C}"/>
                </a:ext>
              </a:extLst>
            </p:cNvPr>
            <p:cNvSpPr/>
            <p:nvPr/>
          </p:nvSpPr>
          <p:spPr>
            <a:xfrm>
              <a:off x="9486831" y="7118963"/>
              <a:ext cx="2011680" cy="45720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AI Governance Framework</a:t>
              </a:r>
            </a:p>
          </p:txBody>
        </p:sp>
        <p:sp>
          <p:nvSpPr>
            <p:cNvPr id="53" name="Rectangle 52">
              <a:extLst>
                <a:ext uri="{FF2B5EF4-FFF2-40B4-BE49-F238E27FC236}">
                  <a16:creationId xmlns:a16="http://schemas.microsoft.com/office/drawing/2014/main" id="{AE411E28-9C6E-A451-BCA9-5EA24DBB788D}"/>
                </a:ext>
              </a:extLst>
            </p:cNvPr>
            <p:cNvSpPr/>
            <p:nvPr/>
          </p:nvSpPr>
          <p:spPr>
            <a:xfrm>
              <a:off x="11687129" y="7118963"/>
              <a:ext cx="2011680" cy="45720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AI Adoption Readiness Assessment</a:t>
              </a:r>
            </a:p>
          </p:txBody>
        </p:sp>
        <p:sp>
          <p:nvSpPr>
            <p:cNvPr id="54" name="Rectangle 53">
              <a:extLst>
                <a:ext uri="{FF2B5EF4-FFF2-40B4-BE49-F238E27FC236}">
                  <a16:creationId xmlns:a16="http://schemas.microsoft.com/office/drawing/2014/main" id="{75394606-1CFB-F6F7-0A68-D805009CABFB}"/>
                </a:ext>
              </a:extLst>
            </p:cNvPr>
            <p:cNvSpPr/>
            <p:nvPr/>
          </p:nvSpPr>
          <p:spPr>
            <a:xfrm>
              <a:off x="13887426" y="7118963"/>
              <a:ext cx="2011680" cy="45720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AI Operating Model</a:t>
              </a:r>
            </a:p>
          </p:txBody>
        </p:sp>
        <p:sp>
          <p:nvSpPr>
            <p:cNvPr id="55" name="Rectangle 54">
              <a:extLst>
                <a:ext uri="{FF2B5EF4-FFF2-40B4-BE49-F238E27FC236}">
                  <a16:creationId xmlns:a16="http://schemas.microsoft.com/office/drawing/2014/main" id="{77326427-99D5-661A-5FF3-07377DEBD375}"/>
                </a:ext>
              </a:extLst>
            </p:cNvPr>
            <p:cNvSpPr/>
            <p:nvPr/>
          </p:nvSpPr>
          <p:spPr>
            <a:xfrm>
              <a:off x="9490883" y="7717543"/>
              <a:ext cx="2011680" cy="45720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Roadmap Templates</a:t>
              </a:r>
            </a:p>
          </p:txBody>
        </p:sp>
        <p:sp>
          <p:nvSpPr>
            <p:cNvPr id="56" name="Rectangle 55">
              <a:extLst>
                <a:ext uri="{FF2B5EF4-FFF2-40B4-BE49-F238E27FC236}">
                  <a16:creationId xmlns:a16="http://schemas.microsoft.com/office/drawing/2014/main" id="{EF638078-0A86-77A6-121B-A6A8A3A4AB18}"/>
                </a:ext>
              </a:extLst>
            </p:cNvPr>
            <p:cNvSpPr/>
            <p:nvPr/>
          </p:nvSpPr>
          <p:spPr>
            <a:xfrm>
              <a:off x="11691181" y="7717543"/>
              <a:ext cx="2011680" cy="45720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Ready AI Solutions Across Archetypes</a:t>
              </a:r>
            </a:p>
          </p:txBody>
        </p:sp>
        <p:sp>
          <p:nvSpPr>
            <p:cNvPr id="57" name="Rectangle 56">
              <a:extLst>
                <a:ext uri="{FF2B5EF4-FFF2-40B4-BE49-F238E27FC236}">
                  <a16:creationId xmlns:a16="http://schemas.microsoft.com/office/drawing/2014/main" id="{03B88FA3-75EC-9248-1C0A-32B3DF7C849F}"/>
                </a:ext>
              </a:extLst>
            </p:cNvPr>
            <p:cNvSpPr/>
            <p:nvPr/>
          </p:nvSpPr>
          <p:spPr>
            <a:xfrm>
              <a:off x="13891478" y="7717543"/>
              <a:ext cx="2011680" cy="45720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Pilot Execution Factory</a:t>
              </a:r>
            </a:p>
          </p:txBody>
        </p:sp>
      </p:grpSp>
      <p:grpSp>
        <p:nvGrpSpPr>
          <p:cNvPr id="77" name="Group 76">
            <a:extLst>
              <a:ext uri="{FF2B5EF4-FFF2-40B4-BE49-F238E27FC236}">
                <a16:creationId xmlns:a16="http://schemas.microsoft.com/office/drawing/2014/main" id="{132FD9EA-B9A8-9148-64D7-3DAD77FBDFD8}"/>
              </a:ext>
            </a:extLst>
          </p:cNvPr>
          <p:cNvGrpSpPr/>
          <p:nvPr/>
        </p:nvGrpSpPr>
        <p:grpSpPr>
          <a:xfrm>
            <a:off x="-199755" y="1109244"/>
            <a:ext cx="6776873" cy="5209913"/>
            <a:chOff x="165511" y="2277690"/>
            <a:chExt cx="8535934" cy="5814024"/>
          </a:xfrm>
        </p:grpSpPr>
        <p:sp>
          <p:nvSpPr>
            <p:cNvPr id="2" name="Rectangle 1">
              <a:extLst>
                <a:ext uri="{FF2B5EF4-FFF2-40B4-BE49-F238E27FC236}">
                  <a16:creationId xmlns:a16="http://schemas.microsoft.com/office/drawing/2014/main" id="{3119108F-AEEA-6E4B-D841-DB3155312EF8}"/>
                </a:ext>
              </a:extLst>
            </p:cNvPr>
            <p:cNvSpPr/>
            <p:nvPr/>
          </p:nvSpPr>
          <p:spPr>
            <a:xfrm>
              <a:off x="3470588" y="2277690"/>
              <a:ext cx="4269070" cy="5814024"/>
            </a:xfrm>
            <a:custGeom>
              <a:avLst/>
              <a:gdLst>
                <a:gd name="connsiteX0" fmla="*/ 0 w 3505200"/>
                <a:gd name="connsiteY0" fmla="*/ 0 h 3505200"/>
                <a:gd name="connsiteX1" fmla="*/ 3505200 w 3505200"/>
                <a:gd name="connsiteY1" fmla="*/ 0 h 3505200"/>
                <a:gd name="connsiteX2" fmla="*/ 3505200 w 3505200"/>
                <a:gd name="connsiteY2" fmla="*/ 3505200 h 3505200"/>
                <a:gd name="connsiteX3" fmla="*/ 0 w 3505200"/>
                <a:gd name="connsiteY3" fmla="*/ 3505200 h 3505200"/>
                <a:gd name="connsiteX4" fmla="*/ 0 w 3505200"/>
                <a:gd name="connsiteY4" fmla="*/ 0 h 3505200"/>
                <a:gd name="connsiteX0" fmla="*/ 214313 w 3505200"/>
                <a:gd name="connsiteY0" fmla="*/ 1190625 h 3505200"/>
                <a:gd name="connsiteX1" fmla="*/ 3505200 w 3505200"/>
                <a:gd name="connsiteY1" fmla="*/ 0 h 3505200"/>
                <a:gd name="connsiteX2" fmla="*/ 3505200 w 3505200"/>
                <a:gd name="connsiteY2" fmla="*/ 3505200 h 3505200"/>
                <a:gd name="connsiteX3" fmla="*/ 0 w 3505200"/>
                <a:gd name="connsiteY3" fmla="*/ 3505200 h 3505200"/>
                <a:gd name="connsiteX4" fmla="*/ 214313 w 3505200"/>
                <a:gd name="connsiteY4" fmla="*/ 1190625 h 3505200"/>
                <a:gd name="connsiteX0" fmla="*/ 214313 w 3505200"/>
                <a:gd name="connsiteY0" fmla="*/ 0 h 2314575"/>
                <a:gd name="connsiteX1" fmla="*/ 2124075 w 3505200"/>
                <a:gd name="connsiteY1" fmla="*/ 85725 h 2314575"/>
                <a:gd name="connsiteX2" fmla="*/ 3505200 w 3505200"/>
                <a:gd name="connsiteY2" fmla="*/ 2314575 h 2314575"/>
                <a:gd name="connsiteX3" fmla="*/ 0 w 3505200"/>
                <a:gd name="connsiteY3" fmla="*/ 2314575 h 2314575"/>
                <a:gd name="connsiteX4" fmla="*/ 214313 w 3505200"/>
                <a:gd name="connsiteY4" fmla="*/ 0 h 2314575"/>
                <a:gd name="connsiteX0" fmla="*/ 1276350 w 3505200"/>
                <a:gd name="connsiteY0" fmla="*/ 1138237 h 2228850"/>
                <a:gd name="connsiteX1" fmla="*/ 2124075 w 3505200"/>
                <a:gd name="connsiteY1" fmla="*/ 0 h 2228850"/>
                <a:gd name="connsiteX2" fmla="*/ 3505200 w 3505200"/>
                <a:gd name="connsiteY2" fmla="*/ 2228850 h 2228850"/>
                <a:gd name="connsiteX3" fmla="*/ 0 w 3505200"/>
                <a:gd name="connsiteY3" fmla="*/ 2228850 h 2228850"/>
                <a:gd name="connsiteX4" fmla="*/ 1276350 w 3505200"/>
                <a:gd name="connsiteY4" fmla="*/ 1138237 h 2228850"/>
                <a:gd name="connsiteX0" fmla="*/ 1276350 w 3505200"/>
                <a:gd name="connsiteY0" fmla="*/ 190500 h 1281113"/>
                <a:gd name="connsiteX1" fmla="*/ 2243137 w 3505200"/>
                <a:gd name="connsiteY1" fmla="*/ 0 h 1281113"/>
                <a:gd name="connsiteX2" fmla="*/ 3505200 w 3505200"/>
                <a:gd name="connsiteY2" fmla="*/ 1281113 h 1281113"/>
                <a:gd name="connsiteX3" fmla="*/ 0 w 3505200"/>
                <a:gd name="connsiteY3" fmla="*/ 1281113 h 1281113"/>
                <a:gd name="connsiteX4" fmla="*/ 1276350 w 3505200"/>
                <a:gd name="connsiteY4" fmla="*/ 190500 h 1281113"/>
                <a:gd name="connsiteX0" fmla="*/ 1276350 w 3505200"/>
                <a:gd name="connsiteY0" fmla="*/ 190500 h 1281113"/>
                <a:gd name="connsiteX1" fmla="*/ 2243137 w 3505200"/>
                <a:gd name="connsiteY1" fmla="*/ 0 h 1281113"/>
                <a:gd name="connsiteX2" fmla="*/ 3505200 w 3505200"/>
                <a:gd name="connsiteY2" fmla="*/ 1281113 h 1281113"/>
                <a:gd name="connsiteX3" fmla="*/ 0 w 3505200"/>
                <a:gd name="connsiteY3" fmla="*/ 1281113 h 1281113"/>
                <a:gd name="connsiteX4" fmla="*/ 1276350 w 3505200"/>
                <a:gd name="connsiteY4" fmla="*/ 190500 h 1281113"/>
                <a:gd name="connsiteX0" fmla="*/ 1276350 w 3505200"/>
                <a:gd name="connsiteY0" fmla="*/ 185737 h 1276350"/>
                <a:gd name="connsiteX1" fmla="*/ 2228849 w 3505200"/>
                <a:gd name="connsiteY1" fmla="*/ 0 h 1276350"/>
                <a:gd name="connsiteX2" fmla="*/ 3505200 w 3505200"/>
                <a:gd name="connsiteY2" fmla="*/ 1276350 h 1276350"/>
                <a:gd name="connsiteX3" fmla="*/ 0 w 3505200"/>
                <a:gd name="connsiteY3" fmla="*/ 1276350 h 1276350"/>
                <a:gd name="connsiteX4" fmla="*/ 1276350 w 3505200"/>
                <a:gd name="connsiteY4" fmla="*/ 185737 h 1276350"/>
                <a:gd name="connsiteX0" fmla="*/ 1276350 w 3505200"/>
                <a:gd name="connsiteY0" fmla="*/ 185737 h 1276350"/>
                <a:gd name="connsiteX1" fmla="*/ 2228849 w 3505200"/>
                <a:gd name="connsiteY1" fmla="*/ 0 h 1276350"/>
                <a:gd name="connsiteX2" fmla="*/ 3505200 w 3505200"/>
                <a:gd name="connsiteY2" fmla="*/ 1276350 h 1276350"/>
                <a:gd name="connsiteX3" fmla="*/ 0 w 3505200"/>
                <a:gd name="connsiteY3" fmla="*/ 1276350 h 1276350"/>
                <a:gd name="connsiteX4" fmla="*/ 1276350 w 3505200"/>
                <a:gd name="connsiteY4" fmla="*/ 185737 h 1276350"/>
                <a:gd name="connsiteX0" fmla="*/ 1276350 w 3505200"/>
                <a:gd name="connsiteY0" fmla="*/ 185737 h 1276350"/>
                <a:gd name="connsiteX1" fmla="*/ 2228849 w 3505200"/>
                <a:gd name="connsiteY1" fmla="*/ 0 h 1276350"/>
                <a:gd name="connsiteX2" fmla="*/ 3505200 w 3505200"/>
                <a:gd name="connsiteY2" fmla="*/ 1276350 h 1276350"/>
                <a:gd name="connsiteX3" fmla="*/ 0 w 3505200"/>
                <a:gd name="connsiteY3" fmla="*/ 1276350 h 1276350"/>
                <a:gd name="connsiteX4" fmla="*/ 1276350 w 3505200"/>
                <a:gd name="connsiteY4" fmla="*/ 185737 h 1276350"/>
                <a:gd name="connsiteX0" fmla="*/ 1276350 w 3505200"/>
                <a:gd name="connsiteY0" fmla="*/ 185737 h 1276350"/>
                <a:gd name="connsiteX1" fmla="*/ 2228849 w 3505200"/>
                <a:gd name="connsiteY1" fmla="*/ 0 h 1276350"/>
                <a:gd name="connsiteX2" fmla="*/ 3505200 w 3505200"/>
                <a:gd name="connsiteY2" fmla="*/ 1276350 h 1276350"/>
                <a:gd name="connsiteX3" fmla="*/ 0 w 3505200"/>
                <a:gd name="connsiteY3" fmla="*/ 1276350 h 1276350"/>
                <a:gd name="connsiteX4" fmla="*/ 1276350 w 3505200"/>
                <a:gd name="connsiteY4" fmla="*/ 185737 h 1276350"/>
                <a:gd name="connsiteX0" fmla="*/ 1276350 w 3505200"/>
                <a:gd name="connsiteY0" fmla="*/ 185737 h 1276350"/>
                <a:gd name="connsiteX1" fmla="*/ 2228849 w 3505200"/>
                <a:gd name="connsiteY1" fmla="*/ 0 h 1276350"/>
                <a:gd name="connsiteX2" fmla="*/ 3505200 w 3505200"/>
                <a:gd name="connsiteY2" fmla="*/ 1276350 h 1276350"/>
                <a:gd name="connsiteX3" fmla="*/ 0 w 3505200"/>
                <a:gd name="connsiteY3" fmla="*/ 1276350 h 1276350"/>
                <a:gd name="connsiteX4" fmla="*/ 1276350 w 3505200"/>
                <a:gd name="connsiteY4" fmla="*/ 185737 h 1276350"/>
                <a:gd name="connsiteX0" fmla="*/ 685800 w 3505200"/>
                <a:gd name="connsiteY0" fmla="*/ 314324 h 1276350"/>
                <a:gd name="connsiteX1" fmla="*/ 2228849 w 3505200"/>
                <a:gd name="connsiteY1" fmla="*/ 0 h 1276350"/>
                <a:gd name="connsiteX2" fmla="*/ 3505200 w 3505200"/>
                <a:gd name="connsiteY2" fmla="*/ 1276350 h 1276350"/>
                <a:gd name="connsiteX3" fmla="*/ 0 w 3505200"/>
                <a:gd name="connsiteY3" fmla="*/ 1276350 h 1276350"/>
                <a:gd name="connsiteX4" fmla="*/ 685800 w 3505200"/>
                <a:gd name="connsiteY4" fmla="*/ 314324 h 1276350"/>
                <a:gd name="connsiteX0" fmla="*/ 685800 w 3505200"/>
                <a:gd name="connsiteY0" fmla="*/ 314324 h 1276350"/>
                <a:gd name="connsiteX1" fmla="*/ 2228849 w 3505200"/>
                <a:gd name="connsiteY1" fmla="*/ 0 h 1276350"/>
                <a:gd name="connsiteX2" fmla="*/ 3505200 w 3505200"/>
                <a:gd name="connsiteY2" fmla="*/ 1276350 h 1276350"/>
                <a:gd name="connsiteX3" fmla="*/ 0 w 3505200"/>
                <a:gd name="connsiteY3" fmla="*/ 1276350 h 1276350"/>
                <a:gd name="connsiteX4" fmla="*/ 685800 w 3505200"/>
                <a:gd name="connsiteY4" fmla="*/ 314324 h 1276350"/>
                <a:gd name="connsiteX0" fmla="*/ 685800 w 3505200"/>
                <a:gd name="connsiteY0" fmla="*/ 314324 h 1276350"/>
                <a:gd name="connsiteX1" fmla="*/ 2228849 w 3505200"/>
                <a:gd name="connsiteY1" fmla="*/ 0 h 1276350"/>
                <a:gd name="connsiteX2" fmla="*/ 3505200 w 3505200"/>
                <a:gd name="connsiteY2" fmla="*/ 1276350 h 1276350"/>
                <a:gd name="connsiteX3" fmla="*/ 0 w 3505200"/>
                <a:gd name="connsiteY3" fmla="*/ 1276350 h 1276350"/>
                <a:gd name="connsiteX4" fmla="*/ 685800 w 3505200"/>
                <a:gd name="connsiteY4" fmla="*/ 314324 h 1276350"/>
                <a:gd name="connsiteX0" fmla="*/ 685800 w 3505200"/>
                <a:gd name="connsiteY0" fmla="*/ 314324 h 1276350"/>
                <a:gd name="connsiteX1" fmla="*/ 2228849 w 3505200"/>
                <a:gd name="connsiteY1" fmla="*/ 0 h 1276350"/>
                <a:gd name="connsiteX2" fmla="*/ 3505200 w 3505200"/>
                <a:gd name="connsiteY2" fmla="*/ 1276350 h 1276350"/>
                <a:gd name="connsiteX3" fmla="*/ 0 w 3505200"/>
                <a:gd name="connsiteY3" fmla="*/ 1276350 h 1276350"/>
                <a:gd name="connsiteX4" fmla="*/ 685800 w 3505200"/>
                <a:gd name="connsiteY4" fmla="*/ 314324 h 1276350"/>
                <a:gd name="connsiteX0" fmla="*/ 685800 w 3505200"/>
                <a:gd name="connsiteY0" fmla="*/ 314324 h 1276350"/>
                <a:gd name="connsiteX1" fmla="*/ 1020250 w 3505200"/>
                <a:gd name="connsiteY1" fmla="*/ 238728 h 1276350"/>
                <a:gd name="connsiteX2" fmla="*/ 2228849 w 3505200"/>
                <a:gd name="connsiteY2" fmla="*/ 0 h 1276350"/>
                <a:gd name="connsiteX3" fmla="*/ 3505200 w 3505200"/>
                <a:gd name="connsiteY3" fmla="*/ 1276350 h 1276350"/>
                <a:gd name="connsiteX4" fmla="*/ 0 w 3505200"/>
                <a:gd name="connsiteY4" fmla="*/ 1276350 h 1276350"/>
                <a:gd name="connsiteX5" fmla="*/ 685800 w 3505200"/>
                <a:gd name="connsiteY5" fmla="*/ 314324 h 1276350"/>
                <a:gd name="connsiteX0" fmla="*/ 1065725 w 3885125"/>
                <a:gd name="connsiteY0" fmla="*/ 1390046 h 2352072"/>
                <a:gd name="connsiteX1" fmla="*/ 0 w 3885125"/>
                <a:gd name="connsiteY1" fmla="*/ 0 h 2352072"/>
                <a:gd name="connsiteX2" fmla="*/ 2608774 w 3885125"/>
                <a:gd name="connsiteY2" fmla="*/ 1075722 h 2352072"/>
                <a:gd name="connsiteX3" fmla="*/ 3885125 w 3885125"/>
                <a:gd name="connsiteY3" fmla="*/ 2352072 h 2352072"/>
                <a:gd name="connsiteX4" fmla="*/ 379925 w 3885125"/>
                <a:gd name="connsiteY4" fmla="*/ 2352072 h 2352072"/>
                <a:gd name="connsiteX5" fmla="*/ 1065725 w 3885125"/>
                <a:gd name="connsiteY5" fmla="*/ 1390046 h 2352072"/>
                <a:gd name="connsiteX0" fmla="*/ 1065725 w 3885125"/>
                <a:gd name="connsiteY0" fmla="*/ 1390046 h 2352072"/>
                <a:gd name="connsiteX1" fmla="*/ 0 w 3885125"/>
                <a:gd name="connsiteY1" fmla="*/ 0 h 2352072"/>
                <a:gd name="connsiteX2" fmla="*/ 1352551 w 3885125"/>
                <a:gd name="connsiteY2" fmla="*/ 561975 h 2352072"/>
                <a:gd name="connsiteX3" fmla="*/ 2608774 w 3885125"/>
                <a:gd name="connsiteY3" fmla="*/ 1075722 h 2352072"/>
                <a:gd name="connsiteX4" fmla="*/ 3885125 w 3885125"/>
                <a:gd name="connsiteY4" fmla="*/ 2352072 h 2352072"/>
                <a:gd name="connsiteX5" fmla="*/ 379925 w 3885125"/>
                <a:gd name="connsiteY5" fmla="*/ 2352072 h 2352072"/>
                <a:gd name="connsiteX6" fmla="*/ 1065725 w 3885125"/>
                <a:gd name="connsiteY6" fmla="*/ 1390046 h 2352072"/>
                <a:gd name="connsiteX0" fmla="*/ 1065725 w 3885125"/>
                <a:gd name="connsiteY0" fmla="*/ 1694846 h 2656872"/>
                <a:gd name="connsiteX1" fmla="*/ 0 w 3885125"/>
                <a:gd name="connsiteY1" fmla="*/ 304800 h 2656872"/>
                <a:gd name="connsiteX2" fmla="*/ 871539 w 3885125"/>
                <a:gd name="connsiteY2" fmla="*/ 0 h 2656872"/>
                <a:gd name="connsiteX3" fmla="*/ 2608774 w 3885125"/>
                <a:gd name="connsiteY3" fmla="*/ 1380522 h 2656872"/>
                <a:gd name="connsiteX4" fmla="*/ 3885125 w 3885125"/>
                <a:gd name="connsiteY4" fmla="*/ 2656872 h 2656872"/>
                <a:gd name="connsiteX5" fmla="*/ 379925 w 3885125"/>
                <a:gd name="connsiteY5" fmla="*/ 2656872 h 2656872"/>
                <a:gd name="connsiteX6" fmla="*/ 1065725 w 3885125"/>
                <a:gd name="connsiteY6" fmla="*/ 1694846 h 2656872"/>
                <a:gd name="connsiteX0" fmla="*/ 1065725 w 3885125"/>
                <a:gd name="connsiteY0" fmla="*/ 1694846 h 2656872"/>
                <a:gd name="connsiteX1" fmla="*/ 0 w 3885125"/>
                <a:gd name="connsiteY1" fmla="*/ 304800 h 2656872"/>
                <a:gd name="connsiteX2" fmla="*/ 871539 w 3885125"/>
                <a:gd name="connsiteY2" fmla="*/ 0 h 2656872"/>
                <a:gd name="connsiteX3" fmla="*/ 2608774 w 3885125"/>
                <a:gd name="connsiteY3" fmla="*/ 1380522 h 2656872"/>
                <a:gd name="connsiteX4" fmla="*/ 3885125 w 3885125"/>
                <a:gd name="connsiteY4" fmla="*/ 2656872 h 2656872"/>
                <a:gd name="connsiteX5" fmla="*/ 379925 w 3885125"/>
                <a:gd name="connsiteY5" fmla="*/ 2656872 h 2656872"/>
                <a:gd name="connsiteX6" fmla="*/ 1065725 w 3885125"/>
                <a:gd name="connsiteY6" fmla="*/ 1694846 h 2656872"/>
                <a:gd name="connsiteX0" fmla="*/ 1032387 w 3851787"/>
                <a:gd name="connsiteY0" fmla="*/ 1694846 h 2656872"/>
                <a:gd name="connsiteX1" fmla="*/ 0 w 3851787"/>
                <a:gd name="connsiteY1" fmla="*/ 314325 h 2656872"/>
                <a:gd name="connsiteX2" fmla="*/ 838201 w 3851787"/>
                <a:gd name="connsiteY2" fmla="*/ 0 h 2656872"/>
                <a:gd name="connsiteX3" fmla="*/ 2575436 w 3851787"/>
                <a:gd name="connsiteY3" fmla="*/ 1380522 h 2656872"/>
                <a:gd name="connsiteX4" fmla="*/ 3851787 w 3851787"/>
                <a:gd name="connsiteY4" fmla="*/ 2656872 h 2656872"/>
                <a:gd name="connsiteX5" fmla="*/ 346587 w 3851787"/>
                <a:gd name="connsiteY5" fmla="*/ 2656872 h 2656872"/>
                <a:gd name="connsiteX6" fmla="*/ 1032387 w 3851787"/>
                <a:gd name="connsiteY6" fmla="*/ 1694846 h 2656872"/>
                <a:gd name="connsiteX0" fmla="*/ 1032387 w 3851787"/>
                <a:gd name="connsiteY0" fmla="*/ 1694846 h 2656872"/>
                <a:gd name="connsiteX1" fmla="*/ 0 w 3851787"/>
                <a:gd name="connsiteY1" fmla="*/ 314325 h 2656872"/>
                <a:gd name="connsiteX2" fmla="*/ 838201 w 3851787"/>
                <a:gd name="connsiteY2" fmla="*/ 0 h 2656872"/>
                <a:gd name="connsiteX3" fmla="*/ 2575436 w 3851787"/>
                <a:gd name="connsiteY3" fmla="*/ 1380522 h 2656872"/>
                <a:gd name="connsiteX4" fmla="*/ 3851787 w 3851787"/>
                <a:gd name="connsiteY4" fmla="*/ 2656872 h 2656872"/>
                <a:gd name="connsiteX5" fmla="*/ 346587 w 3851787"/>
                <a:gd name="connsiteY5" fmla="*/ 2656872 h 2656872"/>
                <a:gd name="connsiteX6" fmla="*/ 1032387 w 3851787"/>
                <a:gd name="connsiteY6" fmla="*/ 1694846 h 2656872"/>
                <a:gd name="connsiteX0" fmla="*/ 1032387 w 3851787"/>
                <a:gd name="connsiteY0" fmla="*/ 1694846 h 2656872"/>
                <a:gd name="connsiteX1" fmla="*/ 0 w 3851787"/>
                <a:gd name="connsiteY1" fmla="*/ 314325 h 2656872"/>
                <a:gd name="connsiteX2" fmla="*/ 838201 w 3851787"/>
                <a:gd name="connsiteY2" fmla="*/ 0 h 2656872"/>
                <a:gd name="connsiteX3" fmla="*/ 2575436 w 3851787"/>
                <a:gd name="connsiteY3" fmla="*/ 1380522 h 2656872"/>
                <a:gd name="connsiteX4" fmla="*/ 3851787 w 3851787"/>
                <a:gd name="connsiteY4" fmla="*/ 2656872 h 2656872"/>
                <a:gd name="connsiteX5" fmla="*/ 346587 w 3851787"/>
                <a:gd name="connsiteY5" fmla="*/ 2656872 h 2656872"/>
                <a:gd name="connsiteX6" fmla="*/ 1032387 w 3851787"/>
                <a:gd name="connsiteY6" fmla="*/ 1694846 h 2656872"/>
                <a:gd name="connsiteX0" fmla="*/ 1032387 w 3851787"/>
                <a:gd name="connsiteY0" fmla="*/ 1694846 h 2656872"/>
                <a:gd name="connsiteX1" fmla="*/ 0 w 3851787"/>
                <a:gd name="connsiteY1" fmla="*/ 314325 h 2656872"/>
                <a:gd name="connsiteX2" fmla="*/ 838201 w 3851787"/>
                <a:gd name="connsiteY2" fmla="*/ 0 h 2656872"/>
                <a:gd name="connsiteX3" fmla="*/ 2575436 w 3851787"/>
                <a:gd name="connsiteY3" fmla="*/ 1380522 h 2656872"/>
                <a:gd name="connsiteX4" fmla="*/ 3851787 w 3851787"/>
                <a:gd name="connsiteY4" fmla="*/ 2656872 h 2656872"/>
                <a:gd name="connsiteX5" fmla="*/ 346587 w 3851787"/>
                <a:gd name="connsiteY5" fmla="*/ 2656872 h 2656872"/>
                <a:gd name="connsiteX6" fmla="*/ 1032387 w 3851787"/>
                <a:gd name="connsiteY6" fmla="*/ 1694846 h 2656872"/>
                <a:gd name="connsiteX0" fmla="*/ 1032387 w 3851787"/>
                <a:gd name="connsiteY0" fmla="*/ 1694846 h 2656872"/>
                <a:gd name="connsiteX1" fmla="*/ 0 w 3851787"/>
                <a:gd name="connsiteY1" fmla="*/ 314325 h 2656872"/>
                <a:gd name="connsiteX2" fmla="*/ 838201 w 3851787"/>
                <a:gd name="connsiteY2" fmla="*/ 0 h 2656872"/>
                <a:gd name="connsiteX3" fmla="*/ 2575436 w 3851787"/>
                <a:gd name="connsiteY3" fmla="*/ 1380522 h 2656872"/>
                <a:gd name="connsiteX4" fmla="*/ 3851787 w 3851787"/>
                <a:gd name="connsiteY4" fmla="*/ 2656872 h 2656872"/>
                <a:gd name="connsiteX5" fmla="*/ 346587 w 3851787"/>
                <a:gd name="connsiteY5" fmla="*/ 2656872 h 2656872"/>
                <a:gd name="connsiteX6" fmla="*/ 1032387 w 3851787"/>
                <a:gd name="connsiteY6" fmla="*/ 1694846 h 2656872"/>
                <a:gd name="connsiteX0" fmla="*/ 1032387 w 3851787"/>
                <a:gd name="connsiteY0" fmla="*/ 1699608 h 2661634"/>
                <a:gd name="connsiteX1" fmla="*/ 0 w 3851787"/>
                <a:gd name="connsiteY1" fmla="*/ 319087 h 2661634"/>
                <a:gd name="connsiteX2" fmla="*/ 852489 w 3851787"/>
                <a:gd name="connsiteY2" fmla="*/ 0 h 2661634"/>
                <a:gd name="connsiteX3" fmla="*/ 2575436 w 3851787"/>
                <a:gd name="connsiteY3" fmla="*/ 1385284 h 2661634"/>
                <a:gd name="connsiteX4" fmla="*/ 3851787 w 3851787"/>
                <a:gd name="connsiteY4" fmla="*/ 2661634 h 2661634"/>
                <a:gd name="connsiteX5" fmla="*/ 346587 w 3851787"/>
                <a:gd name="connsiteY5" fmla="*/ 2661634 h 2661634"/>
                <a:gd name="connsiteX6" fmla="*/ 1032387 w 3851787"/>
                <a:gd name="connsiteY6" fmla="*/ 1699608 h 2661634"/>
                <a:gd name="connsiteX0" fmla="*/ 1032387 w 3851787"/>
                <a:gd name="connsiteY0" fmla="*/ 1699608 h 2661634"/>
                <a:gd name="connsiteX1" fmla="*/ 0 w 3851787"/>
                <a:gd name="connsiteY1" fmla="*/ 319087 h 2661634"/>
                <a:gd name="connsiteX2" fmla="*/ 852489 w 3851787"/>
                <a:gd name="connsiteY2" fmla="*/ 0 h 2661634"/>
                <a:gd name="connsiteX3" fmla="*/ 2575436 w 3851787"/>
                <a:gd name="connsiteY3" fmla="*/ 1385284 h 2661634"/>
                <a:gd name="connsiteX4" fmla="*/ 3851787 w 3851787"/>
                <a:gd name="connsiteY4" fmla="*/ 2661634 h 2661634"/>
                <a:gd name="connsiteX5" fmla="*/ 346587 w 3851787"/>
                <a:gd name="connsiteY5" fmla="*/ 2661634 h 2661634"/>
                <a:gd name="connsiteX6" fmla="*/ 1032387 w 3851787"/>
                <a:gd name="connsiteY6" fmla="*/ 1699608 h 2661634"/>
                <a:gd name="connsiteX0" fmla="*/ 1032387 w 3851787"/>
                <a:gd name="connsiteY0" fmla="*/ 1699608 h 2661634"/>
                <a:gd name="connsiteX1" fmla="*/ 0 w 3851787"/>
                <a:gd name="connsiteY1" fmla="*/ 319087 h 2661634"/>
                <a:gd name="connsiteX2" fmla="*/ 185738 w 3851787"/>
                <a:gd name="connsiteY2" fmla="*/ 238124 h 2661634"/>
                <a:gd name="connsiteX3" fmla="*/ 852489 w 3851787"/>
                <a:gd name="connsiteY3" fmla="*/ 0 h 2661634"/>
                <a:gd name="connsiteX4" fmla="*/ 2575436 w 3851787"/>
                <a:gd name="connsiteY4" fmla="*/ 1385284 h 2661634"/>
                <a:gd name="connsiteX5" fmla="*/ 3851787 w 3851787"/>
                <a:gd name="connsiteY5" fmla="*/ 2661634 h 2661634"/>
                <a:gd name="connsiteX6" fmla="*/ 346587 w 3851787"/>
                <a:gd name="connsiteY6" fmla="*/ 2661634 h 2661634"/>
                <a:gd name="connsiteX7" fmla="*/ 1032387 w 3851787"/>
                <a:gd name="connsiteY7" fmla="*/ 1699608 h 2661634"/>
                <a:gd name="connsiteX0" fmla="*/ 1032387 w 3851787"/>
                <a:gd name="connsiteY0" fmla="*/ 2752122 h 3714148"/>
                <a:gd name="connsiteX1" fmla="*/ 0 w 3851787"/>
                <a:gd name="connsiteY1" fmla="*/ 1371601 h 3714148"/>
                <a:gd name="connsiteX2" fmla="*/ 890588 w 3851787"/>
                <a:gd name="connsiteY2" fmla="*/ 0 h 3714148"/>
                <a:gd name="connsiteX3" fmla="*/ 852489 w 3851787"/>
                <a:gd name="connsiteY3" fmla="*/ 1052514 h 3714148"/>
                <a:gd name="connsiteX4" fmla="*/ 2575436 w 3851787"/>
                <a:gd name="connsiteY4" fmla="*/ 2437798 h 3714148"/>
                <a:gd name="connsiteX5" fmla="*/ 3851787 w 3851787"/>
                <a:gd name="connsiteY5" fmla="*/ 3714148 h 3714148"/>
                <a:gd name="connsiteX6" fmla="*/ 346587 w 3851787"/>
                <a:gd name="connsiteY6" fmla="*/ 3714148 h 3714148"/>
                <a:gd name="connsiteX7" fmla="*/ 1032387 w 3851787"/>
                <a:gd name="connsiteY7" fmla="*/ 2752122 h 3714148"/>
                <a:gd name="connsiteX0" fmla="*/ 1032387 w 3851787"/>
                <a:gd name="connsiteY0" fmla="*/ 2752122 h 3714148"/>
                <a:gd name="connsiteX1" fmla="*/ 0 w 3851787"/>
                <a:gd name="connsiteY1" fmla="*/ 1371601 h 3714148"/>
                <a:gd name="connsiteX2" fmla="*/ 890588 w 3851787"/>
                <a:gd name="connsiteY2" fmla="*/ 0 h 3714148"/>
                <a:gd name="connsiteX3" fmla="*/ 881063 w 3851787"/>
                <a:gd name="connsiteY3" fmla="*/ 514351 h 3714148"/>
                <a:gd name="connsiteX4" fmla="*/ 852489 w 3851787"/>
                <a:gd name="connsiteY4" fmla="*/ 1052514 h 3714148"/>
                <a:gd name="connsiteX5" fmla="*/ 2575436 w 3851787"/>
                <a:gd name="connsiteY5" fmla="*/ 2437798 h 3714148"/>
                <a:gd name="connsiteX6" fmla="*/ 3851787 w 3851787"/>
                <a:gd name="connsiteY6" fmla="*/ 3714148 h 3714148"/>
                <a:gd name="connsiteX7" fmla="*/ 346587 w 3851787"/>
                <a:gd name="connsiteY7" fmla="*/ 3714148 h 3714148"/>
                <a:gd name="connsiteX8" fmla="*/ 1032387 w 3851787"/>
                <a:gd name="connsiteY8" fmla="*/ 2752122 h 3714148"/>
                <a:gd name="connsiteX0" fmla="*/ 1032387 w 3851787"/>
                <a:gd name="connsiteY0" fmla="*/ 3047396 h 4009422"/>
                <a:gd name="connsiteX1" fmla="*/ 0 w 3851787"/>
                <a:gd name="connsiteY1" fmla="*/ 1666875 h 4009422"/>
                <a:gd name="connsiteX2" fmla="*/ 890588 w 3851787"/>
                <a:gd name="connsiteY2" fmla="*/ 295274 h 4009422"/>
                <a:gd name="connsiteX3" fmla="*/ 1543051 w 3851787"/>
                <a:gd name="connsiteY3" fmla="*/ 0 h 4009422"/>
                <a:gd name="connsiteX4" fmla="*/ 852489 w 3851787"/>
                <a:gd name="connsiteY4" fmla="*/ 1347788 h 4009422"/>
                <a:gd name="connsiteX5" fmla="*/ 2575436 w 3851787"/>
                <a:gd name="connsiteY5" fmla="*/ 2733072 h 4009422"/>
                <a:gd name="connsiteX6" fmla="*/ 3851787 w 3851787"/>
                <a:gd name="connsiteY6" fmla="*/ 4009422 h 4009422"/>
                <a:gd name="connsiteX7" fmla="*/ 346587 w 3851787"/>
                <a:gd name="connsiteY7" fmla="*/ 4009422 h 4009422"/>
                <a:gd name="connsiteX8" fmla="*/ 1032387 w 3851787"/>
                <a:gd name="connsiteY8" fmla="*/ 3047396 h 4009422"/>
                <a:gd name="connsiteX0" fmla="*/ 1032387 w 3851787"/>
                <a:gd name="connsiteY0" fmla="*/ 3833209 h 4795235"/>
                <a:gd name="connsiteX1" fmla="*/ 0 w 3851787"/>
                <a:gd name="connsiteY1" fmla="*/ 2452688 h 4795235"/>
                <a:gd name="connsiteX2" fmla="*/ 1662113 w 3851787"/>
                <a:gd name="connsiteY2" fmla="*/ 0 h 4795235"/>
                <a:gd name="connsiteX3" fmla="*/ 1543051 w 3851787"/>
                <a:gd name="connsiteY3" fmla="*/ 785813 h 4795235"/>
                <a:gd name="connsiteX4" fmla="*/ 852489 w 3851787"/>
                <a:gd name="connsiteY4" fmla="*/ 2133601 h 4795235"/>
                <a:gd name="connsiteX5" fmla="*/ 2575436 w 3851787"/>
                <a:gd name="connsiteY5" fmla="*/ 3518885 h 4795235"/>
                <a:gd name="connsiteX6" fmla="*/ 3851787 w 3851787"/>
                <a:gd name="connsiteY6" fmla="*/ 4795235 h 4795235"/>
                <a:gd name="connsiteX7" fmla="*/ 346587 w 3851787"/>
                <a:gd name="connsiteY7" fmla="*/ 4795235 h 4795235"/>
                <a:gd name="connsiteX8" fmla="*/ 1032387 w 3851787"/>
                <a:gd name="connsiteY8" fmla="*/ 3833209 h 4795235"/>
                <a:gd name="connsiteX0" fmla="*/ 1032387 w 3851787"/>
                <a:gd name="connsiteY0" fmla="*/ 3833209 h 4795235"/>
                <a:gd name="connsiteX1" fmla="*/ 0 w 3851787"/>
                <a:gd name="connsiteY1" fmla="*/ 2452688 h 4795235"/>
                <a:gd name="connsiteX2" fmla="*/ 1662113 w 3851787"/>
                <a:gd name="connsiteY2" fmla="*/ 0 h 4795235"/>
                <a:gd name="connsiteX3" fmla="*/ 1543051 w 3851787"/>
                <a:gd name="connsiteY3" fmla="*/ 785813 h 4795235"/>
                <a:gd name="connsiteX4" fmla="*/ 919164 w 3851787"/>
                <a:gd name="connsiteY4" fmla="*/ 1695451 h 4795235"/>
                <a:gd name="connsiteX5" fmla="*/ 2575436 w 3851787"/>
                <a:gd name="connsiteY5" fmla="*/ 3518885 h 4795235"/>
                <a:gd name="connsiteX6" fmla="*/ 3851787 w 3851787"/>
                <a:gd name="connsiteY6" fmla="*/ 4795235 h 4795235"/>
                <a:gd name="connsiteX7" fmla="*/ 346587 w 3851787"/>
                <a:gd name="connsiteY7" fmla="*/ 4795235 h 4795235"/>
                <a:gd name="connsiteX8" fmla="*/ 1032387 w 3851787"/>
                <a:gd name="connsiteY8" fmla="*/ 3833209 h 4795235"/>
                <a:gd name="connsiteX0" fmla="*/ 1032387 w 3851787"/>
                <a:gd name="connsiteY0" fmla="*/ 3914171 h 4876197"/>
                <a:gd name="connsiteX1" fmla="*/ 0 w 3851787"/>
                <a:gd name="connsiteY1" fmla="*/ 2533650 h 4876197"/>
                <a:gd name="connsiteX2" fmla="*/ 1662113 w 3851787"/>
                <a:gd name="connsiteY2" fmla="*/ 80962 h 4876197"/>
                <a:gd name="connsiteX3" fmla="*/ 1890713 w 3851787"/>
                <a:gd name="connsiteY3" fmla="*/ 0 h 4876197"/>
                <a:gd name="connsiteX4" fmla="*/ 919164 w 3851787"/>
                <a:gd name="connsiteY4" fmla="*/ 1776413 h 4876197"/>
                <a:gd name="connsiteX5" fmla="*/ 2575436 w 3851787"/>
                <a:gd name="connsiteY5" fmla="*/ 3599847 h 4876197"/>
                <a:gd name="connsiteX6" fmla="*/ 3851787 w 3851787"/>
                <a:gd name="connsiteY6" fmla="*/ 4876197 h 4876197"/>
                <a:gd name="connsiteX7" fmla="*/ 346587 w 3851787"/>
                <a:gd name="connsiteY7" fmla="*/ 4876197 h 4876197"/>
                <a:gd name="connsiteX8" fmla="*/ 1032387 w 3851787"/>
                <a:gd name="connsiteY8" fmla="*/ 3914171 h 4876197"/>
                <a:gd name="connsiteX0" fmla="*/ 1032387 w 3851787"/>
                <a:gd name="connsiteY0" fmla="*/ 3914171 h 4876197"/>
                <a:gd name="connsiteX1" fmla="*/ 0 w 3851787"/>
                <a:gd name="connsiteY1" fmla="*/ 2533650 h 4876197"/>
                <a:gd name="connsiteX2" fmla="*/ 1662113 w 3851787"/>
                <a:gd name="connsiteY2" fmla="*/ 80962 h 4876197"/>
                <a:gd name="connsiteX3" fmla="*/ 1890713 w 3851787"/>
                <a:gd name="connsiteY3" fmla="*/ 0 h 4876197"/>
                <a:gd name="connsiteX4" fmla="*/ 919164 w 3851787"/>
                <a:gd name="connsiteY4" fmla="*/ 1776413 h 4876197"/>
                <a:gd name="connsiteX5" fmla="*/ 2575436 w 3851787"/>
                <a:gd name="connsiteY5" fmla="*/ 3599847 h 4876197"/>
                <a:gd name="connsiteX6" fmla="*/ 3851787 w 3851787"/>
                <a:gd name="connsiteY6" fmla="*/ 4876197 h 4876197"/>
                <a:gd name="connsiteX7" fmla="*/ 346587 w 3851787"/>
                <a:gd name="connsiteY7" fmla="*/ 4876197 h 4876197"/>
                <a:gd name="connsiteX8" fmla="*/ 1032387 w 3851787"/>
                <a:gd name="connsiteY8" fmla="*/ 3914171 h 4876197"/>
                <a:gd name="connsiteX0" fmla="*/ 1032387 w 3851787"/>
                <a:gd name="connsiteY0" fmla="*/ 3914171 h 4876197"/>
                <a:gd name="connsiteX1" fmla="*/ 0 w 3851787"/>
                <a:gd name="connsiteY1" fmla="*/ 2533650 h 4876197"/>
                <a:gd name="connsiteX2" fmla="*/ 1662113 w 3851787"/>
                <a:gd name="connsiteY2" fmla="*/ 80962 h 4876197"/>
                <a:gd name="connsiteX3" fmla="*/ 1890713 w 3851787"/>
                <a:gd name="connsiteY3" fmla="*/ 0 h 4876197"/>
                <a:gd name="connsiteX4" fmla="*/ 919164 w 3851787"/>
                <a:gd name="connsiteY4" fmla="*/ 1776413 h 4876197"/>
                <a:gd name="connsiteX5" fmla="*/ 2575436 w 3851787"/>
                <a:gd name="connsiteY5" fmla="*/ 3599847 h 4876197"/>
                <a:gd name="connsiteX6" fmla="*/ 3851787 w 3851787"/>
                <a:gd name="connsiteY6" fmla="*/ 4876197 h 4876197"/>
                <a:gd name="connsiteX7" fmla="*/ 346587 w 3851787"/>
                <a:gd name="connsiteY7" fmla="*/ 4876197 h 4876197"/>
                <a:gd name="connsiteX8" fmla="*/ 1032387 w 3851787"/>
                <a:gd name="connsiteY8" fmla="*/ 3914171 h 4876197"/>
                <a:gd name="connsiteX0" fmla="*/ 1032387 w 3851787"/>
                <a:gd name="connsiteY0" fmla="*/ 3914171 h 4876197"/>
                <a:gd name="connsiteX1" fmla="*/ 0 w 3851787"/>
                <a:gd name="connsiteY1" fmla="*/ 2533650 h 4876197"/>
                <a:gd name="connsiteX2" fmla="*/ 1662113 w 3851787"/>
                <a:gd name="connsiteY2" fmla="*/ 80962 h 4876197"/>
                <a:gd name="connsiteX3" fmla="*/ 1890713 w 3851787"/>
                <a:gd name="connsiteY3" fmla="*/ 0 h 4876197"/>
                <a:gd name="connsiteX4" fmla="*/ 919164 w 3851787"/>
                <a:gd name="connsiteY4" fmla="*/ 1776413 h 4876197"/>
                <a:gd name="connsiteX5" fmla="*/ 2575436 w 3851787"/>
                <a:gd name="connsiteY5" fmla="*/ 3599847 h 4876197"/>
                <a:gd name="connsiteX6" fmla="*/ 3851787 w 3851787"/>
                <a:gd name="connsiteY6" fmla="*/ 4876197 h 4876197"/>
                <a:gd name="connsiteX7" fmla="*/ 346587 w 3851787"/>
                <a:gd name="connsiteY7" fmla="*/ 4876197 h 4876197"/>
                <a:gd name="connsiteX8" fmla="*/ 1032387 w 3851787"/>
                <a:gd name="connsiteY8" fmla="*/ 3914171 h 4876197"/>
                <a:gd name="connsiteX0" fmla="*/ 1032387 w 3851787"/>
                <a:gd name="connsiteY0" fmla="*/ 3914171 h 4876197"/>
                <a:gd name="connsiteX1" fmla="*/ 0 w 3851787"/>
                <a:gd name="connsiteY1" fmla="*/ 2533650 h 4876197"/>
                <a:gd name="connsiteX2" fmla="*/ 1452563 w 3851787"/>
                <a:gd name="connsiteY2" fmla="*/ 571500 h 4876197"/>
                <a:gd name="connsiteX3" fmla="*/ 1890713 w 3851787"/>
                <a:gd name="connsiteY3" fmla="*/ 0 h 4876197"/>
                <a:gd name="connsiteX4" fmla="*/ 919164 w 3851787"/>
                <a:gd name="connsiteY4" fmla="*/ 1776413 h 4876197"/>
                <a:gd name="connsiteX5" fmla="*/ 2575436 w 3851787"/>
                <a:gd name="connsiteY5" fmla="*/ 3599847 h 4876197"/>
                <a:gd name="connsiteX6" fmla="*/ 3851787 w 3851787"/>
                <a:gd name="connsiteY6" fmla="*/ 4876197 h 4876197"/>
                <a:gd name="connsiteX7" fmla="*/ 346587 w 3851787"/>
                <a:gd name="connsiteY7" fmla="*/ 4876197 h 4876197"/>
                <a:gd name="connsiteX8" fmla="*/ 1032387 w 3851787"/>
                <a:gd name="connsiteY8" fmla="*/ 3914171 h 4876197"/>
                <a:gd name="connsiteX0" fmla="*/ 1032387 w 3851787"/>
                <a:gd name="connsiteY0" fmla="*/ 3914171 h 4876197"/>
                <a:gd name="connsiteX1" fmla="*/ 0 w 3851787"/>
                <a:gd name="connsiteY1" fmla="*/ 2533650 h 4876197"/>
                <a:gd name="connsiteX2" fmla="*/ 1452563 w 3851787"/>
                <a:gd name="connsiteY2" fmla="*/ 571500 h 4876197"/>
                <a:gd name="connsiteX3" fmla="*/ 1890713 w 3851787"/>
                <a:gd name="connsiteY3" fmla="*/ 0 h 4876197"/>
                <a:gd name="connsiteX4" fmla="*/ 919164 w 3851787"/>
                <a:gd name="connsiteY4" fmla="*/ 1776413 h 4876197"/>
                <a:gd name="connsiteX5" fmla="*/ 2575436 w 3851787"/>
                <a:gd name="connsiteY5" fmla="*/ 3599847 h 4876197"/>
                <a:gd name="connsiteX6" fmla="*/ 3851787 w 3851787"/>
                <a:gd name="connsiteY6" fmla="*/ 4876197 h 4876197"/>
                <a:gd name="connsiteX7" fmla="*/ 346587 w 3851787"/>
                <a:gd name="connsiteY7" fmla="*/ 4876197 h 4876197"/>
                <a:gd name="connsiteX8" fmla="*/ 1032387 w 3851787"/>
                <a:gd name="connsiteY8" fmla="*/ 3914171 h 4876197"/>
                <a:gd name="connsiteX0" fmla="*/ 1048054 w 3867454"/>
                <a:gd name="connsiteY0" fmla="*/ 3914171 h 4876197"/>
                <a:gd name="connsiteX1" fmla="*/ 15667 w 3867454"/>
                <a:gd name="connsiteY1" fmla="*/ 2533650 h 4876197"/>
                <a:gd name="connsiteX2" fmla="*/ 1468230 w 3867454"/>
                <a:gd name="connsiteY2" fmla="*/ 571500 h 4876197"/>
                <a:gd name="connsiteX3" fmla="*/ 1906380 w 3867454"/>
                <a:gd name="connsiteY3" fmla="*/ 0 h 4876197"/>
                <a:gd name="connsiteX4" fmla="*/ 934831 w 3867454"/>
                <a:gd name="connsiteY4" fmla="*/ 1776413 h 4876197"/>
                <a:gd name="connsiteX5" fmla="*/ 2591103 w 3867454"/>
                <a:gd name="connsiteY5" fmla="*/ 3599847 h 4876197"/>
                <a:gd name="connsiteX6" fmla="*/ 3867454 w 3867454"/>
                <a:gd name="connsiteY6" fmla="*/ 4876197 h 4876197"/>
                <a:gd name="connsiteX7" fmla="*/ 362254 w 3867454"/>
                <a:gd name="connsiteY7" fmla="*/ 4876197 h 4876197"/>
                <a:gd name="connsiteX8" fmla="*/ 1048054 w 3867454"/>
                <a:gd name="connsiteY8" fmla="*/ 3914171 h 4876197"/>
                <a:gd name="connsiteX0" fmla="*/ 1047046 w 3866446"/>
                <a:gd name="connsiteY0" fmla="*/ 3914171 h 4876197"/>
                <a:gd name="connsiteX1" fmla="*/ 14659 w 3866446"/>
                <a:gd name="connsiteY1" fmla="*/ 2533650 h 4876197"/>
                <a:gd name="connsiteX2" fmla="*/ 1467222 w 3866446"/>
                <a:gd name="connsiteY2" fmla="*/ 571500 h 4876197"/>
                <a:gd name="connsiteX3" fmla="*/ 1905372 w 3866446"/>
                <a:gd name="connsiteY3" fmla="*/ 0 h 4876197"/>
                <a:gd name="connsiteX4" fmla="*/ 933823 w 3866446"/>
                <a:gd name="connsiteY4" fmla="*/ 1776413 h 4876197"/>
                <a:gd name="connsiteX5" fmla="*/ 2590095 w 3866446"/>
                <a:gd name="connsiteY5" fmla="*/ 3599847 h 4876197"/>
                <a:gd name="connsiteX6" fmla="*/ 3866446 w 3866446"/>
                <a:gd name="connsiteY6" fmla="*/ 4876197 h 4876197"/>
                <a:gd name="connsiteX7" fmla="*/ 361246 w 3866446"/>
                <a:gd name="connsiteY7" fmla="*/ 4876197 h 4876197"/>
                <a:gd name="connsiteX8" fmla="*/ 1047046 w 3866446"/>
                <a:gd name="connsiteY8" fmla="*/ 3914171 h 4876197"/>
                <a:gd name="connsiteX0" fmla="*/ 1040520 w 3859920"/>
                <a:gd name="connsiteY0" fmla="*/ 3914171 h 4876197"/>
                <a:gd name="connsiteX1" fmla="*/ 8133 w 3859920"/>
                <a:gd name="connsiteY1" fmla="*/ 2533650 h 4876197"/>
                <a:gd name="connsiteX2" fmla="*/ 1460696 w 3859920"/>
                <a:gd name="connsiteY2" fmla="*/ 571500 h 4876197"/>
                <a:gd name="connsiteX3" fmla="*/ 1898846 w 3859920"/>
                <a:gd name="connsiteY3" fmla="*/ 0 h 4876197"/>
                <a:gd name="connsiteX4" fmla="*/ 927297 w 3859920"/>
                <a:gd name="connsiteY4" fmla="*/ 1776413 h 4876197"/>
                <a:gd name="connsiteX5" fmla="*/ 2583569 w 3859920"/>
                <a:gd name="connsiteY5" fmla="*/ 3599847 h 4876197"/>
                <a:gd name="connsiteX6" fmla="*/ 3859920 w 3859920"/>
                <a:gd name="connsiteY6" fmla="*/ 4876197 h 4876197"/>
                <a:gd name="connsiteX7" fmla="*/ 354720 w 3859920"/>
                <a:gd name="connsiteY7" fmla="*/ 4876197 h 4876197"/>
                <a:gd name="connsiteX8" fmla="*/ 1040520 w 3859920"/>
                <a:gd name="connsiteY8" fmla="*/ 3914171 h 4876197"/>
                <a:gd name="connsiteX0" fmla="*/ 1040358 w 3859758"/>
                <a:gd name="connsiteY0" fmla="*/ 3914171 h 4876197"/>
                <a:gd name="connsiteX1" fmla="*/ 7971 w 3859758"/>
                <a:gd name="connsiteY1" fmla="*/ 2533650 h 4876197"/>
                <a:gd name="connsiteX2" fmla="*/ 1460534 w 3859758"/>
                <a:gd name="connsiteY2" fmla="*/ 571500 h 4876197"/>
                <a:gd name="connsiteX3" fmla="*/ 1898684 w 3859758"/>
                <a:gd name="connsiteY3" fmla="*/ 0 h 4876197"/>
                <a:gd name="connsiteX4" fmla="*/ 927135 w 3859758"/>
                <a:gd name="connsiteY4" fmla="*/ 1776413 h 4876197"/>
                <a:gd name="connsiteX5" fmla="*/ 2583407 w 3859758"/>
                <a:gd name="connsiteY5" fmla="*/ 3599847 h 4876197"/>
                <a:gd name="connsiteX6" fmla="*/ 3859758 w 3859758"/>
                <a:gd name="connsiteY6" fmla="*/ 4876197 h 4876197"/>
                <a:gd name="connsiteX7" fmla="*/ 354558 w 3859758"/>
                <a:gd name="connsiteY7" fmla="*/ 4876197 h 4876197"/>
                <a:gd name="connsiteX8" fmla="*/ 1040358 w 3859758"/>
                <a:gd name="connsiteY8" fmla="*/ 3914171 h 4876197"/>
                <a:gd name="connsiteX0" fmla="*/ 1049818 w 3869218"/>
                <a:gd name="connsiteY0" fmla="*/ 3914171 h 4876197"/>
                <a:gd name="connsiteX1" fmla="*/ 7906 w 3869218"/>
                <a:gd name="connsiteY1" fmla="*/ 2476500 h 4876197"/>
                <a:gd name="connsiteX2" fmla="*/ 1469994 w 3869218"/>
                <a:gd name="connsiteY2" fmla="*/ 571500 h 4876197"/>
                <a:gd name="connsiteX3" fmla="*/ 1908144 w 3869218"/>
                <a:gd name="connsiteY3" fmla="*/ 0 h 4876197"/>
                <a:gd name="connsiteX4" fmla="*/ 936595 w 3869218"/>
                <a:gd name="connsiteY4" fmla="*/ 1776413 h 4876197"/>
                <a:gd name="connsiteX5" fmla="*/ 2592867 w 3869218"/>
                <a:gd name="connsiteY5" fmla="*/ 3599847 h 4876197"/>
                <a:gd name="connsiteX6" fmla="*/ 3869218 w 3869218"/>
                <a:gd name="connsiteY6" fmla="*/ 4876197 h 4876197"/>
                <a:gd name="connsiteX7" fmla="*/ 364018 w 3869218"/>
                <a:gd name="connsiteY7" fmla="*/ 4876197 h 4876197"/>
                <a:gd name="connsiteX8" fmla="*/ 1049818 w 3869218"/>
                <a:gd name="connsiteY8" fmla="*/ 3914171 h 4876197"/>
                <a:gd name="connsiteX0" fmla="*/ 1049818 w 3869218"/>
                <a:gd name="connsiteY0" fmla="*/ 3914171 h 4876197"/>
                <a:gd name="connsiteX1" fmla="*/ 7906 w 3869218"/>
                <a:gd name="connsiteY1" fmla="*/ 2476500 h 4876197"/>
                <a:gd name="connsiteX2" fmla="*/ 1469994 w 3869218"/>
                <a:gd name="connsiteY2" fmla="*/ 571500 h 4876197"/>
                <a:gd name="connsiteX3" fmla="*/ 1908144 w 3869218"/>
                <a:gd name="connsiteY3" fmla="*/ 0 h 4876197"/>
                <a:gd name="connsiteX4" fmla="*/ 936595 w 3869218"/>
                <a:gd name="connsiteY4" fmla="*/ 1776413 h 4876197"/>
                <a:gd name="connsiteX5" fmla="*/ 2592867 w 3869218"/>
                <a:gd name="connsiteY5" fmla="*/ 3599847 h 4876197"/>
                <a:gd name="connsiteX6" fmla="*/ 3869218 w 3869218"/>
                <a:gd name="connsiteY6" fmla="*/ 4876197 h 4876197"/>
                <a:gd name="connsiteX7" fmla="*/ 364018 w 3869218"/>
                <a:gd name="connsiteY7" fmla="*/ 4876197 h 4876197"/>
                <a:gd name="connsiteX8" fmla="*/ 1049818 w 3869218"/>
                <a:gd name="connsiteY8" fmla="*/ 3914171 h 4876197"/>
                <a:gd name="connsiteX0" fmla="*/ 1046972 w 3866372"/>
                <a:gd name="connsiteY0" fmla="*/ 3914171 h 4876197"/>
                <a:gd name="connsiteX1" fmla="*/ 5060 w 3866372"/>
                <a:gd name="connsiteY1" fmla="*/ 2476500 h 4876197"/>
                <a:gd name="connsiteX2" fmla="*/ 1467148 w 3866372"/>
                <a:gd name="connsiteY2" fmla="*/ 571500 h 4876197"/>
                <a:gd name="connsiteX3" fmla="*/ 1905298 w 3866372"/>
                <a:gd name="connsiteY3" fmla="*/ 0 h 4876197"/>
                <a:gd name="connsiteX4" fmla="*/ 933749 w 3866372"/>
                <a:gd name="connsiteY4" fmla="*/ 1776413 h 4876197"/>
                <a:gd name="connsiteX5" fmla="*/ 2590021 w 3866372"/>
                <a:gd name="connsiteY5" fmla="*/ 3599847 h 4876197"/>
                <a:gd name="connsiteX6" fmla="*/ 3866372 w 3866372"/>
                <a:gd name="connsiteY6" fmla="*/ 4876197 h 4876197"/>
                <a:gd name="connsiteX7" fmla="*/ 361172 w 3866372"/>
                <a:gd name="connsiteY7" fmla="*/ 4876197 h 4876197"/>
                <a:gd name="connsiteX8" fmla="*/ 1046972 w 3866372"/>
                <a:gd name="connsiteY8" fmla="*/ 3914171 h 4876197"/>
                <a:gd name="connsiteX0" fmla="*/ 1046869 w 3866269"/>
                <a:gd name="connsiteY0" fmla="*/ 3914171 h 4876197"/>
                <a:gd name="connsiteX1" fmla="*/ 4957 w 3866269"/>
                <a:gd name="connsiteY1" fmla="*/ 2476500 h 4876197"/>
                <a:gd name="connsiteX2" fmla="*/ 1467045 w 3866269"/>
                <a:gd name="connsiteY2" fmla="*/ 571500 h 4876197"/>
                <a:gd name="connsiteX3" fmla="*/ 1905195 w 3866269"/>
                <a:gd name="connsiteY3" fmla="*/ 0 h 4876197"/>
                <a:gd name="connsiteX4" fmla="*/ 933646 w 3866269"/>
                <a:gd name="connsiteY4" fmla="*/ 1776413 h 4876197"/>
                <a:gd name="connsiteX5" fmla="*/ 2589918 w 3866269"/>
                <a:gd name="connsiteY5" fmla="*/ 3599847 h 4876197"/>
                <a:gd name="connsiteX6" fmla="*/ 3866269 w 3866269"/>
                <a:gd name="connsiteY6" fmla="*/ 4876197 h 4876197"/>
                <a:gd name="connsiteX7" fmla="*/ 361069 w 3866269"/>
                <a:gd name="connsiteY7" fmla="*/ 4876197 h 4876197"/>
                <a:gd name="connsiteX8" fmla="*/ 1046869 w 3866269"/>
                <a:gd name="connsiteY8" fmla="*/ 3914171 h 4876197"/>
                <a:gd name="connsiteX0" fmla="*/ 1046869 w 3866269"/>
                <a:gd name="connsiteY0" fmla="*/ 3914171 h 4876197"/>
                <a:gd name="connsiteX1" fmla="*/ 4957 w 3866269"/>
                <a:gd name="connsiteY1" fmla="*/ 2476500 h 4876197"/>
                <a:gd name="connsiteX2" fmla="*/ 1467045 w 3866269"/>
                <a:gd name="connsiteY2" fmla="*/ 571500 h 4876197"/>
                <a:gd name="connsiteX3" fmla="*/ 1905195 w 3866269"/>
                <a:gd name="connsiteY3" fmla="*/ 0 h 4876197"/>
                <a:gd name="connsiteX4" fmla="*/ 933646 w 3866269"/>
                <a:gd name="connsiteY4" fmla="*/ 1776413 h 4876197"/>
                <a:gd name="connsiteX5" fmla="*/ 2589918 w 3866269"/>
                <a:gd name="connsiteY5" fmla="*/ 3599847 h 4876197"/>
                <a:gd name="connsiteX6" fmla="*/ 3866269 w 3866269"/>
                <a:gd name="connsiteY6" fmla="*/ 4876197 h 4876197"/>
                <a:gd name="connsiteX7" fmla="*/ 361069 w 3866269"/>
                <a:gd name="connsiteY7" fmla="*/ 4876197 h 4876197"/>
                <a:gd name="connsiteX8" fmla="*/ 1046869 w 3866269"/>
                <a:gd name="connsiteY8" fmla="*/ 3914171 h 4876197"/>
                <a:gd name="connsiteX0" fmla="*/ 1046869 w 3866269"/>
                <a:gd name="connsiteY0" fmla="*/ 4447571 h 5409597"/>
                <a:gd name="connsiteX1" fmla="*/ 4957 w 3866269"/>
                <a:gd name="connsiteY1" fmla="*/ 3009900 h 5409597"/>
                <a:gd name="connsiteX2" fmla="*/ 1467045 w 3866269"/>
                <a:gd name="connsiteY2" fmla="*/ 1104900 h 5409597"/>
                <a:gd name="connsiteX3" fmla="*/ 1648020 w 3866269"/>
                <a:gd name="connsiteY3" fmla="*/ 0 h 5409597"/>
                <a:gd name="connsiteX4" fmla="*/ 933646 w 3866269"/>
                <a:gd name="connsiteY4" fmla="*/ 2309813 h 5409597"/>
                <a:gd name="connsiteX5" fmla="*/ 2589918 w 3866269"/>
                <a:gd name="connsiteY5" fmla="*/ 4133247 h 5409597"/>
                <a:gd name="connsiteX6" fmla="*/ 3866269 w 3866269"/>
                <a:gd name="connsiteY6" fmla="*/ 5409597 h 5409597"/>
                <a:gd name="connsiteX7" fmla="*/ 361069 w 3866269"/>
                <a:gd name="connsiteY7" fmla="*/ 5409597 h 5409597"/>
                <a:gd name="connsiteX8" fmla="*/ 1046869 w 3866269"/>
                <a:gd name="connsiteY8" fmla="*/ 4447571 h 5409597"/>
                <a:gd name="connsiteX0" fmla="*/ 1046869 w 3866269"/>
                <a:gd name="connsiteY0" fmla="*/ 4447571 h 5409597"/>
                <a:gd name="connsiteX1" fmla="*/ 4957 w 3866269"/>
                <a:gd name="connsiteY1" fmla="*/ 3009900 h 5409597"/>
                <a:gd name="connsiteX2" fmla="*/ 1467045 w 3866269"/>
                <a:gd name="connsiteY2" fmla="*/ 1104900 h 5409597"/>
                <a:gd name="connsiteX3" fmla="*/ 1648020 w 3866269"/>
                <a:gd name="connsiteY3" fmla="*/ 0 h 5409597"/>
                <a:gd name="connsiteX4" fmla="*/ 933646 w 3866269"/>
                <a:gd name="connsiteY4" fmla="*/ 2309813 h 5409597"/>
                <a:gd name="connsiteX5" fmla="*/ 2589918 w 3866269"/>
                <a:gd name="connsiteY5" fmla="*/ 4133247 h 5409597"/>
                <a:gd name="connsiteX6" fmla="*/ 3866269 w 3866269"/>
                <a:gd name="connsiteY6" fmla="*/ 5409597 h 5409597"/>
                <a:gd name="connsiteX7" fmla="*/ 361069 w 3866269"/>
                <a:gd name="connsiteY7" fmla="*/ 5409597 h 5409597"/>
                <a:gd name="connsiteX8" fmla="*/ 1046869 w 3866269"/>
                <a:gd name="connsiteY8" fmla="*/ 4447571 h 5409597"/>
                <a:gd name="connsiteX0" fmla="*/ 1046869 w 3866269"/>
                <a:gd name="connsiteY0" fmla="*/ 4447571 h 5409597"/>
                <a:gd name="connsiteX1" fmla="*/ 4957 w 3866269"/>
                <a:gd name="connsiteY1" fmla="*/ 3009900 h 5409597"/>
                <a:gd name="connsiteX2" fmla="*/ 1467045 w 3866269"/>
                <a:gd name="connsiteY2" fmla="*/ 1104900 h 5409597"/>
                <a:gd name="connsiteX3" fmla="*/ 1648020 w 3866269"/>
                <a:gd name="connsiteY3" fmla="*/ 0 h 5409597"/>
                <a:gd name="connsiteX4" fmla="*/ 933646 w 3866269"/>
                <a:gd name="connsiteY4" fmla="*/ 2309813 h 5409597"/>
                <a:gd name="connsiteX5" fmla="*/ 2589918 w 3866269"/>
                <a:gd name="connsiteY5" fmla="*/ 4133247 h 5409597"/>
                <a:gd name="connsiteX6" fmla="*/ 3866269 w 3866269"/>
                <a:gd name="connsiteY6" fmla="*/ 5409597 h 5409597"/>
                <a:gd name="connsiteX7" fmla="*/ 361069 w 3866269"/>
                <a:gd name="connsiteY7" fmla="*/ 5409597 h 5409597"/>
                <a:gd name="connsiteX8" fmla="*/ 1046869 w 3866269"/>
                <a:gd name="connsiteY8" fmla="*/ 4447571 h 5409597"/>
                <a:gd name="connsiteX0" fmla="*/ 1046849 w 3866249"/>
                <a:gd name="connsiteY0" fmla="*/ 4447571 h 5409597"/>
                <a:gd name="connsiteX1" fmla="*/ 4937 w 3866249"/>
                <a:gd name="connsiteY1" fmla="*/ 3009900 h 5409597"/>
                <a:gd name="connsiteX2" fmla="*/ 1471787 w 3866249"/>
                <a:gd name="connsiteY2" fmla="*/ 9525 h 5409597"/>
                <a:gd name="connsiteX3" fmla="*/ 1648000 w 3866249"/>
                <a:gd name="connsiteY3" fmla="*/ 0 h 5409597"/>
                <a:gd name="connsiteX4" fmla="*/ 933626 w 3866249"/>
                <a:gd name="connsiteY4" fmla="*/ 2309813 h 5409597"/>
                <a:gd name="connsiteX5" fmla="*/ 2589898 w 3866249"/>
                <a:gd name="connsiteY5" fmla="*/ 4133247 h 5409597"/>
                <a:gd name="connsiteX6" fmla="*/ 3866249 w 3866249"/>
                <a:gd name="connsiteY6" fmla="*/ 5409597 h 5409597"/>
                <a:gd name="connsiteX7" fmla="*/ 361049 w 3866249"/>
                <a:gd name="connsiteY7" fmla="*/ 5409597 h 5409597"/>
                <a:gd name="connsiteX8" fmla="*/ 1046849 w 3866249"/>
                <a:gd name="connsiteY8" fmla="*/ 4447571 h 5409597"/>
                <a:gd name="connsiteX0" fmla="*/ 1044258 w 3863658"/>
                <a:gd name="connsiteY0" fmla="*/ 4447571 h 5409597"/>
                <a:gd name="connsiteX1" fmla="*/ 2346 w 3863658"/>
                <a:gd name="connsiteY1" fmla="*/ 3009900 h 5409597"/>
                <a:gd name="connsiteX2" fmla="*/ 1469196 w 3863658"/>
                <a:gd name="connsiteY2" fmla="*/ 9525 h 5409597"/>
                <a:gd name="connsiteX3" fmla="*/ 1645409 w 3863658"/>
                <a:gd name="connsiteY3" fmla="*/ 0 h 5409597"/>
                <a:gd name="connsiteX4" fmla="*/ 931035 w 3863658"/>
                <a:gd name="connsiteY4" fmla="*/ 2309813 h 5409597"/>
                <a:gd name="connsiteX5" fmla="*/ 2587307 w 3863658"/>
                <a:gd name="connsiteY5" fmla="*/ 4133247 h 5409597"/>
                <a:gd name="connsiteX6" fmla="*/ 3863658 w 3863658"/>
                <a:gd name="connsiteY6" fmla="*/ 5409597 h 5409597"/>
                <a:gd name="connsiteX7" fmla="*/ 358458 w 3863658"/>
                <a:gd name="connsiteY7" fmla="*/ 5409597 h 5409597"/>
                <a:gd name="connsiteX8" fmla="*/ 1044258 w 3863658"/>
                <a:gd name="connsiteY8" fmla="*/ 4447571 h 5409597"/>
                <a:gd name="connsiteX0" fmla="*/ 1043364 w 3862764"/>
                <a:gd name="connsiteY0" fmla="*/ 4447571 h 5409597"/>
                <a:gd name="connsiteX1" fmla="*/ 1452 w 3862764"/>
                <a:gd name="connsiteY1" fmla="*/ 3009900 h 5409597"/>
                <a:gd name="connsiteX2" fmla="*/ 1468302 w 3862764"/>
                <a:gd name="connsiteY2" fmla="*/ 9525 h 5409597"/>
                <a:gd name="connsiteX3" fmla="*/ 1644515 w 3862764"/>
                <a:gd name="connsiteY3" fmla="*/ 0 h 5409597"/>
                <a:gd name="connsiteX4" fmla="*/ 930141 w 3862764"/>
                <a:gd name="connsiteY4" fmla="*/ 2309813 h 5409597"/>
                <a:gd name="connsiteX5" fmla="*/ 2586413 w 3862764"/>
                <a:gd name="connsiteY5" fmla="*/ 4133247 h 5409597"/>
                <a:gd name="connsiteX6" fmla="*/ 3862764 w 3862764"/>
                <a:gd name="connsiteY6" fmla="*/ 5409597 h 5409597"/>
                <a:gd name="connsiteX7" fmla="*/ 357564 w 3862764"/>
                <a:gd name="connsiteY7" fmla="*/ 5409597 h 5409597"/>
                <a:gd name="connsiteX8" fmla="*/ 1043364 w 3862764"/>
                <a:gd name="connsiteY8" fmla="*/ 4447571 h 5409597"/>
                <a:gd name="connsiteX0" fmla="*/ 1043331 w 3862731"/>
                <a:gd name="connsiteY0" fmla="*/ 4447571 h 5409597"/>
                <a:gd name="connsiteX1" fmla="*/ 1419 w 3862731"/>
                <a:gd name="connsiteY1" fmla="*/ 3009900 h 5409597"/>
                <a:gd name="connsiteX2" fmla="*/ 1468269 w 3862731"/>
                <a:gd name="connsiteY2" fmla="*/ 9525 h 5409597"/>
                <a:gd name="connsiteX3" fmla="*/ 1644482 w 3862731"/>
                <a:gd name="connsiteY3" fmla="*/ 0 h 5409597"/>
                <a:gd name="connsiteX4" fmla="*/ 930108 w 3862731"/>
                <a:gd name="connsiteY4" fmla="*/ 2309813 h 5409597"/>
                <a:gd name="connsiteX5" fmla="*/ 2586380 w 3862731"/>
                <a:gd name="connsiteY5" fmla="*/ 4133247 h 5409597"/>
                <a:gd name="connsiteX6" fmla="*/ 3862731 w 3862731"/>
                <a:gd name="connsiteY6" fmla="*/ 5409597 h 5409597"/>
                <a:gd name="connsiteX7" fmla="*/ 357531 w 3862731"/>
                <a:gd name="connsiteY7" fmla="*/ 5409597 h 5409597"/>
                <a:gd name="connsiteX8" fmla="*/ 1043331 w 3862731"/>
                <a:gd name="connsiteY8" fmla="*/ 4447571 h 5409597"/>
                <a:gd name="connsiteX0" fmla="*/ 1043331 w 3862731"/>
                <a:gd name="connsiteY0" fmla="*/ 4447571 h 5409597"/>
                <a:gd name="connsiteX1" fmla="*/ 1419 w 3862731"/>
                <a:gd name="connsiteY1" fmla="*/ 3009900 h 5409597"/>
                <a:gd name="connsiteX2" fmla="*/ 1468269 w 3862731"/>
                <a:gd name="connsiteY2" fmla="*/ 14288 h 5409597"/>
                <a:gd name="connsiteX3" fmla="*/ 1644482 w 3862731"/>
                <a:gd name="connsiteY3" fmla="*/ 0 h 5409597"/>
                <a:gd name="connsiteX4" fmla="*/ 930108 w 3862731"/>
                <a:gd name="connsiteY4" fmla="*/ 2309813 h 5409597"/>
                <a:gd name="connsiteX5" fmla="*/ 2586380 w 3862731"/>
                <a:gd name="connsiteY5" fmla="*/ 4133247 h 5409597"/>
                <a:gd name="connsiteX6" fmla="*/ 3862731 w 3862731"/>
                <a:gd name="connsiteY6" fmla="*/ 5409597 h 5409597"/>
                <a:gd name="connsiteX7" fmla="*/ 357531 w 3862731"/>
                <a:gd name="connsiteY7" fmla="*/ 5409597 h 5409597"/>
                <a:gd name="connsiteX8" fmla="*/ 1043331 w 3862731"/>
                <a:gd name="connsiteY8" fmla="*/ 4447571 h 5409597"/>
                <a:gd name="connsiteX0" fmla="*/ 1043331 w 3862731"/>
                <a:gd name="connsiteY0" fmla="*/ 4433284 h 5395310"/>
                <a:gd name="connsiteX1" fmla="*/ 1419 w 3862731"/>
                <a:gd name="connsiteY1" fmla="*/ 2995613 h 5395310"/>
                <a:gd name="connsiteX2" fmla="*/ 1468269 w 3862731"/>
                <a:gd name="connsiteY2" fmla="*/ 1 h 5395310"/>
                <a:gd name="connsiteX3" fmla="*/ 1644482 w 3862731"/>
                <a:gd name="connsiteY3" fmla="*/ 0 h 5395310"/>
                <a:gd name="connsiteX4" fmla="*/ 930108 w 3862731"/>
                <a:gd name="connsiteY4" fmla="*/ 2295526 h 5395310"/>
                <a:gd name="connsiteX5" fmla="*/ 2586380 w 3862731"/>
                <a:gd name="connsiteY5" fmla="*/ 4118960 h 5395310"/>
                <a:gd name="connsiteX6" fmla="*/ 3862731 w 3862731"/>
                <a:gd name="connsiteY6" fmla="*/ 5395310 h 5395310"/>
                <a:gd name="connsiteX7" fmla="*/ 357531 w 3862731"/>
                <a:gd name="connsiteY7" fmla="*/ 5395310 h 5395310"/>
                <a:gd name="connsiteX8" fmla="*/ 1043331 w 3862731"/>
                <a:gd name="connsiteY8" fmla="*/ 4433284 h 5395310"/>
                <a:gd name="connsiteX0" fmla="*/ 1043331 w 3862731"/>
                <a:gd name="connsiteY0" fmla="*/ 4433284 h 5395310"/>
                <a:gd name="connsiteX1" fmla="*/ 1419 w 3862731"/>
                <a:gd name="connsiteY1" fmla="*/ 2995613 h 5395310"/>
                <a:gd name="connsiteX2" fmla="*/ 1468269 w 3862731"/>
                <a:gd name="connsiteY2" fmla="*/ 1 h 5395310"/>
                <a:gd name="connsiteX3" fmla="*/ 1644482 w 3862731"/>
                <a:gd name="connsiteY3" fmla="*/ 0 h 5395310"/>
                <a:gd name="connsiteX4" fmla="*/ 930108 w 3862731"/>
                <a:gd name="connsiteY4" fmla="*/ 2295526 h 5395310"/>
                <a:gd name="connsiteX5" fmla="*/ 2586380 w 3862731"/>
                <a:gd name="connsiteY5" fmla="*/ 4118960 h 5395310"/>
                <a:gd name="connsiteX6" fmla="*/ 3862731 w 3862731"/>
                <a:gd name="connsiteY6" fmla="*/ 5395310 h 5395310"/>
                <a:gd name="connsiteX7" fmla="*/ 357531 w 3862731"/>
                <a:gd name="connsiteY7" fmla="*/ 5395310 h 5395310"/>
                <a:gd name="connsiteX8" fmla="*/ 1043331 w 3862731"/>
                <a:gd name="connsiteY8" fmla="*/ 4433284 h 5395310"/>
                <a:gd name="connsiteX0" fmla="*/ 1043331 w 3862731"/>
                <a:gd name="connsiteY0" fmla="*/ 4433284 h 5395310"/>
                <a:gd name="connsiteX1" fmla="*/ 1419 w 3862731"/>
                <a:gd name="connsiteY1" fmla="*/ 2995613 h 5395310"/>
                <a:gd name="connsiteX2" fmla="*/ 1468269 w 3862731"/>
                <a:gd name="connsiteY2" fmla="*/ 1 h 5395310"/>
                <a:gd name="connsiteX3" fmla="*/ 1644482 w 3862731"/>
                <a:gd name="connsiteY3" fmla="*/ 0 h 5395310"/>
                <a:gd name="connsiteX4" fmla="*/ 930108 w 3862731"/>
                <a:gd name="connsiteY4" fmla="*/ 2295526 h 5395310"/>
                <a:gd name="connsiteX5" fmla="*/ 2586380 w 3862731"/>
                <a:gd name="connsiteY5" fmla="*/ 4118960 h 5395310"/>
                <a:gd name="connsiteX6" fmla="*/ 3862731 w 3862731"/>
                <a:gd name="connsiteY6" fmla="*/ 5395310 h 5395310"/>
                <a:gd name="connsiteX7" fmla="*/ 357531 w 3862731"/>
                <a:gd name="connsiteY7" fmla="*/ 5395310 h 5395310"/>
                <a:gd name="connsiteX8" fmla="*/ 1043331 w 3862731"/>
                <a:gd name="connsiteY8" fmla="*/ 4433284 h 5395310"/>
                <a:gd name="connsiteX0" fmla="*/ 1043331 w 3862731"/>
                <a:gd name="connsiteY0" fmla="*/ 4433284 h 5395310"/>
                <a:gd name="connsiteX1" fmla="*/ 1419 w 3862731"/>
                <a:gd name="connsiteY1" fmla="*/ 2995613 h 5395310"/>
                <a:gd name="connsiteX2" fmla="*/ 1468269 w 3862731"/>
                <a:gd name="connsiteY2" fmla="*/ 1 h 5395310"/>
                <a:gd name="connsiteX3" fmla="*/ 1644482 w 3862731"/>
                <a:gd name="connsiteY3" fmla="*/ 0 h 5395310"/>
                <a:gd name="connsiteX4" fmla="*/ 930108 w 3862731"/>
                <a:gd name="connsiteY4" fmla="*/ 2295526 h 5395310"/>
                <a:gd name="connsiteX5" fmla="*/ 2586380 w 3862731"/>
                <a:gd name="connsiteY5" fmla="*/ 4118960 h 5395310"/>
                <a:gd name="connsiteX6" fmla="*/ 3862731 w 3862731"/>
                <a:gd name="connsiteY6" fmla="*/ 5395310 h 5395310"/>
                <a:gd name="connsiteX7" fmla="*/ 357531 w 3862731"/>
                <a:gd name="connsiteY7" fmla="*/ 5395310 h 5395310"/>
                <a:gd name="connsiteX8" fmla="*/ 1043331 w 3862731"/>
                <a:gd name="connsiteY8" fmla="*/ 4433284 h 5395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2731" h="5395310">
                  <a:moveTo>
                    <a:pt x="1043331" y="4433284"/>
                  </a:moveTo>
                  <a:cubicBezTo>
                    <a:pt x="816677" y="3893735"/>
                    <a:pt x="104249" y="3635174"/>
                    <a:pt x="1419" y="2995613"/>
                  </a:cubicBezTo>
                  <a:cubicBezTo>
                    <a:pt x="-66842" y="1908176"/>
                    <a:pt x="2355682" y="1225551"/>
                    <a:pt x="1468269" y="1"/>
                  </a:cubicBezTo>
                  <a:lnTo>
                    <a:pt x="1644482" y="0"/>
                  </a:lnTo>
                  <a:cubicBezTo>
                    <a:pt x="2435058" y="811213"/>
                    <a:pt x="1220621" y="1689101"/>
                    <a:pt x="930108" y="2295526"/>
                  </a:cubicBezTo>
                  <a:cubicBezTo>
                    <a:pt x="537635" y="3146224"/>
                    <a:pt x="1983490" y="3730224"/>
                    <a:pt x="2586380" y="4118960"/>
                  </a:cubicBezTo>
                  <a:cubicBezTo>
                    <a:pt x="3383305" y="4531711"/>
                    <a:pt x="3861143" y="5025422"/>
                    <a:pt x="3862731" y="5395310"/>
                  </a:cubicBezTo>
                  <a:lnTo>
                    <a:pt x="357531" y="5395310"/>
                  </a:lnTo>
                  <a:cubicBezTo>
                    <a:pt x="881406" y="5155597"/>
                    <a:pt x="1243356" y="4806346"/>
                    <a:pt x="1043331" y="4433284"/>
                  </a:cubicBezTo>
                  <a:close/>
                </a:path>
              </a:pathLst>
            </a:cu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latin typeface="Segoe UI" panose="020B0502040204020203" pitchFamily="34" charset="0"/>
                <a:cs typeface="Segoe UI" panose="020B0502040204020203" pitchFamily="34" charset="0"/>
              </a:endParaRPr>
            </a:p>
          </p:txBody>
        </p:sp>
        <p:sp>
          <p:nvSpPr>
            <p:cNvPr id="3" name="Rectangle 1">
              <a:extLst>
                <a:ext uri="{FF2B5EF4-FFF2-40B4-BE49-F238E27FC236}">
                  <a16:creationId xmlns:a16="http://schemas.microsoft.com/office/drawing/2014/main" id="{CDF7959F-B0EC-D807-4AD8-A9B30B17B6C0}"/>
                </a:ext>
              </a:extLst>
            </p:cNvPr>
            <p:cNvSpPr/>
            <p:nvPr/>
          </p:nvSpPr>
          <p:spPr>
            <a:xfrm>
              <a:off x="3662740" y="2370084"/>
              <a:ext cx="3700964" cy="5706230"/>
            </a:xfrm>
            <a:custGeom>
              <a:avLst/>
              <a:gdLst>
                <a:gd name="connsiteX0" fmla="*/ 0 w 3505200"/>
                <a:gd name="connsiteY0" fmla="*/ 0 h 3505200"/>
                <a:gd name="connsiteX1" fmla="*/ 3505200 w 3505200"/>
                <a:gd name="connsiteY1" fmla="*/ 0 h 3505200"/>
                <a:gd name="connsiteX2" fmla="*/ 3505200 w 3505200"/>
                <a:gd name="connsiteY2" fmla="*/ 3505200 h 3505200"/>
                <a:gd name="connsiteX3" fmla="*/ 0 w 3505200"/>
                <a:gd name="connsiteY3" fmla="*/ 3505200 h 3505200"/>
                <a:gd name="connsiteX4" fmla="*/ 0 w 3505200"/>
                <a:gd name="connsiteY4" fmla="*/ 0 h 3505200"/>
                <a:gd name="connsiteX0" fmla="*/ 214313 w 3505200"/>
                <a:gd name="connsiteY0" fmla="*/ 1190625 h 3505200"/>
                <a:gd name="connsiteX1" fmla="*/ 3505200 w 3505200"/>
                <a:gd name="connsiteY1" fmla="*/ 0 h 3505200"/>
                <a:gd name="connsiteX2" fmla="*/ 3505200 w 3505200"/>
                <a:gd name="connsiteY2" fmla="*/ 3505200 h 3505200"/>
                <a:gd name="connsiteX3" fmla="*/ 0 w 3505200"/>
                <a:gd name="connsiteY3" fmla="*/ 3505200 h 3505200"/>
                <a:gd name="connsiteX4" fmla="*/ 214313 w 3505200"/>
                <a:gd name="connsiteY4" fmla="*/ 1190625 h 3505200"/>
                <a:gd name="connsiteX0" fmla="*/ 214313 w 3505200"/>
                <a:gd name="connsiteY0" fmla="*/ 0 h 2314575"/>
                <a:gd name="connsiteX1" fmla="*/ 2124075 w 3505200"/>
                <a:gd name="connsiteY1" fmla="*/ 85725 h 2314575"/>
                <a:gd name="connsiteX2" fmla="*/ 3505200 w 3505200"/>
                <a:gd name="connsiteY2" fmla="*/ 2314575 h 2314575"/>
                <a:gd name="connsiteX3" fmla="*/ 0 w 3505200"/>
                <a:gd name="connsiteY3" fmla="*/ 2314575 h 2314575"/>
                <a:gd name="connsiteX4" fmla="*/ 214313 w 3505200"/>
                <a:gd name="connsiteY4" fmla="*/ 0 h 2314575"/>
                <a:gd name="connsiteX0" fmla="*/ 1276350 w 3505200"/>
                <a:gd name="connsiteY0" fmla="*/ 1138237 h 2228850"/>
                <a:gd name="connsiteX1" fmla="*/ 2124075 w 3505200"/>
                <a:gd name="connsiteY1" fmla="*/ 0 h 2228850"/>
                <a:gd name="connsiteX2" fmla="*/ 3505200 w 3505200"/>
                <a:gd name="connsiteY2" fmla="*/ 2228850 h 2228850"/>
                <a:gd name="connsiteX3" fmla="*/ 0 w 3505200"/>
                <a:gd name="connsiteY3" fmla="*/ 2228850 h 2228850"/>
                <a:gd name="connsiteX4" fmla="*/ 1276350 w 3505200"/>
                <a:gd name="connsiteY4" fmla="*/ 1138237 h 2228850"/>
                <a:gd name="connsiteX0" fmla="*/ 1276350 w 3505200"/>
                <a:gd name="connsiteY0" fmla="*/ 190500 h 1281113"/>
                <a:gd name="connsiteX1" fmla="*/ 2243137 w 3505200"/>
                <a:gd name="connsiteY1" fmla="*/ 0 h 1281113"/>
                <a:gd name="connsiteX2" fmla="*/ 3505200 w 3505200"/>
                <a:gd name="connsiteY2" fmla="*/ 1281113 h 1281113"/>
                <a:gd name="connsiteX3" fmla="*/ 0 w 3505200"/>
                <a:gd name="connsiteY3" fmla="*/ 1281113 h 1281113"/>
                <a:gd name="connsiteX4" fmla="*/ 1276350 w 3505200"/>
                <a:gd name="connsiteY4" fmla="*/ 190500 h 1281113"/>
                <a:gd name="connsiteX0" fmla="*/ 1276350 w 3505200"/>
                <a:gd name="connsiteY0" fmla="*/ 190500 h 1281113"/>
                <a:gd name="connsiteX1" fmla="*/ 2243137 w 3505200"/>
                <a:gd name="connsiteY1" fmla="*/ 0 h 1281113"/>
                <a:gd name="connsiteX2" fmla="*/ 3505200 w 3505200"/>
                <a:gd name="connsiteY2" fmla="*/ 1281113 h 1281113"/>
                <a:gd name="connsiteX3" fmla="*/ 0 w 3505200"/>
                <a:gd name="connsiteY3" fmla="*/ 1281113 h 1281113"/>
                <a:gd name="connsiteX4" fmla="*/ 1276350 w 3505200"/>
                <a:gd name="connsiteY4" fmla="*/ 190500 h 1281113"/>
                <a:gd name="connsiteX0" fmla="*/ 1276350 w 3505200"/>
                <a:gd name="connsiteY0" fmla="*/ 185737 h 1276350"/>
                <a:gd name="connsiteX1" fmla="*/ 2228849 w 3505200"/>
                <a:gd name="connsiteY1" fmla="*/ 0 h 1276350"/>
                <a:gd name="connsiteX2" fmla="*/ 3505200 w 3505200"/>
                <a:gd name="connsiteY2" fmla="*/ 1276350 h 1276350"/>
                <a:gd name="connsiteX3" fmla="*/ 0 w 3505200"/>
                <a:gd name="connsiteY3" fmla="*/ 1276350 h 1276350"/>
                <a:gd name="connsiteX4" fmla="*/ 1276350 w 3505200"/>
                <a:gd name="connsiteY4" fmla="*/ 185737 h 1276350"/>
                <a:gd name="connsiteX0" fmla="*/ 1276350 w 3505200"/>
                <a:gd name="connsiteY0" fmla="*/ 185737 h 1276350"/>
                <a:gd name="connsiteX1" fmla="*/ 2228849 w 3505200"/>
                <a:gd name="connsiteY1" fmla="*/ 0 h 1276350"/>
                <a:gd name="connsiteX2" fmla="*/ 3505200 w 3505200"/>
                <a:gd name="connsiteY2" fmla="*/ 1276350 h 1276350"/>
                <a:gd name="connsiteX3" fmla="*/ 0 w 3505200"/>
                <a:gd name="connsiteY3" fmla="*/ 1276350 h 1276350"/>
                <a:gd name="connsiteX4" fmla="*/ 1276350 w 3505200"/>
                <a:gd name="connsiteY4" fmla="*/ 185737 h 1276350"/>
                <a:gd name="connsiteX0" fmla="*/ 1276350 w 3505200"/>
                <a:gd name="connsiteY0" fmla="*/ 185737 h 1276350"/>
                <a:gd name="connsiteX1" fmla="*/ 2228849 w 3505200"/>
                <a:gd name="connsiteY1" fmla="*/ 0 h 1276350"/>
                <a:gd name="connsiteX2" fmla="*/ 3505200 w 3505200"/>
                <a:gd name="connsiteY2" fmla="*/ 1276350 h 1276350"/>
                <a:gd name="connsiteX3" fmla="*/ 0 w 3505200"/>
                <a:gd name="connsiteY3" fmla="*/ 1276350 h 1276350"/>
                <a:gd name="connsiteX4" fmla="*/ 1276350 w 3505200"/>
                <a:gd name="connsiteY4" fmla="*/ 185737 h 1276350"/>
                <a:gd name="connsiteX0" fmla="*/ 1276350 w 3505200"/>
                <a:gd name="connsiteY0" fmla="*/ 185737 h 1276350"/>
                <a:gd name="connsiteX1" fmla="*/ 2228849 w 3505200"/>
                <a:gd name="connsiteY1" fmla="*/ 0 h 1276350"/>
                <a:gd name="connsiteX2" fmla="*/ 3505200 w 3505200"/>
                <a:gd name="connsiteY2" fmla="*/ 1276350 h 1276350"/>
                <a:gd name="connsiteX3" fmla="*/ 0 w 3505200"/>
                <a:gd name="connsiteY3" fmla="*/ 1276350 h 1276350"/>
                <a:gd name="connsiteX4" fmla="*/ 1276350 w 3505200"/>
                <a:gd name="connsiteY4" fmla="*/ 185737 h 1276350"/>
                <a:gd name="connsiteX0" fmla="*/ 1276350 w 3505200"/>
                <a:gd name="connsiteY0" fmla="*/ 185737 h 1276350"/>
                <a:gd name="connsiteX1" fmla="*/ 2228849 w 3505200"/>
                <a:gd name="connsiteY1" fmla="*/ 0 h 1276350"/>
                <a:gd name="connsiteX2" fmla="*/ 3505200 w 3505200"/>
                <a:gd name="connsiteY2" fmla="*/ 1276350 h 1276350"/>
                <a:gd name="connsiteX3" fmla="*/ 0 w 3505200"/>
                <a:gd name="connsiteY3" fmla="*/ 1276350 h 1276350"/>
                <a:gd name="connsiteX4" fmla="*/ 1276350 w 3505200"/>
                <a:gd name="connsiteY4" fmla="*/ 185737 h 1276350"/>
                <a:gd name="connsiteX0" fmla="*/ 685800 w 3505200"/>
                <a:gd name="connsiteY0" fmla="*/ 314324 h 1276350"/>
                <a:gd name="connsiteX1" fmla="*/ 2228849 w 3505200"/>
                <a:gd name="connsiteY1" fmla="*/ 0 h 1276350"/>
                <a:gd name="connsiteX2" fmla="*/ 3505200 w 3505200"/>
                <a:gd name="connsiteY2" fmla="*/ 1276350 h 1276350"/>
                <a:gd name="connsiteX3" fmla="*/ 0 w 3505200"/>
                <a:gd name="connsiteY3" fmla="*/ 1276350 h 1276350"/>
                <a:gd name="connsiteX4" fmla="*/ 685800 w 3505200"/>
                <a:gd name="connsiteY4" fmla="*/ 314324 h 1276350"/>
                <a:gd name="connsiteX0" fmla="*/ 685800 w 3505200"/>
                <a:gd name="connsiteY0" fmla="*/ 314324 h 1276350"/>
                <a:gd name="connsiteX1" fmla="*/ 2228849 w 3505200"/>
                <a:gd name="connsiteY1" fmla="*/ 0 h 1276350"/>
                <a:gd name="connsiteX2" fmla="*/ 3505200 w 3505200"/>
                <a:gd name="connsiteY2" fmla="*/ 1276350 h 1276350"/>
                <a:gd name="connsiteX3" fmla="*/ 0 w 3505200"/>
                <a:gd name="connsiteY3" fmla="*/ 1276350 h 1276350"/>
                <a:gd name="connsiteX4" fmla="*/ 685800 w 3505200"/>
                <a:gd name="connsiteY4" fmla="*/ 314324 h 1276350"/>
                <a:gd name="connsiteX0" fmla="*/ 685800 w 3505200"/>
                <a:gd name="connsiteY0" fmla="*/ 314324 h 1276350"/>
                <a:gd name="connsiteX1" fmla="*/ 2228849 w 3505200"/>
                <a:gd name="connsiteY1" fmla="*/ 0 h 1276350"/>
                <a:gd name="connsiteX2" fmla="*/ 3505200 w 3505200"/>
                <a:gd name="connsiteY2" fmla="*/ 1276350 h 1276350"/>
                <a:gd name="connsiteX3" fmla="*/ 0 w 3505200"/>
                <a:gd name="connsiteY3" fmla="*/ 1276350 h 1276350"/>
                <a:gd name="connsiteX4" fmla="*/ 685800 w 3505200"/>
                <a:gd name="connsiteY4" fmla="*/ 314324 h 1276350"/>
                <a:gd name="connsiteX0" fmla="*/ 685800 w 3505200"/>
                <a:gd name="connsiteY0" fmla="*/ 314324 h 1276350"/>
                <a:gd name="connsiteX1" fmla="*/ 2228849 w 3505200"/>
                <a:gd name="connsiteY1" fmla="*/ 0 h 1276350"/>
                <a:gd name="connsiteX2" fmla="*/ 3505200 w 3505200"/>
                <a:gd name="connsiteY2" fmla="*/ 1276350 h 1276350"/>
                <a:gd name="connsiteX3" fmla="*/ 0 w 3505200"/>
                <a:gd name="connsiteY3" fmla="*/ 1276350 h 1276350"/>
                <a:gd name="connsiteX4" fmla="*/ 685800 w 3505200"/>
                <a:gd name="connsiteY4" fmla="*/ 314324 h 1276350"/>
                <a:gd name="connsiteX0" fmla="*/ 685800 w 3505200"/>
                <a:gd name="connsiteY0" fmla="*/ 314324 h 1276350"/>
                <a:gd name="connsiteX1" fmla="*/ 1020250 w 3505200"/>
                <a:gd name="connsiteY1" fmla="*/ 238728 h 1276350"/>
                <a:gd name="connsiteX2" fmla="*/ 2228849 w 3505200"/>
                <a:gd name="connsiteY2" fmla="*/ 0 h 1276350"/>
                <a:gd name="connsiteX3" fmla="*/ 3505200 w 3505200"/>
                <a:gd name="connsiteY3" fmla="*/ 1276350 h 1276350"/>
                <a:gd name="connsiteX4" fmla="*/ 0 w 3505200"/>
                <a:gd name="connsiteY4" fmla="*/ 1276350 h 1276350"/>
                <a:gd name="connsiteX5" fmla="*/ 685800 w 3505200"/>
                <a:gd name="connsiteY5" fmla="*/ 314324 h 1276350"/>
                <a:gd name="connsiteX0" fmla="*/ 1065725 w 3885125"/>
                <a:gd name="connsiteY0" fmla="*/ 1390046 h 2352072"/>
                <a:gd name="connsiteX1" fmla="*/ 0 w 3885125"/>
                <a:gd name="connsiteY1" fmla="*/ 0 h 2352072"/>
                <a:gd name="connsiteX2" fmla="*/ 2608774 w 3885125"/>
                <a:gd name="connsiteY2" fmla="*/ 1075722 h 2352072"/>
                <a:gd name="connsiteX3" fmla="*/ 3885125 w 3885125"/>
                <a:gd name="connsiteY3" fmla="*/ 2352072 h 2352072"/>
                <a:gd name="connsiteX4" fmla="*/ 379925 w 3885125"/>
                <a:gd name="connsiteY4" fmla="*/ 2352072 h 2352072"/>
                <a:gd name="connsiteX5" fmla="*/ 1065725 w 3885125"/>
                <a:gd name="connsiteY5" fmla="*/ 1390046 h 2352072"/>
                <a:gd name="connsiteX0" fmla="*/ 1065725 w 3885125"/>
                <a:gd name="connsiteY0" fmla="*/ 1390046 h 2352072"/>
                <a:gd name="connsiteX1" fmla="*/ 0 w 3885125"/>
                <a:gd name="connsiteY1" fmla="*/ 0 h 2352072"/>
                <a:gd name="connsiteX2" fmla="*/ 1352551 w 3885125"/>
                <a:gd name="connsiteY2" fmla="*/ 561975 h 2352072"/>
                <a:gd name="connsiteX3" fmla="*/ 2608774 w 3885125"/>
                <a:gd name="connsiteY3" fmla="*/ 1075722 h 2352072"/>
                <a:gd name="connsiteX4" fmla="*/ 3885125 w 3885125"/>
                <a:gd name="connsiteY4" fmla="*/ 2352072 h 2352072"/>
                <a:gd name="connsiteX5" fmla="*/ 379925 w 3885125"/>
                <a:gd name="connsiteY5" fmla="*/ 2352072 h 2352072"/>
                <a:gd name="connsiteX6" fmla="*/ 1065725 w 3885125"/>
                <a:gd name="connsiteY6" fmla="*/ 1390046 h 2352072"/>
                <a:gd name="connsiteX0" fmla="*/ 1065725 w 3885125"/>
                <a:gd name="connsiteY0" fmla="*/ 1694846 h 2656872"/>
                <a:gd name="connsiteX1" fmla="*/ 0 w 3885125"/>
                <a:gd name="connsiteY1" fmla="*/ 304800 h 2656872"/>
                <a:gd name="connsiteX2" fmla="*/ 871539 w 3885125"/>
                <a:gd name="connsiteY2" fmla="*/ 0 h 2656872"/>
                <a:gd name="connsiteX3" fmla="*/ 2608774 w 3885125"/>
                <a:gd name="connsiteY3" fmla="*/ 1380522 h 2656872"/>
                <a:gd name="connsiteX4" fmla="*/ 3885125 w 3885125"/>
                <a:gd name="connsiteY4" fmla="*/ 2656872 h 2656872"/>
                <a:gd name="connsiteX5" fmla="*/ 379925 w 3885125"/>
                <a:gd name="connsiteY5" fmla="*/ 2656872 h 2656872"/>
                <a:gd name="connsiteX6" fmla="*/ 1065725 w 3885125"/>
                <a:gd name="connsiteY6" fmla="*/ 1694846 h 2656872"/>
                <a:gd name="connsiteX0" fmla="*/ 1065725 w 3885125"/>
                <a:gd name="connsiteY0" fmla="*/ 1694846 h 2656872"/>
                <a:gd name="connsiteX1" fmla="*/ 0 w 3885125"/>
                <a:gd name="connsiteY1" fmla="*/ 304800 h 2656872"/>
                <a:gd name="connsiteX2" fmla="*/ 871539 w 3885125"/>
                <a:gd name="connsiteY2" fmla="*/ 0 h 2656872"/>
                <a:gd name="connsiteX3" fmla="*/ 2608774 w 3885125"/>
                <a:gd name="connsiteY3" fmla="*/ 1380522 h 2656872"/>
                <a:gd name="connsiteX4" fmla="*/ 3885125 w 3885125"/>
                <a:gd name="connsiteY4" fmla="*/ 2656872 h 2656872"/>
                <a:gd name="connsiteX5" fmla="*/ 379925 w 3885125"/>
                <a:gd name="connsiteY5" fmla="*/ 2656872 h 2656872"/>
                <a:gd name="connsiteX6" fmla="*/ 1065725 w 3885125"/>
                <a:gd name="connsiteY6" fmla="*/ 1694846 h 2656872"/>
                <a:gd name="connsiteX0" fmla="*/ 1032387 w 3851787"/>
                <a:gd name="connsiteY0" fmla="*/ 1694846 h 2656872"/>
                <a:gd name="connsiteX1" fmla="*/ 0 w 3851787"/>
                <a:gd name="connsiteY1" fmla="*/ 314325 h 2656872"/>
                <a:gd name="connsiteX2" fmla="*/ 838201 w 3851787"/>
                <a:gd name="connsiteY2" fmla="*/ 0 h 2656872"/>
                <a:gd name="connsiteX3" fmla="*/ 2575436 w 3851787"/>
                <a:gd name="connsiteY3" fmla="*/ 1380522 h 2656872"/>
                <a:gd name="connsiteX4" fmla="*/ 3851787 w 3851787"/>
                <a:gd name="connsiteY4" fmla="*/ 2656872 h 2656872"/>
                <a:gd name="connsiteX5" fmla="*/ 346587 w 3851787"/>
                <a:gd name="connsiteY5" fmla="*/ 2656872 h 2656872"/>
                <a:gd name="connsiteX6" fmla="*/ 1032387 w 3851787"/>
                <a:gd name="connsiteY6" fmla="*/ 1694846 h 2656872"/>
                <a:gd name="connsiteX0" fmla="*/ 1032387 w 3851787"/>
                <a:gd name="connsiteY0" fmla="*/ 1694846 h 2656872"/>
                <a:gd name="connsiteX1" fmla="*/ 0 w 3851787"/>
                <a:gd name="connsiteY1" fmla="*/ 314325 h 2656872"/>
                <a:gd name="connsiteX2" fmla="*/ 838201 w 3851787"/>
                <a:gd name="connsiteY2" fmla="*/ 0 h 2656872"/>
                <a:gd name="connsiteX3" fmla="*/ 2575436 w 3851787"/>
                <a:gd name="connsiteY3" fmla="*/ 1380522 h 2656872"/>
                <a:gd name="connsiteX4" fmla="*/ 3851787 w 3851787"/>
                <a:gd name="connsiteY4" fmla="*/ 2656872 h 2656872"/>
                <a:gd name="connsiteX5" fmla="*/ 346587 w 3851787"/>
                <a:gd name="connsiteY5" fmla="*/ 2656872 h 2656872"/>
                <a:gd name="connsiteX6" fmla="*/ 1032387 w 3851787"/>
                <a:gd name="connsiteY6" fmla="*/ 1694846 h 2656872"/>
                <a:gd name="connsiteX0" fmla="*/ 1032387 w 3851787"/>
                <a:gd name="connsiteY0" fmla="*/ 1694846 h 2656872"/>
                <a:gd name="connsiteX1" fmla="*/ 0 w 3851787"/>
                <a:gd name="connsiteY1" fmla="*/ 314325 h 2656872"/>
                <a:gd name="connsiteX2" fmla="*/ 838201 w 3851787"/>
                <a:gd name="connsiteY2" fmla="*/ 0 h 2656872"/>
                <a:gd name="connsiteX3" fmla="*/ 2575436 w 3851787"/>
                <a:gd name="connsiteY3" fmla="*/ 1380522 h 2656872"/>
                <a:gd name="connsiteX4" fmla="*/ 3851787 w 3851787"/>
                <a:gd name="connsiteY4" fmla="*/ 2656872 h 2656872"/>
                <a:gd name="connsiteX5" fmla="*/ 346587 w 3851787"/>
                <a:gd name="connsiteY5" fmla="*/ 2656872 h 2656872"/>
                <a:gd name="connsiteX6" fmla="*/ 1032387 w 3851787"/>
                <a:gd name="connsiteY6" fmla="*/ 1694846 h 2656872"/>
                <a:gd name="connsiteX0" fmla="*/ 1032387 w 3851787"/>
                <a:gd name="connsiteY0" fmla="*/ 1694846 h 2656872"/>
                <a:gd name="connsiteX1" fmla="*/ 0 w 3851787"/>
                <a:gd name="connsiteY1" fmla="*/ 314325 h 2656872"/>
                <a:gd name="connsiteX2" fmla="*/ 838201 w 3851787"/>
                <a:gd name="connsiteY2" fmla="*/ 0 h 2656872"/>
                <a:gd name="connsiteX3" fmla="*/ 2575436 w 3851787"/>
                <a:gd name="connsiteY3" fmla="*/ 1380522 h 2656872"/>
                <a:gd name="connsiteX4" fmla="*/ 3851787 w 3851787"/>
                <a:gd name="connsiteY4" fmla="*/ 2656872 h 2656872"/>
                <a:gd name="connsiteX5" fmla="*/ 346587 w 3851787"/>
                <a:gd name="connsiteY5" fmla="*/ 2656872 h 2656872"/>
                <a:gd name="connsiteX6" fmla="*/ 1032387 w 3851787"/>
                <a:gd name="connsiteY6" fmla="*/ 1694846 h 2656872"/>
                <a:gd name="connsiteX0" fmla="*/ 1032387 w 3851787"/>
                <a:gd name="connsiteY0" fmla="*/ 1694846 h 2656872"/>
                <a:gd name="connsiteX1" fmla="*/ 0 w 3851787"/>
                <a:gd name="connsiteY1" fmla="*/ 314325 h 2656872"/>
                <a:gd name="connsiteX2" fmla="*/ 838201 w 3851787"/>
                <a:gd name="connsiteY2" fmla="*/ 0 h 2656872"/>
                <a:gd name="connsiteX3" fmla="*/ 2575436 w 3851787"/>
                <a:gd name="connsiteY3" fmla="*/ 1380522 h 2656872"/>
                <a:gd name="connsiteX4" fmla="*/ 3851787 w 3851787"/>
                <a:gd name="connsiteY4" fmla="*/ 2656872 h 2656872"/>
                <a:gd name="connsiteX5" fmla="*/ 346587 w 3851787"/>
                <a:gd name="connsiteY5" fmla="*/ 2656872 h 2656872"/>
                <a:gd name="connsiteX6" fmla="*/ 1032387 w 3851787"/>
                <a:gd name="connsiteY6" fmla="*/ 1694846 h 2656872"/>
                <a:gd name="connsiteX0" fmla="*/ 1032387 w 3851787"/>
                <a:gd name="connsiteY0" fmla="*/ 1699608 h 2661634"/>
                <a:gd name="connsiteX1" fmla="*/ 0 w 3851787"/>
                <a:gd name="connsiteY1" fmla="*/ 319087 h 2661634"/>
                <a:gd name="connsiteX2" fmla="*/ 852489 w 3851787"/>
                <a:gd name="connsiteY2" fmla="*/ 0 h 2661634"/>
                <a:gd name="connsiteX3" fmla="*/ 2575436 w 3851787"/>
                <a:gd name="connsiteY3" fmla="*/ 1385284 h 2661634"/>
                <a:gd name="connsiteX4" fmla="*/ 3851787 w 3851787"/>
                <a:gd name="connsiteY4" fmla="*/ 2661634 h 2661634"/>
                <a:gd name="connsiteX5" fmla="*/ 346587 w 3851787"/>
                <a:gd name="connsiteY5" fmla="*/ 2661634 h 2661634"/>
                <a:gd name="connsiteX6" fmla="*/ 1032387 w 3851787"/>
                <a:gd name="connsiteY6" fmla="*/ 1699608 h 2661634"/>
                <a:gd name="connsiteX0" fmla="*/ 1032387 w 3851787"/>
                <a:gd name="connsiteY0" fmla="*/ 1699608 h 2661634"/>
                <a:gd name="connsiteX1" fmla="*/ 0 w 3851787"/>
                <a:gd name="connsiteY1" fmla="*/ 319087 h 2661634"/>
                <a:gd name="connsiteX2" fmla="*/ 852489 w 3851787"/>
                <a:gd name="connsiteY2" fmla="*/ 0 h 2661634"/>
                <a:gd name="connsiteX3" fmla="*/ 2575436 w 3851787"/>
                <a:gd name="connsiteY3" fmla="*/ 1385284 h 2661634"/>
                <a:gd name="connsiteX4" fmla="*/ 3851787 w 3851787"/>
                <a:gd name="connsiteY4" fmla="*/ 2661634 h 2661634"/>
                <a:gd name="connsiteX5" fmla="*/ 346587 w 3851787"/>
                <a:gd name="connsiteY5" fmla="*/ 2661634 h 2661634"/>
                <a:gd name="connsiteX6" fmla="*/ 1032387 w 3851787"/>
                <a:gd name="connsiteY6" fmla="*/ 1699608 h 2661634"/>
                <a:gd name="connsiteX0" fmla="*/ 1032387 w 3851787"/>
                <a:gd name="connsiteY0" fmla="*/ 1699608 h 2661634"/>
                <a:gd name="connsiteX1" fmla="*/ 0 w 3851787"/>
                <a:gd name="connsiteY1" fmla="*/ 319087 h 2661634"/>
                <a:gd name="connsiteX2" fmla="*/ 185738 w 3851787"/>
                <a:gd name="connsiteY2" fmla="*/ 238124 h 2661634"/>
                <a:gd name="connsiteX3" fmla="*/ 852489 w 3851787"/>
                <a:gd name="connsiteY3" fmla="*/ 0 h 2661634"/>
                <a:gd name="connsiteX4" fmla="*/ 2575436 w 3851787"/>
                <a:gd name="connsiteY4" fmla="*/ 1385284 h 2661634"/>
                <a:gd name="connsiteX5" fmla="*/ 3851787 w 3851787"/>
                <a:gd name="connsiteY5" fmla="*/ 2661634 h 2661634"/>
                <a:gd name="connsiteX6" fmla="*/ 346587 w 3851787"/>
                <a:gd name="connsiteY6" fmla="*/ 2661634 h 2661634"/>
                <a:gd name="connsiteX7" fmla="*/ 1032387 w 3851787"/>
                <a:gd name="connsiteY7" fmla="*/ 1699608 h 2661634"/>
                <a:gd name="connsiteX0" fmla="*/ 1032387 w 3851787"/>
                <a:gd name="connsiteY0" fmla="*/ 2752122 h 3714148"/>
                <a:gd name="connsiteX1" fmla="*/ 0 w 3851787"/>
                <a:gd name="connsiteY1" fmla="*/ 1371601 h 3714148"/>
                <a:gd name="connsiteX2" fmla="*/ 890588 w 3851787"/>
                <a:gd name="connsiteY2" fmla="*/ 0 h 3714148"/>
                <a:gd name="connsiteX3" fmla="*/ 852489 w 3851787"/>
                <a:gd name="connsiteY3" fmla="*/ 1052514 h 3714148"/>
                <a:gd name="connsiteX4" fmla="*/ 2575436 w 3851787"/>
                <a:gd name="connsiteY4" fmla="*/ 2437798 h 3714148"/>
                <a:gd name="connsiteX5" fmla="*/ 3851787 w 3851787"/>
                <a:gd name="connsiteY5" fmla="*/ 3714148 h 3714148"/>
                <a:gd name="connsiteX6" fmla="*/ 346587 w 3851787"/>
                <a:gd name="connsiteY6" fmla="*/ 3714148 h 3714148"/>
                <a:gd name="connsiteX7" fmla="*/ 1032387 w 3851787"/>
                <a:gd name="connsiteY7" fmla="*/ 2752122 h 3714148"/>
                <a:gd name="connsiteX0" fmla="*/ 1032387 w 3851787"/>
                <a:gd name="connsiteY0" fmla="*/ 2752122 h 3714148"/>
                <a:gd name="connsiteX1" fmla="*/ 0 w 3851787"/>
                <a:gd name="connsiteY1" fmla="*/ 1371601 h 3714148"/>
                <a:gd name="connsiteX2" fmla="*/ 890588 w 3851787"/>
                <a:gd name="connsiteY2" fmla="*/ 0 h 3714148"/>
                <a:gd name="connsiteX3" fmla="*/ 881063 w 3851787"/>
                <a:gd name="connsiteY3" fmla="*/ 514351 h 3714148"/>
                <a:gd name="connsiteX4" fmla="*/ 852489 w 3851787"/>
                <a:gd name="connsiteY4" fmla="*/ 1052514 h 3714148"/>
                <a:gd name="connsiteX5" fmla="*/ 2575436 w 3851787"/>
                <a:gd name="connsiteY5" fmla="*/ 2437798 h 3714148"/>
                <a:gd name="connsiteX6" fmla="*/ 3851787 w 3851787"/>
                <a:gd name="connsiteY6" fmla="*/ 3714148 h 3714148"/>
                <a:gd name="connsiteX7" fmla="*/ 346587 w 3851787"/>
                <a:gd name="connsiteY7" fmla="*/ 3714148 h 3714148"/>
                <a:gd name="connsiteX8" fmla="*/ 1032387 w 3851787"/>
                <a:gd name="connsiteY8" fmla="*/ 2752122 h 3714148"/>
                <a:gd name="connsiteX0" fmla="*/ 1032387 w 3851787"/>
                <a:gd name="connsiteY0" fmla="*/ 3047396 h 4009422"/>
                <a:gd name="connsiteX1" fmla="*/ 0 w 3851787"/>
                <a:gd name="connsiteY1" fmla="*/ 1666875 h 4009422"/>
                <a:gd name="connsiteX2" fmla="*/ 890588 w 3851787"/>
                <a:gd name="connsiteY2" fmla="*/ 295274 h 4009422"/>
                <a:gd name="connsiteX3" fmla="*/ 1543051 w 3851787"/>
                <a:gd name="connsiteY3" fmla="*/ 0 h 4009422"/>
                <a:gd name="connsiteX4" fmla="*/ 852489 w 3851787"/>
                <a:gd name="connsiteY4" fmla="*/ 1347788 h 4009422"/>
                <a:gd name="connsiteX5" fmla="*/ 2575436 w 3851787"/>
                <a:gd name="connsiteY5" fmla="*/ 2733072 h 4009422"/>
                <a:gd name="connsiteX6" fmla="*/ 3851787 w 3851787"/>
                <a:gd name="connsiteY6" fmla="*/ 4009422 h 4009422"/>
                <a:gd name="connsiteX7" fmla="*/ 346587 w 3851787"/>
                <a:gd name="connsiteY7" fmla="*/ 4009422 h 4009422"/>
                <a:gd name="connsiteX8" fmla="*/ 1032387 w 3851787"/>
                <a:gd name="connsiteY8" fmla="*/ 3047396 h 4009422"/>
                <a:gd name="connsiteX0" fmla="*/ 1032387 w 3851787"/>
                <a:gd name="connsiteY0" fmla="*/ 3833209 h 4795235"/>
                <a:gd name="connsiteX1" fmla="*/ 0 w 3851787"/>
                <a:gd name="connsiteY1" fmla="*/ 2452688 h 4795235"/>
                <a:gd name="connsiteX2" fmla="*/ 1662113 w 3851787"/>
                <a:gd name="connsiteY2" fmla="*/ 0 h 4795235"/>
                <a:gd name="connsiteX3" fmla="*/ 1543051 w 3851787"/>
                <a:gd name="connsiteY3" fmla="*/ 785813 h 4795235"/>
                <a:gd name="connsiteX4" fmla="*/ 852489 w 3851787"/>
                <a:gd name="connsiteY4" fmla="*/ 2133601 h 4795235"/>
                <a:gd name="connsiteX5" fmla="*/ 2575436 w 3851787"/>
                <a:gd name="connsiteY5" fmla="*/ 3518885 h 4795235"/>
                <a:gd name="connsiteX6" fmla="*/ 3851787 w 3851787"/>
                <a:gd name="connsiteY6" fmla="*/ 4795235 h 4795235"/>
                <a:gd name="connsiteX7" fmla="*/ 346587 w 3851787"/>
                <a:gd name="connsiteY7" fmla="*/ 4795235 h 4795235"/>
                <a:gd name="connsiteX8" fmla="*/ 1032387 w 3851787"/>
                <a:gd name="connsiteY8" fmla="*/ 3833209 h 4795235"/>
                <a:gd name="connsiteX0" fmla="*/ 1032387 w 3851787"/>
                <a:gd name="connsiteY0" fmla="*/ 3833209 h 4795235"/>
                <a:gd name="connsiteX1" fmla="*/ 0 w 3851787"/>
                <a:gd name="connsiteY1" fmla="*/ 2452688 h 4795235"/>
                <a:gd name="connsiteX2" fmla="*/ 1662113 w 3851787"/>
                <a:gd name="connsiteY2" fmla="*/ 0 h 4795235"/>
                <a:gd name="connsiteX3" fmla="*/ 1543051 w 3851787"/>
                <a:gd name="connsiteY3" fmla="*/ 785813 h 4795235"/>
                <a:gd name="connsiteX4" fmla="*/ 919164 w 3851787"/>
                <a:gd name="connsiteY4" fmla="*/ 1695451 h 4795235"/>
                <a:gd name="connsiteX5" fmla="*/ 2575436 w 3851787"/>
                <a:gd name="connsiteY5" fmla="*/ 3518885 h 4795235"/>
                <a:gd name="connsiteX6" fmla="*/ 3851787 w 3851787"/>
                <a:gd name="connsiteY6" fmla="*/ 4795235 h 4795235"/>
                <a:gd name="connsiteX7" fmla="*/ 346587 w 3851787"/>
                <a:gd name="connsiteY7" fmla="*/ 4795235 h 4795235"/>
                <a:gd name="connsiteX8" fmla="*/ 1032387 w 3851787"/>
                <a:gd name="connsiteY8" fmla="*/ 3833209 h 4795235"/>
                <a:gd name="connsiteX0" fmla="*/ 1032387 w 3851787"/>
                <a:gd name="connsiteY0" fmla="*/ 3914171 h 4876197"/>
                <a:gd name="connsiteX1" fmla="*/ 0 w 3851787"/>
                <a:gd name="connsiteY1" fmla="*/ 2533650 h 4876197"/>
                <a:gd name="connsiteX2" fmla="*/ 1662113 w 3851787"/>
                <a:gd name="connsiteY2" fmla="*/ 80962 h 4876197"/>
                <a:gd name="connsiteX3" fmla="*/ 1890713 w 3851787"/>
                <a:gd name="connsiteY3" fmla="*/ 0 h 4876197"/>
                <a:gd name="connsiteX4" fmla="*/ 919164 w 3851787"/>
                <a:gd name="connsiteY4" fmla="*/ 1776413 h 4876197"/>
                <a:gd name="connsiteX5" fmla="*/ 2575436 w 3851787"/>
                <a:gd name="connsiteY5" fmla="*/ 3599847 h 4876197"/>
                <a:gd name="connsiteX6" fmla="*/ 3851787 w 3851787"/>
                <a:gd name="connsiteY6" fmla="*/ 4876197 h 4876197"/>
                <a:gd name="connsiteX7" fmla="*/ 346587 w 3851787"/>
                <a:gd name="connsiteY7" fmla="*/ 4876197 h 4876197"/>
                <a:gd name="connsiteX8" fmla="*/ 1032387 w 3851787"/>
                <a:gd name="connsiteY8" fmla="*/ 3914171 h 4876197"/>
                <a:gd name="connsiteX0" fmla="*/ 1032387 w 3851787"/>
                <a:gd name="connsiteY0" fmla="*/ 3914171 h 4876197"/>
                <a:gd name="connsiteX1" fmla="*/ 0 w 3851787"/>
                <a:gd name="connsiteY1" fmla="*/ 2533650 h 4876197"/>
                <a:gd name="connsiteX2" fmla="*/ 1662113 w 3851787"/>
                <a:gd name="connsiteY2" fmla="*/ 80962 h 4876197"/>
                <a:gd name="connsiteX3" fmla="*/ 1890713 w 3851787"/>
                <a:gd name="connsiteY3" fmla="*/ 0 h 4876197"/>
                <a:gd name="connsiteX4" fmla="*/ 919164 w 3851787"/>
                <a:gd name="connsiteY4" fmla="*/ 1776413 h 4876197"/>
                <a:gd name="connsiteX5" fmla="*/ 2575436 w 3851787"/>
                <a:gd name="connsiteY5" fmla="*/ 3599847 h 4876197"/>
                <a:gd name="connsiteX6" fmla="*/ 3851787 w 3851787"/>
                <a:gd name="connsiteY6" fmla="*/ 4876197 h 4876197"/>
                <a:gd name="connsiteX7" fmla="*/ 346587 w 3851787"/>
                <a:gd name="connsiteY7" fmla="*/ 4876197 h 4876197"/>
                <a:gd name="connsiteX8" fmla="*/ 1032387 w 3851787"/>
                <a:gd name="connsiteY8" fmla="*/ 3914171 h 4876197"/>
                <a:gd name="connsiteX0" fmla="*/ 1032387 w 3851787"/>
                <a:gd name="connsiteY0" fmla="*/ 3914171 h 4876197"/>
                <a:gd name="connsiteX1" fmla="*/ 0 w 3851787"/>
                <a:gd name="connsiteY1" fmla="*/ 2533650 h 4876197"/>
                <a:gd name="connsiteX2" fmla="*/ 1662113 w 3851787"/>
                <a:gd name="connsiteY2" fmla="*/ 80962 h 4876197"/>
                <a:gd name="connsiteX3" fmla="*/ 1890713 w 3851787"/>
                <a:gd name="connsiteY3" fmla="*/ 0 h 4876197"/>
                <a:gd name="connsiteX4" fmla="*/ 919164 w 3851787"/>
                <a:gd name="connsiteY4" fmla="*/ 1776413 h 4876197"/>
                <a:gd name="connsiteX5" fmla="*/ 2575436 w 3851787"/>
                <a:gd name="connsiteY5" fmla="*/ 3599847 h 4876197"/>
                <a:gd name="connsiteX6" fmla="*/ 3851787 w 3851787"/>
                <a:gd name="connsiteY6" fmla="*/ 4876197 h 4876197"/>
                <a:gd name="connsiteX7" fmla="*/ 346587 w 3851787"/>
                <a:gd name="connsiteY7" fmla="*/ 4876197 h 4876197"/>
                <a:gd name="connsiteX8" fmla="*/ 1032387 w 3851787"/>
                <a:gd name="connsiteY8" fmla="*/ 3914171 h 4876197"/>
                <a:gd name="connsiteX0" fmla="*/ 1032387 w 3851787"/>
                <a:gd name="connsiteY0" fmla="*/ 3914171 h 4876197"/>
                <a:gd name="connsiteX1" fmla="*/ 0 w 3851787"/>
                <a:gd name="connsiteY1" fmla="*/ 2533650 h 4876197"/>
                <a:gd name="connsiteX2" fmla="*/ 1662113 w 3851787"/>
                <a:gd name="connsiteY2" fmla="*/ 80962 h 4876197"/>
                <a:gd name="connsiteX3" fmla="*/ 1890713 w 3851787"/>
                <a:gd name="connsiteY3" fmla="*/ 0 h 4876197"/>
                <a:gd name="connsiteX4" fmla="*/ 919164 w 3851787"/>
                <a:gd name="connsiteY4" fmla="*/ 1776413 h 4876197"/>
                <a:gd name="connsiteX5" fmla="*/ 2575436 w 3851787"/>
                <a:gd name="connsiteY5" fmla="*/ 3599847 h 4876197"/>
                <a:gd name="connsiteX6" fmla="*/ 3851787 w 3851787"/>
                <a:gd name="connsiteY6" fmla="*/ 4876197 h 4876197"/>
                <a:gd name="connsiteX7" fmla="*/ 346587 w 3851787"/>
                <a:gd name="connsiteY7" fmla="*/ 4876197 h 4876197"/>
                <a:gd name="connsiteX8" fmla="*/ 1032387 w 3851787"/>
                <a:gd name="connsiteY8" fmla="*/ 3914171 h 4876197"/>
                <a:gd name="connsiteX0" fmla="*/ 1032387 w 3851787"/>
                <a:gd name="connsiteY0" fmla="*/ 3914171 h 4876197"/>
                <a:gd name="connsiteX1" fmla="*/ 0 w 3851787"/>
                <a:gd name="connsiteY1" fmla="*/ 2533650 h 4876197"/>
                <a:gd name="connsiteX2" fmla="*/ 1452563 w 3851787"/>
                <a:gd name="connsiteY2" fmla="*/ 571500 h 4876197"/>
                <a:gd name="connsiteX3" fmla="*/ 1890713 w 3851787"/>
                <a:gd name="connsiteY3" fmla="*/ 0 h 4876197"/>
                <a:gd name="connsiteX4" fmla="*/ 919164 w 3851787"/>
                <a:gd name="connsiteY4" fmla="*/ 1776413 h 4876197"/>
                <a:gd name="connsiteX5" fmla="*/ 2575436 w 3851787"/>
                <a:gd name="connsiteY5" fmla="*/ 3599847 h 4876197"/>
                <a:gd name="connsiteX6" fmla="*/ 3851787 w 3851787"/>
                <a:gd name="connsiteY6" fmla="*/ 4876197 h 4876197"/>
                <a:gd name="connsiteX7" fmla="*/ 346587 w 3851787"/>
                <a:gd name="connsiteY7" fmla="*/ 4876197 h 4876197"/>
                <a:gd name="connsiteX8" fmla="*/ 1032387 w 3851787"/>
                <a:gd name="connsiteY8" fmla="*/ 3914171 h 4876197"/>
                <a:gd name="connsiteX0" fmla="*/ 1032387 w 3851787"/>
                <a:gd name="connsiteY0" fmla="*/ 3914171 h 4876197"/>
                <a:gd name="connsiteX1" fmla="*/ 0 w 3851787"/>
                <a:gd name="connsiteY1" fmla="*/ 2533650 h 4876197"/>
                <a:gd name="connsiteX2" fmla="*/ 1452563 w 3851787"/>
                <a:gd name="connsiteY2" fmla="*/ 571500 h 4876197"/>
                <a:gd name="connsiteX3" fmla="*/ 1890713 w 3851787"/>
                <a:gd name="connsiteY3" fmla="*/ 0 h 4876197"/>
                <a:gd name="connsiteX4" fmla="*/ 919164 w 3851787"/>
                <a:gd name="connsiteY4" fmla="*/ 1776413 h 4876197"/>
                <a:gd name="connsiteX5" fmla="*/ 2575436 w 3851787"/>
                <a:gd name="connsiteY5" fmla="*/ 3599847 h 4876197"/>
                <a:gd name="connsiteX6" fmla="*/ 3851787 w 3851787"/>
                <a:gd name="connsiteY6" fmla="*/ 4876197 h 4876197"/>
                <a:gd name="connsiteX7" fmla="*/ 346587 w 3851787"/>
                <a:gd name="connsiteY7" fmla="*/ 4876197 h 4876197"/>
                <a:gd name="connsiteX8" fmla="*/ 1032387 w 3851787"/>
                <a:gd name="connsiteY8" fmla="*/ 3914171 h 4876197"/>
                <a:gd name="connsiteX0" fmla="*/ 1048054 w 3867454"/>
                <a:gd name="connsiteY0" fmla="*/ 3914171 h 4876197"/>
                <a:gd name="connsiteX1" fmla="*/ 15667 w 3867454"/>
                <a:gd name="connsiteY1" fmla="*/ 2533650 h 4876197"/>
                <a:gd name="connsiteX2" fmla="*/ 1468230 w 3867454"/>
                <a:gd name="connsiteY2" fmla="*/ 571500 h 4876197"/>
                <a:gd name="connsiteX3" fmla="*/ 1906380 w 3867454"/>
                <a:gd name="connsiteY3" fmla="*/ 0 h 4876197"/>
                <a:gd name="connsiteX4" fmla="*/ 934831 w 3867454"/>
                <a:gd name="connsiteY4" fmla="*/ 1776413 h 4876197"/>
                <a:gd name="connsiteX5" fmla="*/ 2591103 w 3867454"/>
                <a:gd name="connsiteY5" fmla="*/ 3599847 h 4876197"/>
                <a:gd name="connsiteX6" fmla="*/ 3867454 w 3867454"/>
                <a:gd name="connsiteY6" fmla="*/ 4876197 h 4876197"/>
                <a:gd name="connsiteX7" fmla="*/ 362254 w 3867454"/>
                <a:gd name="connsiteY7" fmla="*/ 4876197 h 4876197"/>
                <a:gd name="connsiteX8" fmla="*/ 1048054 w 3867454"/>
                <a:gd name="connsiteY8" fmla="*/ 3914171 h 4876197"/>
                <a:gd name="connsiteX0" fmla="*/ 1047046 w 3866446"/>
                <a:gd name="connsiteY0" fmla="*/ 3914171 h 4876197"/>
                <a:gd name="connsiteX1" fmla="*/ 14659 w 3866446"/>
                <a:gd name="connsiteY1" fmla="*/ 2533650 h 4876197"/>
                <a:gd name="connsiteX2" fmla="*/ 1467222 w 3866446"/>
                <a:gd name="connsiteY2" fmla="*/ 571500 h 4876197"/>
                <a:gd name="connsiteX3" fmla="*/ 1905372 w 3866446"/>
                <a:gd name="connsiteY3" fmla="*/ 0 h 4876197"/>
                <a:gd name="connsiteX4" fmla="*/ 933823 w 3866446"/>
                <a:gd name="connsiteY4" fmla="*/ 1776413 h 4876197"/>
                <a:gd name="connsiteX5" fmla="*/ 2590095 w 3866446"/>
                <a:gd name="connsiteY5" fmla="*/ 3599847 h 4876197"/>
                <a:gd name="connsiteX6" fmla="*/ 3866446 w 3866446"/>
                <a:gd name="connsiteY6" fmla="*/ 4876197 h 4876197"/>
                <a:gd name="connsiteX7" fmla="*/ 361246 w 3866446"/>
                <a:gd name="connsiteY7" fmla="*/ 4876197 h 4876197"/>
                <a:gd name="connsiteX8" fmla="*/ 1047046 w 3866446"/>
                <a:gd name="connsiteY8" fmla="*/ 3914171 h 4876197"/>
                <a:gd name="connsiteX0" fmla="*/ 1040520 w 3859920"/>
                <a:gd name="connsiteY0" fmla="*/ 3914171 h 4876197"/>
                <a:gd name="connsiteX1" fmla="*/ 8133 w 3859920"/>
                <a:gd name="connsiteY1" fmla="*/ 2533650 h 4876197"/>
                <a:gd name="connsiteX2" fmla="*/ 1460696 w 3859920"/>
                <a:gd name="connsiteY2" fmla="*/ 571500 h 4876197"/>
                <a:gd name="connsiteX3" fmla="*/ 1898846 w 3859920"/>
                <a:gd name="connsiteY3" fmla="*/ 0 h 4876197"/>
                <a:gd name="connsiteX4" fmla="*/ 927297 w 3859920"/>
                <a:gd name="connsiteY4" fmla="*/ 1776413 h 4876197"/>
                <a:gd name="connsiteX5" fmla="*/ 2583569 w 3859920"/>
                <a:gd name="connsiteY5" fmla="*/ 3599847 h 4876197"/>
                <a:gd name="connsiteX6" fmla="*/ 3859920 w 3859920"/>
                <a:gd name="connsiteY6" fmla="*/ 4876197 h 4876197"/>
                <a:gd name="connsiteX7" fmla="*/ 354720 w 3859920"/>
                <a:gd name="connsiteY7" fmla="*/ 4876197 h 4876197"/>
                <a:gd name="connsiteX8" fmla="*/ 1040520 w 3859920"/>
                <a:gd name="connsiteY8" fmla="*/ 3914171 h 4876197"/>
                <a:gd name="connsiteX0" fmla="*/ 1040358 w 3859758"/>
                <a:gd name="connsiteY0" fmla="*/ 3914171 h 4876197"/>
                <a:gd name="connsiteX1" fmla="*/ 7971 w 3859758"/>
                <a:gd name="connsiteY1" fmla="*/ 2533650 h 4876197"/>
                <a:gd name="connsiteX2" fmla="*/ 1460534 w 3859758"/>
                <a:gd name="connsiteY2" fmla="*/ 571500 h 4876197"/>
                <a:gd name="connsiteX3" fmla="*/ 1898684 w 3859758"/>
                <a:gd name="connsiteY3" fmla="*/ 0 h 4876197"/>
                <a:gd name="connsiteX4" fmla="*/ 927135 w 3859758"/>
                <a:gd name="connsiteY4" fmla="*/ 1776413 h 4876197"/>
                <a:gd name="connsiteX5" fmla="*/ 2583407 w 3859758"/>
                <a:gd name="connsiteY5" fmla="*/ 3599847 h 4876197"/>
                <a:gd name="connsiteX6" fmla="*/ 3859758 w 3859758"/>
                <a:gd name="connsiteY6" fmla="*/ 4876197 h 4876197"/>
                <a:gd name="connsiteX7" fmla="*/ 354558 w 3859758"/>
                <a:gd name="connsiteY7" fmla="*/ 4876197 h 4876197"/>
                <a:gd name="connsiteX8" fmla="*/ 1040358 w 3859758"/>
                <a:gd name="connsiteY8" fmla="*/ 3914171 h 4876197"/>
                <a:gd name="connsiteX0" fmla="*/ 1049818 w 3869218"/>
                <a:gd name="connsiteY0" fmla="*/ 3914171 h 4876197"/>
                <a:gd name="connsiteX1" fmla="*/ 7906 w 3869218"/>
                <a:gd name="connsiteY1" fmla="*/ 2476500 h 4876197"/>
                <a:gd name="connsiteX2" fmla="*/ 1469994 w 3869218"/>
                <a:gd name="connsiteY2" fmla="*/ 571500 h 4876197"/>
                <a:gd name="connsiteX3" fmla="*/ 1908144 w 3869218"/>
                <a:gd name="connsiteY3" fmla="*/ 0 h 4876197"/>
                <a:gd name="connsiteX4" fmla="*/ 936595 w 3869218"/>
                <a:gd name="connsiteY4" fmla="*/ 1776413 h 4876197"/>
                <a:gd name="connsiteX5" fmla="*/ 2592867 w 3869218"/>
                <a:gd name="connsiteY5" fmla="*/ 3599847 h 4876197"/>
                <a:gd name="connsiteX6" fmla="*/ 3869218 w 3869218"/>
                <a:gd name="connsiteY6" fmla="*/ 4876197 h 4876197"/>
                <a:gd name="connsiteX7" fmla="*/ 364018 w 3869218"/>
                <a:gd name="connsiteY7" fmla="*/ 4876197 h 4876197"/>
                <a:gd name="connsiteX8" fmla="*/ 1049818 w 3869218"/>
                <a:gd name="connsiteY8" fmla="*/ 3914171 h 4876197"/>
                <a:gd name="connsiteX0" fmla="*/ 1049818 w 3869218"/>
                <a:gd name="connsiteY0" fmla="*/ 3914171 h 4876197"/>
                <a:gd name="connsiteX1" fmla="*/ 7906 w 3869218"/>
                <a:gd name="connsiteY1" fmla="*/ 2476500 h 4876197"/>
                <a:gd name="connsiteX2" fmla="*/ 1469994 w 3869218"/>
                <a:gd name="connsiteY2" fmla="*/ 571500 h 4876197"/>
                <a:gd name="connsiteX3" fmla="*/ 1908144 w 3869218"/>
                <a:gd name="connsiteY3" fmla="*/ 0 h 4876197"/>
                <a:gd name="connsiteX4" fmla="*/ 936595 w 3869218"/>
                <a:gd name="connsiteY4" fmla="*/ 1776413 h 4876197"/>
                <a:gd name="connsiteX5" fmla="*/ 2592867 w 3869218"/>
                <a:gd name="connsiteY5" fmla="*/ 3599847 h 4876197"/>
                <a:gd name="connsiteX6" fmla="*/ 3869218 w 3869218"/>
                <a:gd name="connsiteY6" fmla="*/ 4876197 h 4876197"/>
                <a:gd name="connsiteX7" fmla="*/ 364018 w 3869218"/>
                <a:gd name="connsiteY7" fmla="*/ 4876197 h 4876197"/>
                <a:gd name="connsiteX8" fmla="*/ 1049818 w 3869218"/>
                <a:gd name="connsiteY8" fmla="*/ 3914171 h 4876197"/>
                <a:gd name="connsiteX0" fmla="*/ 1046972 w 3866372"/>
                <a:gd name="connsiteY0" fmla="*/ 3914171 h 4876197"/>
                <a:gd name="connsiteX1" fmla="*/ 5060 w 3866372"/>
                <a:gd name="connsiteY1" fmla="*/ 2476500 h 4876197"/>
                <a:gd name="connsiteX2" fmla="*/ 1467148 w 3866372"/>
                <a:gd name="connsiteY2" fmla="*/ 571500 h 4876197"/>
                <a:gd name="connsiteX3" fmla="*/ 1905298 w 3866372"/>
                <a:gd name="connsiteY3" fmla="*/ 0 h 4876197"/>
                <a:gd name="connsiteX4" fmla="*/ 933749 w 3866372"/>
                <a:gd name="connsiteY4" fmla="*/ 1776413 h 4876197"/>
                <a:gd name="connsiteX5" fmla="*/ 2590021 w 3866372"/>
                <a:gd name="connsiteY5" fmla="*/ 3599847 h 4876197"/>
                <a:gd name="connsiteX6" fmla="*/ 3866372 w 3866372"/>
                <a:gd name="connsiteY6" fmla="*/ 4876197 h 4876197"/>
                <a:gd name="connsiteX7" fmla="*/ 361172 w 3866372"/>
                <a:gd name="connsiteY7" fmla="*/ 4876197 h 4876197"/>
                <a:gd name="connsiteX8" fmla="*/ 1046972 w 3866372"/>
                <a:gd name="connsiteY8" fmla="*/ 3914171 h 4876197"/>
                <a:gd name="connsiteX0" fmla="*/ 1046869 w 3866269"/>
                <a:gd name="connsiteY0" fmla="*/ 3914171 h 4876197"/>
                <a:gd name="connsiteX1" fmla="*/ 4957 w 3866269"/>
                <a:gd name="connsiteY1" fmla="*/ 2476500 h 4876197"/>
                <a:gd name="connsiteX2" fmla="*/ 1467045 w 3866269"/>
                <a:gd name="connsiteY2" fmla="*/ 571500 h 4876197"/>
                <a:gd name="connsiteX3" fmla="*/ 1905195 w 3866269"/>
                <a:gd name="connsiteY3" fmla="*/ 0 h 4876197"/>
                <a:gd name="connsiteX4" fmla="*/ 933646 w 3866269"/>
                <a:gd name="connsiteY4" fmla="*/ 1776413 h 4876197"/>
                <a:gd name="connsiteX5" fmla="*/ 2589918 w 3866269"/>
                <a:gd name="connsiteY5" fmla="*/ 3599847 h 4876197"/>
                <a:gd name="connsiteX6" fmla="*/ 3866269 w 3866269"/>
                <a:gd name="connsiteY6" fmla="*/ 4876197 h 4876197"/>
                <a:gd name="connsiteX7" fmla="*/ 361069 w 3866269"/>
                <a:gd name="connsiteY7" fmla="*/ 4876197 h 4876197"/>
                <a:gd name="connsiteX8" fmla="*/ 1046869 w 3866269"/>
                <a:gd name="connsiteY8" fmla="*/ 3914171 h 4876197"/>
                <a:gd name="connsiteX0" fmla="*/ 1046869 w 3866269"/>
                <a:gd name="connsiteY0" fmla="*/ 3914171 h 4876197"/>
                <a:gd name="connsiteX1" fmla="*/ 4957 w 3866269"/>
                <a:gd name="connsiteY1" fmla="*/ 2476500 h 4876197"/>
                <a:gd name="connsiteX2" fmla="*/ 1467045 w 3866269"/>
                <a:gd name="connsiteY2" fmla="*/ 571500 h 4876197"/>
                <a:gd name="connsiteX3" fmla="*/ 1905195 w 3866269"/>
                <a:gd name="connsiteY3" fmla="*/ 0 h 4876197"/>
                <a:gd name="connsiteX4" fmla="*/ 933646 w 3866269"/>
                <a:gd name="connsiteY4" fmla="*/ 1776413 h 4876197"/>
                <a:gd name="connsiteX5" fmla="*/ 2589918 w 3866269"/>
                <a:gd name="connsiteY5" fmla="*/ 3599847 h 4876197"/>
                <a:gd name="connsiteX6" fmla="*/ 3866269 w 3866269"/>
                <a:gd name="connsiteY6" fmla="*/ 4876197 h 4876197"/>
                <a:gd name="connsiteX7" fmla="*/ 361069 w 3866269"/>
                <a:gd name="connsiteY7" fmla="*/ 4876197 h 4876197"/>
                <a:gd name="connsiteX8" fmla="*/ 1046869 w 3866269"/>
                <a:gd name="connsiteY8" fmla="*/ 3914171 h 4876197"/>
                <a:gd name="connsiteX0" fmla="*/ 1046869 w 3866269"/>
                <a:gd name="connsiteY0" fmla="*/ 4447571 h 5409597"/>
                <a:gd name="connsiteX1" fmla="*/ 4957 w 3866269"/>
                <a:gd name="connsiteY1" fmla="*/ 3009900 h 5409597"/>
                <a:gd name="connsiteX2" fmla="*/ 1467045 w 3866269"/>
                <a:gd name="connsiteY2" fmla="*/ 1104900 h 5409597"/>
                <a:gd name="connsiteX3" fmla="*/ 1648020 w 3866269"/>
                <a:gd name="connsiteY3" fmla="*/ 0 h 5409597"/>
                <a:gd name="connsiteX4" fmla="*/ 933646 w 3866269"/>
                <a:gd name="connsiteY4" fmla="*/ 2309813 h 5409597"/>
                <a:gd name="connsiteX5" fmla="*/ 2589918 w 3866269"/>
                <a:gd name="connsiteY5" fmla="*/ 4133247 h 5409597"/>
                <a:gd name="connsiteX6" fmla="*/ 3866269 w 3866269"/>
                <a:gd name="connsiteY6" fmla="*/ 5409597 h 5409597"/>
                <a:gd name="connsiteX7" fmla="*/ 361069 w 3866269"/>
                <a:gd name="connsiteY7" fmla="*/ 5409597 h 5409597"/>
                <a:gd name="connsiteX8" fmla="*/ 1046869 w 3866269"/>
                <a:gd name="connsiteY8" fmla="*/ 4447571 h 5409597"/>
                <a:gd name="connsiteX0" fmla="*/ 1046869 w 3866269"/>
                <a:gd name="connsiteY0" fmla="*/ 4447571 h 5409597"/>
                <a:gd name="connsiteX1" fmla="*/ 4957 w 3866269"/>
                <a:gd name="connsiteY1" fmla="*/ 3009900 h 5409597"/>
                <a:gd name="connsiteX2" fmla="*/ 1467045 w 3866269"/>
                <a:gd name="connsiteY2" fmla="*/ 1104900 h 5409597"/>
                <a:gd name="connsiteX3" fmla="*/ 1648020 w 3866269"/>
                <a:gd name="connsiteY3" fmla="*/ 0 h 5409597"/>
                <a:gd name="connsiteX4" fmla="*/ 933646 w 3866269"/>
                <a:gd name="connsiteY4" fmla="*/ 2309813 h 5409597"/>
                <a:gd name="connsiteX5" fmla="*/ 2589918 w 3866269"/>
                <a:gd name="connsiteY5" fmla="*/ 4133247 h 5409597"/>
                <a:gd name="connsiteX6" fmla="*/ 3866269 w 3866269"/>
                <a:gd name="connsiteY6" fmla="*/ 5409597 h 5409597"/>
                <a:gd name="connsiteX7" fmla="*/ 361069 w 3866269"/>
                <a:gd name="connsiteY7" fmla="*/ 5409597 h 5409597"/>
                <a:gd name="connsiteX8" fmla="*/ 1046869 w 3866269"/>
                <a:gd name="connsiteY8" fmla="*/ 4447571 h 5409597"/>
                <a:gd name="connsiteX0" fmla="*/ 1046869 w 3866269"/>
                <a:gd name="connsiteY0" fmla="*/ 4447571 h 5409597"/>
                <a:gd name="connsiteX1" fmla="*/ 4957 w 3866269"/>
                <a:gd name="connsiteY1" fmla="*/ 3009900 h 5409597"/>
                <a:gd name="connsiteX2" fmla="*/ 1467045 w 3866269"/>
                <a:gd name="connsiteY2" fmla="*/ 1104900 h 5409597"/>
                <a:gd name="connsiteX3" fmla="*/ 1648020 w 3866269"/>
                <a:gd name="connsiteY3" fmla="*/ 0 h 5409597"/>
                <a:gd name="connsiteX4" fmla="*/ 933646 w 3866269"/>
                <a:gd name="connsiteY4" fmla="*/ 2309813 h 5409597"/>
                <a:gd name="connsiteX5" fmla="*/ 2589918 w 3866269"/>
                <a:gd name="connsiteY5" fmla="*/ 4133247 h 5409597"/>
                <a:gd name="connsiteX6" fmla="*/ 3866269 w 3866269"/>
                <a:gd name="connsiteY6" fmla="*/ 5409597 h 5409597"/>
                <a:gd name="connsiteX7" fmla="*/ 361069 w 3866269"/>
                <a:gd name="connsiteY7" fmla="*/ 5409597 h 5409597"/>
                <a:gd name="connsiteX8" fmla="*/ 1046869 w 3866269"/>
                <a:gd name="connsiteY8" fmla="*/ 4447571 h 5409597"/>
                <a:gd name="connsiteX0" fmla="*/ 1046849 w 3866249"/>
                <a:gd name="connsiteY0" fmla="*/ 4447571 h 5409597"/>
                <a:gd name="connsiteX1" fmla="*/ 4937 w 3866249"/>
                <a:gd name="connsiteY1" fmla="*/ 3009900 h 5409597"/>
                <a:gd name="connsiteX2" fmla="*/ 1471787 w 3866249"/>
                <a:gd name="connsiteY2" fmla="*/ 9525 h 5409597"/>
                <a:gd name="connsiteX3" fmla="*/ 1648000 w 3866249"/>
                <a:gd name="connsiteY3" fmla="*/ 0 h 5409597"/>
                <a:gd name="connsiteX4" fmla="*/ 933626 w 3866249"/>
                <a:gd name="connsiteY4" fmla="*/ 2309813 h 5409597"/>
                <a:gd name="connsiteX5" fmla="*/ 2589898 w 3866249"/>
                <a:gd name="connsiteY5" fmla="*/ 4133247 h 5409597"/>
                <a:gd name="connsiteX6" fmla="*/ 3866249 w 3866249"/>
                <a:gd name="connsiteY6" fmla="*/ 5409597 h 5409597"/>
                <a:gd name="connsiteX7" fmla="*/ 361049 w 3866249"/>
                <a:gd name="connsiteY7" fmla="*/ 5409597 h 5409597"/>
                <a:gd name="connsiteX8" fmla="*/ 1046849 w 3866249"/>
                <a:gd name="connsiteY8" fmla="*/ 4447571 h 5409597"/>
                <a:gd name="connsiteX0" fmla="*/ 1044258 w 3863658"/>
                <a:gd name="connsiteY0" fmla="*/ 4447571 h 5409597"/>
                <a:gd name="connsiteX1" fmla="*/ 2346 w 3863658"/>
                <a:gd name="connsiteY1" fmla="*/ 3009900 h 5409597"/>
                <a:gd name="connsiteX2" fmla="*/ 1469196 w 3863658"/>
                <a:gd name="connsiteY2" fmla="*/ 9525 h 5409597"/>
                <a:gd name="connsiteX3" fmla="*/ 1645409 w 3863658"/>
                <a:gd name="connsiteY3" fmla="*/ 0 h 5409597"/>
                <a:gd name="connsiteX4" fmla="*/ 931035 w 3863658"/>
                <a:gd name="connsiteY4" fmla="*/ 2309813 h 5409597"/>
                <a:gd name="connsiteX5" fmla="*/ 2587307 w 3863658"/>
                <a:gd name="connsiteY5" fmla="*/ 4133247 h 5409597"/>
                <a:gd name="connsiteX6" fmla="*/ 3863658 w 3863658"/>
                <a:gd name="connsiteY6" fmla="*/ 5409597 h 5409597"/>
                <a:gd name="connsiteX7" fmla="*/ 358458 w 3863658"/>
                <a:gd name="connsiteY7" fmla="*/ 5409597 h 5409597"/>
                <a:gd name="connsiteX8" fmla="*/ 1044258 w 3863658"/>
                <a:gd name="connsiteY8" fmla="*/ 4447571 h 5409597"/>
                <a:gd name="connsiteX0" fmla="*/ 1043364 w 3862764"/>
                <a:gd name="connsiteY0" fmla="*/ 4447571 h 5409597"/>
                <a:gd name="connsiteX1" fmla="*/ 1452 w 3862764"/>
                <a:gd name="connsiteY1" fmla="*/ 3009900 h 5409597"/>
                <a:gd name="connsiteX2" fmla="*/ 1468302 w 3862764"/>
                <a:gd name="connsiteY2" fmla="*/ 9525 h 5409597"/>
                <a:gd name="connsiteX3" fmla="*/ 1644515 w 3862764"/>
                <a:gd name="connsiteY3" fmla="*/ 0 h 5409597"/>
                <a:gd name="connsiteX4" fmla="*/ 930141 w 3862764"/>
                <a:gd name="connsiteY4" fmla="*/ 2309813 h 5409597"/>
                <a:gd name="connsiteX5" fmla="*/ 2586413 w 3862764"/>
                <a:gd name="connsiteY5" fmla="*/ 4133247 h 5409597"/>
                <a:gd name="connsiteX6" fmla="*/ 3862764 w 3862764"/>
                <a:gd name="connsiteY6" fmla="*/ 5409597 h 5409597"/>
                <a:gd name="connsiteX7" fmla="*/ 357564 w 3862764"/>
                <a:gd name="connsiteY7" fmla="*/ 5409597 h 5409597"/>
                <a:gd name="connsiteX8" fmla="*/ 1043364 w 3862764"/>
                <a:gd name="connsiteY8" fmla="*/ 4447571 h 5409597"/>
                <a:gd name="connsiteX0" fmla="*/ 1043331 w 3862731"/>
                <a:gd name="connsiteY0" fmla="*/ 4447571 h 5409597"/>
                <a:gd name="connsiteX1" fmla="*/ 1419 w 3862731"/>
                <a:gd name="connsiteY1" fmla="*/ 3009900 h 5409597"/>
                <a:gd name="connsiteX2" fmla="*/ 1468269 w 3862731"/>
                <a:gd name="connsiteY2" fmla="*/ 9525 h 5409597"/>
                <a:gd name="connsiteX3" fmla="*/ 1644482 w 3862731"/>
                <a:gd name="connsiteY3" fmla="*/ 0 h 5409597"/>
                <a:gd name="connsiteX4" fmla="*/ 930108 w 3862731"/>
                <a:gd name="connsiteY4" fmla="*/ 2309813 h 5409597"/>
                <a:gd name="connsiteX5" fmla="*/ 2586380 w 3862731"/>
                <a:gd name="connsiteY5" fmla="*/ 4133247 h 5409597"/>
                <a:gd name="connsiteX6" fmla="*/ 3862731 w 3862731"/>
                <a:gd name="connsiteY6" fmla="*/ 5409597 h 5409597"/>
                <a:gd name="connsiteX7" fmla="*/ 357531 w 3862731"/>
                <a:gd name="connsiteY7" fmla="*/ 5409597 h 5409597"/>
                <a:gd name="connsiteX8" fmla="*/ 1043331 w 3862731"/>
                <a:gd name="connsiteY8" fmla="*/ 4447571 h 5409597"/>
                <a:gd name="connsiteX0" fmla="*/ 1043331 w 3862731"/>
                <a:gd name="connsiteY0" fmla="*/ 4447571 h 5409597"/>
                <a:gd name="connsiteX1" fmla="*/ 1419 w 3862731"/>
                <a:gd name="connsiteY1" fmla="*/ 3009900 h 5409597"/>
                <a:gd name="connsiteX2" fmla="*/ 1468269 w 3862731"/>
                <a:gd name="connsiteY2" fmla="*/ 14288 h 5409597"/>
                <a:gd name="connsiteX3" fmla="*/ 1644482 w 3862731"/>
                <a:gd name="connsiteY3" fmla="*/ 0 h 5409597"/>
                <a:gd name="connsiteX4" fmla="*/ 930108 w 3862731"/>
                <a:gd name="connsiteY4" fmla="*/ 2309813 h 5409597"/>
                <a:gd name="connsiteX5" fmla="*/ 2586380 w 3862731"/>
                <a:gd name="connsiteY5" fmla="*/ 4133247 h 5409597"/>
                <a:gd name="connsiteX6" fmla="*/ 3862731 w 3862731"/>
                <a:gd name="connsiteY6" fmla="*/ 5409597 h 5409597"/>
                <a:gd name="connsiteX7" fmla="*/ 357531 w 3862731"/>
                <a:gd name="connsiteY7" fmla="*/ 5409597 h 5409597"/>
                <a:gd name="connsiteX8" fmla="*/ 1043331 w 3862731"/>
                <a:gd name="connsiteY8" fmla="*/ 4447571 h 5409597"/>
                <a:gd name="connsiteX0" fmla="*/ 1043331 w 3862731"/>
                <a:gd name="connsiteY0" fmla="*/ 4433284 h 5395310"/>
                <a:gd name="connsiteX1" fmla="*/ 1419 w 3862731"/>
                <a:gd name="connsiteY1" fmla="*/ 2995613 h 5395310"/>
                <a:gd name="connsiteX2" fmla="*/ 1468269 w 3862731"/>
                <a:gd name="connsiteY2" fmla="*/ 1 h 5395310"/>
                <a:gd name="connsiteX3" fmla="*/ 1644482 w 3862731"/>
                <a:gd name="connsiteY3" fmla="*/ 0 h 5395310"/>
                <a:gd name="connsiteX4" fmla="*/ 930108 w 3862731"/>
                <a:gd name="connsiteY4" fmla="*/ 2295526 h 5395310"/>
                <a:gd name="connsiteX5" fmla="*/ 2586380 w 3862731"/>
                <a:gd name="connsiteY5" fmla="*/ 4118960 h 5395310"/>
                <a:gd name="connsiteX6" fmla="*/ 3862731 w 3862731"/>
                <a:gd name="connsiteY6" fmla="*/ 5395310 h 5395310"/>
                <a:gd name="connsiteX7" fmla="*/ 357531 w 3862731"/>
                <a:gd name="connsiteY7" fmla="*/ 5395310 h 5395310"/>
                <a:gd name="connsiteX8" fmla="*/ 1043331 w 3862731"/>
                <a:gd name="connsiteY8" fmla="*/ 4433284 h 5395310"/>
                <a:gd name="connsiteX0" fmla="*/ 1043331 w 3862731"/>
                <a:gd name="connsiteY0" fmla="*/ 4433284 h 5395310"/>
                <a:gd name="connsiteX1" fmla="*/ 1419 w 3862731"/>
                <a:gd name="connsiteY1" fmla="*/ 2995613 h 5395310"/>
                <a:gd name="connsiteX2" fmla="*/ 1468269 w 3862731"/>
                <a:gd name="connsiteY2" fmla="*/ 1 h 5395310"/>
                <a:gd name="connsiteX3" fmla="*/ 1644482 w 3862731"/>
                <a:gd name="connsiteY3" fmla="*/ 0 h 5395310"/>
                <a:gd name="connsiteX4" fmla="*/ 930108 w 3862731"/>
                <a:gd name="connsiteY4" fmla="*/ 2295526 h 5395310"/>
                <a:gd name="connsiteX5" fmla="*/ 2586380 w 3862731"/>
                <a:gd name="connsiteY5" fmla="*/ 4118960 h 5395310"/>
                <a:gd name="connsiteX6" fmla="*/ 3862731 w 3862731"/>
                <a:gd name="connsiteY6" fmla="*/ 5395310 h 5395310"/>
                <a:gd name="connsiteX7" fmla="*/ 357531 w 3862731"/>
                <a:gd name="connsiteY7" fmla="*/ 5395310 h 5395310"/>
                <a:gd name="connsiteX8" fmla="*/ 1043331 w 3862731"/>
                <a:gd name="connsiteY8" fmla="*/ 4433284 h 5395310"/>
                <a:gd name="connsiteX0" fmla="*/ 1043331 w 3862731"/>
                <a:gd name="connsiteY0" fmla="*/ 4433284 h 5395310"/>
                <a:gd name="connsiteX1" fmla="*/ 1419 w 3862731"/>
                <a:gd name="connsiteY1" fmla="*/ 2995613 h 5395310"/>
                <a:gd name="connsiteX2" fmla="*/ 1468269 w 3862731"/>
                <a:gd name="connsiteY2" fmla="*/ 1 h 5395310"/>
                <a:gd name="connsiteX3" fmla="*/ 1644482 w 3862731"/>
                <a:gd name="connsiteY3" fmla="*/ 0 h 5395310"/>
                <a:gd name="connsiteX4" fmla="*/ 930108 w 3862731"/>
                <a:gd name="connsiteY4" fmla="*/ 2295526 h 5395310"/>
                <a:gd name="connsiteX5" fmla="*/ 2586380 w 3862731"/>
                <a:gd name="connsiteY5" fmla="*/ 4118960 h 5395310"/>
                <a:gd name="connsiteX6" fmla="*/ 3862731 w 3862731"/>
                <a:gd name="connsiteY6" fmla="*/ 5395310 h 5395310"/>
                <a:gd name="connsiteX7" fmla="*/ 357531 w 3862731"/>
                <a:gd name="connsiteY7" fmla="*/ 5395310 h 5395310"/>
                <a:gd name="connsiteX8" fmla="*/ 1043331 w 3862731"/>
                <a:gd name="connsiteY8" fmla="*/ 4433284 h 5395310"/>
                <a:gd name="connsiteX0" fmla="*/ 1043331 w 3862731"/>
                <a:gd name="connsiteY0" fmla="*/ 4433284 h 5395310"/>
                <a:gd name="connsiteX1" fmla="*/ 1419 w 3862731"/>
                <a:gd name="connsiteY1" fmla="*/ 2995613 h 5395310"/>
                <a:gd name="connsiteX2" fmla="*/ 1468269 w 3862731"/>
                <a:gd name="connsiteY2" fmla="*/ 1 h 5395310"/>
                <a:gd name="connsiteX3" fmla="*/ 1644482 w 3862731"/>
                <a:gd name="connsiteY3" fmla="*/ 0 h 5395310"/>
                <a:gd name="connsiteX4" fmla="*/ 930108 w 3862731"/>
                <a:gd name="connsiteY4" fmla="*/ 2295526 h 5395310"/>
                <a:gd name="connsiteX5" fmla="*/ 2586380 w 3862731"/>
                <a:gd name="connsiteY5" fmla="*/ 4118960 h 5395310"/>
                <a:gd name="connsiteX6" fmla="*/ 3862731 w 3862731"/>
                <a:gd name="connsiteY6" fmla="*/ 5395310 h 5395310"/>
                <a:gd name="connsiteX7" fmla="*/ 357531 w 3862731"/>
                <a:gd name="connsiteY7" fmla="*/ 5395310 h 5395310"/>
                <a:gd name="connsiteX8" fmla="*/ 1043331 w 3862731"/>
                <a:gd name="connsiteY8" fmla="*/ 4433284 h 5395310"/>
                <a:gd name="connsiteX0" fmla="*/ 1043331 w 3321257"/>
                <a:gd name="connsiteY0" fmla="*/ 4433284 h 5395310"/>
                <a:gd name="connsiteX1" fmla="*/ 1419 w 3321257"/>
                <a:gd name="connsiteY1" fmla="*/ 2995613 h 5395310"/>
                <a:gd name="connsiteX2" fmla="*/ 1468269 w 3321257"/>
                <a:gd name="connsiteY2" fmla="*/ 1 h 5395310"/>
                <a:gd name="connsiteX3" fmla="*/ 1644482 w 3321257"/>
                <a:gd name="connsiteY3" fmla="*/ 0 h 5395310"/>
                <a:gd name="connsiteX4" fmla="*/ 930108 w 3321257"/>
                <a:gd name="connsiteY4" fmla="*/ 2295526 h 5395310"/>
                <a:gd name="connsiteX5" fmla="*/ 2586380 w 3321257"/>
                <a:gd name="connsiteY5" fmla="*/ 4118960 h 5395310"/>
                <a:gd name="connsiteX6" fmla="*/ 3320572 w 3321257"/>
                <a:gd name="connsiteY6" fmla="*/ 5395310 h 5395310"/>
                <a:gd name="connsiteX7" fmla="*/ 357531 w 3321257"/>
                <a:gd name="connsiteY7" fmla="*/ 5395310 h 5395310"/>
                <a:gd name="connsiteX8" fmla="*/ 1043331 w 3321257"/>
                <a:gd name="connsiteY8" fmla="*/ 4433284 h 5395310"/>
                <a:gd name="connsiteX0" fmla="*/ 1043331 w 3320573"/>
                <a:gd name="connsiteY0" fmla="*/ 4433284 h 5395310"/>
                <a:gd name="connsiteX1" fmla="*/ 1419 w 3320573"/>
                <a:gd name="connsiteY1" fmla="*/ 2995613 h 5395310"/>
                <a:gd name="connsiteX2" fmla="*/ 1468269 w 3320573"/>
                <a:gd name="connsiteY2" fmla="*/ 1 h 5395310"/>
                <a:gd name="connsiteX3" fmla="*/ 1644482 w 3320573"/>
                <a:gd name="connsiteY3" fmla="*/ 0 h 5395310"/>
                <a:gd name="connsiteX4" fmla="*/ 930108 w 3320573"/>
                <a:gd name="connsiteY4" fmla="*/ 2295526 h 5395310"/>
                <a:gd name="connsiteX5" fmla="*/ 2347571 w 3320573"/>
                <a:gd name="connsiteY5" fmla="*/ 4289939 h 5395310"/>
                <a:gd name="connsiteX6" fmla="*/ 3320572 w 3320573"/>
                <a:gd name="connsiteY6" fmla="*/ 5395310 h 5395310"/>
                <a:gd name="connsiteX7" fmla="*/ 357531 w 3320573"/>
                <a:gd name="connsiteY7" fmla="*/ 5395310 h 5395310"/>
                <a:gd name="connsiteX8" fmla="*/ 1043331 w 3320573"/>
                <a:gd name="connsiteY8" fmla="*/ 4433284 h 5395310"/>
                <a:gd name="connsiteX0" fmla="*/ 1043331 w 3331748"/>
                <a:gd name="connsiteY0" fmla="*/ 4433284 h 5395310"/>
                <a:gd name="connsiteX1" fmla="*/ 1419 w 3331748"/>
                <a:gd name="connsiteY1" fmla="*/ 2995613 h 5395310"/>
                <a:gd name="connsiteX2" fmla="*/ 1468269 w 3331748"/>
                <a:gd name="connsiteY2" fmla="*/ 1 h 5395310"/>
                <a:gd name="connsiteX3" fmla="*/ 1644482 w 3331748"/>
                <a:gd name="connsiteY3" fmla="*/ 0 h 5395310"/>
                <a:gd name="connsiteX4" fmla="*/ 930108 w 3331748"/>
                <a:gd name="connsiteY4" fmla="*/ 2295526 h 5395310"/>
                <a:gd name="connsiteX5" fmla="*/ 2347571 w 3331748"/>
                <a:gd name="connsiteY5" fmla="*/ 4289939 h 5395310"/>
                <a:gd name="connsiteX6" fmla="*/ 3320572 w 3331748"/>
                <a:gd name="connsiteY6" fmla="*/ 5395310 h 5395310"/>
                <a:gd name="connsiteX7" fmla="*/ 357531 w 3331748"/>
                <a:gd name="connsiteY7" fmla="*/ 5395310 h 5395310"/>
                <a:gd name="connsiteX8" fmla="*/ 1043331 w 3331748"/>
                <a:gd name="connsiteY8" fmla="*/ 4433284 h 5395310"/>
                <a:gd name="connsiteX0" fmla="*/ 972335 w 3331748"/>
                <a:gd name="connsiteY0" fmla="*/ 4485527 h 5395310"/>
                <a:gd name="connsiteX1" fmla="*/ 1419 w 3331748"/>
                <a:gd name="connsiteY1" fmla="*/ 2995613 h 5395310"/>
                <a:gd name="connsiteX2" fmla="*/ 1468269 w 3331748"/>
                <a:gd name="connsiteY2" fmla="*/ 1 h 5395310"/>
                <a:gd name="connsiteX3" fmla="*/ 1644482 w 3331748"/>
                <a:gd name="connsiteY3" fmla="*/ 0 h 5395310"/>
                <a:gd name="connsiteX4" fmla="*/ 930108 w 3331748"/>
                <a:gd name="connsiteY4" fmla="*/ 2295526 h 5395310"/>
                <a:gd name="connsiteX5" fmla="*/ 2347571 w 3331748"/>
                <a:gd name="connsiteY5" fmla="*/ 4289939 h 5395310"/>
                <a:gd name="connsiteX6" fmla="*/ 3320572 w 3331748"/>
                <a:gd name="connsiteY6" fmla="*/ 5395310 h 5395310"/>
                <a:gd name="connsiteX7" fmla="*/ 357531 w 3331748"/>
                <a:gd name="connsiteY7" fmla="*/ 5395310 h 5395310"/>
                <a:gd name="connsiteX8" fmla="*/ 972335 w 3331748"/>
                <a:gd name="connsiteY8" fmla="*/ 4485527 h 5395310"/>
                <a:gd name="connsiteX0" fmla="*/ 972335 w 3331748"/>
                <a:gd name="connsiteY0" fmla="*/ 4485527 h 5395310"/>
                <a:gd name="connsiteX1" fmla="*/ 1419 w 3331748"/>
                <a:gd name="connsiteY1" fmla="*/ 2995613 h 5395310"/>
                <a:gd name="connsiteX2" fmla="*/ 1468269 w 3331748"/>
                <a:gd name="connsiteY2" fmla="*/ 1 h 5395310"/>
                <a:gd name="connsiteX3" fmla="*/ 1644482 w 3331748"/>
                <a:gd name="connsiteY3" fmla="*/ 0 h 5395310"/>
                <a:gd name="connsiteX4" fmla="*/ 930108 w 3331748"/>
                <a:gd name="connsiteY4" fmla="*/ 2295526 h 5395310"/>
                <a:gd name="connsiteX5" fmla="*/ 2347571 w 3331748"/>
                <a:gd name="connsiteY5" fmla="*/ 4289939 h 5395310"/>
                <a:gd name="connsiteX6" fmla="*/ 3320572 w 3331748"/>
                <a:gd name="connsiteY6" fmla="*/ 5395310 h 5395310"/>
                <a:gd name="connsiteX7" fmla="*/ 357531 w 3331748"/>
                <a:gd name="connsiteY7" fmla="*/ 5395310 h 5395310"/>
                <a:gd name="connsiteX8" fmla="*/ 972335 w 3331748"/>
                <a:gd name="connsiteY8" fmla="*/ 4485527 h 5395310"/>
                <a:gd name="connsiteX0" fmla="*/ 972335 w 3331748"/>
                <a:gd name="connsiteY0" fmla="*/ 4485527 h 5395310"/>
                <a:gd name="connsiteX1" fmla="*/ 1419 w 3331748"/>
                <a:gd name="connsiteY1" fmla="*/ 2995613 h 5395310"/>
                <a:gd name="connsiteX2" fmla="*/ 1468269 w 3331748"/>
                <a:gd name="connsiteY2" fmla="*/ 1 h 5395310"/>
                <a:gd name="connsiteX3" fmla="*/ 1644482 w 3331748"/>
                <a:gd name="connsiteY3" fmla="*/ 0 h 5395310"/>
                <a:gd name="connsiteX4" fmla="*/ 930108 w 3331748"/>
                <a:gd name="connsiteY4" fmla="*/ 2295526 h 5395310"/>
                <a:gd name="connsiteX5" fmla="*/ 2347571 w 3331748"/>
                <a:gd name="connsiteY5" fmla="*/ 4289939 h 5395310"/>
                <a:gd name="connsiteX6" fmla="*/ 3320572 w 3331748"/>
                <a:gd name="connsiteY6" fmla="*/ 5395310 h 5395310"/>
                <a:gd name="connsiteX7" fmla="*/ 357531 w 3331748"/>
                <a:gd name="connsiteY7" fmla="*/ 5395310 h 5395310"/>
                <a:gd name="connsiteX8" fmla="*/ 972335 w 3331748"/>
                <a:gd name="connsiteY8" fmla="*/ 4485527 h 5395310"/>
                <a:gd name="connsiteX0" fmla="*/ 1772316 w 4131729"/>
                <a:gd name="connsiteY0" fmla="*/ 4485527 h 5395310"/>
                <a:gd name="connsiteX1" fmla="*/ 1070 w 4131729"/>
                <a:gd name="connsiteY1" fmla="*/ 2881627 h 5395310"/>
                <a:gd name="connsiteX2" fmla="*/ 2268250 w 4131729"/>
                <a:gd name="connsiteY2" fmla="*/ 1 h 5395310"/>
                <a:gd name="connsiteX3" fmla="*/ 2444463 w 4131729"/>
                <a:gd name="connsiteY3" fmla="*/ 0 h 5395310"/>
                <a:gd name="connsiteX4" fmla="*/ 1730089 w 4131729"/>
                <a:gd name="connsiteY4" fmla="*/ 2295526 h 5395310"/>
                <a:gd name="connsiteX5" fmla="*/ 3147552 w 4131729"/>
                <a:gd name="connsiteY5" fmla="*/ 4289939 h 5395310"/>
                <a:gd name="connsiteX6" fmla="*/ 4120553 w 4131729"/>
                <a:gd name="connsiteY6" fmla="*/ 5395310 h 5395310"/>
                <a:gd name="connsiteX7" fmla="*/ 1157512 w 4131729"/>
                <a:gd name="connsiteY7" fmla="*/ 5395310 h 5395310"/>
                <a:gd name="connsiteX8" fmla="*/ 1772316 w 4131729"/>
                <a:gd name="connsiteY8" fmla="*/ 4485527 h 5395310"/>
                <a:gd name="connsiteX0" fmla="*/ 1772316 w 4131729"/>
                <a:gd name="connsiteY0" fmla="*/ 4485527 h 5395310"/>
                <a:gd name="connsiteX1" fmla="*/ 1070 w 4131729"/>
                <a:gd name="connsiteY1" fmla="*/ 2881627 h 5395310"/>
                <a:gd name="connsiteX2" fmla="*/ 2268250 w 4131729"/>
                <a:gd name="connsiteY2" fmla="*/ 1 h 5395310"/>
                <a:gd name="connsiteX3" fmla="*/ 2444463 w 4131729"/>
                <a:gd name="connsiteY3" fmla="*/ 0 h 5395310"/>
                <a:gd name="connsiteX4" fmla="*/ 1730089 w 4131729"/>
                <a:gd name="connsiteY4" fmla="*/ 2295526 h 5395310"/>
                <a:gd name="connsiteX5" fmla="*/ 3147552 w 4131729"/>
                <a:gd name="connsiteY5" fmla="*/ 4289939 h 5395310"/>
                <a:gd name="connsiteX6" fmla="*/ 4120553 w 4131729"/>
                <a:gd name="connsiteY6" fmla="*/ 5395310 h 5395310"/>
                <a:gd name="connsiteX7" fmla="*/ 1157512 w 4131729"/>
                <a:gd name="connsiteY7" fmla="*/ 5395310 h 5395310"/>
                <a:gd name="connsiteX8" fmla="*/ 1772316 w 4131729"/>
                <a:gd name="connsiteY8" fmla="*/ 4485527 h 5395310"/>
                <a:gd name="connsiteX0" fmla="*/ 1772316 w 4131729"/>
                <a:gd name="connsiteY0" fmla="*/ 4485527 h 5395310"/>
                <a:gd name="connsiteX1" fmla="*/ 1070 w 4131729"/>
                <a:gd name="connsiteY1" fmla="*/ 2881627 h 5395310"/>
                <a:gd name="connsiteX2" fmla="*/ 2268250 w 4131729"/>
                <a:gd name="connsiteY2" fmla="*/ 1 h 5395310"/>
                <a:gd name="connsiteX3" fmla="*/ 2444463 w 4131729"/>
                <a:gd name="connsiteY3" fmla="*/ 0 h 5395310"/>
                <a:gd name="connsiteX4" fmla="*/ 1730089 w 4131729"/>
                <a:gd name="connsiteY4" fmla="*/ 2295526 h 5395310"/>
                <a:gd name="connsiteX5" fmla="*/ 3147552 w 4131729"/>
                <a:gd name="connsiteY5" fmla="*/ 4289939 h 5395310"/>
                <a:gd name="connsiteX6" fmla="*/ 4120553 w 4131729"/>
                <a:gd name="connsiteY6" fmla="*/ 5395310 h 5395310"/>
                <a:gd name="connsiteX7" fmla="*/ 1157512 w 4131729"/>
                <a:gd name="connsiteY7" fmla="*/ 5395310 h 5395310"/>
                <a:gd name="connsiteX8" fmla="*/ 1772316 w 4131729"/>
                <a:gd name="connsiteY8" fmla="*/ 4485527 h 5395310"/>
                <a:gd name="connsiteX0" fmla="*/ 1772316 w 4131729"/>
                <a:gd name="connsiteY0" fmla="*/ 4485527 h 5395310"/>
                <a:gd name="connsiteX1" fmla="*/ 1070 w 4131729"/>
                <a:gd name="connsiteY1" fmla="*/ 2881627 h 5395310"/>
                <a:gd name="connsiteX2" fmla="*/ 2268250 w 4131729"/>
                <a:gd name="connsiteY2" fmla="*/ 1 h 5395310"/>
                <a:gd name="connsiteX3" fmla="*/ 2444463 w 4131729"/>
                <a:gd name="connsiteY3" fmla="*/ 0 h 5395310"/>
                <a:gd name="connsiteX4" fmla="*/ 1730089 w 4131729"/>
                <a:gd name="connsiteY4" fmla="*/ 2295526 h 5395310"/>
                <a:gd name="connsiteX5" fmla="*/ 3147552 w 4131729"/>
                <a:gd name="connsiteY5" fmla="*/ 4289939 h 5395310"/>
                <a:gd name="connsiteX6" fmla="*/ 4120553 w 4131729"/>
                <a:gd name="connsiteY6" fmla="*/ 5395310 h 5395310"/>
                <a:gd name="connsiteX7" fmla="*/ 1157512 w 4131729"/>
                <a:gd name="connsiteY7" fmla="*/ 5395310 h 5395310"/>
                <a:gd name="connsiteX8" fmla="*/ 1772316 w 4131729"/>
                <a:gd name="connsiteY8" fmla="*/ 4485527 h 5395310"/>
                <a:gd name="connsiteX0" fmla="*/ 1772316 w 4131729"/>
                <a:gd name="connsiteY0" fmla="*/ 4485527 h 5395310"/>
                <a:gd name="connsiteX1" fmla="*/ 1070 w 4131729"/>
                <a:gd name="connsiteY1" fmla="*/ 2881627 h 5395310"/>
                <a:gd name="connsiteX2" fmla="*/ 2268250 w 4131729"/>
                <a:gd name="connsiteY2" fmla="*/ 1 h 5395310"/>
                <a:gd name="connsiteX3" fmla="*/ 2444463 w 4131729"/>
                <a:gd name="connsiteY3" fmla="*/ 0 h 5395310"/>
                <a:gd name="connsiteX4" fmla="*/ 768403 w 4131729"/>
                <a:gd name="connsiteY4" fmla="*/ 2490251 h 5395310"/>
                <a:gd name="connsiteX5" fmla="*/ 3147552 w 4131729"/>
                <a:gd name="connsiteY5" fmla="*/ 4289939 h 5395310"/>
                <a:gd name="connsiteX6" fmla="*/ 4120553 w 4131729"/>
                <a:gd name="connsiteY6" fmla="*/ 5395310 h 5395310"/>
                <a:gd name="connsiteX7" fmla="*/ 1157512 w 4131729"/>
                <a:gd name="connsiteY7" fmla="*/ 5395310 h 5395310"/>
                <a:gd name="connsiteX8" fmla="*/ 1772316 w 4131729"/>
                <a:gd name="connsiteY8" fmla="*/ 4485527 h 5395310"/>
                <a:gd name="connsiteX0" fmla="*/ 1772477 w 4131890"/>
                <a:gd name="connsiteY0" fmla="*/ 4485527 h 5395310"/>
                <a:gd name="connsiteX1" fmla="*/ 1231 w 4131890"/>
                <a:gd name="connsiteY1" fmla="*/ 2881627 h 5395310"/>
                <a:gd name="connsiteX2" fmla="*/ 1842430 w 4131890"/>
                <a:gd name="connsiteY2" fmla="*/ 28497 h 5395310"/>
                <a:gd name="connsiteX3" fmla="*/ 2444624 w 4131890"/>
                <a:gd name="connsiteY3" fmla="*/ 0 h 5395310"/>
                <a:gd name="connsiteX4" fmla="*/ 768564 w 4131890"/>
                <a:gd name="connsiteY4" fmla="*/ 2490251 h 5395310"/>
                <a:gd name="connsiteX5" fmla="*/ 3147713 w 4131890"/>
                <a:gd name="connsiteY5" fmla="*/ 4289939 h 5395310"/>
                <a:gd name="connsiteX6" fmla="*/ 4120714 w 4131890"/>
                <a:gd name="connsiteY6" fmla="*/ 5395310 h 5395310"/>
                <a:gd name="connsiteX7" fmla="*/ 1157673 w 4131890"/>
                <a:gd name="connsiteY7" fmla="*/ 5395310 h 5395310"/>
                <a:gd name="connsiteX8" fmla="*/ 1772477 w 4131890"/>
                <a:gd name="connsiteY8" fmla="*/ 4485527 h 5395310"/>
                <a:gd name="connsiteX0" fmla="*/ 1772477 w 4131890"/>
                <a:gd name="connsiteY0" fmla="*/ 4461780 h 5371563"/>
                <a:gd name="connsiteX1" fmla="*/ 1231 w 4131890"/>
                <a:gd name="connsiteY1" fmla="*/ 2857880 h 5371563"/>
                <a:gd name="connsiteX2" fmla="*/ 1842430 w 4131890"/>
                <a:gd name="connsiteY2" fmla="*/ 4750 h 5371563"/>
                <a:gd name="connsiteX3" fmla="*/ 1992825 w 4131890"/>
                <a:gd name="connsiteY3" fmla="*/ 0 h 5371563"/>
                <a:gd name="connsiteX4" fmla="*/ 768564 w 4131890"/>
                <a:gd name="connsiteY4" fmla="*/ 2466504 h 5371563"/>
                <a:gd name="connsiteX5" fmla="*/ 3147713 w 4131890"/>
                <a:gd name="connsiteY5" fmla="*/ 4266192 h 5371563"/>
                <a:gd name="connsiteX6" fmla="*/ 4120714 w 4131890"/>
                <a:gd name="connsiteY6" fmla="*/ 5371563 h 5371563"/>
                <a:gd name="connsiteX7" fmla="*/ 1157673 w 4131890"/>
                <a:gd name="connsiteY7" fmla="*/ 5371563 h 5371563"/>
                <a:gd name="connsiteX8" fmla="*/ 1772477 w 4131890"/>
                <a:gd name="connsiteY8" fmla="*/ 4461780 h 5371563"/>
                <a:gd name="connsiteX0" fmla="*/ 1772407 w 4131820"/>
                <a:gd name="connsiteY0" fmla="*/ 4461780 h 5371563"/>
                <a:gd name="connsiteX1" fmla="*/ 1161 w 4131820"/>
                <a:gd name="connsiteY1" fmla="*/ 2857880 h 5371563"/>
                <a:gd name="connsiteX2" fmla="*/ 1842360 w 4131820"/>
                <a:gd name="connsiteY2" fmla="*/ 4750 h 5371563"/>
                <a:gd name="connsiteX3" fmla="*/ 1992755 w 4131820"/>
                <a:gd name="connsiteY3" fmla="*/ 0 h 5371563"/>
                <a:gd name="connsiteX4" fmla="*/ 768494 w 4131820"/>
                <a:gd name="connsiteY4" fmla="*/ 2466504 h 5371563"/>
                <a:gd name="connsiteX5" fmla="*/ 3147643 w 4131820"/>
                <a:gd name="connsiteY5" fmla="*/ 4266192 h 5371563"/>
                <a:gd name="connsiteX6" fmla="*/ 4120644 w 4131820"/>
                <a:gd name="connsiteY6" fmla="*/ 5371563 h 5371563"/>
                <a:gd name="connsiteX7" fmla="*/ 1157603 w 4131820"/>
                <a:gd name="connsiteY7" fmla="*/ 5371563 h 5371563"/>
                <a:gd name="connsiteX8" fmla="*/ 1772407 w 4131820"/>
                <a:gd name="connsiteY8" fmla="*/ 4461780 h 5371563"/>
                <a:gd name="connsiteX0" fmla="*/ 1771270 w 4130683"/>
                <a:gd name="connsiteY0" fmla="*/ 4461780 h 5371563"/>
                <a:gd name="connsiteX1" fmla="*/ 24 w 4130683"/>
                <a:gd name="connsiteY1" fmla="*/ 2857880 h 5371563"/>
                <a:gd name="connsiteX2" fmla="*/ 1841223 w 4130683"/>
                <a:gd name="connsiteY2" fmla="*/ 4750 h 5371563"/>
                <a:gd name="connsiteX3" fmla="*/ 1991618 w 4130683"/>
                <a:gd name="connsiteY3" fmla="*/ 0 h 5371563"/>
                <a:gd name="connsiteX4" fmla="*/ 767357 w 4130683"/>
                <a:gd name="connsiteY4" fmla="*/ 2466504 h 5371563"/>
                <a:gd name="connsiteX5" fmla="*/ 3146506 w 4130683"/>
                <a:gd name="connsiteY5" fmla="*/ 4266192 h 5371563"/>
                <a:gd name="connsiteX6" fmla="*/ 4119507 w 4130683"/>
                <a:gd name="connsiteY6" fmla="*/ 5371563 h 5371563"/>
                <a:gd name="connsiteX7" fmla="*/ 1156466 w 4130683"/>
                <a:gd name="connsiteY7" fmla="*/ 5371563 h 5371563"/>
                <a:gd name="connsiteX8" fmla="*/ 1771270 w 4130683"/>
                <a:gd name="connsiteY8" fmla="*/ 4461780 h 5371563"/>
                <a:gd name="connsiteX0" fmla="*/ 1772631 w 4132044"/>
                <a:gd name="connsiteY0" fmla="*/ 4461780 h 5371563"/>
                <a:gd name="connsiteX1" fmla="*/ 1385 w 4132044"/>
                <a:gd name="connsiteY1" fmla="*/ 2857880 h 5371563"/>
                <a:gd name="connsiteX2" fmla="*/ 1842584 w 4132044"/>
                <a:gd name="connsiteY2" fmla="*/ 4750 h 5371563"/>
                <a:gd name="connsiteX3" fmla="*/ 1992979 w 4132044"/>
                <a:gd name="connsiteY3" fmla="*/ 0 h 5371563"/>
                <a:gd name="connsiteX4" fmla="*/ 768718 w 4132044"/>
                <a:gd name="connsiteY4" fmla="*/ 2466504 h 5371563"/>
                <a:gd name="connsiteX5" fmla="*/ 3147867 w 4132044"/>
                <a:gd name="connsiteY5" fmla="*/ 4266192 h 5371563"/>
                <a:gd name="connsiteX6" fmla="*/ 4120868 w 4132044"/>
                <a:gd name="connsiteY6" fmla="*/ 5371563 h 5371563"/>
                <a:gd name="connsiteX7" fmla="*/ 1157827 w 4132044"/>
                <a:gd name="connsiteY7" fmla="*/ 5371563 h 5371563"/>
                <a:gd name="connsiteX8" fmla="*/ 1772631 w 4132044"/>
                <a:gd name="connsiteY8" fmla="*/ 4461780 h 5371563"/>
                <a:gd name="connsiteX0" fmla="*/ 1771848 w 4131261"/>
                <a:gd name="connsiteY0" fmla="*/ 4461780 h 5371563"/>
                <a:gd name="connsiteX1" fmla="*/ 602 w 4131261"/>
                <a:gd name="connsiteY1" fmla="*/ 2857880 h 5371563"/>
                <a:gd name="connsiteX2" fmla="*/ 1841801 w 4131261"/>
                <a:gd name="connsiteY2" fmla="*/ 4750 h 5371563"/>
                <a:gd name="connsiteX3" fmla="*/ 1992196 w 4131261"/>
                <a:gd name="connsiteY3" fmla="*/ 0 h 5371563"/>
                <a:gd name="connsiteX4" fmla="*/ 767935 w 4131261"/>
                <a:gd name="connsiteY4" fmla="*/ 2466504 h 5371563"/>
                <a:gd name="connsiteX5" fmla="*/ 3147084 w 4131261"/>
                <a:gd name="connsiteY5" fmla="*/ 4266192 h 5371563"/>
                <a:gd name="connsiteX6" fmla="*/ 4120085 w 4131261"/>
                <a:gd name="connsiteY6" fmla="*/ 5371563 h 5371563"/>
                <a:gd name="connsiteX7" fmla="*/ 1157044 w 4131261"/>
                <a:gd name="connsiteY7" fmla="*/ 5371563 h 5371563"/>
                <a:gd name="connsiteX8" fmla="*/ 1771848 w 4131261"/>
                <a:gd name="connsiteY8" fmla="*/ 4461780 h 5371563"/>
                <a:gd name="connsiteX0" fmla="*/ 1771848 w 4131261"/>
                <a:gd name="connsiteY0" fmla="*/ 4461780 h 5371563"/>
                <a:gd name="connsiteX1" fmla="*/ 602 w 4131261"/>
                <a:gd name="connsiteY1" fmla="*/ 2857880 h 5371563"/>
                <a:gd name="connsiteX2" fmla="*/ 1841801 w 4131261"/>
                <a:gd name="connsiteY2" fmla="*/ 4750 h 5371563"/>
                <a:gd name="connsiteX3" fmla="*/ 1992195 w 4131261"/>
                <a:gd name="connsiteY3" fmla="*/ 0 h 5371563"/>
                <a:gd name="connsiteX4" fmla="*/ 767935 w 4131261"/>
                <a:gd name="connsiteY4" fmla="*/ 2466504 h 5371563"/>
                <a:gd name="connsiteX5" fmla="*/ 3147084 w 4131261"/>
                <a:gd name="connsiteY5" fmla="*/ 4266192 h 5371563"/>
                <a:gd name="connsiteX6" fmla="*/ 4120085 w 4131261"/>
                <a:gd name="connsiteY6" fmla="*/ 5371563 h 5371563"/>
                <a:gd name="connsiteX7" fmla="*/ 1157044 w 4131261"/>
                <a:gd name="connsiteY7" fmla="*/ 5371563 h 5371563"/>
                <a:gd name="connsiteX8" fmla="*/ 1771848 w 4131261"/>
                <a:gd name="connsiteY8" fmla="*/ 4461780 h 5371563"/>
                <a:gd name="connsiteX0" fmla="*/ 1771848 w 4131261"/>
                <a:gd name="connsiteY0" fmla="*/ 4461780 h 5371563"/>
                <a:gd name="connsiteX1" fmla="*/ 602 w 4131261"/>
                <a:gd name="connsiteY1" fmla="*/ 2857880 h 5371563"/>
                <a:gd name="connsiteX2" fmla="*/ 1841801 w 4131261"/>
                <a:gd name="connsiteY2" fmla="*/ 4750 h 5371563"/>
                <a:gd name="connsiteX3" fmla="*/ 1992195 w 4131261"/>
                <a:gd name="connsiteY3" fmla="*/ 0 h 5371563"/>
                <a:gd name="connsiteX4" fmla="*/ 767935 w 4131261"/>
                <a:gd name="connsiteY4" fmla="*/ 2466504 h 5371563"/>
                <a:gd name="connsiteX5" fmla="*/ 3147084 w 4131261"/>
                <a:gd name="connsiteY5" fmla="*/ 4266192 h 5371563"/>
                <a:gd name="connsiteX6" fmla="*/ 4120085 w 4131261"/>
                <a:gd name="connsiteY6" fmla="*/ 5371563 h 5371563"/>
                <a:gd name="connsiteX7" fmla="*/ 1157044 w 4131261"/>
                <a:gd name="connsiteY7" fmla="*/ 5371563 h 5371563"/>
                <a:gd name="connsiteX8" fmla="*/ 1771848 w 4131261"/>
                <a:gd name="connsiteY8" fmla="*/ 4461780 h 5371563"/>
                <a:gd name="connsiteX0" fmla="*/ 1771848 w 4131261"/>
                <a:gd name="connsiteY0" fmla="*/ 4461780 h 5371563"/>
                <a:gd name="connsiteX1" fmla="*/ 602 w 4131261"/>
                <a:gd name="connsiteY1" fmla="*/ 2857880 h 5371563"/>
                <a:gd name="connsiteX2" fmla="*/ 1841801 w 4131261"/>
                <a:gd name="connsiteY2" fmla="*/ 4750 h 5371563"/>
                <a:gd name="connsiteX3" fmla="*/ 1992195 w 4131261"/>
                <a:gd name="connsiteY3" fmla="*/ 0 h 5371563"/>
                <a:gd name="connsiteX4" fmla="*/ 767935 w 4131261"/>
                <a:gd name="connsiteY4" fmla="*/ 2466504 h 5371563"/>
                <a:gd name="connsiteX5" fmla="*/ 3147084 w 4131261"/>
                <a:gd name="connsiteY5" fmla="*/ 4266192 h 5371563"/>
                <a:gd name="connsiteX6" fmla="*/ 4120085 w 4131261"/>
                <a:gd name="connsiteY6" fmla="*/ 5371563 h 5371563"/>
                <a:gd name="connsiteX7" fmla="*/ 1157044 w 4131261"/>
                <a:gd name="connsiteY7" fmla="*/ 5371563 h 5371563"/>
                <a:gd name="connsiteX8" fmla="*/ 1771848 w 4131261"/>
                <a:gd name="connsiteY8" fmla="*/ 4461780 h 5371563"/>
                <a:gd name="connsiteX0" fmla="*/ 1771317 w 4130730"/>
                <a:gd name="connsiteY0" fmla="*/ 4461780 h 5371563"/>
                <a:gd name="connsiteX1" fmla="*/ 71 w 4130730"/>
                <a:gd name="connsiteY1" fmla="*/ 2857880 h 5371563"/>
                <a:gd name="connsiteX2" fmla="*/ 1841270 w 4130730"/>
                <a:gd name="connsiteY2" fmla="*/ 4750 h 5371563"/>
                <a:gd name="connsiteX3" fmla="*/ 1991664 w 4130730"/>
                <a:gd name="connsiteY3" fmla="*/ 0 h 5371563"/>
                <a:gd name="connsiteX4" fmla="*/ 767404 w 4130730"/>
                <a:gd name="connsiteY4" fmla="*/ 2466504 h 5371563"/>
                <a:gd name="connsiteX5" fmla="*/ 3146553 w 4130730"/>
                <a:gd name="connsiteY5" fmla="*/ 4266192 h 5371563"/>
                <a:gd name="connsiteX6" fmla="*/ 4119554 w 4130730"/>
                <a:gd name="connsiteY6" fmla="*/ 5371563 h 5371563"/>
                <a:gd name="connsiteX7" fmla="*/ 1156513 w 4130730"/>
                <a:gd name="connsiteY7" fmla="*/ 5371563 h 5371563"/>
                <a:gd name="connsiteX8" fmla="*/ 1771317 w 4130730"/>
                <a:gd name="connsiteY8" fmla="*/ 4461780 h 5371563"/>
                <a:gd name="connsiteX0" fmla="*/ 1771317 w 4130730"/>
                <a:gd name="connsiteY0" fmla="*/ 4461780 h 5371563"/>
                <a:gd name="connsiteX1" fmla="*/ 71 w 4130730"/>
                <a:gd name="connsiteY1" fmla="*/ 2857880 h 5371563"/>
                <a:gd name="connsiteX2" fmla="*/ 1841270 w 4130730"/>
                <a:gd name="connsiteY2" fmla="*/ 4750 h 5371563"/>
                <a:gd name="connsiteX3" fmla="*/ 1991664 w 4130730"/>
                <a:gd name="connsiteY3" fmla="*/ 0 h 5371563"/>
                <a:gd name="connsiteX4" fmla="*/ 767404 w 4130730"/>
                <a:gd name="connsiteY4" fmla="*/ 2466504 h 5371563"/>
                <a:gd name="connsiteX5" fmla="*/ 3146553 w 4130730"/>
                <a:gd name="connsiteY5" fmla="*/ 4266192 h 5371563"/>
                <a:gd name="connsiteX6" fmla="*/ 4119554 w 4130730"/>
                <a:gd name="connsiteY6" fmla="*/ 5371563 h 5371563"/>
                <a:gd name="connsiteX7" fmla="*/ 1156513 w 4130730"/>
                <a:gd name="connsiteY7" fmla="*/ 5371563 h 5371563"/>
                <a:gd name="connsiteX8" fmla="*/ 1771317 w 4130730"/>
                <a:gd name="connsiteY8" fmla="*/ 4461780 h 5371563"/>
                <a:gd name="connsiteX0" fmla="*/ 1771317 w 4130730"/>
                <a:gd name="connsiteY0" fmla="*/ 4462982 h 5372765"/>
                <a:gd name="connsiteX1" fmla="*/ 71 w 4130730"/>
                <a:gd name="connsiteY1" fmla="*/ 2859082 h 5372765"/>
                <a:gd name="connsiteX2" fmla="*/ 1814759 w 4130730"/>
                <a:gd name="connsiteY2" fmla="*/ 0 h 5372765"/>
                <a:gd name="connsiteX3" fmla="*/ 1991664 w 4130730"/>
                <a:gd name="connsiteY3" fmla="*/ 1202 h 5372765"/>
                <a:gd name="connsiteX4" fmla="*/ 767404 w 4130730"/>
                <a:gd name="connsiteY4" fmla="*/ 2467706 h 5372765"/>
                <a:gd name="connsiteX5" fmla="*/ 3146553 w 4130730"/>
                <a:gd name="connsiteY5" fmla="*/ 4267394 h 5372765"/>
                <a:gd name="connsiteX6" fmla="*/ 4119554 w 4130730"/>
                <a:gd name="connsiteY6" fmla="*/ 5372765 h 5372765"/>
                <a:gd name="connsiteX7" fmla="*/ 1156513 w 4130730"/>
                <a:gd name="connsiteY7" fmla="*/ 5372765 h 5372765"/>
                <a:gd name="connsiteX8" fmla="*/ 1771317 w 4130730"/>
                <a:gd name="connsiteY8" fmla="*/ 4462982 h 5372765"/>
                <a:gd name="connsiteX0" fmla="*/ 1771317 w 4130730"/>
                <a:gd name="connsiteY0" fmla="*/ 4463764 h 5373547"/>
                <a:gd name="connsiteX1" fmla="*/ 71 w 4130730"/>
                <a:gd name="connsiteY1" fmla="*/ 2859864 h 5373547"/>
                <a:gd name="connsiteX2" fmla="*/ 1814759 w 4130730"/>
                <a:gd name="connsiteY2" fmla="*/ 782 h 5373547"/>
                <a:gd name="connsiteX3" fmla="*/ 1946594 w 4130730"/>
                <a:gd name="connsiteY3" fmla="*/ 0 h 5373547"/>
                <a:gd name="connsiteX4" fmla="*/ 767404 w 4130730"/>
                <a:gd name="connsiteY4" fmla="*/ 2468488 h 5373547"/>
                <a:gd name="connsiteX5" fmla="*/ 3146553 w 4130730"/>
                <a:gd name="connsiteY5" fmla="*/ 4268176 h 5373547"/>
                <a:gd name="connsiteX6" fmla="*/ 4119554 w 4130730"/>
                <a:gd name="connsiteY6" fmla="*/ 5373547 h 5373547"/>
                <a:gd name="connsiteX7" fmla="*/ 1156513 w 4130730"/>
                <a:gd name="connsiteY7" fmla="*/ 5373547 h 5373547"/>
                <a:gd name="connsiteX8" fmla="*/ 1771317 w 4130730"/>
                <a:gd name="connsiteY8" fmla="*/ 4463764 h 5373547"/>
                <a:gd name="connsiteX0" fmla="*/ 1771317 w 4130730"/>
                <a:gd name="connsiteY0" fmla="*/ 4476886 h 5386669"/>
                <a:gd name="connsiteX1" fmla="*/ 71 w 4130730"/>
                <a:gd name="connsiteY1" fmla="*/ 2872986 h 5386669"/>
                <a:gd name="connsiteX2" fmla="*/ 1814759 w 4130730"/>
                <a:gd name="connsiteY2" fmla="*/ 13904 h 5386669"/>
                <a:gd name="connsiteX3" fmla="*/ 1946594 w 4130730"/>
                <a:gd name="connsiteY3" fmla="*/ 13122 h 5386669"/>
                <a:gd name="connsiteX4" fmla="*/ 767404 w 4130730"/>
                <a:gd name="connsiteY4" fmla="*/ 2481610 h 5386669"/>
                <a:gd name="connsiteX5" fmla="*/ 3146553 w 4130730"/>
                <a:gd name="connsiteY5" fmla="*/ 4281298 h 5386669"/>
                <a:gd name="connsiteX6" fmla="*/ 4119554 w 4130730"/>
                <a:gd name="connsiteY6" fmla="*/ 5386669 h 5386669"/>
                <a:gd name="connsiteX7" fmla="*/ 1156513 w 4130730"/>
                <a:gd name="connsiteY7" fmla="*/ 5386669 h 5386669"/>
                <a:gd name="connsiteX8" fmla="*/ 1771317 w 4130730"/>
                <a:gd name="connsiteY8" fmla="*/ 4476886 h 5386669"/>
                <a:gd name="connsiteX0" fmla="*/ 1771317 w 4130730"/>
                <a:gd name="connsiteY0" fmla="*/ 4468771 h 5378554"/>
                <a:gd name="connsiteX1" fmla="*/ 71 w 4130730"/>
                <a:gd name="connsiteY1" fmla="*/ 2864871 h 5378554"/>
                <a:gd name="connsiteX2" fmla="*/ 1814759 w 4130730"/>
                <a:gd name="connsiteY2" fmla="*/ 5789 h 5378554"/>
                <a:gd name="connsiteX3" fmla="*/ 1946594 w 4130730"/>
                <a:gd name="connsiteY3" fmla="*/ 5007 h 5378554"/>
                <a:gd name="connsiteX4" fmla="*/ 767404 w 4130730"/>
                <a:gd name="connsiteY4" fmla="*/ 2473495 h 5378554"/>
                <a:gd name="connsiteX5" fmla="*/ 3146553 w 4130730"/>
                <a:gd name="connsiteY5" fmla="*/ 4273183 h 5378554"/>
                <a:gd name="connsiteX6" fmla="*/ 4119554 w 4130730"/>
                <a:gd name="connsiteY6" fmla="*/ 5378554 h 5378554"/>
                <a:gd name="connsiteX7" fmla="*/ 1156513 w 4130730"/>
                <a:gd name="connsiteY7" fmla="*/ 5378554 h 5378554"/>
                <a:gd name="connsiteX8" fmla="*/ 1771317 w 4130730"/>
                <a:gd name="connsiteY8" fmla="*/ 4468771 h 5378554"/>
                <a:gd name="connsiteX0" fmla="*/ 1771317 w 4130730"/>
                <a:gd name="connsiteY0" fmla="*/ 4469500 h 5379283"/>
                <a:gd name="connsiteX1" fmla="*/ 71 w 4130730"/>
                <a:gd name="connsiteY1" fmla="*/ 2865600 h 5379283"/>
                <a:gd name="connsiteX2" fmla="*/ 1807786 w 4130730"/>
                <a:gd name="connsiteY2" fmla="*/ 3909 h 5379283"/>
                <a:gd name="connsiteX3" fmla="*/ 1946594 w 4130730"/>
                <a:gd name="connsiteY3" fmla="*/ 5736 h 5379283"/>
                <a:gd name="connsiteX4" fmla="*/ 767404 w 4130730"/>
                <a:gd name="connsiteY4" fmla="*/ 2474224 h 5379283"/>
                <a:gd name="connsiteX5" fmla="*/ 3146553 w 4130730"/>
                <a:gd name="connsiteY5" fmla="*/ 4273912 h 5379283"/>
                <a:gd name="connsiteX6" fmla="*/ 4119554 w 4130730"/>
                <a:gd name="connsiteY6" fmla="*/ 5379283 h 5379283"/>
                <a:gd name="connsiteX7" fmla="*/ 1156513 w 4130730"/>
                <a:gd name="connsiteY7" fmla="*/ 5379283 h 5379283"/>
                <a:gd name="connsiteX8" fmla="*/ 1771317 w 4130730"/>
                <a:gd name="connsiteY8" fmla="*/ 4469500 h 5379283"/>
                <a:gd name="connsiteX0" fmla="*/ 1771315 w 4130728"/>
                <a:gd name="connsiteY0" fmla="*/ 4469500 h 5379283"/>
                <a:gd name="connsiteX1" fmla="*/ 69 w 4130728"/>
                <a:gd name="connsiteY1" fmla="*/ 2865600 h 5379283"/>
                <a:gd name="connsiteX2" fmla="*/ 1807784 w 4130728"/>
                <a:gd name="connsiteY2" fmla="*/ 3909 h 5379283"/>
                <a:gd name="connsiteX3" fmla="*/ 1946592 w 4130728"/>
                <a:gd name="connsiteY3" fmla="*/ 5736 h 5379283"/>
                <a:gd name="connsiteX4" fmla="*/ 767402 w 4130728"/>
                <a:gd name="connsiteY4" fmla="*/ 2474224 h 5379283"/>
                <a:gd name="connsiteX5" fmla="*/ 3146551 w 4130728"/>
                <a:gd name="connsiteY5" fmla="*/ 4273912 h 5379283"/>
                <a:gd name="connsiteX6" fmla="*/ 4119552 w 4130728"/>
                <a:gd name="connsiteY6" fmla="*/ 5379283 h 5379283"/>
                <a:gd name="connsiteX7" fmla="*/ 1156511 w 4130728"/>
                <a:gd name="connsiteY7" fmla="*/ 5379283 h 5379283"/>
                <a:gd name="connsiteX8" fmla="*/ 1771315 w 4130728"/>
                <a:gd name="connsiteY8" fmla="*/ 4469500 h 5379283"/>
                <a:gd name="connsiteX0" fmla="*/ 1771315 w 4130728"/>
                <a:gd name="connsiteY0" fmla="*/ 4469500 h 5379283"/>
                <a:gd name="connsiteX1" fmla="*/ 69 w 4130728"/>
                <a:gd name="connsiteY1" fmla="*/ 2865600 h 5379283"/>
                <a:gd name="connsiteX2" fmla="*/ 1807784 w 4130728"/>
                <a:gd name="connsiteY2" fmla="*/ 3909 h 5379283"/>
                <a:gd name="connsiteX3" fmla="*/ 1946592 w 4130728"/>
                <a:gd name="connsiteY3" fmla="*/ 5736 h 5379283"/>
                <a:gd name="connsiteX4" fmla="*/ 767402 w 4130728"/>
                <a:gd name="connsiteY4" fmla="*/ 2474224 h 5379283"/>
                <a:gd name="connsiteX5" fmla="*/ 3146551 w 4130728"/>
                <a:gd name="connsiteY5" fmla="*/ 4273912 h 5379283"/>
                <a:gd name="connsiteX6" fmla="*/ 4119552 w 4130728"/>
                <a:gd name="connsiteY6" fmla="*/ 5379283 h 5379283"/>
                <a:gd name="connsiteX7" fmla="*/ 1156511 w 4130728"/>
                <a:gd name="connsiteY7" fmla="*/ 5379283 h 5379283"/>
                <a:gd name="connsiteX8" fmla="*/ 1771315 w 4130728"/>
                <a:gd name="connsiteY8" fmla="*/ 4469500 h 5379283"/>
                <a:gd name="connsiteX0" fmla="*/ 1771315 w 4130728"/>
                <a:gd name="connsiteY0" fmla="*/ 4467858 h 5377641"/>
                <a:gd name="connsiteX1" fmla="*/ 69 w 4130728"/>
                <a:gd name="connsiteY1" fmla="*/ 2863958 h 5377641"/>
                <a:gd name="connsiteX2" fmla="*/ 1807784 w 4130728"/>
                <a:gd name="connsiteY2" fmla="*/ 2267 h 5377641"/>
                <a:gd name="connsiteX3" fmla="*/ 1950078 w 4130728"/>
                <a:gd name="connsiteY3" fmla="*/ 6704 h 5377641"/>
                <a:gd name="connsiteX4" fmla="*/ 767402 w 4130728"/>
                <a:gd name="connsiteY4" fmla="*/ 2472582 h 5377641"/>
                <a:gd name="connsiteX5" fmla="*/ 3146551 w 4130728"/>
                <a:gd name="connsiteY5" fmla="*/ 4272270 h 5377641"/>
                <a:gd name="connsiteX6" fmla="*/ 4119552 w 4130728"/>
                <a:gd name="connsiteY6" fmla="*/ 5377641 h 5377641"/>
                <a:gd name="connsiteX7" fmla="*/ 1156511 w 4130728"/>
                <a:gd name="connsiteY7" fmla="*/ 5377641 h 5377641"/>
                <a:gd name="connsiteX8" fmla="*/ 1771315 w 4130728"/>
                <a:gd name="connsiteY8" fmla="*/ 4467858 h 5377641"/>
                <a:gd name="connsiteX0" fmla="*/ 1771315 w 4130728"/>
                <a:gd name="connsiteY0" fmla="*/ 4467858 h 5377641"/>
                <a:gd name="connsiteX1" fmla="*/ 69 w 4130728"/>
                <a:gd name="connsiteY1" fmla="*/ 2863958 h 5377641"/>
                <a:gd name="connsiteX2" fmla="*/ 1807784 w 4130728"/>
                <a:gd name="connsiteY2" fmla="*/ 2267 h 5377641"/>
                <a:gd name="connsiteX3" fmla="*/ 1950078 w 4130728"/>
                <a:gd name="connsiteY3" fmla="*/ 6704 h 5377641"/>
                <a:gd name="connsiteX4" fmla="*/ 767402 w 4130728"/>
                <a:gd name="connsiteY4" fmla="*/ 2472582 h 5377641"/>
                <a:gd name="connsiteX5" fmla="*/ 3146551 w 4130728"/>
                <a:gd name="connsiteY5" fmla="*/ 4272270 h 5377641"/>
                <a:gd name="connsiteX6" fmla="*/ 4119552 w 4130728"/>
                <a:gd name="connsiteY6" fmla="*/ 5377641 h 5377641"/>
                <a:gd name="connsiteX7" fmla="*/ 1156511 w 4130728"/>
                <a:gd name="connsiteY7" fmla="*/ 5377641 h 5377641"/>
                <a:gd name="connsiteX8" fmla="*/ 1771315 w 4130728"/>
                <a:gd name="connsiteY8" fmla="*/ 4467858 h 5377641"/>
                <a:gd name="connsiteX0" fmla="*/ 1771315 w 4130728"/>
                <a:gd name="connsiteY0" fmla="*/ 4467858 h 5377641"/>
                <a:gd name="connsiteX1" fmla="*/ 69 w 4130728"/>
                <a:gd name="connsiteY1" fmla="*/ 2863958 h 5377641"/>
                <a:gd name="connsiteX2" fmla="*/ 1807784 w 4130728"/>
                <a:gd name="connsiteY2" fmla="*/ 2267 h 5377641"/>
                <a:gd name="connsiteX3" fmla="*/ 1950078 w 4130728"/>
                <a:gd name="connsiteY3" fmla="*/ 6704 h 5377641"/>
                <a:gd name="connsiteX4" fmla="*/ 767402 w 4130728"/>
                <a:gd name="connsiteY4" fmla="*/ 2472582 h 5377641"/>
                <a:gd name="connsiteX5" fmla="*/ 3146551 w 4130728"/>
                <a:gd name="connsiteY5" fmla="*/ 4272270 h 5377641"/>
                <a:gd name="connsiteX6" fmla="*/ 4119552 w 4130728"/>
                <a:gd name="connsiteY6" fmla="*/ 5377641 h 5377641"/>
                <a:gd name="connsiteX7" fmla="*/ 1156511 w 4130728"/>
                <a:gd name="connsiteY7" fmla="*/ 5377641 h 5377641"/>
                <a:gd name="connsiteX8" fmla="*/ 1771315 w 4130728"/>
                <a:gd name="connsiteY8" fmla="*/ 4467858 h 5377641"/>
                <a:gd name="connsiteX0" fmla="*/ 1771315 w 4130728"/>
                <a:gd name="connsiteY0" fmla="*/ 4467858 h 5377641"/>
                <a:gd name="connsiteX1" fmla="*/ 69 w 4130728"/>
                <a:gd name="connsiteY1" fmla="*/ 2863958 h 5377641"/>
                <a:gd name="connsiteX2" fmla="*/ 1807784 w 4130728"/>
                <a:gd name="connsiteY2" fmla="*/ 2267 h 5377641"/>
                <a:gd name="connsiteX3" fmla="*/ 1946592 w 4130728"/>
                <a:gd name="connsiteY3" fmla="*/ 6704 h 5377641"/>
                <a:gd name="connsiteX4" fmla="*/ 767402 w 4130728"/>
                <a:gd name="connsiteY4" fmla="*/ 2472582 h 5377641"/>
                <a:gd name="connsiteX5" fmla="*/ 3146551 w 4130728"/>
                <a:gd name="connsiteY5" fmla="*/ 4272270 h 5377641"/>
                <a:gd name="connsiteX6" fmla="*/ 4119552 w 4130728"/>
                <a:gd name="connsiteY6" fmla="*/ 5377641 h 5377641"/>
                <a:gd name="connsiteX7" fmla="*/ 1156511 w 4130728"/>
                <a:gd name="connsiteY7" fmla="*/ 5377641 h 5377641"/>
                <a:gd name="connsiteX8" fmla="*/ 1771315 w 4130728"/>
                <a:gd name="connsiteY8" fmla="*/ 4467858 h 5377641"/>
                <a:gd name="connsiteX0" fmla="*/ 1771315 w 4130728"/>
                <a:gd name="connsiteY0" fmla="*/ 4467858 h 5377641"/>
                <a:gd name="connsiteX1" fmla="*/ 69 w 4130728"/>
                <a:gd name="connsiteY1" fmla="*/ 2863958 h 5377641"/>
                <a:gd name="connsiteX2" fmla="*/ 1807784 w 4130728"/>
                <a:gd name="connsiteY2" fmla="*/ 2267 h 5377641"/>
                <a:gd name="connsiteX3" fmla="*/ 1953565 w 4130728"/>
                <a:gd name="connsiteY3" fmla="*/ 6704 h 5377641"/>
                <a:gd name="connsiteX4" fmla="*/ 767402 w 4130728"/>
                <a:gd name="connsiteY4" fmla="*/ 2472582 h 5377641"/>
                <a:gd name="connsiteX5" fmla="*/ 3146551 w 4130728"/>
                <a:gd name="connsiteY5" fmla="*/ 4272270 h 5377641"/>
                <a:gd name="connsiteX6" fmla="*/ 4119552 w 4130728"/>
                <a:gd name="connsiteY6" fmla="*/ 5377641 h 5377641"/>
                <a:gd name="connsiteX7" fmla="*/ 1156511 w 4130728"/>
                <a:gd name="connsiteY7" fmla="*/ 5377641 h 5377641"/>
                <a:gd name="connsiteX8" fmla="*/ 1771315 w 4130728"/>
                <a:gd name="connsiteY8" fmla="*/ 4467858 h 5377641"/>
                <a:gd name="connsiteX0" fmla="*/ 1771315 w 4130728"/>
                <a:gd name="connsiteY0" fmla="*/ 4467858 h 5377641"/>
                <a:gd name="connsiteX1" fmla="*/ 69 w 4130728"/>
                <a:gd name="connsiteY1" fmla="*/ 2863958 h 5377641"/>
                <a:gd name="connsiteX2" fmla="*/ 1804297 w 4130728"/>
                <a:gd name="connsiteY2" fmla="*/ 2267 h 5377641"/>
                <a:gd name="connsiteX3" fmla="*/ 1953565 w 4130728"/>
                <a:gd name="connsiteY3" fmla="*/ 6704 h 5377641"/>
                <a:gd name="connsiteX4" fmla="*/ 767402 w 4130728"/>
                <a:gd name="connsiteY4" fmla="*/ 2472582 h 5377641"/>
                <a:gd name="connsiteX5" fmla="*/ 3146551 w 4130728"/>
                <a:gd name="connsiteY5" fmla="*/ 4272270 h 5377641"/>
                <a:gd name="connsiteX6" fmla="*/ 4119552 w 4130728"/>
                <a:gd name="connsiteY6" fmla="*/ 5377641 h 5377641"/>
                <a:gd name="connsiteX7" fmla="*/ 1156511 w 4130728"/>
                <a:gd name="connsiteY7" fmla="*/ 5377641 h 5377641"/>
                <a:gd name="connsiteX8" fmla="*/ 1771315 w 4130728"/>
                <a:gd name="connsiteY8" fmla="*/ 4467858 h 5377641"/>
                <a:gd name="connsiteX0" fmla="*/ 1771315 w 4130728"/>
                <a:gd name="connsiteY0" fmla="*/ 4467858 h 5377641"/>
                <a:gd name="connsiteX1" fmla="*/ 69 w 4130728"/>
                <a:gd name="connsiteY1" fmla="*/ 2863958 h 5377641"/>
                <a:gd name="connsiteX2" fmla="*/ 1804297 w 4130728"/>
                <a:gd name="connsiteY2" fmla="*/ 2267 h 5377641"/>
                <a:gd name="connsiteX3" fmla="*/ 1953565 w 4130728"/>
                <a:gd name="connsiteY3" fmla="*/ 6704 h 5377641"/>
                <a:gd name="connsiteX4" fmla="*/ 767402 w 4130728"/>
                <a:gd name="connsiteY4" fmla="*/ 2472582 h 5377641"/>
                <a:gd name="connsiteX5" fmla="*/ 3146551 w 4130728"/>
                <a:gd name="connsiteY5" fmla="*/ 4272270 h 5377641"/>
                <a:gd name="connsiteX6" fmla="*/ 4119552 w 4130728"/>
                <a:gd name="connsiteY6" fmla="*/ 5377641 h 5377641"/>
                <a:gd name="connsiteX7" fmla="*/ 1156511 w 4130728"/>
                <a:gd name="connsiteY7" fmla="*/ 5377641 h 5377641"/>
                <a:gd name="connsiteX8" fmla="*/ 1771315 w 4130728"/>
                <a:gd name="connsiteY8" fmla="*/ 4467858 h 5377641"/>
                <a:gd name="connsiteX0" fmla="*/ 1771315 w 4130728"/>
                <a:gd name="connsiteY0" fmla="*/ 4471040 h 5380823"/>
                <a:gd name="connsiteX1" fmla="*/ 69 w 4130728"/>
                <a:gd name="connsiteY1" fmla="*/ 2867140 h 5380823"/>
                <a:gd name="connsiteX2" fmla="*/ 1800810 w 4130728"/>
                <a:gd name="connsiteY2" fmla="*/ 230 h 5380823"/>
                <a:gd name="connsiteX3" fmla="*/ 1953565 w 4130728"/>
                <a:gd name="connsiteY3" fmla="*/ 9886 h 5380823"/>
                <a:gd name="connsiteX4" fmla="*/ 767402 w 4130728"/>
                <a:gd name="connsiteY4" fmla="*/ 2475764 h 5380823"/>
                <a:gd name="connsiteX5" fmla="*/ 3146551 w 4130728"/>
                <a:gd name="connsiteY5" fmla="*/ 4275452 h 5380823"/>
                <a:gd name="connsiteX6" fmla="*/ 4119552 w 4130728"/>
                <a:gd name="connsiteY6" fmla="*/ 5380823 h 5380823"/>
                <a:gd name="connsiteX7" fmla="*/ 1156511 w 4130728"/>
                <a:gd name="connsiteY7" fmla="*/ 5380823 h 5380823"/>
                <a:gd name="connsiteX8" fmla="*/ 1771315 w 4130728"/>
                <a:gd name="connsiteY8" fmla="*/ 4471040 h 5380823"/>
                <a:gd name="connsiteX0" fmla="*/ 1771315 w 4130728"/>
                <a:gd name="connsiteY0" fmla="*/ 4467858 h 5377641"/>
                <a:gd name="connsiteX1" fmla="*/ 69 w 4130728"/>
                <a:gd name="connsiteY1" fmla="*/ 2863958 h 5377641"/>
                <a:gd name="connsiteX2" fmla="*/ 1807783 w 4130728"/>
                <a:gd name="connsiteY2" fmla="*/ 2267 h 5377641"/>
                <a:gd name="connsiteX3" fmla="*/ 1953565 w 4130728"/>
                <a:gd name="connsiteY3" fmla="*/ 6704 h 5377641"/>
                <a:gd name="connsiteX4" fmla="*/ 767402 w 4130728"/>
                <a:gd name="connsiteY4" fmla="*/ 2472582 h 5377641"/>
                <a:gd name="connsiteX5" fmla="*/ 3146551 w 4130728"/>
                <a:gd name="connsiteY5" fmla="*/ 4272270 h 5377641"/>
                <a:gd name="connsiteX6" fmla="*/ 4119552 w 4130728"/>
                <a:gd name="connsiteY6" fmla="*/ 5377641 h 5377641"/>
                <a:gd name="connsiteX7" fmla="*/ 1156511 w 4130728"/>
                <a:gd name="connsiteY7" fmla="*/ 5377641 h 5377641"/>
                <a:gd name="connsiteX8" fmla="*/ 1771315 w 4130728"/>
                <a:gd name="connsiteY8" fmla="*/ 4467858 h 5377641"/>
                <a:gd name="connsiteX0" fmla="*/ 1771315 w 4130728"/>
                <a:gd name="connsiteY0" fmla="*/ 4466575 h 5376358"/>
                <a:gd name="connsiteX1" fmla="*/ 69 w 4130728"/>
                <a:gd name="connsiteY1" fmla="*/ 2862675 h 5376358"/>
                <a:gd name="connsiteX2" fmla="*/ 1807783 w 4130728"/>
                <a:gd name="connsiteY2" fmla="*/ 984 h 5376358"/>
                <a:gd name="connsiteX3" fmla="*/ 1953565 w 4130728"/>
                <a:gd name="connsiteY3" fmla="*/ 8030 h 5376358"/>
                <a:gd name="connsiteX4" fmla="*/ 767402 w 4130728"/>
                <a:gd name="connsiteY4" fmla="*/ 2471299 h 5376358"/>
                <a:gd name="connsiteX5" fmla="*/ 3146551 w 4130728"/>
                <a:gd name="connsiteY5" fmla="*/ 4270987 h 5376358"/>
                <a:gd name="connsiteX6" fmla="*/ 4119552 w 4130728"/>
                <a:gd name="connsiteY6" fmla="*/ 5376358 h 5376358"/>
                <a:gd name="connsiteX7" fmla="*/ 1156511 w 4130728"/>
                <a:gd name="connsiteY7" fmla="*/ 5376358 h 5376358"/>
                <a:gd name="connsiteX8" fmla="*/ 1771315 w 4130728"/>
                <a:gd name="connsiteY8" fmla="*/ 4466575 h 5376358"/>
                <a:gd name="connsiteX0" fmla="*/ 1771315 w 4672724"/>
                <a:gd name="connsiteY0" fmla="*/ 4466575 h 5376358"/>
                <a:gd name="connsiteX1" fmla="*/ 69 w 4672724"/>
                <a:gd name="connsiteY1" fmla="*/ 2862675 h 5376358"/>
                <a:gd name="connsiteX2" fmla="*/ 1807783 w 4672724"/>
                <a:gd name="connsiteY2" fmla="*/ 984 h 5376358"/>
                <a:gd name="connsiteX3" fmla="*/ 1953565 w 4672724"/>
                <a:gd name="connsiteY3" fmla="*/ 8030 h 5376358"/>
                <a:gd name="connsiteX4" fmla="*/ 767402 w 4672724"/>
                <a:gd name="connsiteY4" fmla="*/ 2471299 h 5376358"/>
                <a:gd name="connsiteX5" fmla="*/ 3146551 w 4672724"/>
                <a:gd name="connsiteY5" fmla="*/ 4270987 h 5376358"/>
                <a:gd name="connsiteX6" fmla="*/ 4668484 w 4672724"/>
                <a:gd name="connsiteY6" fmla="*/ 5366254 h 5376358"/>
                <a:gd name="connsiteX7" fmla="*/ 1156511 w 4672724"/>
                <a:gd name="connsiteY7" fmla="*/ 5376358 h 5376358"/>
                <a:gd name="connsiteX8" fmla="*/ 1771315 w 4672724"/>
                <a:gd name="connsiteY8" fmla="*/ 4466575 h 5376358"/>
                <a:gd name="connsiteX0" fmla="*/ 1771315 w 4673410"/>
                <a:gd name="connsiteY0" fmla="*/ 4466575 h 5376358"/>
                <a:gd name="connsiteX1" fmla="*/ 69 w 4673410"/>
                <a:gd name="connsiteY1" fmla="*/ 2862675 h 5376358"/>
                <a:gd name="connsiteX2" fmla="*/ 1807783 w 4673410"/>
                <a:gd name="connsiteY2" fmla="*/ 984 h 5376358"/>
                <a:gd name="connsiteX3" fmla="*/ 1953565 w 4673410"/>
                <a:gd name="connsiteY3" fmla="*/ 8030 h 5376358"/>
                <a:gd name="connsiteX4" fmla="*/ 767402 w 4673410"/>
                <a:gd name="connsiteY4" fmla="*/ 2471299 h 5376358"/>
                <a:gd name="connsiteX5" fmla="*/ 3267048 w 4673410"/>
                <a:gd name="connsiteY5" fmla="*/ 4260884 h 5376358"/>
                <a:gd name="connsiteX6" fmla="*/ 4668484 w 4673410"/>
                <a:gd name="connsiteY6" fmla="*/ 5366254 h 5376358"/>
                <a:gd name="connsiteX7" fmla="*/ 1156511 w 4673410"/>
                <a:gd name="connsiteY7" fmla="*/ 5376358 h 5376358"/>
                <a:gd name="connsiteX8" fmla="*/ 1771315 w 4673410"/>
                <a:gd name="connsiteY8" fmla="*/ 4466575 h 5376358"/>
                <a:gd name="connsiteX0" fmla="*/ 1771315 w 4673410"/>
                <a:gd name="connsiteY0" fmla="*/ 4466575 h 5366254"/>
                <a:gd name="connsiteX1" fmla="*/ 69 w 4673410"/>
                <a:gd name="connsiteY1" fmla="*/ 2862675 h 5366254"/>
                <a:gd name="connsiteX2" fmla="*/ 1807783 w 4673410"/>
                <a:gd name="connsiteY2" fmla="*/ 984 h 5366254"/>
                <a:gd name="connsiteX3" fmla="*/ 1953565 w 4673410"/>
                <a:gd name="connsiteY3" fmla="*/ 8030 h 5366254"/>
                <a:gd name="connsiteX4" fmla="*/ 767402 w 4673410"/>
                <a:gd name="connsiteY4" fmla="*/ 2471299 h 5366254"/>
                <a:gd name="connsiteX5" fmla="*/ 3267048 w 4673410"/>
                <a:gd name="connsiteY5" fmla="*/ 4260884 h 5366254"/>
                <a:gd name="connsiteX6" fmla="*/ 4668484 w 4673410"/>
                <a:gd name="connsiteY6" fmla="*/ 5366254 h 5366254"/>
                <a:gd name="connsiteX7" fmla="*/ 768243 w 4673410"/>
                <a:gd name="connsiteY7" fmla="*/ 5366254 h 5366254"/>
                <a:gd name="connsiteX8" fmla="*/ 1771315 w 4673410"/>
                <a:gd name="connsiteY8" fmla="*/ 4466575 h 5366254"/>
                <a:gd name="connsiteX0" fmla="*/ 1383046 w 4673410"/>
                <a:gd name="connsiteY0" fmla="*/ 4304907 h 5366254"/>
                <a:gd name="connsiteX1" fmla="*/ 69 w 4673410"/>
                <a:gd name="connsiteY1" fmla="*/ 2862675 h 5366254"/>
                <a:gd name="connsiteX2" fmla="*/ 1807783 w 4673410"/>
                <a:gd name="connsiteY2" fmla="*/ 984 h 5366254"/>
                <a:gd name="connsiteX3" fmla="*/ 1953565 w 4673410"/>
                <a:gd name="connsiteY3" fmla="*/ 8030 h 5366254"/>
                <a:gd name="connsiteX4" fmla="*/ 767402 w 4673410"/>
                <a:gd name="connsiteY4" fmla="*/ 2471299 h 5366254"/>
                <a:gd name="connsiteX5" fmla="*/ 3267048 w 4673410"/>
                <a:gd name="connsiteY5" fmla="*/ 4260884 h 5366254"/>
                <a:gd name="connsiteX6" fmla="*/ 4668484 w 4673410"/>
                <a:gd name="connsiteY6" fmla="*/ 5366254 h 5366254"/>
                <a:gd name="connsiteX7" fmla="*/ 768243 w 4673410"/>
                <a:gd name="connsiteY7" fmla="*/ 5366254 h 5366254"/>
                <a:gd name="connsiteX8" fmla="*/ 1383046 w 4673410"/>
                <a:gd name="connsiteY8" fmla="*/ 4304907 h 5366254"/>
                <a:gd name="connsiteX0" fmla="*/ 1383046 w 4673410"/>
                <a:gd name="connsiteY0" fmla="*/ 4304907 h 5366254"/>
                <a:gd name="connsiteX1" fmla="*/ 69 w 4673410"/>
                <a:gd name="connsiteY1" fmla="*/ 2862675 h 5366254"/>
                <a:gd name="connsiteX2" fmla="*/ 1807783 w 4673410"/>
                <a:gd name="connsiteY2" fmla="*/ 984 h 5366254"/>
                <a:gd name="connsiteX3" fmla="*/ 1953565 w 4673410"/>
                <a:gd name="connsiteY3" fmla="*/ 8030 h 5366254"/>
                <a:gd name="connsiteX4" fmla="*/ 767402 w 4673410"/>
                <a:gd name="connsiteY4" fmla="*/ 2471299 h 5366254"/>
                <a:gd name="connsiteX5" fmla="*/ 3267048 w 4673410"/>
                <a:gd name="connsiteY5" fmla="*/ 4260884 h 5366254"/>
                <a:gd name="connsiteX6" fmla="*/ 4668484 w 4673410"/>
                <a:gd name="connsiteY6" fmla="*/ 5366254 h 5366254"/>
                <a:gd name="connsiteX7" fmla="*/ 768243 w 4673410"/>
                <a:gd name="connsiteY7" fmla="*/ 5366254 h 5366254"/>
                <a:gd name="connsiteX8" fmla="*/ 1383046 w 4673410"/>
                <a:gd name="connsiteY8" fmla="*/ 4304907 h 5366254"/>
                <a:gd name="connsiteX0" fmla="*/ 1383046 w 4673323"/>
                <a:gd name="connsiteY0" fmla="*/ 4304907 h 5366254"/>
                <a:gd name="connsiteX1" fmla="*/ 69 w 4673323"/>
                <a:gd name="connsiteY1" fmla="*/ 2862675 h 5366254"/>
                <a:gd name="connsiteX2" fmla="*/ 1807783 w 4673323"/>
                <a:gd name="connsiteY2" fmla="*/ 984 h 5366254"/>
                <a:gd name="connsiteX3" fmla="*/ 1953565 w 4673323"/>
                <a:gd name="connsiteY3" fmla="*/ 8030 h 5366254"/>
                <a:gd name="connsiteX4" fmla="*/ 767402 w 4673323"/>
                <a:gd name="connsiteY4" fmla="*/ 2471299 h 5366254"/>
                <a:gd name="connsiteX5" fmla="*/ 3253659 w 4673323"/>
                <a:gd name="connsiteY5" fmla="*/ 4281092 h 5366254"/>
                <a:gd name="connsiteX6" fmla="*/ 4668484 w 4673323"/>
                <a:gd name="connsiteY6" fmla="*/ 5366254 h 5366254"/>
                <a:gd name="connsiteX7" fmla="*/ 768243 w 4673323"/>
                <a:gd name="connsiteY7" fmla="*/ 5366254 h 5366254"/>
                <a:gd name="connsiteX8" fmla="*/ 1383046 w 4673323"/>
                <a:gd name="connsiteY8" fmla="*/ 4304907 h 5366254"/>
                <a:gd name="connsiteX0" fmla="*/ 1383046 w 4673408"/>
                <a:gd name="connsiteY0" fmla="*/ 4304907 h 5366254"/>
                <a:gd name="connsiteX1" fmla="*/ 69 w 4673408"/>
                <a:gd name="connsiteY1" fmla="*/ 2862675 h 5366254"/>
                <a:gd name="connsiteX2" fmla="*/ 1807783 w 4673408"/>
                <a:gd name="connsiteY2" fmla="*/ 984 h 5366254"/>
                <a:gd name="connsiteX3" fmla="*/ 1953565 w 4673408"/>
                <a:gd name="connsiteY3" fmla="*/ 8030 h 5366254"/>
                <a:gd name="connsiteX4" fmla="*/ 767402 w 4673408"/>
                <a:gd name="connsiteY4" fmla="*/ 2471299 h 5366254"/>
                <a:gd name="connsiteX5" fmla="*/ 3253659 w 4673408"/>
                <a:gd name="connsiteY5" fmla="*/ 4281092 h 5366254"/>
                <a:gd name="connsiteX6" fmla="*/ 4668484 w 4673408"/>
                <a:gd name="connsiteY6" fmla="*/ 5366254 h 5366254"/>
                <a:gd name="connsiteX7" fmla="*/ 768243 w 4673408"/>
                <a:gd name="connsiteY7" fmla="*/ 5366254 h 5366254"/>
                <a:gd name="connsiteX8" fmla="*/ 1383046 w 4673408"/>
                <a:gd name="connsiteY8" fmla="*/ 4304907 h 5366254"/>
                <a:gd name="connsiteX0" fmla="*/ 1383046 w 4673408"/>
                <a:gd name="connsiteY0" fmla="*/ 4304907 h 5366254"/>
                <a:gd name="connsiteX1" fmla="*/ 69 w 4673408"/>
                <a:gd name="connsiteY1" fmla="*/ 2862675 h 5366254"/>
                <a:gd name="connsiteX2" fmla="*/ 1807783 w 4673408"/>
                <a:gd name="connsiteY2" fmla="*/ 984 h 5366254"/>
                <a:gd name="connsiteX3" fmla="*/ 1953565 w 4673408"/>
                <a:gd name="connsiteY3" fmla="*/ 8030 h 5366254"/>
                <a:gd name="connsiteX4" fmla="*/ 767402 w 4673408"/>
                <a:gd name="connsiteY4" fmla="*/ 2471299 h 5366254"/>
                <a:gd name="connsiteX5" fmla="*/ 3253659 w 4673408"/>
                <a:gd name="connsiteY5" fmla="*/ 4281092 h 5366254"/>
                <a:gd name="connsiteX6" fmla="*/ 4668484 w 4673408"/>
                <a:gd name="connsiteY6" fmla="*/ 5366254 h 5366254"/>
                <a:gd name="connsiteX7" fmla="*/ 768243 w 4673408"/>
                <a:gd name="connsiteY7" fmla="*/ 5366254 h 5366254"/>
                <a:gd name="connsiteX8" fmla="*/ 1383046 w 4673408"/>
                <a:gd name="connsiteY8" fmla="*/ 4304907 h 5366254"/>
                <a:gd name="connsiteX0" fmla="*/ 1383046 w 4673238"/>
                <a:gd name="connsiteY0" fmla="*/ 4304907 h 5366254"/>
                <a:gd name="connsiteX1" fmla="*/ 69 w 4673238"/>
                <a:gd name="connsiteY1" fmla="*/ 2862675 h 5366254"/>
                <a:gd name="connsiteX2" fmla="*/ 1807783 w 4673238"/>
                <a:gd name="connsiteY2" fmla="*/ 984 h 5366254"/>
                <a:gd name="connsiteX3" fmla="*/ 1953565 w 4673238"/>
                <a:gd name="connsiteY3" fmla="*/ 8030 h 5366254"/>
                <a:gd name="connsiteX4" fmla="*/ 767402 w 4673238"/>
                <a:gd name="connsiteY4" fmla="*/ 2471299 h 5366254"/>
                <a:gd name="connsiteX5" fmla="*/ 3226882 w 4673238"/>
                <a:gd name="connsiteY5" fmla="*/ 4291196 h 5366254"/>
                <a:gd name="connsiteX6" fmla="*/ 4668484 w 4673238"/>
                <a:gd name="connsiteY6" fmla="*/ 5366254 h 5366254"/>
                <a:gd name="connsiteX7" fmla="*/ 768243 w 4673238"/>
                <a:gd name="connsiteY7" fmla="*/ 5366254 h 5366254"/>
                <a:gd name="connsiteX8" fmla="*/ 1383046 w 4673238"/>
                <a:gd name="connsiteY8" fmla="*/ 4304907 h 5366254"/>
                <a:gd name="connsiteX0" fmla="*/ 1383046 w 4673238"/>
                <a:gd name="connsiteY0" fmla="*/ 4304907 h 5366254"/>
                <a:gd name="connsiteX1" fmla="*/ 69 w 4673238"/>
                <a:gd name="connsiteY1" fmla="*/ 2862675 h 5366254"/>
                <a:gd name="connsiteX2" fmla="*/ 1807783 w 4673238"/>
                <a:gd name="connsiteY2" fmla="*/ 984 h 5366254"/>
                <a:gd name="connsiteX3" fmla="*/ 1953565 w 4673238"/>
                <a:gd name="connsiteY3" fmla="*/ 8030 h 5366254"/>
                <a:gd name="connsiteX4" fmla="*/ 767402 w 4673238"/>
                <a:gd name="connsiteY4" fmla="*/ 2471299 h 5366254"/>
                <a:gd name="connsiteX5" fmla="*/ 3226882 w 4673238"/>
                <a:gd name="connsiteY5" fmla="*/ 4301301 h 5366254"/>
                <a:gd name="connsiteX6" fmla="*/ 4668484 w 4673238"/>
                <a:gd name="connsiteY6" fmla="*/ 5366254 h 5366254"/>
                <a:gd name="connsiteX7" fmla="*/ 768243 w 4673238"/>
                <a:gd name="connsiteY7" fmla="*/ 5366254 h 5366254"/>
                <a:gd name="connsiteX8" fmla="*/ 1383046 w 4673238"/>
                <a:gd name="connsiteY8" fmla="*/ 4304907 h 5366254"/>
                <a:gd name="connsiteX0" fmla="*/ 1383046 w 4673238"/>
                <a:gd name="connsiteY0" fmla="*/ 4304907 h 5366254"/>
                <a:gd name="connsiteX1" fmla="*/ 69 w 4673238"/>
                <a:gd name="connsiteY1" fmla="*/ 2862675 h 5366254"/>
                <a:gd name="connsiteX2" fmla="*/ 1807783 w 4673238"/>
                <a:gd name="connsiteY2" fmla="*/ 984 h 5366254"/>
                <a:gd name="connsiteX3" fmla="*/ 1953565 w 4673238"/>
                <a:gd name="connsiteY3" fmla="*/ 8030 h 5366254"/>
                <a:gd name="connsiteX4" fmla="*/ 767402 w 4673238"/>
                <a:gd name="connsiteY4" fmla="*/ 2471299 h 5366254"/>
                <a:gd name="connsiteX5" fmla="*/ 3226882 w 4673238"/>
                <a:gd name="connsiteY5" fmla="*/ 4301301 h 5366254"/>
                <a:gd name="connsiteX6" fmla="*/ 4668484 w 4673238"/>
                <a:gd name="connsiteY6" fmla="*/ 5366254 h 5366254"/>
                <a:gd name="connsiteX7" fmla="*/ 768243 w 4673238"/>
                <a:gd name="connsiteY7" fmla="*/ 5366254 h 5366254"/>
                <a:gd name="connsiteX8" fmla="*/ 1383046 w 4673238"/>
                <a:gd name="connsiteY8" fmla="*/ 4304907 h 5366254"/>
                <a:gd name="connsiteX0" fmla="*/ 1383046 w 4673238"/>
                <a:gd name="connsiteY0" fmla="*/ 4304907 h 5366254"/>
                <a:gd name="connsiteX1" fmla="*/ 69 w 4673238"/>
                <a:gd name="connsiteY1" fmla="*/ 2862675 h 5366254"/>
                <a:gd name="connsiteX2" fmla="*/ 1807783 w 4673238"/>
                <a:gd name="connsiteY2" fmla="*/ 984 h 5366254"/>
                <a:gd name="connsiteX3" fmla="*/ 1953565 w 4673238"/>
                <a:gd name="connsiteY3" fmla="*/ 8030 h 5366254"/>
                <a:gd name="connsiteX4" fmla="*/ 767402 w 4673238"/>
                <a:gd name="connsiteY4" fmla="*/ 2471299 h 5366254"/>
                <a:gd name="connsiteX5" fmla="*/ 3226883 w 4673238"/>
                <a:gd name="connsiteY5" fmla="*/ 4253628 h 5366254"/>
                <a:gd name="connsiteX6" fmla="*/ 4668484 w 4673238"/>
                <a:gd name="connsiteY6" fmla="*/ 5366254 h 5366254"/>
                <a:gd name="connsiteX7" fmla="*/ 768243 w 4673238"/>
                <a:gd name="connsiteY7" fmla="*/ 5366254 h 5366254"/>
                <a:gd name="connsiteX8" fmla="*/ 1383046 w 4673238"/>
                <a:gd name="connsiteY8" fmla="*/ 4304907 h 5366254"/>
                <a:gd name="connsiteX0" fmla="*/ 1383046 w 4668484"/>
                <a:gd name="connsiteY0" fmla="*/ 4304907 h 5366254"/>
                <a:gd name="connsiteX1" fmla="*/ 69 w 4668484"/>
                <a:gd name="connsiteY1" fmla="*/ 2862675 h 5366254"/>
                <a:gd name="connsiteX2" fmla="*/ 1807783 w 4668484"/>
                <a:gd name="connsiteY2" fmla="*/ 984 h 5366254"/>
                <a:gd name="connsiteX3" fmla="*/ 1953565 w 4668484"/>
                <a:gd name="connsiteY3" fmla="*/ 8030 h 5366254"/>
                <a:gd name="connsiteX4" fmla="*/ 767402 w 4668484"/>
                <a:gd name="connsiteY4" fmla="*/ 2471299 h 5366254"/>
                <a:gd name="connsiteX5" fmla="*/ 3226883 w 4668484"/>
                <a:gd name="connsiteY5" fmla="*/ 4253628 h 5366254"/>
                <a:gd name="connsiteX6" fmla="*/ 4668484 w 4668484"/>
                <a:gd name="connsiteY6" fmla="*/ 5366254 h 5366254"/>
                <a:gd name="connsiteX7" fmla="*/ 768243 w 4668484"/>
                <a:gd name="connsiteY7" fmla="*/ 5366254 h 5366254"/>
                <a:gd name="connsiteX8" fmla="*/ 1383046 w 4668484"/>
                <a:gd name="connsiteY8" fmla="*/ 4304907 h 5366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68484" h="5366254">
                  <a:moveTo>
                    <a:pt x="1383046" y="4304907"/>
                  </a:moveTo>
                  <a:cubicBezTo>
                    <a:pt x="1091850" y="3836599"/>
                    <a:pt x="-6824" y="3540231"/>
                    <a:pt x="69" y="2862675"/>
                  </a:cubicBezTo>
                  <a:cubicBezTo>
                    <a:pt x="-16560" y="1832231"/>
                    <a:pt x="2984515" y="1208789"/>
                    <a:pt x="1807783" y="984"/>
                  </a:cubicBezTo>
                  <a:cubicBezTo>
                    <a:pt x="1851728" y="723"/>
                    <a:pt x="1942230" y="-3551"/>
                    <a:pt x="1953565" y="8030"/>
                  </a:cubicBezTo>
                  <a:cubicBezTo>
                    <a:pt x="2999552" y="975973"/>
                    <a:pt x="986917" y="1836377"/>
                    <a:pt x="767402" y="2471299"/>
                  </a:cubicBezTo>
                  <a:cubicBezTo>
                    <a:pt x="407199" y="3321997"/>
                    <a:pt x="2597217" y="3935622"/>
                    <a:pt x="3226883" y="4253628"/>
                  </a:cubicBezTo>
                  <a:cubicBezTo>
                    <a:pt x="4037196" y="4636067"/>
                    <a:pt x="4643138" y="4920106"/>
                    <a:pt x="4668484" y="5366254"/>
                  </a:cubicBezTo>
                  <a:lnTo>
                    <a:pt x="768243" y="5366254"/>
                  </a:lnTo>
                  <a:cubicBezTo>
                    <a:pt x="1292118" y="5126541"/>
                    <a:pt x="1666976" y="4677969"/>
                    <a:pt x="1383046" y="4304907"/>
                  </a:cubicBezTo>
                  <a:close/>
                </a:path>
              </a:pathLst>
            </a:custGeom>
            <a:solidFill>
              <a:schemeClr val="bg2">
                <a:lumMod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latin typeface="Segoe UI" panose="020B0502040204020203" pitchFamily="34" charset="0"/>
                <a:cs typeface="Segoe UI" panose="020B0502040204020203" pitchFamily="34" charset="0"/>
              </a:endParaRPr>
            </a:p>
          </p:txBody>
        </p:sp>
        <p:sp>
          <p:nvSpPr>
            <p:cNvPr id="6" name="Freeform 25">
              <a:extLst>
                <a:ext uri="{FF2B5EF4-FFF2-40B4-BE49-F238E27FC236}">
                  <a16:creationId xmlns:a16="http://schemas.microsoft.com/office/drawing/2014/main" id="{E8865A78-AD84-5DC2-4FF9-0E2081369231}"/>
                </a:ext>
              </a:extLst>
            </p:cNvPr>
            <p:cNvSpPr/>
            <p:nvPr/>
          </p:nvSpPr>
          <p:spPr>
            <a:xfrm>
              <a:off x="3931947" y="2285115"/>
              <a:ext cx="2267427" cy="5791853"/>
            </a:xfrm>
            <a:custGeom>
              <a:avLst/>
              <a:gdLst>
                <a:gd name="connsiteX0" fmla="*/ 57150 w 70620"/>
                <a:gd name="connsiteY0" fmla="*/ 0 h 342900"/>
                <a:gd name="connsiteX1" fmla="*/ 66675 w 70620"/>
                <a:gd name="connsiteY1" fmla="*/ 166688 h 342900"/>
                <a:gd name="connsiteX2" fmla="*/ 0 w 70620"/>
                <a:gd name="connsiteY2" fmla="*/ 342900 h 342900"/>
                <a:gd name="connsiteX3" fmla="*/ 0 w 70620"/>
                <a:gd name="connsiteY3" fmla="*/ 342900 h 342900"/>
                <a:gd name="connsiteX4" fmla="*/ 0 w 70620"/>
                <a:gd name="connsiteY4" fmla="*/ 342900 h 342900"/>
                <a:gd name="connsiteX0" fmla="*/ 0 w 1432967"/>
                <a:gd name="connsiteY0" fmla="*/ 0 h 6401021"/>
                <a:gd name="connsiteX1" fmla="*/ 1352397 w 1432967"/>
                <a:gd name="connsiteY1" fmla="*/ 5900206 h 6401021"/>
                <a:gd name="connsiteX2" fmla="*/ 1285722 w 1432967"/>
                <a:gd name="connsiteY2" fmla="*/ 6076418 h 6401021"/>
                <a:gd name="connsiteX3" fmla="*/ 1285722 w 1432967"/>
                <a:gd name="connsiteY3" fmla="*/ 6076418 h 6401021"/>
                <a:gd name="connsiteX4" fmla="*/ 1285722 w 1432967"/>
                <a:gd name="connsiteY4" fmla="*/ 6076418 h 6401021"/>
                <a:gd name="connsiteX0" fmla="*/ 0 w 1413492"/>
                <a:gd name="connsiteY0" fmla="*/ 0 h 6352792"/>
                <a:gd name="connsiteX1" fmla="*/ 270629 w 1413492"/>
                <a:gd name="connsiteY1" fmla="*/ 660359 h 6352792"/>
                <a:gd name="connsiteX2" fmla="*/ 1352397 w 1413492"/>
                <a:gd name="connsiteY2" fmla="*/ 5900206 h 6352792"/>
                <a:gd name="connsiteX3" fmla="*/ 1285722 w 1413492"/>
                <a:gd name="connsiteY3" fmla="*/ 6076418 h 6352792"/>
                <a:gd name="connsiteX4" fmla="*/ 1285722 w 1413492"/>
                <a:gd name="connsiteY4" fmla="*/ 6076418 h 6352792"/>
                <a:gd name="connsiteX5" fmla="*/ 1285722 w 1413492"/>
                <a:gd name="connsiteY5" fmla="*/ 6076418 h 6352792"/>
                <a:gd name="connsiteX0" fmla="*/ 708687 w 2191999"/>
                <a:gd name="connsiteY0" fmla="*/ 0 h 6262734"/>
                <a:gd name="connsiteX1" fmla="*/ 979316 w 2191999"/>
                <a:gd name="connsiteY1" fmla="*/ 660359 h 6262734"/>
                <a:gd name="connsiteX2" fmla="*/ 17942 w 2191999"/>
                <a:gd name="connsiteY2" fmla="*/ 1902811 h 6262734"/>
                <a:gd name="connsiteX3" fmla="*/ 2061084 w 2191999"/>
                <a:gd name="connsiteY3" fmla="*/ 5900206 h 6262734"/>
                <a:gd name="connsiteX4" fmla="*/ 1994409 w 2191999"/>
                <a:gd name="connsiteY4" fmla="*/ 6076418 h 6262734"/>
                <a:gd name="connsiteX5" fmla="*/ 1994409 w 2191999"/>
                <a:gd name="connsiteY5" fmla="*/ 6076418 h 6262734"/>
                <a:gd name="connsiteX6" fmla="*/ 1994409 w 2191999"/>
                <a:gd name="connsiteY6" fmla="*/ 6076418 h 6262734"/>
                <a:gd name="connsiteX0" fmla="*/ 1798093 w 3358818"/>
                <a:gd name="connsiteY0" fmla="*/ 0 h 6163788"/>
                <a:gd name="connsiteX1" fmla="*/ 2068722 w 3358818"/>
                <a:gd name="connsiteY1" fmla="*/ 660359 h 6163788"/>
                <a:gd name="connsiteX2" fmla="*/ 1107348 w 3358818"/>
                <a:gd name="connsiteY2" fmla="*/ 1902811 h 6163788"/>
                <a:gd name="connsiteX3" fmla="*/ 54415 w 3358818"/>
                <a:gd name="connsiteY3" fmla="*/ 3304845 h 6163788"/>
                <a:gd name="connsiteX4" fmla="*/ 3150490 w 3358818"/>
                <a:gd name="connsiteY4" fmla="*/ 5900206 h 6163788"/>
                <a:gd name="connsiteX5" fmla="*/ 3083815 w 3358818"/>
                <a:gd name="connsiteY5" fmla="*/ 6076418 h 6163788"/>
                <a:gd name="connsiteX6" fmla="*/ 3083815 w 3358818"/>
                <a:gd name="connsiteY6" fmla="*/ 6076418 h 6163788"/>
                <a:gd name="connsiteX7" fmla="*/ 3083815 w 3358818"/>
                <a:gd name="connsiteY7" fmla="*/ 6076418 h 6163788"/>
                <a:gd name="connsiteX0" fmla="*/ 1798093 w 3180573"/>
                <a:gd name="connsiteY0" fmla="*/ 0 h 6076418"/>
                <a:gd name="connsiteX1" fmla="*/ 2068722 w 3180573"/>
                <a:gd name="connsiteY1" fmla="*/ 660359 h 6076418"/>
                <a:gd name="connsiteX2" fmla="*/ 1107348 w 3180573"/>
                <a:gd name="connsiteY2" fmla="*/ 1902811 h 6076418"/>
                <a:gd name="connsiteX3" fmla="*/ 54415 w 3180573"/>
                <a:gd name="connsiteY3" fmla="*/ 3304845 h 6076418"/>
                <a:gd name="connsiteX4" fmla="*/ 2511260 w 3180573"/>
                <a:gd name="connsiteY4" fmla="*/ 5060236 h 6076418"/>
                <a:gd name="connsiteX5" fmla="*/ 3150490 w 3180573"/>
                <a:gd name="connsiteY5" fmla="*/ 5900206 h 6076418"/>
                <a:gd name="connsiteX6" fmla="*/ 3083815 w 3180573"/>
                <a:gd name="connsiteY6" fmla="*/ 6076418 h 6076418"/>
                <a:gd name="connsiteX7" fmla="*/ 3083815 w 3180573"/>
                <a:gd name="connsiteY7" fmla="*/ 6076418 h 6076418"/>
                <a:gd name="connsiteX8" fmla="*/ 3083815 w 3180573"/>
                <a:gd name="connsiteY8" fmla="*/ 6076418 h 6076418"/>
                <a:gd name="connsiteX0" fmla="*/ 1733185 w 3180573"/>
                <a:gd name="connsiteY0" fmla="*/ 9286 h 6055868"/>
                <a:gd name="connsiteX1" fmla="*/ 2068722 w 3180573"/>
                <a:gd name="connsiteY1" fmla="*/ 639809 h 6055868"/>
                <a:gd name="connsiteX2" fmla="*/ 1107348 w 3180573"/>
                <a:gd name="connsiteY2" fmla="*/ 1882261 h 6055868"/>
                <a:gd name="connsiteX3" fmla="*/ 54415 w 3180573"/>
                <a:gd name="connsiteY3" fmla="*/ 3284295 h 6055868"/>
                <a:gd name="connsiteX4" fmla="*/ 2511260 w 3180573"/>
                <a:gd name="connsiteY4" fmla="*/ 5039686 h 6055868"/>
                <a:gd name="connsiteX5" fmla="*/ 3150490 w 3180573"/>
                <a:gd name="connsiteY5" fmla="*/ 5879656 h 6055868"/>
                <a:gd name="connsiteX6" fmla="*/ 3083815 w 3180573"/>
                <a:gd name="connsiteY6" fmla="*/ 6055868 h 6055868"/>
                <a:gd name="connsiteX7" fmla="*/ 3083815 w 3180573"/>
                <a:gd name="connsiteY7" fmla="*/ 6055868 h 6055868"/>
                <a:gd name="connsiteX8" fmla="*/ 3083815 w 3180573"/>
                <a:gd name="connsiteY8" fmla="*/ 6055868 h 6055868"/>
                <a:gd name="connsiteX0" fmla="*/ 1733185 w 3180573"/>
                <a:gd name="connsiteY0" fmla="*/ 0 h 6046582"/>
                <a:gd name="connsiteX1" fmla="*/ 2068722 w 3180573"/>
                <a:gd name="connsiteY1" fmla="*/ 630523 h 6046582"/>
                <a:gd name="connsiteX2" fmla="*/ 1107348 w 3180573"/>
                <a:gd name="connsiteY2" fmla="*/ 1872975 h 6046582"/>
                <a:gd name="connsiteX3" fmla="*/ 54415 w 3180573"/>
                <a:gd name="connsiteY3" fmla="*/ 3275009 h 6046582"/>
                <a:gd name="connsiteX4" fmla="*/ 2511260 w 3180573"/>
                <a:gd name="connsiteY4" fmla="*/ 5030400 h 6046582"/>
                <a:gd name="connsiteX5" fmla="*/ 3150490 w 3180573"/>
                <a:gd name="connsiteY5" fmla="*/ 5870370 h 6046582"/>
                <a:gd name="connsiteX6" fmla="*/ 3083815 w 3180573"/>
                <a:gd name="connsiteY6" fmla="*/ 6046582 h 6046582"/>
                <a:gd name="connsiteX7" fmla="*/ 3083815 w 3180573"/>
                <a:gd name="connsiteY7" fmla="*/ 6046582 h 6046582"/>
                <a:gd name="connsiteX8" fmla="*/ 3083815 w 3180573"/>
                <a:gd name="connsiteY8" fmla="*/ 6046582 h 6046582"/>
                <a:gd name="connsiteX0" fmla="*/ 1733185 w 3180573"/>
                <a:gd name="connsiteY0" fmla="*/ 0 h 6046582"/>
                <a:gd name="connsiteX1" fmla="*/ 2068722 w 3180573"/>
                <a:gd name="connsiteY1" fmla="*/ 630523 h 6046582"/>
                <a:gd name="connsiteX2" fmla="*/ 1107348 w 3180573"/>
                <a:gd name="connsiteY2" fmla="*/ 1872975 h 6046582"/>
                <a:gd name="connsiteX3" fmla="*/ 54415 w 3180573"/>
                <a:gd name="connsiteY3" fmla="*/ 3275009 h 6046582"/>
                <a:gd name="connsiteX4" fmla="*/ 2511260 w 3180573"/>
                <a:gd name="connsiteY4" fmla="*/ 5030400 h 6046582"/>
                <a:gd name="connsiteX5" fmla="*/ 3150490 w 3180573"/>
                <a:gd name="connsiteY5" fmla="*/ 5870370 h 6046582"/>
                <a:gd name="connsiteX6" fmla="*/ 3083815 w 3180573"/>
                <a:gd name="connsiteY6" fmla="*/ 6046582 h 6046582"/>
                <a:gd name="connsiteX7" fmla="*/ 3083815 w 3180573"/>
                <a:gd name="connsiteY7" fmla="*/ 6046582 h 6046582"/>
                <a:gd name="connsiteX8" fmla="*/ 3083815 w 3180573"/>
                <a:gd name="connsiteY8" fmla="*/ 6046582 h 6046582"/>
                <a:gd name="connsiteX0" fmla="*/ 1733185 w 3180573"/>
                <a:gd name="connsiteY0" fmla="*/ 0 h 6046582"/>
                <a:gd name="connsiteX1" fmla="*/ 2068722 w 3180573"/>
                <a:gd name="connsiteY1" fmla="*/ 630523 h 6046582"/>
                <a:gd name="connsiteX2" fmla="*/ 1107348 w 3180573"/>
                <a:gd name="connsiteY2" fmla="*/ 1872975 h 6046582"/>
                <a:gd name="connsiteX3" fmla="*/ 54415 w 3180573"/>
                <a:gd name="connsiteY3" fmla="*/ 3275009 h 6046582"/>
                <a:gd name="connsiteX4" fmla="*/ 2511260 w 3180573"/>
                <a:gd name="connsiteY4" fmla="*/ 5030400 h 6046582"/>
                <a:gd name="connsiteX5" fmla="*/ 3150490 w 3180573"/>
                <a:gd name="connsiteY5" fmla="*/ 5870370 h 6046582"/>
                <a:gd name="connsiteX6" fmla="*/ 3083815 w 3180573"/>
                <a:gd name="connsiteY6" fmla="*/ 6046582 h 6046582"/>
                <a:gd name="connsiteX7" fmla="*/ 3083815 w 3180573"/>
                <a:gd name="connsiteY7" fmla="*/ 6046582 h 6046582"/>
                <a:gd name="connsiteX8" fmla="*/ 3083815 w 3180573"/>
                <a:gd name="connsiteY8" fmla="*/ 6046582 h 6046582"/>
                <a:gd name="connsiteX0" fmla="*/ 1733185 w 3180573"/>
                <a:gd name="connsiteY0" fmla="*/ 0 h 6046582"/>
                <a:gd name="connsiteX1" fmla="*/ 2068722 w 3180573"/>
                <a:gd name="connsiteY1" fmla="*/ 630523 h 6046582"/>
                <a:gd name="connsiteX2" fmla="*/ 1107348 w 3180573"/>
                <a:gd name="connsiteY2" fmla="*/ 1872975 h 6046582"/>
                <a:gd name="connsiteX3" fmla="*/ 54415 w 3180573"/>
                <a:gd name="connsiteY3" fmla="*/ 3275009 h 6046582"/>
                <a:gd name="connsiteX4" fmla="*/ 2511260 w 3180573"/>
                <a:gd name="connsiteY4" fmla="*/ 5030400 h 6046582"/>
                <a:gd name="connsiteX5" fmla="*/ 3150490 w 3180573"/>
                <a:gd name="connsiteY5" fmla="*/ 5870370 h 6046582"/>
                <a:gd name="connsiteX6" fmla="*/ 3083815 w 3180573"/>
                <a:gd name="connsiteY6" fmla="*/ 6046582 h 6046582"/>
                <a:gd name="connsiteX7" fmla="*/ 3083815 w 3180573"/>
                <a:gd name="connsiteY7" fmla="*/ 6046582 h 6046582"/>
                <a:gd name="connsiteX8" fmla="*/ 3083815 w 3180573"/>
                <a:gd name="connsiteY8" fmla="*/ 6046582 h 6046582"/>
                <a:gd name="connsiteX0" fmla="*/ 1743100 w 3190488"/>
                <a:gd name="connsiteY0" fmla="*/ 0 h 6046582"/>
                <a:gd name="connsiteX1" fmla="*/ 2078637 w 3190488"/>
                <a:gd name="connsiteY1" fmla="*/ 630523 h 6046582"/>
                <a:gd name="connsiteX2" fmla="*/ 1117263 w 3190488"/>
                <a:gd name="connsiteY2" fmla="*/ 1872975 h 6046582"/>
                <a:gd name="connsiteX3" fmla="*/ 64330 w 3190488"/>
                <a:gd name="connsiteY3" fmla="*/ 3275009 h 6046582"/>
                <a:gd name="connsiteX4" fmla="*/ 2521175 w 3190488"/>
                <a:gd name="connsiteY4" fmla="*/ 5030400 h 6046582"/>
                <a:gd name="connsiteX5" fmla="*/ 3160405 w 3190488"/>
                <a:gd name="connsiteY5" fmla="*/ 5870370 h 6046582"/>
                <a:gd name="connsiteX6" fmla="*/ 3093730 w 3190488"/>
                <a:gd name="connsiteY6" fmla="*/ 6046582 h 6046582"/>
                <a:gd name="connsiteX7" fmla="*/ 3093730 w 3190488"/>
                <a:gd name="connsiteY7" fmla="*/ 6046582 h 6046582"/>
                <a:gd name="connsiteX8" fmla="*/ 3093730 w 3190488"/>
                <a:gd name="connsiteY8" fmla="*/ 6046582 h 6046582"/>
                <a:gd name="connsiteX0" fmla="*/ 1745322 w 3192710"/>
                <a:gd name="connsiteY0" fmla="*/ 0 h 6046582"/>
                <a:gd name="connsiteX1" fmla="*/ 2080859 w 3192710"/>
                <a:gd name="connsiteY1" fmla="*/ 630523 h 6046582"/>
                <a:gd name="connsiteX2" fmla="*/ 1073704 w 3192710"/>
                <a:gd name="connsiteY2" fmla="*/ 1838779 h 6046582"/>
                <a:gd name="connsiteX3" fmla="*/ 66552 w 3192710"/>
                <a:gd name="connsiteY3" fmla="*/ 3275009 h 6046582"/>
                <a:gd name="connsiteX4" fmla="*/ 2523397 w 3192710"/>
                <a:gd name="connsiteY4" fmla="*/ 5030400 h 6046582"/>
                <a:gd name="connsiteX5" fmla="*/ 3162627 w 3192710"/>
                <a:gd name="connsiteY5" fmla="*/ 5870370 h 6046582"/>
                <a:gd name="connsiteX6" fmla="*/ 3095952 w 3192710"/>
                <a:gd name="connsiteY6" fmla="*/ 6046582 h 6046582"/>
                <a:gd name="connsiteX7" fmla="*/ 3095952 w 3192710"/>
                <a:gd name="connsiteY7" fmla="*/ 6046582 h 6046582"/>
                <a:gd name="connsiteX8" fmla="*/ 3095952 w 3192710"/>
                <a:gd name="connsiteY8" fmla="*/ 6046582 h 6046582"/>
                <a:gd name="connsiteX0" fmla="*/ 1774344 w 3221732"/>
                <a:gd name="connsiteY0" fmla="*/ 0 h 6046582"/>
                <a:gd name="connsiteX1" fmla="*/ 2109881 w 3221732"/>
                <a:gd name="connsiteY1" fmla="*/ 630523 h 6046582"/>
                <a:gd name="connsiteX2" fmla="*/ 1102726 w 3221732"/>
                <a:gd name="connsiteY2" fmla="*/ 1838779 h 6046582"/>
                <a:gd name="connsiteX3" fmla="*/ 65054 w 3221732"/>
                <a:gd name="connsiteY3" fmla="*/ 3343401 h 6046582"/>
                <a:gd name="connsiteX4" fmla="*/ 2552419 w 3221732"/>
                <a:gd name="connsiteY4" fmla="*/ 5030400 h 6046582"/>
                <a:gd name="connsiteX5" fmla="*/ 3191649 w 3221732"/>
                <a:gd name="connsiteY5" fmla="*/ 5870370 h 6046582"/>
                <a:gd name="connsiteX6" fmla="*/ 3124974 w 3221732"/>
                <a:gd name="connsiteY6" fmla="*/ 6046582 h 6046582"/>
                <a:gd name="connsiteX7" fmla="*/ 3124974 w 3221732"/>
                <a:gd name="connsiteY7" fmla="*/ 6046582 h 6046582"/>
                <a:gd name="connsiteX8" fmla="*/ 3124974 w 3221732"/>
                <a:gd name="connsiteY8" fmla="*/ 6046582 h 6046582"/>
                <a:gd name="connsiteX0" fmla="*/ 1772911 w 3220299"/>
                <a:gd name="connsiteY0" fmla="*/ 0 h 6046582"/>
                <a:gd name="connsiteX1" fmla="*/ 2108448 w 3220299"/>
                <a:gd name="connsiteY1" fmla="*/ 630523 h 6046582"/>
                <a:gd name="connsiteX2" fmla="*/ 1131814 w 3220299"/>
                <a:gd name="connsiteY2" fmla="*/ 1838779 h 6046582"/>
                <a:gd name="connsiteX3" fmla="*/ 63621 w 3220299"/>
                <a:gd name="connsiteY3" fmla="*/ 3343401 h 6046582"/>
                <a:gd name="connsiteX4" fmla="*/ 2550986 w 3220299"/>
                <a:gd name="connsiteY4" fmla="*/ 5030400 h 6046582"/>
                <a:gd name="connsiteX5" fmla="*/ 3190216 w 3220299"/>
                <a:gd name="connsiteY5" fmla="*/ 5870370 h 6046582"/>
                <a:gd name="connsiteX6" fmla="*/ 3123541 w 3220299"/>
                <a:gd name="connsiteY6" fmla="*/ 6046582 h 6046582"/>
                <a:gd name="connsiteX7" fmla="*/ 3123541 w 3220299"/>
                <a:gd name="connsiteY7" fmla="*/ 6046582 h 6046582"/>
                <a:gd name="connsiteX8" fmla="*/ 3123541 w 3220299"/>
                <a:gd name="connsiteY8" fmla="*/ 6046582 h 6046582"/>
                <a:gd name="connsiteX0" fmla="*/ 1772911 w 3220299"/>
                <a:gd name="connsiteY0" fmla="*/ 0 h 6046582"/>
                <a:gd name="connsiteX1" fmla="*/ 2108448 w 3220299"/>
                <a:gd name="connsiteY1" fmla="*/ 630523 h 6046582"/>
                <a:gd name="connsiteX2" fmla="*/ 1131814 w 3220299"/>
                <a:gd name="connsiteY2" fmla="*/ 1838779 h 6046582"/>
                <a:gd name="connsiteX3" fmla="*/ 63621 w 3220299"/>
                <a:gd name="connsiteY3" fmla="*/ 3343401 h 6046582"/>
                <a:gd name="connsiteX4" fmla="*/ 2550986 w 3220299"/>
                <a:gd name="connsiteY4" fmla="*/ 5030400 h 6046582"/>
                <a:gd name="connsiteX5" fmla="*/ 3190216 w 3220299"/>
                <a:gd name="connsiteY5" fmla="*/ 5870370 h 6046582"/>
                <a:gd name="connsiteX6" fmla="*/ 3123541 w 3220299"/>
                <a:gd name="connsiteY6" fmla="*/ 6046582 h 6046582"/>
                <a:gd name="connsiteX7" fmla="*/ 3123541 w 3220299"/>
                <a:gd name="connsiteY7" fmla="*/ 6046582 h 6046582"/>
                <a:gd name="connsiteX8" fmla="*/ 3123541 w 3220299"/>
                <a:gd name="connsiteY8" fmla="*/ 6046582 h 6046582"/>
                <a:gd name="connsiteX0" fmla="*/ 1772144 w 3219532"/>
                <a:gd name="connsiteY0" fmla="*/ 0 h 6046582"/>
                <a:gd name="connsiteX1" fmla="*/ 2107681 w 3219532"/>
                <a:gd name="connsiteY1" fmla="*/ 630523 h 6046582"/>
                <a:gd name="connsiteX2" fmla="*/ 1147975 w 3219532"/>
                <a:gd name="connsiteY2" fmla="*/ 1864070 h 6046582"/>
                <a:gd name="connsiteX3" fmla="*/ 62854 w 3219532"/>
                <a:gd name="connsiteY3" fmla="*/ 3343401 h 6046582"/>
                <a:gd name="connsiteX4" fmla="*/ 2550219 w 3219532"/>
                <a:gd name="connsiteY4" fmla="*/ 5030400 h 6046582"/>
                <a:gd name="connsiteX5" fmla="*/ 3189449 w 3219532"/>
                <a:gd name="connsiteY5" fmla="*/ 5870370 h 6046582"/>
                <a:gd name="connsiteX6" fmla="*/ 3122774 w 3219532"/>
                <a:gd name="connsiteY6" fmla="*/ 6046582 h 6046582"/>
                <a:gd name="connsiteX7" fmla="*/ 3122774 w 3219532"/>
                <a:gd name="connsiteY7" fmla="*/ 6046582 h 6046582"/>
                <a:gd name="connsiteX8" fmla="*/ 3122774 w 3219532"/>
                <a:gd name="connsiteY8" fmla="*/ 6046582 h 6046582"/>
                <a:gd name="connsiteX0" fmla="*/ 1774905 w 3222293"/>
                <a:gd name="connsiteY0" fmla="*/ 0 h 6046582"/>
                <a:gd name="connsiteX1" fmla="*/ 2110442 w 3222293"/>
                <a:gd name="connsiteY1" fmla="*/ 630523 h 6046582"/>
                <a:gd name="connsiteX2" fmla="*/ 1150736 w 3222293"/>
                <a:gd name="connsiteY2" fmla="*/ 1864070 h 6046582"/>
                <a:gd name="connsiteX3" fmla="*/ 65615 w 3222293"/>
                <a:gd name="connsiteY3" fmla="*/ 3343401 h 6046582"/>
                <a:gd name="connsiteX4" fmla="*/ 2552980 w 3222293"/>
                <a:gd name="connsiteY4" fmla="*/ 5030400 h 6046582"/>
                <a:gd name="connsiteX5" fmla="*/ 3192210 w 3222293"/>
                <a:gd name="connsiteY5" fmla="*/ 5870370 h 6046582"/>
                <a:gd name="connsiteX6" fmla="*/ 3125535 w 3222293"/>
                <a:gd name="connsiteY6" fmla="*/ 6046582 h 6046582"/>
                <a:gd name="connsiteX7" fmla="*/ 3125535 w 3222293"/>
                <a:gd name="connsiteY7" fmla="*/ 6046582 h 6046582"/>
                <a:gd name="connsiteX8" fmla="*/ 3125535 w 3222293"/>
                <a:gd name="connsiteY8" fmla="*/ 6046582 h 6046582"/>
                <a:gd name="connsiteX0" fmla="*/ 1774905 w 3222293"/>
                <a:gd name="connsiteY0" fmla="*/ 0 h 6046582"/>
                <a:gd name="connsiteX1" fmla="*/ 2110442 w 3222293"/>
                <a:gd name="connsiteY1" fmla="*/ 630523 h 6046582"/>
                <a:gd name="connsiteX2" fmla="*/ 1150736 w 3222293"/>
                <a:gd name="connsiteY2" fmla="*/ 1864070 h 6046582"/>
                <a:gd name="connsiteX3" fmla="*/ 65615 w 3222293"/>
                <a:gd name="connsiteY3" fmla="*/ 3343401 h 6046582"/>
                <a:gd name="connsiteX4" fmla="*/ 2552980 w 3222293"/>
                <a:gd name="connsiteY4" fmla="*/ 5030400 h 6046582"/>
                <a:gd name="connsiteX5" fmla="*/ 3192210 w 3222293"/>
                <a:gd name="connsiteY5" fmla="*/ 5870370 h 6046582"/>
                <a:gd name="connsiteX6" fmla="*/ 3125535 w 3222293"/>
                <a:gd name="connsiteY6" fmla="*/ 6046582 h 6046582"/>
                <a:gd name="connsiteX7" fmla="*/ 3125535 w 3222293"/>
                <a:gd name="connsiteY7" fmla="*/ 6046582 h 6046582"/>
                <a:gd name="connsiteX8" fmla="*/ 3125535 w 3222293"/>
                <a:gd name="connsiteY8" fmla="*/ 6046582 h 6046582"/>
                <a:gd name="connsiteX0" fmla="*/ 1774905 w 3125535"/>
                <a:gd name="connsiteY0" fmla="*/ 0 h 6046582"/>
                <a:gd name="connsiteX1" fmla="*/ 2110442 w 3125535"/>
                <a:gd name="connsiteY1" fmla="*/ 630523 h 6046582"/>
                <a:gd name="connsiteX2" fmla="*/ 1150736 w 3125535"/>
                <a:gd name="connsiteY2" fmla="*/ 1864070 h 6046582"/>
                <a:gd name="connsiteX3" fmla="*/ 65615 w 3125535"/>
                <a:gd name="connsiteY3" fmla="*/ 3343401 h 6046582"/>
                <a:gd name="connsiteX4" fmla="*/ 2552980 w 3125535"/>
                <a:gd name="connsiteY4" fmla="*/ 5030400 h 6046582"/>
                <a:gd name="connsiteX5" fmla="*/ 3125535 w 3125535"/>
                <a:gd name="connsiteY5" fmla="*/ 6046582 h 6046582"/>
                <a:gd name="connsiteX6" fmla="*/ 3125535 w 3125535"/>
                <a:gd name="connsiteY6" fmla="*/ 6046582 h 6046582"/>
                <a:gd name="connsiteX7" fmla="*/ 3125535 w 3125535"/>
                <a:gd name="connsiteY7" fmla="*/ 6046582 h 6046582"/>
                <a:gd name="connsiteX0" fmla="*/ 1774905 w 3160359"/>
                <a:gd name="connsiteY0" fmla="*/ 0 h 6046582"/>
                <a:gd name="connsiteX1" fmla="*/ 2110442 w 3160359"/>
                <a:gd name="connsiteY1" fmla="*/ 630523 h 6046582"/>
                <a:gd name="connsiteX2" fmla="*/ 1150736 w 3160359"/>
                <a:gd name="connsiteY2" fmla="*/ 1864070 h 6046582"/>
                <a:gd name="connsiteX3" fmla="*/ 65615 w 3160359"/>
                <a:gd name="connsiteY3" fmla="*/ 3343401 h 6046582"/>
                <a:gd name="connsiteX4" fmla="*/ 2552980 w 3160359"/>
                <a:gd name="connsiteY4" fmla="*/ 5030400 h 6046582"/>
                <a:gd name="connsiteX5" fmla="*/ 3125535 w 3160359"/>
                <a:gd name="connsiteY5" fmla="*/ 6046582 h 6046582"/>
                <a:gd name="connsiteX6" fmla="*/ 3125535 w 3160359"/>
                <a:gd name="connsiteY6" fmla="*/ 6046582 h 6046582"/>
                <a:gd name="connsiteX7" fmla="*/ 3125535 w 3160359"/>
                <a:gd name="connsiteY7" fmla="*/ 6046582 h 6046582"/>
                <a:gd name="connsiteX0" fmla="*/ 1774905 w 3163649"/>
                <a:gd name="connsiteY0" fmla="*/ 0 h 6046582"/>
                <a:gd name="connsiteX1" fmla="*/ 2110442 w 3163649"/>
                <a:gd name="connsiteY1" fmla="*/ 630523 h 6046582"/>
                <a:gd name="connsiteX2" fmla="*/ 1150736 w 3163649"/>
                <a:gd name="connsiteY2" fmla="*/ 1864070 h 6046582"/>
                <a:gd name="connsiteX3" fmla="*/ 65615 w 3163649"/>
                <a:gd name="connsiteY3" fmla="*/ 3343401 h 6046582"/>
                <a:gd name="connsiteX4" fmla="*/ 2583501 w 3163649"/>
                <a:gd name="connsiteY4" fmla="*/ 5030400 h 6046582"/>
                <a:gd name="connsiteX5" fmla="*/ 3125535 w 3163649"/>
                <a:gd name="connsiteY5" fmla="*/ 6046582 h 6046582"/>
                <a:gd name="connsiteX6" fmla="*/ 3125535 w 3163649"/>
                <a:gd name="connsiteY6" fmla="*/ 6046582 h 6046582"/>
                <a:gd name="connsiteX7" fmla="*/ 3125535 w 3163649"/>
                <a:gd name="connsiteY7" fmla="*/ 6046582 h 6046582"/>
                <a:gd name="connsiteX0" fmla="*/ 1774905 w 3169017"/>
                <a:gd name="connsiteY0" fmla="*/ 0 h 6046582"/>
                <a:gd name="connsiteX1" fmla="*/ 2110442 w 3169017"/>
                <a:gd name="connsiteY1" fmla="*/ 630523 h 6046582"/>
                <a:gd name="connsiteX2" fmla="*/ 1150736 w 3169017"/>
                <a:gd name="connsiteY2" fmla="*/ 1864070 h 6046582"/>
                <a:gd name="connsiteX3" fmla="*/ 65615 w 3169017"/>
                <a:gd name="connsiteY3" fmla="*/ 3343401 h 6046582"/>
                <a:gd name="connsiteX4" fmla="*/ 2583501 w 3169017"/>
                <a:gd name="connsiteY4" fmla="*/ 5030400 h 6046582"/>
                <a:gd name="connsiteX5" fmla="*/ 3125535 w 3169017"/>
                <a:gd name="connsiteY5" fmla="*/ 6046582 h 6046582"/>
                <a:gd name="connsiteX6" fmla="*/ 3125535 w 3169017"/>
                <a:gd name="connsiteY6" fmla="*/ 6046582 h 6046582"/>
                <a:gd name="connsiteX7" fmla="*/ 3125535 w 3169017"/>
                <a:gd name="connsiteY7" fmla="*/ 6046582 h 6046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9017" h="6046582">
                  <a:moveTo>
                    <a:pt x="1774905" y="0"/>
                  </a:moveTo>
                  <a:cubicBezTo>
                    <a:pt x="1884542" y="132716"/>
                    <a:pt x="2079765" y="228958"/>
                    <a:pt x="2110442" y="630523"/>
                  </a:cubicBezTo>
                  <a:cubicBezTo>
                    <a:pt x="2079141" y="1022807"/>
                    <a:pt x="1862422" y="1258472"/>
                    <a:pt x="1150736" y="1864070"/>
                  </a:cubicBezTo>
                  <a:cubicBezTo>
                    <a:pt x="803812" y="2219864"/>
                    <a:pt x="-274909" y="2677169"/>
                    <a:pt x="65615" y="3343401"/>
                  </a:cubicBezTo>
                  <a:cubicBezTo>
                    <a:pt x="108852" y="3789848"/>
                    <a:pt x="2073514" y="4579870"/>
                    <a:pt x="2583501" y="5030400"/>
                  </a:cubicBezTo>
                  <a:cubicBezTo>
                    <a:pt x="3139267" y="5503728"/>
                    <a:pt x="3243748" y="5580853"/>
                    <a:pt x="3125535" y="6046582"/>
                  </a:cubicBezTo>
                  <a:lnTo>
                    <a:pt x="3125535" y="6046582"/>
                  </a:lnTo>
                  <a:lnTo>
                    <a:pt x="3125535" y="6046582"/>
                  </a:lnTo>
                </a:path>
              </a:pathLst>
            </a:custGeom>
            <a:noFill/>
            <a:ln w="28575">
              <a:solidFill>
                <a:schemeClr val="bg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latin typeface="Segoe UI" panose="020B0502040204020203" pitchFamily="34" charset="0"/>
                <a:cs typeface="Segoe UI" panose="020B0502040204020203" pitchFamily="34" charset="0"/>
              </a:endParaRPr>
            </a:p>
          </p:txBody>
        </p:sp>
        <p:sp>
          <p:nvSpPr>
            <p:cNvPr id="13" name="Freeform 61">
              <a:extLst>
                <a:ext uri="{FF2B5EF4-FFF2-40B4-BE49-F238E27FC236}">
                  <a16:creationId xmlns:a16="http://schemas.microsoft.com/office/drawing/2014/main" id="{776CD400-451A-7C75-222B-A2AC7E56A071}"/>
                </a:ext>
              </a:extLst>
            </p:cNvPr>
            <p:cNvSpPr/>
            <p:nvPr/>
          </p:nvSpPr>
          <p:spPr>
            <a:xfrm>
              <a:off x="5452006" y="2927032"/>
              <a:ext cx="198289" cy="145296"/>
            </a:xfrm>
            <a:custGeom>
              <a:avLst/>
              <a:gdLst>
                <a:gd name="connsiteX0" fmla="*/ 583503 w 755337"/>
                <a:gd name="connsiteY0" fmla="*/ 151051 h 553474"/>
                <a:gd name="connsiteX1" fmla="*/ 539708 w 755337"/>
                <a:gd name="connsiteY1" fmla="*/ 194846 h 553474"/>
                <a:gd name="connsiteX2" fmla="*/ 583503 w 755337"/>
                <a:gd name="connsiteY2" fmla="*/ 238641 h 553474"/>
                <a:gd name="connsiteX3" fmla="*/ 627298 w 755337"/>
                <a:gd name="connsiteY3" fmla="*/ 194846 h 553474"/>
                <a:gd name="connsiteX4" fmla="*/ 583503 w 755337"/>
                <a:gd name="connsiteY4" fmla="*/ 151051 h 553474"/>
                <a:gd name="connsiteX5" fmla="*/ 373289 w 755337"/>
                <a:gd name="connsiteY5" fmla="*/ 151051 h 553474"/>
                <a:gd name="connsiteX6" fmla="*/ 329494 w 755337"/>
                <a:gd name="connsiteY6" fmla="*/ 194846 h 553474"/>
                <a:gd name="connsiteX7" fmla="*/ 373289 w 755337"/>
                <a:gd name="connsiteY7" fmla="*/ 238641 h 553474"/>
                <a:gd name="connsiteX8" fmla="*/ 417084 w 755337"/>
                <a:gd name="connsiteY8" fmla="*/ 194846 h 553474"/>
                <a:gd name="connsiteX9" fmla="*/ 373289 w 755337"/>
                <a:gd name="connsiteY9" fmla="*/ 151051 h 553474"/>
                <a:gd name="connsiteX10" fmla="*/ 163075 w 755337"/>
                <a:gd name="connsiteY10" fmla="*/ 151051 h 553474"/>
                <a:gd name="connsiteX11" fmla="*/ 119280 w 755337"/>
                <a:gd name="connsiteY11" fmla="*/ 194846 h 553474"/>
                <a:gd name="connsiteX12" fmla="*/ 163075 w 755337"/>
                <a:gd name="connsiteY12" fmla="*/ 238641 h 553474"/>
                <a:gd name="connsiteX13" fmla="*/ 206870 w 755337"/>
                <a:gd name="connsiteY13" fmla="*/ 194846 h 553474"/>
                <a:gd name="connsiteX14" fmla="*/ 163075 w 755337"/>
                <a:gd name="connsiteY14" fmla="*/ 151051 h 553474"/>
                <a:gd name="connsiteX15" fmla="*/ 70166 w 755337"/>
                <a:gd name="connsiteY15" fmla="*/ 0 h 553474"/>
                <a:gd name="connsiteX16" fmla="*/ 125890 w 755337"/>
                <a:gd name="connsiteY16" fmla="*/ 0 h 553474"/>
                <a:gd name="connsiteX17" fmla="*/ 314724 w 755337"/>
                <a:gd name="connsiteY17" fmla="*/ 0 h 553474"/>
                <a:gd name="connsiteX18" fmla="*/ 685171 w 755337"/>
                <a:gd name="connsiteY18" fmla="*/ 0 h 553474"/>
                <a:gd name="connsiteX19" fmla="*/ 755337 w 755337"/>
                <a:gd name="connsiteY19" fmla="*/ 70166 h 553474"/>
                <a:gd name="connsiteX20" fmla="*/ 755337 w 755337"/>
                <a:gd name="connsiteY20" fmla="*/ 245575 h 553474"/>
                <a:gd name="connsiteX21" fmla="*/ 755337 w 755337"/>
                <a:gd name="connsiteY21" fmla="*/ 350820 h 553474"/>
                <a:gd name="connsiteX22" fmla="*/ 685171 w 755337"/>
                <a:gd name="connsiteY22" fmla="*/ 420986 h 553474"/>
                <a:gd name="connsiteX23" fmla="*/ 291712 w 755337"/>
                <a:gd name="connsiteY23" fmla="*/ 422339 h 553474"/>
                <a:gd name="connsiteX24" fmla="*/ 87657 w 755337"/>
                <a:gd name="connsiteY24" fmla="*/ 553474 h 553474"/>
                <a:gd name="connsiteX25" fmla="*/ 167853 w 755337"/>
                <a:gd name="connsiteY25" fmla="*/ 420986 h 553474"/>
                <a:gd name="connsiteX26" fmla="*/ 70166 w 755337"/>
                <a:gd name="connsiteY26" fmla="*/ 420986 h 553474"/>
                <a:gd name="connsiteX27" fmla="*/ 0 w 755337"/>
                <a:gd name="connsiteY27" fmla="*/ 350820 h 553474"/>
                <a:gd name="connsiteX28" fmla="*/ 0 w 755337"/>
                <a:gd name="connsiteY28" fmla="*/ 245575 h 553474"/>
                <a:gd name="connsiteX29" fmla="*/ 0 w 755337"/>
                <a:gd name="connsiteY29" fmla="*/ 70166 h 553474"/>
                <a:gd name="connsiteX30" fmla="*/ 70166 w 755337"/>
                <a:gd name="connsiteY30" fmla="*/ 0 h 553474"/>
                <a:gd name="connsiteX0" fmla="*/ 583503 w 755337"/>
                <a:gd name="connsiteY0" fmla="*/ 151051 h 553474"/>
                <a:gd name="connsiteX1" fmla="*/ 539708 w 755337"/>
                <a:gd name="connsiteY1" fmla="*/ 194846 h 553474"/>
                <a:gd name="connsiteX2" fmla="*/ 583503 w 755337"/>
                <a:gd name="connsiteY2" fmla="*/ 238641 h 553474"/>
                <a:gd name="connsiteX3" fmla="*/ 627298 w 755337"/>
                <a:gd name="connsiteY3" fmla="*/ 194846 h 553474"/>
                <a:gd name="connsiteX4" fmla="*/ 583503 w 755337"/>
                <a:gd name="connsiteY4" fmla="*/ 151051 h 553474"/>
                <a:gd name="connsiteX5" fmla="*/ 373289 w 755337"/>
                <a:gd name="connsiteY5" fmla="*/ 151051 h 553474"/>
                <a:gd name="connsiteX6" fmla="*/ 329494 w 755337"/>
                <a:gd name="connsiteY6" fmla="*/ 194846 h 553474"/>
                <a:gd name="connsiteX7" fmla="*/ 373289 w 755337"/>
                <a:gd name="connsiteY7" fmla="*/ 238641 h 553474"/>
                <a:gd name="connsiteX8" fmla="*/ 417084 w 755337"/>
                <a:gd name="connsiteY8" fmla="*/ 194846 h 553474"/>
                <a:gd name="connsiteX9" fmla="*/ 373289 w 755337"/>
                <a:gd name="connsiteY9" fmla="*/ 151051 h 553474"/>
                <a:gd name="connsiteX10" fmla="*/ 163075 w 755337"/>
                <a:gd name="connsiteY10" fmla="*/ 151051 h 553474"/>
                <a:gd name="connsiteX11" fmla="*/ 119280 w 755337"/>
                <a:gd name="connsiteY11" fmla="*/ 194846 h 553474"/>
                <a:gd name="connsiteX12" fmla="*/ 163075 w 755337"/>
                <a:gd name="connsiteY12" fmla="*/ 238641 h 553474"/>
                <a:gd name="connsiteX13" fmla="*/ 206870 w 755337"/>
                <a:gd name="connsiteY13" fmla="*/ 194846 h 553474"/>
                <a:gd name="connsiteX14" fmla="*/ 163075 w 755337"/>
                <a:gd name="connsiteY14" fmla="*/ 151051 h 553474"/>
                <a:gd name="connsiteX15" fmla="*/ 70166 w 755337"/>
                <a:gd name="connsiteY15" fmla="*/ 0 h 553474"/>
                <a:gd name="connsiteX16" fmla="*/ 125890 w 755337"/>
                <a:gd name="connsiteY16" fmla="*/ 0 h 553474"/>
                <a:gd name="connsiteX17" fmla="*/ 314724 w 755337"/>
                <a:gd name="connsiteY17" fmla="*/ 0 h 553474"/>
                <a:gd name="connsiteX18" fmla="*/ 685171 w 755337"/>
                <a:gd name="connsiteY18" fmla="*/ 0 h 553474"/>
                <a:gd name="connsiteX19" fmla="*/ 755337 w 755337"/>
                <a:gd name="connsiteY19" fmla="*/ 70166 h 553474"/>
                <a:gd name="connsiteX20" fmla="*/ 755337 w 755337"/>
                <a:gd name="connsiteY20" fmla="*/ 245575 h 553474"/>
                <a:gd name="connsiteX21" fmla="*/ 755337 w 755337"/>
                <a:gd name="connsiteY21" fmla="*/ 350820 h 553474"/>
                <a:gd name="connsiteX22" fmla="*/ 685171 w 755337"/>
                <a:gd name="connsiteY22" fmla="*/ 420986 h 553474"/>
                <a:gd name="connsiteX23" fmla="*/ 291712 w 755337"/>
                <a:gd name="connsiteY23" fmla="*/ 422339 h 553474"/>
                <a:gd name="connsiteX24" fmla="*/ 87657 w 755337"/>
                <a:gd name="connsiteY24" fmla="*/ 553474 h 553474"/>
                <a:gd name="connsiteX25" fmla="*/ 167853 w 755337"/>
                <a:gd name="connsiteY25" fmla="*/ 420986 h 553474"/>
                <a:gd name="connsiteX26" fmla="*/ 70166 w 755337"/>
                <a:gd name="connsiteY26" fmla="*/ 420986 h 553474"/>
                <a:gd name="connsiteX27" fmla="*/ 0 w 755337"/>
                <a:gd name="connsiteY27" fmla="*/ 350820 h 553474"/>
                <a:gd name="connsiteX28" fmla="*/ 0 w 755337"/>
                <a:gd name="connsiteY28" fmla="*/ 245575 h 553474"/>
                <a:gd name="connsiteX29" fmla="*/ 0 w 755337"/>
                <a:gd name="connsiteY29" fmla="*/ 70166 h 553474"/>
                <a:gd name="connsiteX30" fmla="*/ 70166 w 755337"/>
                <a:gd name="connsiteY30" fmla="*/ 0 h 553474"/>
                <a:gd name="connsiteX0" fmla="*/ 583503 w 755337"/>
                <a:gd name="connsiteY0" fmla="*/ 151051 h 553474"/>
                <a:gd name="connsiteX1" fmla="*/ 539708 w 755337"/>
                <a:gd name="connsiteY1" fmla="*/ 194846 h 553474"/>
                <a:gd name="connsiteX2" fmla="*/ 583503 w 755337"/>
                <a:gd name="connsiteY2" fmla="*/ 238641 h 553474"/>
                <a:gd name="connsiteX3" fmla="*/ 627298 w 755337"/>
                <a:gd name="connsiteY3" fmla="*/ 194846 h 553474"/>
                <a:gd name="connsiteX4" fmla="*/ 583503 w 755337"/>
                <a:gd name="connsiteY4" fmla="*/ 151051 h 553474"/>
                <a:gd name="connsiteX5" fmla="*/ 373289 w 755337"/>
                <a:gd name="connsiteY5" fmla="*/ 151051 h 553474"/>
                <a:gd name="connsiteX6" fmla="*/ 329494 w 755337"/>
                <a:gd name="connsiteY6" fmla="*/ 194846 h 553474"/>
                <a:gd name="connsiteX7" fmla="*/ 373289 w 755337"/>
                <a:gd name="connsiteY7" fmla="*/ 238641 h 553474"/>
                <a:gd name="connsiteX8" fmla="*/ 417084 w 755337"/>
                <a:gd name="connsiteY8" fmla="*/ 194846 h 553474"/>
                <a:gd name="connsiteX9" fmla="*/ 373289 w 755337"/>
                <a:gd name="connsiteY9" fmla="*/ 151051 h 553474"/>
                <a:gd name="connsiteX10" fmla="*/ 163075 w 755337"/>
                <a:gd name="connsiteY10" fmla="*/ 151051 h 553474"/>
                <a:gd name="connsiteX11" fmla="*/ 119280 w 755337"/>
                <a:gd name="connsiteY11" fmla="*/ 194846 h 553474"/>
                <a:gd name="connsiteX12" fmla="*/ 163075 w 755337"/>
                <a:gd name="connsiteY12" fmla="*/ 238641 h 553474"/>
                <a:gd name="connsiteX13" fmla="*/ 206870 w 755337"/>
                <a:gd name="connsiteY13" fmla="*/ 194846 h 553474"/>
                <a:gd name="connsiteX14" fmla="*/ 163075 w 755337"/>
                <a:gd name="connsiteY14" fmla="*/ 151051 h 553474"/>
                <a:gd name="connsiteX15" fmla="*/ 70166 w 755337"/>
                <a:gd name="connsiteY15" fmla="*/ 0 h 553474"/>
                <a:gd name="connsiteX16" fmla="*/ 125890 w 755337"/>
                <a:gd name="connsiteY16" fmla="*/ 0 h 553474"/>
                <a:gd name="connsiteX17" fmla="*/ 314724 w 755337"/>
                <a:gd name="connsiteY17" fmla="*/ 0 h 553474"/>
                <a:gd name="connsiteX18" fmla="*/ 685171 w 755337"/>
                <a:gd name="connsiteY18" fmla="*/ 0 h 553474"/>
                <a:gd name="connsiteX19" fmla="*/ 755337 w 755337"/>
                <a:gd name="connsiteY19" fmla="*/ 70166 h 553474"/>
                <a:gd name="connsiteX20" fmla="*/ 755337 w 755337"/>
                <a:gd name="connsiteY20" fmla="*/ 245575 h 553474"/>
                <a:gd name="connsiteX21" fmla="*/ 755337 w 755337"/>
                <a:gd name="connsiteY21" fmla="*/ 350820 h 553474"/>
                <a:gd name="connsiteX22" fmla="*/ 695004 w 755337"/>
                <a:gd name="connsiteY22" fmla="*/ 425902 h 553474"/>
                <a:gd name="connsiteX23" fmla="*/ 291712 w 755337"/>
                <a:gd name="connsiteY23" fmla="*/ 422339 h 553474"/>
                <a:gd name="connsiteX24" fmla="*/ 87657 w 755337"/>
                <a:gd name="connsiteY24" fmla="*/ 553474 h 553474"/>
                <a:gd name="connsiteX25" fmla="*/ 167853 w 755337"/>
                <a:gd name="connsiteY25" fmla="*/ 420986 h 553474"/>
                <a:gd name="connsiteX26" fmla="*/ 70166 w 755337"/>
                <a:gd name="connsiteY26" fmla="*/ 420986 h 553474"/>
                <a:gd name="connsiteX27" fmla="*/ 0 w 755337"/>
                <a:gd name="connsiteY27" fmla="*/ 350820 h 553474"/>
                <a:gd name="connsiteX28" fmla="*/ 0 w 755337"/>
                <a:gd name="connsiteY28" fmla="*/ 245575 h 553474"/>
                <a:gd name="connsiteX29" fmla="*/ 0 w 755337"/>
                <a:gd name="connsiteY29" fmla="*/ 70166 h 553474"/>
                <a:gd name="connsiteX30" fmla="*/ 70166 w 755337"/>
                <a:gd name="connsiteY30" fmla="*/ 0 h 553474"/>
                <a:gd name="connsiteX0" fmla="*/ 583503 w 755337"/>
                <a:gd name="connsiteY0" fmla="*/ 151051 h 553474"/>
                <a:gd name="connsiteX1" fmla="*/ 539708 w 755337"/>
                <a:gd name="connsiteY1" fmla="*/ 194846 h 553474"/>
                <a:gd name="connsiteX2" fmla="*/ 583503 w 755337"/>
                <a:gd name="connsiteY2" fmla="*/ 238641 h 553474"/>
                <a:gd name="connsiteX3" fmla="*/ 627298 w 755337"/>
                <a:gd name="connsiteY3" fmla="*/ 194846 h 553474"/>
                <a:gd name="connsiteX4" fmla="*/ 583503 w 755337"/>
                <a:gd name="connsiteY4" fmla="*/ 151051 h 553474"/>
                <a:gd name="connsiteX5" fmla="*/ 373289 w 755337"/>
                <a:gd name="connsiteY5" fmla="*/ 151051 h 553474"/>
                <a:gd name="connsiteX6" fmla="*/ 329494 w 755337"/>
                <a:gd name="connsiteY6" fmla="*/ 194846 h 553474"/>
                <a:gd name="connsiteX7" fmla="*/ 373289 w 755337"/>
                <a:gd name="connsiteY7" fmla="*/ 238641 h 553474"/>
                <a:gd name="connsiteX8" fmla="*/ 417084 w 755337"/>
                <a:gd name="connsiteY8" fmla="*/ 194846 h 553474"/>
                <a:gd name="connsiteX9" fmla="*/ 373289 w 755337"/>
                <a:gd name="connsiteY9" fmla="*/ 151051 h 553474"/>
                <a:gd name="connsiteX10" fmla="*/ 163075 w 755337"/>
                <a:gd name="connsiteY10" fmla="*/ 151051 h 553474"/>
                <a:gd name="connsiteX11" fmla="*/ 119280 w 755337"/>
                <a:gd name="connsiteY11" fmla="*/ 194846 h 553474"/>
                <a:gd name="connsiteX12" fmla="*/ 163075 w 755337"/>
                <a:gd name="connsiteY12" fmla="*/ 238641 h 553474"/>
                <a:gd name="connsiteX13" fmla="*/ 206870 w 755337"/>
                <a:gd name="connsiteY13" fmla="*/ 194846 h 553474"/>
                <a:gd name="connsiteX14" fmla="*/ 163075 w 755337"/>
                <a:gd name="connsiteY14" fmla="*/ 151051 h 553474"/>
                <a:gd name="connsiteX15" fmla="*/ 70166 w 755337"/>
                <a:gd name="connsiteY15" fmla="*/ 0 h 553474"/>
                <a:gd name="connsiteX16" fmla="*/ 125890 w 755337"/>
                <a:gd name="connsiteY16" fmla="*/ 0 h 553474"/>
                <a:gd name="connsiteX17" fmla="*/ 314724 w 755337"/>
                <a:gd name="connsiteY17" fmla="*/ 0 h 553474"/>
                <a:gd name="connsiteX18" fmla="*/ 685171 w 755337"/>
                <a:gd name="connsiteY18" fmla="*/ 0 h 553474"/>
                <a:gd name="connsiteX19" fmla="*/ 755337 w 755337"/>
                <a:gd name="connsiteY19" fmla="*/ 70166 h 553474"/>
                <a:gd name="connsiteX20" fmla="*/ 755337 w 755337"/>
                <a:gd name="connsiteY20" fmla="*/ 245575 h 553474"/>
                <a:gd name="connsiteX21" fmla="*/ 755337 w 755337"/>
                <a:gd name="connsiteY21" fmla="*/ 350820 h 553474"/>
                <a:gd name="connsiteX22" fmla="*/ 697462 w 755337"/>
                <a:gd name="connsiteY22" fmla="*/ 423444 h 553474"/>
                <a:gd name="connsiteX23" fmla="*/ 291712 w 755337"/>
                <a:gd name="connsiteY23" fmla="*/ 422339 h 553474"/>
                <a:gd name="connsiteX24" fmla="*/ 87657 w 755337"/>
                <a:gd name="connsiteY24" fmla="*/ 553474 h 553474"/>
                <a:gd name="connsiteX25" fmla="*/ 167853 w 755337"/>
                <a:gd name="connsiteY25" fmla="*/ 420986 h 553474"/>
                <a:gd name="connsiteX26" fmla="*/ 70166 w 755337"/>
                <a:gd name="connsiteY26" fmla="*/ 420986 h 553474"/>
                <a:gd name="connsiteX27" fmla="*/ 0 w 755337"/>
                <a:gd name="connsiteY27" fmla="*/ 350820 h 553474"/>
                <a:gd name="connsiteX28" fmla="*/ 0 w 755337"/>
                <a:gd name="connsiteY28" fmla="*/ 245575 h 553474"/>
                <a:gd name="connsiteX29" fmla="*/ 0 w 755337"/>
                <a:gd name="connsiteY29" fmla="*/ 70166 h 553474"/>
                <a:gd name="connsiteX30" fmla="*/ 70166 w 755337"/>
                <a:gd name="connsiteY30" fmla="*/ 0 h 553474"/>
                <a:gd name="connsiteX0" fmla="*/ 583503 w 755337"/>
                <a:gd name="connsiteY0" fmla="*/ 151051 h 553474"/>
                <a:gd name="connsiteX1" fmla="*/ 539708 w 755337"/>
                <a:gd name="connsiteY1" fmla="*/ 194846 h 553474"/>
                <a:gd name="connsiteX2" fmla="*/ 583503 w 755337"/>
                <a:gd name="connsiteY2" fmla="*/ 238641 h 553474"/>
                <a:gd name="connsiteX3" fmla="*/ 627298 w 755337"/>
                <a:gd name="connsiteY3" fmla="*/ 194846 h 553474"/>
                <a:gd name="connsiteX4" fmla="*/ 583503 w 755337"/>
                <a:gd name="connsiteY4" fmla="*/ 151051 h 553474"/>
                <a:gd name="connsiteX5" fmla="*/ 373289 w 755337"/>
                <a:gd name="connsiteY5" fmla="*/ 151051 h 553474"/>
                <a:gd name="connsiteX6" fmla="*/ 329494 w 755337"/>
                <a:gd name="connsiteY6" fmla="*/ 194846 h 553474"/>
                <a:gd name="connsiteX7" fmla="*/ 373289 w 755337"/>
                <a:gd name="connsiteY7" fmla="*/ 238641 h 553474"/>
                <a:gd name="connsiteX8" fmla="*/ 417084 w 755337"/>
                <a:gd name="connsiteY8" fmla="*/ 194846 h 553474"/>
                <a:gd name="connsiteX9" fmla="*/ 373289 w 755337"/>
                <a:gd name="connsiteY9" fmla="*/ 151051 h 553474"/>
                <a:gd name="connsiteX10" fmla="*/ 163075 w 755337"/>
                <a:gd name="connsiteY10" fmla="*/ 151051 h 553474"/>
                <a:gd name="connsiteX11" fmla="*/ 119280 w 755337"/>
                <a:gd name="connsiteY11" fmla="*/ 194846 h 553474"/>
                <a:gd name="connsiteX12" fmla="*/ 163075 w 755337"/>
                <a:gd name="connsiteY12" fmla="*/ 238641 h 553474"/>
                <a:gd name="connsiteX13" fmla="*/ 206870 w 755337"/>
                <a:gd name="connsiteY13" fmla="*/ 194846 h 553474"/>
                <a:gd name="connsiteX14" fmla="*/ 163075 w 755337"/>
                <a:gd name="connsiteY14" fmla="*/ 151051 h 553474"/>
                <a:gd name="connsiteX15" fmla="*/ 70166 w 755337"/>
                <a:gd name="connsiteY15" fmla="*/ 0 h 553474"/>
                <a:gd name="connsiteX16" fmla="*/ 125890 w 755337"/>
                <a:gd name="connsiteY16" fmla="*/ 0 h 553474"/>
                <a:gd name="connsiteX17" fmla="*/ 314724 w 755337"/>
                <a:gd name="connsiteY17" fmla="*/ 0 h 553474"/>
                <a:gd name="connsiteX18" fmla="*/ 685171 w 755337"/>
                <a:gd name="connsiteY18" fmla="*/ 0 h 553474"/>
                <a:gd name="connsiteX19" fmla="*/ 755337 w 755337"/>
                <a:gd name="connsiteY19" fmla="*/ 70166 h 553474"/>
                <a:gd name="connsiteX20" fmla="*/ 755337 w 755337"/>
                <a:gd name="connsiteY20" fmla="*/ 245575 h 553474"/>
                <a:gd name="connsiteX21" fmla="*/ 755337 w 755337"/>
                <a:gd name="connsiteY21" fmla="*/ 350820 h 553474"/>
                <a:gd name="connsiteX22" fmla="*/ 692546 w 755337"/>
                <a:gd name="connsiteY22" fmla="*/ 420986 h 553474"/>
                <a:gd name="connsiteX23" fmla="*/ 291712 w 755337"/>
                <a:gd name="connsiteY23" fmla="*/ 422339 h 553474"/>
                <a:gd name="connsiteX24" fmla="*/ 87657 w 755337"/>
                <a:gd name="connsiteY24" fmla="*/ 553474 h 553474"/>
                <a:gd name="connsiteX25" fmla="*/ 167853 w 755337"/>
                <a:gd name="connsiteY25" fmla="*/ 420986 h 553474"/>
                <a:gd name="connsiteX26" fmla="*/ 70166 w 755337"/>
                <a:gd name="connsiteY26" fmla="*/ 420986 h 553474"/>
                <a:gd name="connsiteX27" fmla="*/ 0 w 755337"/>
                <a:gd name="connsiteY27" fmla="*/ 350820 h 553474"/>
                <a:gd name="connsiteX28" fmla="*/ 0 w 755337"/>
                <a:gd name="connsiteY28" fmla="*/ 245575 h 553474"/>
                <a:gd name="connsiteX29" fmla="*/ 0 w 755337"/>
                <a:gd name="connsiteY29" fmla="*/ 70166 h 553474"/>
                <a:gd name="connsiteX30" fmla="*/ 70166 w 755337"/>
                <a:gd name="connsiteY30" fmla="*/ 0 h 553474"/>
                <a:gd name="connsiteX0" fmla="*/ 583503 w 755337"/>
                <a:gd name="connsiteY0" fmla="*/ 151051 h 553474"/>
                <a:gd name="connsiteX1" fmla="*/ 539708 w 755337"/>
                <a:gd name="connsiteY1" fmla="*/ 194846 h 553474"/>
                <a:gd name="connsiteX2" fmla="*/ 583503 w 755337"/>
                <a:gd name="connsiteY2" fmla="*/ 238641 h 553474"/>
                <a:gd name="connsiteX3" fmla="*/ 627298 w 755337"/>
                <a:gd name="connsiteY3" fmla="*/ 194846 h 553474"/>
                <a:gd name="connsiteX4" fmla="*/ 583503 w 755337"/>
                <a:gd name="connsiteY4" fmla="*/ 151051 h 553474"/>
                <a:gd name="connsiteX5" fmla="*/ 373289 w 755337"/>
                <a:gd name="connsiteY5" fmla="*/ 151051 h 553474"/>
                <a:gd name="connsiteX6" fmla="*/ 329494 w 755337"/>
                <a:gd name="connsiteY6" fmla="*/ 194846 h 553474"/>
                <a:gd name="connsiteX7" fmla="*/ 373289 w 755337"/>
                <a:gd name="connsiteY7" fmla="*/ 238641 h 553474"/>
                <a:gd name="connsiteX8" fmla="*/ 417084 w 755337"/>
                <a:gd name="connsiteY8" fmla="*/ 194846 h 553474"/>
                <a:gd name="connsiteX9" fmla="*/ 373289 w 755337"/>
                <a:gd name="connsiteY9" fmla="*/ 151051 h 553474"/>
                <a:gd name="connsiteX10" fmla="*/ 163075 w 755337"/>
                <a:gd name="connsiteY10" fmla="*/ 151051 h 553474"/>
                <a:gd name="connsiteX11" fmla="*/ 119280 w 755337"/>
                <a:gd name="connsiteY11" fmla="*/ 194846 h 553474"/>
                <a:gd name="connsiteX12" fmla="*/ 163075 w 755337"/>
                <a:gd name="connsiteY12" fmla="*/ 238641 h 553474"/>
                <a:gd name="connsiteX13" fmla="*/ 206870 w 755337"/>
                <a:gd name="connsiteY13" fmla="*/ 194846 h 553474"/>
                <a:gd name="connsiteX14" fmla="*/ 163075 w 755337"/>
                <a:gd name="connsiteY14" fmla="*/ 151051 h 553474"/>
                <a:gd name="connsiteX15" fmla="*/ 70166 w 755337"/>
                <a:gd name="connsiteY15" fmla="*/ 0 h 553474"/>
                <a:gd name="connsiteX16" fmla="*/ 125890 w 755337"/>
                <a:gd name="connsiteY16" fmla="*/ 0 h 553474"/>
                <a:gd name="connsiteX17" fmla="*/ 314724 w 755337"/>
                <a:gd name="connsiteY17" fmla="*/ 0 h 553474"/>
                <a:gd name="connsiteX18" fmla="*/ 685171 w 755337"/>
                <a:gd name="connsiteY18" fmla="*/ 0 h 553474"/>
                <a:gd name="connsiteX19" fmla="*/ 755337 w 755337"/>
                <a:gd name="connsiteY19" fmla="*/ 70166 h 553474"/>
                <a:gd name="connsiteX20" fmla="*/ 755337 w 755337"/>
                <a:gd name="connsiteY20" fmla="*/ 245575 h 553474"/>
                <a:gd name="connsiteX21" fmla="*/ 755337 w 755337"/>
                <a:gd name="connsiteY21" fmla="*/ 350820 h 553474"/>
                <a:gd name="connsiteX22" fmla="*/ 692546 w 755337"/>
                <a:gd name="connsiteY22" fmla="*/ 420986 h 553474"/>
                <a:gd name="connsiteX23" fmla="*/ 291712 w 755337"/>
                <a:gd name="connsiteY23" fmla="*/ 422339 h 553474"/>
                <a:gd name="connsiteX24" fmla="*/ 87657 w 755337"/>
                <a:gd name="connsiteY24" fmla="*/ 553474 h 553474"/>
                <a:gd name="connsiteX25" fmla="*/ 167853 w 755337"/>
                <a:gd name="connsiteY25" fmla="*/ 420986 h 553474"/>
                <a:gd name="connsiteX26" fmla="*/ 70166 w 755337"/>
                <a:gd name="connsiteY26" fmla="*/ 420986 h 553474"/>
                <a:gd name="connsiteX27" fmla="*/ 0 w 755337"/>
                <a:gd name="connsiteY27" fmla="*/ 350820 h 553474"/>
                <a:gd name="connsiteX28" fmla="*/ 0 w 755337"/>
                <a:gd name="connsiteY28" fmla="*/ 245575 h 553474"/>
                <a:gd name="connsiteX29" fmla="*/ 0 w 755337"/>
                <a:gd name="connsiteY29" fmla="*/ 70166 h 553474"/>
                <a:gd name="connsiteX30" fmla="*/ 70166 w 755337"/>
                <a:gd name="connsiteY30" fmla="*/ 0 h 553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55337" h="553474">
                  <a:moveTo>
                    <a:pt x="583503" y="151051"/>
                  </a:moveTo>
                  <a:cubicBezTo>
                    <a:pt x="559316" y="151051"/>
                    <a:pt x="539708" y="170659"/>
                    <a:pt x="539708" y="194846"/>
                  </a:cubicBezTo>
                  <a:cubicBezTo>
                    <a:pt x="539708" y="219033"/>
                    <a:pt x="559316" y="238641"/>
                    <a:pt x="583503" y="238641"/>
                  </a:cubicBezTo>
                  <a:cubicBezTo>
                    <a:pt x="607690" y="238641"/>
                    <a:pt x="627298" y="219033"/>
                    <a:pt x="627298" y="194846"/>
                  </a:cubicBezTo>
                  <a:cubicBezTo>
                    <a:pt x="627298" y="170659"/>
                    <a:pt x="607690" y="151051"/>
                    <a:pt x="583503" y="151051"/>
                  </a:cubicBezTo>
                  <a:close/>
                  <a:moveTo>
                    <a:pt x="373289" y="151051"/>
                  </a:moveTo>
                  <a:cubicBezTo>
                    <a:pt x="349102" y="151051"/>
                    <a:pt x="329494" y="170659"/>
                    <a:pt x="329494" y="194846"/>
                  </a:cubicBezTo>
                  <a:cubicBezTo>
                    <a:pt x="329494" y="219033"/>
                    <a:pt x="349102" y="238641"/>
                    <a:pt x="373289" y="238641"/>
                  </a:cubicBezTo>
                  <a:cubicBezTo>
                    <a:pt x="397476" y="238641"/>
                    <a:pt x="417084" y="219033"/>
                    <a:pt x="417084" y="194846"/>
                  </a:cubicBezTo>
                  <a:cubicBezTo>
                    <a:pt x="417084" y="170659"/>
                    <a:pt x="397476" y="151051"/>
                    <a:pt x="373289" y="151051"/>
                  </a:cubicBezTo>
                  <a:close/>
                  <a:moveTo>
                    <a:pt x="163075" y="151051"/>
                  </a:moveTo>
                  <a:cubicBezTo>
                    <a:pt x="138888" y="151051"/>
                    <a:pt x="119280" y="170659"/>
                    <a:pt x="119280" y="194846"/>
                  </a:cubicBezTo>
                  <a:cubicBezTo>
                    <a:pt x="119280" y="219033"/>
                    <a:pt x="138888" y="238641"/>
                    <a:pt x="163075" y="238641"/>
                  </a:cubicBezTo>
                  <a:cubicBezTo>
                    <a:pt x="187262" y="238641"/>
                    <a:pt x="206870" y="219033"/>
                    <a:pt x="206870" y="194846"/>
                  </a:cubicBezTo>
                  <a:cubicBezTo>
                    <a:pt x="206870" y="170659"/>
                    <a:pt x="187262" y="151051"/>
                    <a:pt x="163075" y="151051"/>
                  </a:cubicBezTo>
                  <a:close/>
                  <a:moveTo>
                    <a:pt x="70166" y="0"/>
                  </a:moveTo>
                  <a:lnTo>
                    <a:pt x="125890" y="0"/>
                  </a:lnTo>
                  <a:lnTo>
                    <a:pt x="314724" y="0"/>
                  </a:lnTo>
                  <a:lnTo>
                    <a:pt x="685171" y="0"/>
                  </a:lnTo>
                  <a:cubicBezTo>
                    <a:pt x="723923" y="0"/>
                    <a:pt x="755337" y="31414"/>
                    <a:pt x="755337" y="70166"/>
                  </a:cubicBezTo>
                  <a:lnTo>
                    <a:pt x="755337" y="245575"/>
                  </a:lnTo>
                  <a:lnTo>
                    <a:pt x="755337" y="350820"/>
                  </a:lnTo>
                  <a:cubicBezTo>
                    <a:pt x="755337" y="389571"/>
                    <a:pt x="731298" y="420986"/>
                    <a:pt x="692546" y="420986"/>
                  </a:cubicBezTo>
                  <a:lnTo>
                    <a:pt x="291712" y="422339"/>
                  </a:lnTo>
                  <a:lnTo>
                    <a:pt x="87657" y="553474"/>
                  </a:lnTo>
                  <a:lnTo>
                    <a:pt x="167853" y="420986"/>
                  </a:lnTo>
                  <a:lnTo>
                    <a:pt x="70166" y="420986"/>
                  </a:lnTo>
                  <a:cubicBezTo>
                    <a:pt x="31414" y="420986"/>
                    <a:pt x="0" y="389571"/>
                    <a:pt x="0" y="350820"/>
                  </a:cubicBezTo>
                  <a:lnTo>
                    <a:pt x="0" y="245575"/>
                  </a:lnTo>
                  <a:lnTo>
                    <a:pt x="0" y="70166"/>
                  </a:lnTo>
                  <a:cubicBezTo>
                    <a:pt x="0" y="31414"/>
                    <a:pt x="31414" y="0"/>
                    <a:pt x="70166" y="0"/>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Segoe UI" panose="020B0502040204020203" pitchFamily="34" charset="0"/>
                <a:cs typeface="Segoe UI" panose="020B0502040204020203" pitchFamily="34" charset="0"/>
              </a:endParaRPr>
            </a:p>
          </p:txBody>
        </p:sp>
        <p:sp>
          <p:nvSpPr>
            <p:cNvPr id="14" name="Rounded Rectangular Callout 43">
              <a:extLst>
                <a:ext uri="{FF2B5EF4-FFF2-40B4-BE49-F238E27FC236}">
                  <a16:creationId xmlns:a16="http://schemas.microsoft.com/office/drawing/2014/main" id="{F22F03B3-B657-6B44-9482-65FDFAF8D49C}"/>
                </a:ext>
              </a:extLst>
            </p:cNvPr>
            <p:cNvSpPr/>
            <p:nvPr/>
          </p:nvSpPr>
          <p:spPr>
            <a:xfrm>
              <a:off x="4887769" y="5253916"/>
              <a:ext cx="802672" cy="514014"/>
            </a:xfrm>
            <a:prstGeom prst="wedgeRoundRectCallout">
              <a:avLst>
                <a:gd name="adj1" fmla="val -15705"/>
                <a:gd name="adj2" fmla="val 106511"/>
                <a:gd name="adj3" fmla="val 16667"/>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latin typeface="Segoe UI" panose="020B0502040204020203" pitchFamily="34" charset="0"/>
                <a:cs typeface="Segoe UI" panose="020B0502040204020203" pitchFamily="34" charset="0"/>
              </a:endParaRPr>
            </a:p>
          </p:txBody>
        </p:sp>
        <p:grpSp>
          <p:nvGrpSpPr>
            <p:cNvPr id="16" name="Group 15">
              <a:extLst>
                <a:ext uri="{FF2B5EF4-FFF2-40B4-BE49-F238E27FC236}">
                  <a16:creationId xmlns:a16="http://schemas.microsoft.com/office/drawing/2014/main" id="{3EA78B77-0E35-C180-F22A-8AF6963FC055}"/>
                </a:ext>
              </a:extLst>
            </p:cNvPr>
            <p:cNvGrpSpPr/>
            <p:nvPr/>
          </p:nvGrpSpPr>
          <p:grpSpPr>
            <a:xfrm>
              <a:off x="5169297" y="5392719"/>
              <a:ext cx="239616" cy="236439"/>
              <a:chOff x="3159126" y="4575175"/>
              <a:chExt cx="312738" cy="311150"/>
            </a:xfrm>
            <a:solidFill>
              <a:schemeClr val="bg1"/>
            </a:solidFill>
            <a:effectLst/>
          </p:grpSpPr>
          <p:sp>
            <p:nvSpPr>
              <p:cNvPr id="17" name="Rectangle 149">
                <a:extLst>
                  <a:ext uri="{FF2B5EF4-FFF2-40B4-BE49-F238E27FC236}">
                    <a16:creationId xmlns:a16="http://schemas.microsoft.com/office/drawing/2014/main" id="{2A649CA9-0CD8-D119-7A0B-2C843C1BF755}"/>
                  </a:ext>
                </a:extLst>
              </p:cNvPr>
              <p:cNvSpPr>
                <a:spLocks noChangeArrowheads="1"/>
              </p:cNvSpPr>
              <p:nvPr/>
            </p:nvSpPr>
            <p:spPr bwMode="auto">
              <a:xfrm>
                <a:off x="3390901" y="4733925"/>
                <a:ext cx="80963" cy="106363"/>
              </a:xfrm>
              <a:prstGeom prst="rect">
                <a:avLst/>
              </a:prstGeom>
              <a:grpFill/>
              <a:ln w="0">
                <a:noFill/>
                <a:prstDash val="solid"/>
                <a:miter lim="800000"/>
                <a:headEnd/>
                <a:tailEnd/>
              </a:ln>
            </p:spPr>
            <p:txBody>
              <a:bodyPr vert="horz" wrap="square" lIns="68580" tIns="34290" rIns="68580" bIns="34290" numCol="1" anchor="t" anchorCtr="0" compatLnSpc="1">
                <a:prstTxWarp prst="textNoShape">
                  <a:avLst/>
                </a:prstTxWarp>
              </a:bodyPr>
              <a:lstStyle/>
              <a:p>
                <a:endParaRPr lang="en-US" sz="1500">
                  <a:solidFill>
                    <a:prstClr val="black"/>
                  </a:solidFill>
                  <a:latin typeface="Segoe UI" panose="020B0502040204020203" pitchFamily="34" charset="0"/>
                  <a:cs typeface="Segoe UI" panose="020B0502040204020203" pitchFamily="34" charset="0"/>
                </a:endParaRPr>
              </a:p>
            </p:txBody>
          </p:sp>
          <p:sp>
            <p:nvSpPr>
              <p:cNvPr id="25" name="Rectangle 150">
                <a:extLst>
                  <a:ext uri="{FF2B5EF4-FFF2-40B4-BE49-F238E27FC236}">
                    <a16:creationId xmlns:a16="http://schemas.microsoft.com/office/drawing/2014/main" id="{8F1E0A77-57F5-21E3-F4D9-7BA99DD2104F}"/>
                  </a:ext>
                </a:extLst>
              </p:cNvPr>
              <p:cNvSpPr>
                <a:spLocks noChangeArrowheads="1"/>
              </p:cNvSpPr>
              <p:nvPr/>
            </p:nvSpPr>
            <p:spPr bwMode="auto">
              <a:xfrm>
                <a:off x="3275013" y="4575175"/>
                <a:ext cx="80963" cy="265113"/>
              </a:xfrm>
              <a:prstGeom prst="rect">
                <a:avLst/>
              </a:prstGeom>
              <a:grpFill/>
              <a:ln w="0">
                <a:noFill/>
                <a:prstDash val="solid"/>
                <a:miter lim="800000"/>
                <a:headEnd/>
                <a:tailEnd/>
              </a:ln>
            </p:spPr>
            <p:txBody>
              <a:bodyPr vert="horz" wrap="square" lIns="68580" tIns="34290" rIns="68580" bIns="34290" numCol="1" anchor="t" anchorCtr="0" compatLnSpc="1">
                <a:prstTxWarp prst="textNoShape">
                  <a:avLst/>
                </a:prstTxWarp>
              </a:bodyPr>
              <a:lstStyle/>
              <a:p>
                <a:endParaRPr lang="en-US" sz="1500">
                  <a:solidFill>
                    <a:prstClr val="black"/>
                  </a:solidFill>
                  <a:latin typeface="Segoe UI" panose="020B0502040204020203" pitchFamily="34" charset="0"/>
                  <a:cs typeface="Segoe UI" panose="020B0502040204020203" pitchFamily="34" charset="0"/>
                </a:endParaRPr>
              </a:p>
            </p:txBody>
          </p:sp>
          <p:sp>
            <p:nvSpPr>
              <p:cNvPr id="26" name="Rectangle 151">
                <a:extLst>
                  <a:ext uri="{FF2B5EF4-FFF2-40B4-BE49-F238E27FC236}">
                    <a16:creationId xmlns:a16="http://schemas.microsoft.com/office/drawing/2014/main" id="{D3153130-AE45-0DFE-A777-D3256DAE7D8C}"/>
                  </a:ext>
                </a:extLst>
              </p:cNvPr>
              <p:cNvSpPr>
                <a:spLocks noChangeArrowheads="1"/>
              </p:cNvSpPr>
              <p:nvPr/>
            </p:nvSpPr>
            <p:spPr bwMode="auto">
              <a:xfrm>
                <a:off x="3159126" y="4646613"/>
                <a:ext cx="82550" cy="193675"/>
              </a:xfrm>
              <a:prstGeom prst="rect">
                <a:avLst/>
              </a:prstGeom>
              <a:grpFill/>
              <a:ln w="0">
                <a:noFill/>
                <a:prstDash val="solid"/>
                <a:miter lim="800000"/>
                <a:headEnd/>
                <a:tailEnd/>
              </a:ln>
            </p:spPr>
            <p:txBody>
              <a:bodyPr vert="horz" wrap="square" lIns="68580" tIns="34290" rIns="68580" bIns="34290" numCol="1" anchor="t" anchorCtr="0" compatLnSpc="1">
                <a:prstTxWarp prst="textNoShape">
                  <a:avLst/>
                </a:prstTxWarp>
              </a:bodyPr>
              <a:lstStyle/>
              <a:p>
                <a:endParaRPr lang="en-US" sz="1500">
                  <a:solidFill>
                    <a:prstClr val="black"/>
                  </a:solidFill>
                  <a:latin typeface="Segoe UI" panose="020B0502040204020203" pitchFamily="34" charset="0"/>
                  <a:cs typeface="Segoe UI" panose="020B0502040204020203" pitchFamily="34" charset="0"/>
                </a:endParaRPr>
              </a:p>
            </p:txBody>
          </p:sp>
          <p:sp>
            <p:nvSpPr>
              <p:cNvPr id="27" name="Rectangle 152">
                <a:extLst>
                  <a:ext uri="{FF2B5EF4-FFF2-40B4-BE49-F238E27FC236}">
                    <a16:creationId xmlns:a16="http://schemas.microsoft.com/office/drawing/2014/main" id="{DAB4A377-2A52-1F3A-3278-721F48C6A2F1}"/>
                  </a:ext>
                </a:extLst>
              </p:cNvPr>
              <p:cNvSpPr>
                <a:spLocks noChangeArrowheads="1"/>
              </p:cNvSpPr>
              <p:nvPr/>
            </p:nvSpPr>
            <p:spPr bwMode="auto">
              <a:xfrm>
                <a:off x="3159126" y="4864100"/>
                <a:ext cx="312738" cy="22225"/>
              </a:xfrm>
              <a:prstGeom prst="rect">
                <a:avLst/>
              </a:prstGeom>
              <a:grpFill/>
              <a:ln w="0">
                <a:noFill/>
                <a:prstDash val="solid"/>
                <a:miter lim="800000"/>
                <a:headEnd/>
                <a:tailEnd/>
              </a:ln>
            </p:spPr>
            <p:txBody>
              <a:bodyPr vert="horz" wrap="square" lIns="68580" tIns="34290" rIns="68580" bIns="34290" numCol="1" anchor="t" anchorCtr="0" compatLnSpc="1">
                <a:prstTxWarp prst="textNoShape">
                  <a:avLst/>
                </a:prstTxWarp>
              </a:bodyPr>
              <a:lstStyle/>
              <a:p>
                <a:endParaRPr lang="en-US" sz="1500">
                  <a:solidFill>
                    <a:prstClr val="black"/>
                  </a:solidFill>
                  <a:latin typeface="Segoe UI" panose="020B0502040204020203" pitchFamily="34" charset="0"/>
                  <a:cs typeface="Segoe UI" panose="020B0502040204020203" pitchFamily="34" charset="0"/>
                </a:endParaRPr>
              </a:p>
            </p:txBody>
          </p:sp>
        </p:grpSp>
        <p:sp>
          <p:nvSpPr>
            <p:cNvPr id="29" name="Freeform 38">
              <a:extLst>
                <a:ext uri="{FF2B5EF4-FFF2-40B4-BE49-F238E27FC236}">
                  <a16:creationId xmlns:a16="http://schemas.microsoft.com/office/drawing/2014/main" id="{4EA67E41-A91E-78D7-3D37-86B7D0319040}"/>
                </a:ext>
              </a:extLst>
            </p:cNvPr>
            <p:cNvSpPr>
              <a:spLocks noEditPoints="1"/>
            </p:cNvSpPr>
            <p:nvPr/>
          </p:nvSpPr>
          <p:spPr bwMode="auto">
            <a:xfrm>
              <a:off x="6970453" y="6309492"/>
              <a:ext cx="393251" cy="390019"/>
            </a:xfrm>
            <a:custGeom>
              <a:avLst/>
              <a:gdLst>
                <a:gd name="T0" fmla="*/ 223 w 448"/>
                <a:gd name="T1" fmla="*/ 448 h 448"/>
                <a:gd name="T2" fmla="*/ 310 w 448"/>
                <a:gd name="T3" fmla="*/ 431 h 448"/>
                <a:gd name="T4" fmla="*/ 318 w 448"/>
                <a:gd name="T5" fmla="*/ 372 h 448"/>
                <a:gd name="T6" fmla="*/ 139 w 448"/>
                <a:gd name="T7" fmla="*/ 431 h 448"/>
                <a:gd name="T8" fmla="*/ 367 w 448"/>
                <a:gd name="T9" fmla="*/ 325 h 448"/>
                <a:gd name="T10" fmla="*/ 325 w 448"/>
                <a:gd name="T11" fmla="*/ 367 h 448"/>
                <a:gd name="T12" fmla="*/ 123 w 448"/>
                <a:gd name="T13" fmla="*/ 367 h 448"/>
                <a:gd name="T14" fmla="*/ 82 w 448"/>
                <a:gd name="T15" fmla="*/ 325 h 448"/>
                <a:gd name="T16" fmla="*/ 18 w 448"/>
                <a:gd name="T17" fmla="*/ 310 h 448"/>
                <a:gd name="T18" fmla="*/ 395 w 448"/>
                <a:gd name="T19" fmla="*/ 263 h 448"/>
                <a:gd name="T20" fmla="*/ 372 w 448"/>
                <a:gd name="T21" fmla="*/ 317 h 448"/>
                <a:gd name="T22" fmla="*/ 448 w 448"/>
                <a:gd name="T23" fmla="*/ 223 h 448"/>
                <a:gd name="T24" fmla="*/ 396 w 448"/>
                <a:gd name="T25" fmla="*/ 194 h 448"/>
                <a:gd name="T26" fmla="*/ 0 w 448"/>
                <a:gd name="T27" fmla="*/ 223 h 448"/>
                <a:gd name="T28" fmla="*/ 144 w 448"/>
                <a:gd name="T29" fmla="*/ 189 h 448"/>
                <a:gd name="T30" fmla="*/ 120 w 448"/>
                <a:gd name="T31" fmla="*/ 263 h 448"/>
                <a:gd name="T32" fmla="*/ 165 w 448"/>
                <a:gd name="T33" fmla="*/ 322 h 448"/>
                <a:gd name="T34" fmla="*/ 239 w 448"/>
                <a:gd name="T35" fmla="*/ 330 h 448"/>
                <a:gd name="T36" fmla="*/ 294 w 448"/>
                <a:gd name="T37" fmla="*/ 289 h 448"/>
                <a:gd name="T38" fmla="*/ 294 w 448"/>
                <a:gd name="T39" fmla="*/ 282 h 448"/>
                <a:gd name="T40" fmla="*/ 244 w 448"/>
                <a:gd name="T41" fmla="*/ 303 h 448"/>
                <a:gd name="T42" fmla="*/ 192 w 448"/>
                <a:gd name="T43" fmla="*/ 282 h 448"/>
                <a:gd name="T44" fmla="*/ 189 w 448"/>
                <a:gd name="T45" fmla="*/ 239 h 448"/>
                <a:gd name="T46" fmla="*/ 431 w 448"/>
                <a:gd name="T47" fmla="*/ 138 h 448"/>
                <a:gd name="T48" fmla="*/ 372 w 448"/>
                <a:gd name="T49" fmla="*/ 130 h 448"/>
                <a:gd name="T50" fmla="*/ 18 w 448"/>
                <a:gd name="T51" fmla="*/ 138 h 448"/>
                <a:gd name="T52" fmla="*/ 234 w 448"/>
                <a:gd name="T53" fmla="*/ 118 h 448"/>
                <a:gd name="T54" fmla="*/ 165 w 448"/>
                <a:gd name="T55" fmla="*/ 145 h 448"/>
                <a:gd name="T56" fmla="*/ 147 w 448"/>
                <a:gd name="T57" fmla="*/ 175 h 448"/>
                <a:gd name="T58" fmla="*/ 184 w 448"/>
                <a:gd name="T59" fmla="*/ 150 h 448"/>
                <a:gd name="T60" fmla="*/ 239 w 448"/>
                <a:gd name="T61" fmla="*/ 157 h 448"/>
                <a:gd name="T62" fmla="*/ 274 w 448"/>
                <a:gd name="T63" fmla="*/ 213 h 448"/>
                <a:gd name="T64" fmla="*/ 346 w 448"/>
                <a:gd name="T65" fmla="*/ 213 h 448"/>
                <a:gd name="T66" fmla="*/ 318 w 448"/>
                <a:gd name="T67" fmla="*/ 164 h 448"/>
                <a:gd name="T68" fmla="*/ 260 w 448"/>
                <a:gd name="T69" fmla="*/ 119 h 448"/>
                <a:gd name="T70" fmla="*/ 254 w 448"/>
                <a:gd name="T71" fmla="*/ 73 h 448"/>
                <a:gd name="T72" fmla="*/ 332 w 448"/>
                <a:gd name="T73" fmla="*/ 116 h 448"/>
                <a:gd name="T74" fmla="*/ 374 w 448"/>
                <a:gd name="T75" fmla="*/ 194 h 448"/>
                <a:gd name="T76" fmla="*/ 365 w 448"/>
                <a:gd name="T77" fmla="*/ 282 h 448"/>
                <a:gd name="T78" fmla="*/ 308 w 448"/>
                <a:gd name="T79" fmla="*/ 351 h 448"/>
                <a:gd name="T80" fmla="*/ 223 w 448"/>
                <a:gd name="T81" fmla="*/ 377 h 448"/>
                <a:gd name="T82" fmla="*/ 139 w 448"/>
                <a:gd name="T83" fmla="*/ 351 h 448"/>
                <a:gd name="T84" fmla="*/ 82 w 448"/>
                <a:gd name="T85" fmla="*/ 282 h 448"/>
                <a:gd name="T86" fmla="*/ 73 w 448"/>
                <a:gd name="T87" fmla="*/ 194 h 448"/>
                <a:gd name="T88" fmla="*/ 116 w 448"/>
                <a:gd name="T89" fmla="*/ 116 h 448"/>
                <a:gd name="T90" fmla="*/ 192 w 448"/>
                <a:gd name="T91" fmla="*/ 73 h 448"/>
                <a:gd name="T92" fmla="*/ 382 w 448"/>
                <a:gd name="T93" fmla="*/ 66 h 448"/>
                <a:gd name="T94" fmla="*/ 382 w 448"/>
                <a:gd name="T95" fmla="*/ 66 h 448"/>
                <a:gd name="T96" fmla="*/ 82 w 448"/>
                <a:gd name="T97" fmla="*/ 123 h 448"/>
                <a:gd name="T98" fmla="*/ 310 w 448"/>
                <a:gd name="T99" fmla="*/ 17 h 448"/>
                <a:gd name="T100" fmla="*/ 310 w 448"/>
                <a:gd name="T101" fmla="*/ 17 h 448"/>
                <a:gd name="T102" fmla="*/ 132 w 448"/>
                <a:gd name="T103" fmla="*/ 76 h 448"/>
                <a:gd name="T104" fmla="*/ 225 w 448"/>
                <a:gd name="T105" fmla="*/ 0 h 448"/>
                <a:gd name="T106" fmla="*/ 225 w 448"/>
                <a:gd name="T107" fmla="*/ 0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8" h="448">
                  <a:moveTo>
                    <a:pt x="194" y="396"/>
                  </a:moveTo>
                  <a:lnTo>
                    <a:pt x="254" y="396"/>
                  </a:lnTo>
                  <a:lnTo>
                    <a:pt x="223" y="448"/>
                  </a:lnTo>
                  <a:lnTo>
                    <a:pt x="194" y="396"/>
                  </a:lnTo>
                  <a:close/>
                  <a:moveTo>
                    <a:pt x="318" y="372"/>
                  </a:moveTo>
                  <a:lnTo>
                    <a:pt x="310" y="431"/>
                  </a:lnTo>
                  <a:lnTo>
                    <a:pt x="310" y="431"/>
                  </a:lnTo>
                  <a:lnTo>
                    <a:pt x="263" y="394"/>
                  </a:lnTo>
                  <a:lnTo>
                    <a:pt x="318" y="372"/>
                  </a:lnTo>
                  <a:close/>
                  <a:moveTo>
                    <a:pt x="132" y="372"/>
                  </a:moveTo>
                  <a:lnTo>
                    <a:pt x="185" y="394"/>
                  </a:lnTo>
                  <a:lnTo>
                    <a:pt x="139" y="431"/>
                  </a:lnTo>
                  <a:lnTo>
                    <a:pt x="139" y="431"/>
                  </a:lnTo>
                  <a:lnTo>
                    <a:pt x="132" y="372"/>
                  </a:lnTo>
                  <a:close/>
                  <a:moveTo>
                    <a:pt x="367" y="325"/>
                  </a:moveTo>
                  <a:lnTo>
                    <a:pt x="382" y="382"/>
                  </a:lnTo>
                  <a:lnTo>
                    <a:pt x="382" y="382"/>
                  </a:lnTo>
                  <a:lnTo>
                    <a:pt x="325" y="367"/>
                  </a:lnTo>
                  <a:lnTo>
                    <a:pt x="367" y="325"/>
                  </a:lnTo>
                  <a:close/>
                  <a:moveTo>
                    <a:pt x="82" y="325"/>
                  </a:moveTo>
                  <a:lnTo>
                    <a:pt x="123" y="367"/>
                  </a:lnTo>
                  <a:lnTo>
                    <a:pt x="66" y="382"/>
                  </a:lnTo>
                  <a:lnTo>
                    <a:pt x="66" y="382"/>
                  </a:lnTo>
                  <a:lnTo>
                    <a:pt x="82" y="325"/>
                  </a:lnTo>
                  <a:close/>
                  <a:moveTo>
                    <a:pt x="54" y="263"/>
                  </a:moveTo>
                  <a:lnTo>
                    <a:pt x="76" y="317"/>
                  </a:lnTo>
                  <a:lnTo>
                    <a:pt x="18" y="310"/>
                  </a:lnTo>
                  <a:lnTo>
                    <a:pt x="18" y="310"/>
                  </a:lnTo>
                  <a:lnTo>
                    <a:pt x="54" y="263"/>
                  </a:lnTo>
                  <a:close/>
                  <a:moveTo>
                    <a:pt x="395" y="263"/>
                  </a:moveTo>
                  <a:lnTo>
                    <a:pt x="431" y="310"/>
                  </a:lnTo>
                  <a:lnTo>
                    <a:pt x="431" y="310"/>
                  </a:lnTo>
                  <a:lnTo>
                    <a:pt x="372" y="317"/>
                  </a:lnTo>
                  <a:lnTo>
                    <a:pt x="395" y="263"/>
                  </a:lnTo>
                  <a:close/>
                  <a:moveTo>
                    <a:pt x="396" y="194"/>
                  </a:moveTo>
                  <a:lnTo>
                    <a:pt x="448" y="223"/>
                  </a:lnTo>
                  <a:lnTo>
                    <a:pt x="448" y="225"/>
                  </a:lnTo>
                  <a:lnTo>
                    <a:pt x="396" y="253"/>
                  </a:lnTo>
                  <a:lnTo>
                    <a:pt x="396" y="194"/>
                  </a:lnTo>
                  <a:close/>
                  <a:moveTo>
                    <a:pt x="52" y="194"/>
                  </a:moveTo>
                  <a:lnTo>
                    <a:pt x="52" y="253"/>
                  </a:lnTo>
                  <a:lnTo>
                    <a:pt x="0" y="223"/>
                  </a:lnTo>
                  <a:lnTo>
                    <a:pt x="0" y="223"/>
                  </a:lnTo>
                  <a:lnTo>
                    <a:pt x="52" y="194"/>
                  </a:lnTo>
                  <a:close/>
                  <a:moveTo>
                    <a:pt x="144" y="189"/>
                  </a:moveTo>
                  <a:lnTo>
                    <a:pt x="99" y="239"/>
                  </a:lnTo>
                  <a:lnTo>
                    <a:pt x="116" y="239"/>
                  </a:lnTo>
                  <a:lnTo>
                    <a:pt x="120" y="263"/>
                  </a:lnTo>
                  <a:lnTo>
                    <a:pt x="128" y="285"/>
                  </a:lnTo>
                  <a:lnTo>
                    <a:pt x="144" y="304"/>
                  </a:lnTo>
                  <a:lnTo>
                    <a:pt x="165" y="322"/>
                  </a:lnTo>
                  <a:lnTo>
                    <a:pt x="187" y="330"/>
                  </a:lnTo>
                  <a:lnTo>
                    <a:pt x="213" y="334"/>
                  </a:lnTo>
                  <a:lnTo>
                    <a:pt x="239" y="330"/>
                  </a:lnTo>
                  <a:lnTo>
                    <a:pt x="261" y="322"/>
                  </a:lnTo>
                  <a:lnTo>
                    <a:pt x="282" y="304"/>
                  </a:lnTo>
                  <a:lnTo>
                    <a:pt x="294" y="289"/>
                  </a:lnTo>
                  <a:lnTo>
                    <a:pt x="305" y="270"/>
                  </a:lnTo>
                  <a:lnTo>
                    <a:pt x="299" y="277"/>
                  </a:lnTo>
                  <a:lnTo>
                    <a:pt x="294" y="282"/>
                  </a:lnTo>
                  <a:lnTo>
                    <a:pt x="279" y="294"/>
                  </a:lnTo>
                  <a:lnTo>
                    <a:pt x="263" y="301"/>
                  </a:lnTo>
                  <a:lnTo>
                    <a:pt x="244" y="303"/>
                  </a:lnTo>
                  <a:lnTo>
                    <a:pt x="225" y="301"/>
                  </a:lnTo>
                  <a:lnTo>
                    <a:pt x="208" y="294"/>
                  </a:lnTo>
                  <a:lnTo>
                    <a:pt x="192" y="282"/>
                  </a:lnTo>
                  <a:lnTo>
                    <a:pt x="178" y="263"/>
                  </a:lnTo>
                  <a:lnTo>
                    <a:pt x="173" y="239"/>
                  </a:lnTo>
                  <a:lnTo>
                    <a:pt x="189" y="239"/>
                  </a:lnTo>
                  <a:lnTo>
                    <a:pt x="144" y="189"/>
                  </a:lnTo>
                  <a:close/>
                  <a:moveTo>
                    <a:pt x="372" y="130"/>
                  </a:moveTo>
                  <a:lnTo>
                    <a:pt x="431" y="138"/>
                  </a:lnTo>
                  <a:lnTo>
                    <a:pt x="431" y="138"/>
                  </a:lnTo>
                  <a:lnTo>
                    <a:pt x="395" y="185"/>
                  </a:lnTo>
                  <a:lnTo>
                    <a:pt x="372" y="130"/>
                  </a:lnTo>
                  <a:close/>
                  <a:moveTo>
                    <a:pt x="76" y="130"/>
                  </a:moveTo>
                  <a:lnTo>
                    <a:pt x="54" y="185"/>
                  </a:lnTo>
                  <a:lnTo>
                    <a:pt x="18" y="138"/>
                  </a:lnTo>
                  <a:lnTo>
                    <a:pt x="18" y="138"/>
                  </a:lnTo>
                  <a:lnTo>
                    <a:pt x="76" y="130"/>
                  </a:lnTo>
                  <a:close/>
                  <a:moveTo>
                    <a:pt x="234" y="118"/>
                  </a:moveTo>
                  <a:lnTo>
                    <a:pt x="208" y="119"/>
                  </a:lnTo>
                  <a:lnTo>
                    <a:pt x="185" y="130"/>
                  </a:lnTo>
                  <a:lnTo>
                    <a:pt x="165" y="145"/>
                  </a:lnTo>
                  <a:lnTo>
                    <a:pt x="151" y="163"/>
                  </a:lnTo>
                  <a:lnTo>
                    <a:pt x="142" y="182"/>
                  </a:lnTo>
                  <a:lnTo>
                    <a:pt x="147" y="175"/>
                  </a:lnTo>
                  <a:lnTo>
                    <a:pt x="152" y="168"/>
                  </a:lnTo>
                  <a:lnTo>
                    <a:pt x="168" y="157"/>
                  </a:lnTo>
                  <a:lnTo>
                    <a:pt x="184" y="150"/>
                  </a:lnTo>
                  <a:lnTo>
                    <a:pt x="203" y="147"/>
                  </a:lnTo>
                  <a:lnTo>
                    <a:pt x="222" y="150"/>
                  </a:lnTo>
                  <a:lnTo>
                    <a:pt x="239" y="157"/>
                  </a:lnTo>
                  <a:lnTo>
                    <a:pt x="253" y="168"/>
                  </a:lnTo>
                  <a:lnTo>
                    <a:pt x="268" y="189"/>
                  </a:lnTo>
                  <a:lnTo>
                    <a:pt x="274" y="213"/>
                  </a:lnTo>
                  <a:lnTo>
                    <a:pt x="258" y="213"/>
                  </a:lnTo>
                  <a:lnTo>
                    <a:pt x="303" y="263"/>
                  </a:lnTo>
                  <a:lnTo>
                    <a:pt x="346" y="213"/>
                  </a:lnTo>
                  <a:lnTo>
                    <a:pt x="331" y="213"/>
                  </a:lnTo>
                  <a:lnTo>
                    <a:pt x="327" y="187"/>
                  </a:lnTo>
                  <a:lnTo>
                    <a:pt x="318" y="164"/>
                  </a:lnTo>
                  <a:lnTo>
                    <a:pt x="303" y="145"/>
                  </a:lnTo>
                  <a:lnTo>
                    <a:pt x="282" y="130"/>
                  </a:lnTo>
                  <a:lnTo>
                    <a:pt x="260" y="119"/>
                  </a:lnTo>
                  <a:lnTo>
                    <a:pt x="234" y="118"/>
                  </a:lnTo>
                  <a:close/>
                  <a:moveTo>
                    <a:pt x="223" y="71"/>
                  </a:moveTo>
                  <a:lnTo>
                    <a:pt x="254" y="73"/>
                  </a:lnTo>
                  <a:lnTo>
                    <a:pt x="282" y="81"/>
                  </a:lnTo>
                  <a:lnTo>
                    <a:pt x="308" y="95"/>
                  </a:lnTo>
                  <a:lnTo>
                    <a:pt x="332" y="116"/>
                  </a:lnTo>
                  <a:lnTo>
                    <a:pt x="351" y="138"/>
                  </a:lnTo>
                  <a:lnTo>
                    <a:pt x="365" y="164"/>
                  </a:lnTo>
                  <a:lnTo>
                    <a:pt x="374" y="194"/>
                  </a:lnTo>
                  <a:lnTo>
                    <a:pt x="377" y="223"/>
                  </a:lnTo>
                  <a:lnTo>
                    <a:pt x="374" y="254"/>
                  </a:lnTo>
                  <a:lnTo>
                    <a:pt x="365" y="282"/>
                  </a:lnTo>
                  <a:lnTo>
                    <a:pt x="351" y="308"/>
                  </a:lnTo>
                  <a:lnTo>
                    <a:pt x="332" y="332"/>
                  </a:lnTo>
                  <a:lnTo>
                    <a:pt x="308" y="351"/>
                  </a:lnTo>
                  <a:lnTo>
                    <a:pt x="282" y="365"/>
                  </a:lnTo>
                  <a:lnTo>
                    <a:pt x="254" y="374"/>
                  </a:lnTo>
                  <a:lnTo>
                    <a:pt x="223" y="377"/>
                  </a:lnTo>
                  <a:lnTo>
                    <a:pt x="192" y="374"/>
                  </a:lnTo>
                  <a:lnTo>
                    <a:pt x="165" y="365"/>
                  </a:lnTo>
                  <a:lnTo>
                    <a:pt x="139" y="351"/>
                  </a:lnTo>
                  <a:lnTo>
                    <a:pt x="116" y="332"/>
                  </a:lnTo>
                  <a:lnTo>
                    <a:pt x="95" y="308"/>
                  </a:lnTo>
                  <a:lnTo>
                    <a:pt x="82" y="282"/>
                  </a:lnTo>
                  <a:lnTo>
                    <a:pt x="73" y="254"/>
                  </a:lnTo>
                  <a:lnTo>
                    <a:pt x="69" y="223"/>
                  </a:lnTo>
                  <a:lnTo>
                    <a:pt x="73" y="194"/>
                  </a:lnTo>
                  <a:lnTo>
                    <a:pt x="82" y="164"/>
                  </a:lnTo>
                  <a:lnTo>
                    <a:pt x="95" y="138"/>
                  </a:lnTo>
                  <a:lnTo>
                    <a:pt x="116" y="116"/>
                  </a:lnTo>
                  <a:lnTo>
                    <a:pt x="139" y="95"/>
                  </a:lnTo>
                  <a:lnTo>
                    <a:pt x="165" y="81"/>
                  </a:lnTo>
                  <a:lnTo>
                    <a:pt x="192" y="73"/>
                  </a:lnTo>
                  <a:lnTo>
                    <a:pt x="223" y="71"/>
                  </a:lnTo>
                  <a:close/>
                  <a:moveTo>
                    <a:pt x="382" y="66"/>
                  </a:moveTo>
                  <a:lnTo>
                    <a:pt x="382" y="66"/>
                  </a:lnTo>
                  <a:lnTo>
                    <a:pt x="367" y="123"/>
                  </a:lnTo>
                  <a:lnTo>
                    <a:pt x="325" y="81"/>
                  </a:lnTo>
                  <a:lnTo>
                    <a:pt x="382" y="66"/>
                  </a:lnTo>
                  <a:close/>
                  <a:moveTo>
                    <a:pt x="66" y="66"/>
                  </a:moveTo>
                  <a:lnTo>
                    <a:pt x="123" y="81"/>
                  </a:lnTo>
                  <a:lnTo>
                    <a:pt x="82" y="123"/>
                  </a:lnTo>
                  <a:lnTo>
                    <a:pt x="66" y="66"/>
                  </a:lnTo>
                  <a:close/>
                  <a:moveTo>
                    <a:pt x="310" y="17"/>
                  </a:moveTo>
                  <a:lnTo>
                    <a:pt x="310" y="17"/>
                  </a:lnTo>
                  <a:lnTo>
                    <a:pt x="317" y="76"/>
                  </a:lnTo>
                  <a:lnTo>
                    <a:pt x="263" y="54"/>
                  </a:lnTo>
                  <a:lnTo>
                    <a:pt x="310" y="17"/>
                  </a:lnTo>
                  <a:close/>
                  <a:moveTo>
                    <a:pt x="139" y="17"/>
                  </a:moveTo>
                  <a:lnTo>
                    <a:pt x="185" y="54"/>
                  </a:lnTo>
                  <a:lnTo>
                    <a:pt x="132" y="76"/>
                  </a:lnTo>
                  <a:lnTo>
                    <a:pt x="139" y="17"/>
                  </a:lnTo>
                  <a:close/>
                  <a:moveTo>
                    <a:pt x="225" y="0"/>
                  </a:moveTo>
                  <a:lnTo>
                    <a:pt x="225" y="0"/>
                  </a:lnTo>
                  <a:lnTo>
                    <a:pt x="254" y="52"/>
                  </a:lnTo>
                  <a:lnTo>
                    <a:pt x="196" y="52"/>
                  </a:lnTo>
                  <a:lnTo>
                    <a:pt x="225" y="0"/>
                  </a:lnTo>
                  <a:close/>
                </a:path>
              </a:pathLst>
            </a:custGeom>
            <a:solidFill>
              <a:schemeClr val="bg1"/>
            </a:solidFill>
            <a:ln w="0">
              <a:noFill/>
              <a:prstDash val="solid"/>
              <a:round/>
              <a:headEnd/>
              <a:tailEnd/>
            </a:ln>
          </p:spPr>
          <p:txBody>
            <a:bodyPr vert="horz" wrap="square" lIns="68580" tIns="34290" rIns="68580" bIns="34290" numCol="1" anchor="t" anchorCtr="0" compatLnSpc="1">
              <a:prstTxWarp prst="textNoShape">
                <a:avLst/>
              </a:prstTxWarp>
            </a:bodyPr>
            <a:lstStyle/>
            <a:p>
              <a:endParaRPr lang="en-US" sz="1500">
                <a:latin typeface="Segoe UI" panose="020B0502040204020203" pitchFamily="34" charset="0"/>
                <a:cs typeface="Segoe UI" panose="020B0502040204020203" pitchFamily="34" charset="0"/>
              </a:endParaRPr>
            </a:p>
          </p:txBody>
        </p:sp>
        <p:sp>
          <p:nvSpPr>
            <p:cNvPr id="30" name="Rounded Rectangular Callout 44">
              <a:extLst>
                <a:ext uri="{FF2B5EF4-FFF2-40B4-BE49-F238E27FC236}">
                  <a16:creationId xmlns:a16="http://schemas.microsoft.com/office/drawing/2014/main" id="{6E0B86EF-5B95-760F-6AEE-9D1235687EF2}"/>
                </a:ext>
              </a:extLst>
            </p:cNvPr>
            <p:cNvSpPr/>
            <p:nvPr/>
          </p:nvSpPr>
          <p:spPr>
            <a:xfrm>
              <a:off x="4282563" y="3122412"/>
              <a:ext cx="788818" cy="515296"/>
            </a:xfrm>
            <a:prstGeom prst="wedgeRoundRectCallout">
              <a:avLst>
                <a:gd name="adj1" fmla="val 3045"/>
                <a:gd name="adj2" fmla="val 89289"/>
                <a:gd name="adj3" fmla="val 16667"/>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latin typeface="Segoe UI" panose="020B0502040204020203" pitchFamily="34" charset="0"/>
                <a:cs typeface="Segoe UI" panose="020B0502040204020203" pitchFamily="34" charset="0"/>
              </a:endParaRPr>
            </a:p>
          </p:txBody>
        </p:sp>
        <p:grpSp>
          <p:nvGrpSpPr>
            <p:cNvPr id="31" name="Group 30">
              <a:extLst>
                <a:ext uri="{FF2B5EF4-FFF2-40B4-BE49-F238E27FC236}">
                  <a16:creationId xmlns:a16="http://schemas.microsoft.com/office/drawing/2014/main" id="{BA4663B6-AA98-CBD0-0EBB-672AB1B163F9}"/>
                </a:ext>
              </a:extLst>
            </p:cNvPr>
            <p:cNvGrpSpPr/>
            <p:nvPr/>
          </p:nvGrpSpPr>
          <p:grpSpPr>
            <a:xfrm>
              <a:off x="4281353" y="3541988"/>
              <a:ext cx="290962" cy="275984"/>
              <a:chOff x="-4877983" y="-1957454"/>
              <a:chExt cx="13488582" cy="12282599"/>
            </a:xfrm>
            <a:solidFill>
              <a:schemeClr val="bg1"/>
            </a:solidFill>
          </p:grpSpPr>
          <p:grpSp>
            <p:nvGrpSpPr>
              <p:cNvPr id="32" name="Group 31">
                <a:extLst>
                  <a:ext uri="{FF2B5EF4-FFF2-40B4-BE49-F238E27FC236}">
                    <a16:creationId xmlns:a16="http://schemas.microsoft.com/office/drawing/2014/main" id="{01D5138B-8E02-541C-3C70-0CD79FE09349}"/>
                  </a:ext>
                </a:extLst>
              </p:cNvPr>
              <p:cNvGrpSpPr/>
              <p:nvPr/>
            </p:nvGrpSpPr>
            <p:grpSpPr>
              <a:xfrm>
                <a:off x="-4877983" y="-663846"/>
                <a:ext cx="4954013" cy="9840690"/>
                <a:chOff x="-4877985" y="-663845"/>
                <a:chExt cx="4954016" cy="9840700"/>
              </a:xfrm>
              <a:grpFill/>
            </p:grpSpPr>
            <p:sp>
              <p:nvSpPr>
                <p:cNvPr id="45" name="Freeform 54">
                  <a:extLst>
                    <a:ext uri="{FF2B5EF4-FFF2-40B4-BE49-F238E27FC236}">
                      <a16:creationId xmlns:a16="http://schemas.microsoft.com/office/drawing/2014/main" id="{533B1BA2-5FAA-12CD-DB25-202668FD59E3}"/>
                    </a:ext>
                  </a:extLst>
                </p:cNvPr>
                <p:cNvSpPr/>
                <p:nvPr/>
              </p:nvSpPr>
              <p:spPr>
                <a:xfrm>
                  <a:off x="-4877985" y="1607399"/>
                  <a:ext cx="4851717" cy="7569456"/>
                </a:xfrm>
                <a:custGeom>
                  <a:avLst/>
                  <a:gdLst>
                    <a:gd name="connsiteX0" fmla="*/ 2645644 w 4851717"/>
                    <a:gd name="connsiteY0" fmla="*/ 0 h 7569456"/>
                    <a:gd name="connsiteX1" fmla="*/ 4369918 w 4851717"/>
                    <a:gd name="connsiteY1" fmla="*/ 525142 h 7569456"/>
                    <a:gd name="connsiteX2" fmla="*/ 4549739 w 4851717"/>
                    <a:gd name="connsiteY2" fmla="*/ 498237 h 7569456"/>
                    <a:gd name="connsiteX3" fmla="*/ 4563102 w 4851717"/>
                    <a:gd name="connsiteY3" fmla="*/ 543727 h 7569456"/>
                    <a:gd name="connsiteX4" fmla="*/ 4631886 w 4851717"/>
                    <a:gd name="connsiteY4" fmla="*/ 673955 h 7569456"/>
                    <a:gd name="connsiteX5" fmla="*/ 4851717 w 4851717"/>
                    <a:gd name="connsiteY5" fmla="*/ 842369 h 7569456"/>
                    <a:gd name="connsiteX6" fmla="*/ 4790070 w 4851717"/>
                    <a:gd name="connsiteY6" fmla="*/ 886908 h 7569456"/>
                    <a:gd name="connsiteX7" fmla="*/ 2323308 w 4851717"/>
                    <a:gd name="connsiteY7" fmla="*/ 5873407 h 7569456"/>
                    <a:gd name="connsiteX8" fmla="*/ 2949294 w 4851717"/>
                    <a:gd name="connsiteY8" fmla="*/ 7533420 h 7569456"/>
                    <a:gd name="connsiteX9" fmla="*/ 2977648 w 4851717"/>
                    <a:gd name="connsiteY9" fmla="*/ 7569456 h 7569456"/>
                    <a:gd name="connsiteX10" fmla="*/ 2731335 w 4851717"/>
                    <a:gd name="connsiteY10" fmla="*/ 7516784 h 7569456"/>
                    <a:gd name="connsiteX11" fmla="*/ 24537 w 4851717"/>
                    <a:gd name="connsiteY11" fmla="*/ 4717562 h 7569456"/>
                    <a:gd name="connsiteX12" fmla="*/ 2645644 w 4851717"/>
                    <a:gd name="connsiteY12" fmla="*/ 0 h 756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51717" h="7569456">
                      <a:moveTo>
                        <a:pt x="2645644" y="0"/>
                      </a:moveTo>
                      <a:cubicBezTo>
                        <a:pt x="3012241" y="309503"/>
                        <a:pt x="3709827" y="587991"/>
                        <a:pt x="4369918" y="525142"/>
                      </a:cubicBezTo>
                      <a:lnTo>
                        <a:pt x="4549739" y="498237"/>
                      </a:lnTo>
                      <a:lnTo>
                        <a:pt x="4563102" y="543727"/>
                      </a:lnTo>
                      <a:cubicBezTo>
                        <a:pt x="4578533" y="585408"/>
                        <a:pt x="4601054" y="628833"/>
                        <a:pt x="4631886" y="673955"/>
                      </a:cubicBezTo>
                      <a:cubicBezTo>
                        <a:pt x="4683965" y="750170"/>
                        <a:pt x="4778440" y="786231"/>
                        <a:pt x="4851717" y="842369"/>
                      </a:cubicBezTo>
                      <a:lnTo>
                        <a:pt x="4790070" y="886908"/>
                      </a:lnTo>
                      <a:cubicBezTo>
                        <a:pt x="3568422" y="1792948"/>
                        <a:pt x="2072637" y="3272576"/>
                        <a:pt x="2323308" y="5873407"/>
                      </a:cubicBezTo>
                      <a:cubicBezTo>
                        <a:pt x="2385953" y="6523366"/>
                        <a:pt x="2610126" y="7075834"/>
                        <a:pt x="2949294" y="7533420"/>
                      </a:cubicBezTo>
                      <a:lnTo>
                        <a:pt x="2977648" y="7569456"/>
                      </a:lnTo>
                      <a:lnTo>
                        <a:pt x="2731335" y="7516784"/>
                      </a:lnTo>
                      <a:cubicBezTo>
                        <a:pt x="1334146" y="7166915"/>
                        <a:pt x="172082" y="6248390"/>
                        <a:pt x="24537" y="4717562"/>
                      </a:cubicBezTo>
                      <a:cubicBezTo>
                        <a:pt x="-228491" y="2092278"/>
                        <a:pt x="1533197" y="760416"/>
                        <a:pt x="2645644" y="0"/>
                      </a:cubicBezTo>
                      <a:close/>
                    </a:path>
                  </a:pathLst>
                </a:custGeom>
                <a:grpFill/>
                <a:ln w="12700" cap="flat" cmpd="sng" algn="ctr">
                  <a:noFill/>
                  <a:prstDash val="solid"/>
                  <a:miter lim="800000"/>
                </a:ln>
                <a:effectLst/>
              </p:spPr>
              <p:txBody>
                <a:bodyPr wrap="square" rtlCol="0" anchor="ctr">
                  <a:noAutofit/>
                </a:bodyPr>
                <a:lstStyle/>
                <a:p>
                  <a:pPr algn="ctr"/>
                  <a:endParaRPr lang="en-US" sz="1500" kern="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46" name="Freeform 55">
                  <a:extLst>
                    <a:ext uri="{FF2B5EF4-FFF2-40B4-BE49-F238E27FC236}">
                      <a16:creationId xmlns:a16="http://schemas.microsoft.com/office/drawing/2014/main" id="{4D19E848-69DE-1A3F-C46F-3105B25E2415}"/>
                    </a:ext>
                  </a:extLst>
                </p:cNvPr>
                <p:cNvSpPr/>
                <p:nvPr/>
              </p:nvSpPr>
              <p:spPr>
                <a:xfrm rot="5400000">
                  <a:off x="-1953504" y="-1073721"/>
                  <a:ext cx="1472238" cy="2291990"/>
                </a:xfrm>
                <a:custGeom>
                  <a:avLst/>
                  <a:gdLst>
                    <a:gd name="connsiteX0" fmla="*/ 0 w 1472238"/>
                    <a:gd name="connsiteY0" fmla="*/ 2291990 h 2291990"/>
                    <a:gd name="connsiteX1" fmla="*/ 246243 w 1472238"/>
                    <a:gd name="connsiteY1" fmla="*/ 468464 h 2291990"/>
                    <a:gd name="connsiteX2" fmla="*/ 232820 w 1472238"/>
                    <a:gd name="connsiteY2" fmla="*/ 376318 h 2291990"/>
                    <a:gd name="connsiteX3" fmla="*/ 238289 w 1472238"/>
                    <a:gd name="connsiteY3" fmla="*/ 378523 h 2291990"/>
                    <a:gd name="connsiteX4" fmla="*/ 333015 w 1472238"/>
                    <a:gd name="connsiteY4" fmla="*/ 391161 h 2291990"/>
                    <a:gd name="connsiteX5" fmla="*/ 774625 w 1472238"/>
                    <a:gd name="connsiteY5" fmla="*/ 95710 h 2291990"/>
                    <a:gd name="connsiteX6" fmla="*/ 834251 w 1472238"/>
                    <a:gd name="connsiteY6" fmla="*/ 0 h 2291990"/>
                    <a:gd name="connsiteX7" fmla="*/ 1358699 w 1472238"/>
                    <a:gd name="connsiteY7" fmla="*/ 0 h 2291990"/>
                    <a:gd name="connsiteX8" fmla="*/ 1374195 w 1472238"/>
                    <a:gd name="connsiteY8" fmla="*/ 47725 h 2291990"/>
                    <a:gd name="connsiteX9" fmla="*/ 1472238 w 1472238"/>
                    <a:gd name="connsiteY9" fmla="*/ 772164 h 2291990"/>
                    <a:gd name="connsiteX10" fmla="*/ 659917 w 1472238"/>
                    <a:gd name="connsiteY10" fmla="*/ 2291990 h 2291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72238" h="2291990">
                      <a:moveTo>
                        <a:pt x="0" y="2291990"/>
                      </a:moveTo>
                      <a:cubicBezTo>
                        <a:pt x="213446" y="1644186"/>
                        <a:pt x="307194" y="1087798"/>
                        <a:pt x="246243" y="468464"/>
                      </a:cubicBezTo>
                      <a:lnTo>
                        <a:pt x="232820" y="376318"/>
                      </a:lnTo>
                      <a:lnTo>
                        <a:pt x="238289" y="378523"/>
                      </a:lnTo>
                      <a:cubicBezTo>
                        <a:pt x="269434" y="386880"/>
                        <a:pt x="301035" y="391161"/>
                        <a:pt x="333015" y="391161"/>
                      </a:cubicBezTo>
                      <a:cubicBezTo>
                        <a:pt x="492913" y="391161"/>
                        <a:pt x="643351" y="284132"/>
                        <a:pt x="774625" y="95710"/>
                      </a:cubicBezTo>
                      <a:lnTo>
                        <a:pt x="834251" y="0"/>
                      </a:lnTo>
                      <a:lnTo>
                        <a:pt x="1358699" y="0"/>
                      </a:lnTo>
                      <a:lnTo>
                        <a:pt x="1374195" y="47725"/>
                      </a:lnTo>
                      <a:cubicBezTo>
                        <a:pt x="1436722" y="263075"/>
                        <a:pt x="1472238" y="509859"/>
                        <a:pt x="1472238" y="772164"/>
                      </a:cubicBezTo>
                      <a:cubicBezTo>
                        <a:pt x="1472238" y="1611539"/>
                        <a:pt x="1108549" y="2291990"/>
                        <a:pt x="659917" y="229199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48" name="Freeform 57">
                  <a:extLst>
                    <a:ext uri="{FF2B5EF4-FFF2-40B4-BE49-F238E27FC236}">
                      <a16:creationId xmlns:a16="http://schemas.microsoft.com/office/drawing/2014/main" id="{7C0EBD77-1009-64FB-B636-7918AF941C52}"/>
                    </a:ext>
                  </a:extLst>
                </p:cNvPr>
                <p:cNvSpPr/>
                <p:nvPr/>
              </p:nvSpPr>
              <p:spPr>
                <a:xfrm>
                  <a:off x="-2422186" y="740546"/>
                  <a:ext cx="2498217" cy="985297"/>
                </a:xfrm>
                <a:custGeom>
                  <a:avLst/>
                  <a:gdLst>
                    <a:gd name="connsiteX0" fmla="*/ 365593 w 2498217"/>
                    <a:gd name="connsiteY0" fmla="*/ 0 h 985297"/>
                    <a:gd name="connsiteX1" fmla="*/ 2265298 w 2498217"/>
                    <a:gd name="connsiteY1" fmla="*/ 387572 h 985297"/>
                    <a:gd name="connsiteX2" fmla="*/ 2350796 w 2498217"/>
                    <a:gd name="connsiteY2" fmla="*/ 345275 h 985297"/>
                    <a:gd name="connsiteX3" fmla="*/ 2350796 w 2498217"/>
                    <a:gd name="connsiteY3" fmla="*/ 358760 h 985297"/>
                    <a:gd name="connsiteX4" fmla="*/ 2443265 w 2498217"/>
                    <a:gd name="connsiteY4" fmla="*/ 685659 h 985297"/>
                    <a:gd name="connsiteX5" fmla="*/ 2498217 w 2498217"/>
                    <a:gd name="connsiteY5" fmla="*/ 765908 h 985297"/>
                    <a:gd name="connsiteX6" fmla="*/ 2406980 w 2498217"/>
                    <a:gd name="connsiteY6" fmla="*/ 807447 h 985297"/>
                    <a:gd name="connsiteX7" fmla="*/ 2331733 w 2498217"/>
                    <a:gd name="connsiteY7" fmla="*/ 858623 h 985297"/>
                    <a:gd name="connsiteX8" fmla="*/ 2258161 w 2498217"/>
                    <a:gd name="connsiteY8" fmla="*/ 919388 h 985297"/>
                    <a:gd name="connsiteX9" fmla="*/ 2146342 w 2498217"/>
                    <a:gd name="connsiteY9" fmla="*/ 947350 h 985297"/>
                    <a:gd name="connsiteX10" fmla="*/ 0 w 2498217"/>
                    <a:gd name="connsiteY10" fmla="*/ 396983 h 985297"/>
                    <a:gd name="connsiteX11" fmla="*/ 365593 w 2498217"/>
                    <a:gd name="connsiteY11" fmla="*/ 0 h 985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98217" h="985297">
                      <a:moveTo>
                        <a:pt x="365593" y="0"/>
                      </a:moveTo>
                      <a:cubicBezTo>
                        <a:pt x="886415" y="446941"/>
                        <a:pt x="1656616" y="643408"/>
                        <a:pt x="2265298" y="387572"/>
                      </a:cubicBezTo>
                      <a:lnTo>
                        <a:pt x="2350796" y="345275"/>
                      </a:lnTo>
                      <a:lnTo>
                        <a:pt x="2350796" y="358760"/>
                      </a:lnTo>
                      <a:cubicBezTo>
                        <a:pt x="2350796" y="472597"/>
                        <a:pt x="2383170" y="582392"/>
                        <a:pt x="2443265" y="685659"/>
                      </a:cubicBezTo>
                      <a:lnTo>
                        <a:pt x="2498217" y="765908"/>
                      </a:lnTo>
                      <a:lnTo>
                        <a:pt x="2406980" y="807447"/>
                      </a:lnTo>
                      <a:cubicBezTo>
                        <a:pt x="2382944" y="822455"/>
                        <a:pt x="2357454" y="839529"/>
                        <a:pt x="2331733" y="858623"/>
                      </a:cubicBezTo>
                      <a:lnTo>
                        <a:pt x="2258161" y="919388"/>
                      </a:lnTo>
                      <a:lnTo>
                        <a:pt x="2146342" y="947350"/>
                      </a:lnTo>
                      <a:cubicBezTo>
                        <a:pt x="1476069" y="1077346"/>
                        <a:pt x="675680" y="868364"/>
                        <a:pt x="0" y="396983"/>
                      </a:cubicBezTo>
                      <a:cubicBezTo>
                        <a:pt x="0" y="170416"/>
                        <a:pt x="156362" y="0"/>
                        <a:pt x="365593"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solidFill>
                      <a:schemeClr val="tx1">
                        <a:lumMod val="75000"/>
                        <a:lumOff val="25000"/>
                      </a:schemeClr>
                    </a:solidFill>
                    <a:latin typeface="Segoe UI" panose="020B0502040204020203" pitchFamily="34" charset="0"/>
                    <a:cs typeface="Segoe UI" panose="020B0502040204020203" pitchFamily="34" charset="0"/>
                  </a:endParaRPr>
                </a:p>
              </p:txBody>
            </p:sp>
          </p:grpSp>
          <p:grpSp>
            <p:nvGrpSpPr>
              <p:cNvPr id="33" name="Group 32">
                <a:extLst>
                  <a:ext uri="{FF2B5EF4-FFF2-40B4-BE49-F238E27FC236}">
                    <a16:creationId xmlns:a16="http://schemas.microsoft.com/office/drawing/2014/main" id="{E8D06622-EC85-C733-C31B-24A53C76D552}"/>
                  </a:ext>
                </a:extLst>
              </p:cNvPr>
              <p:cNvGrpSpPr/>
              <p:nvPr/>
            </p:nvGrpSpPr>
            <p:grpSpPr>
              <a:xfrm>
                <a:off x="-2049060" y="1752270"/>
                <a:ext cx="8068867" cy="8572875"/>
                <a:chOff x="-2049058" y="1752264"/>
                <a:chExt cx="8068861" cy="8572881"/>
              </a:xfrm>
              <a:grpFill/>
            </p:grpSpPr>
            <p:sp>
              <p:nvSpPr>
                <p:cNvPr id="40" name="Freeform 50">
                  <a:extLst>
                    <a:ext uri="{FF2B5EF4-FFF2-40B4-BE49-F238E27FC236}">
                      <a16:creationId xmlns:a16="http://schemas.microsoft.com/office/drawing/2014/main" id="{6EB080C5-E7D3-2A0A-6D27-8E174F4C5F10}"/>
                    </a:ext>
                  </a:extLst>
                </p:cNvPr>
                <p:cNvSpPr/>
                <p:nvPr/>
              </p:nvSpPr>
              <p:spPr>
                <a:xfrm>
                  <a:off x="-2049058" y="2621964"/>
                  <a:ext cx="8068861" cy="7703181"/>
                </a:xfrm>
                <a:custGeom>
                  <a:avLst/>
                  <a:gdLst>
                    <a:gd name="connsiteX0" fmla="*/ 3759377 w 8068861"/>
                    <a:gd name="connsiteY0" fmla="*/ 1711911 h 7703181"/>
                    <a:gd name="connsiteX1" fmla="*/ 3759377 w 8068861"/>
                    <a:gd name="connsiteY1" fmla="*/ 2242381 h 7703181"/>
                    <a:gd name="connsiteX2" fmla="*/ 3015349 w 8068861"/>
                    <a:gd name="connsiteY2" fmla="*/ 2573655 h 7703181"/>
                    <a:gd name="connsiteX3" fmla="*/ 2747548 w 8068861"/>
                    <a:gd name="connsiteY3" fmla="*/ 3163386 h 7703181"/>
                    <a:gd name="connsiteX4" fmla="*/ 3026558 w 8068861"/>
                    <a:gd name="connsiteY4" fmla="*/ 3722539 h 7703181"/>
                    <a:gd name="connsiteX5" fmla="*/ 3741384 w 8068861"/>
                    <a:gd name="connsiteY5" fmla="*/ 4089703 h 7703181"/>
                    <a:gd name="connsiteX6" fmla="*/ 4321903 w 8068861"/>
                    <a:gd name="connsiteY6" fmla="*/ 4359091 h 7703181"/>
                    <a:gd name="connsiteX7" fmla="*/ 4489838 w 8068861"/>
                    <a:gd name="connsiteY7" fmla="*/ 4666893 h 7703181"/>
                    <a:gd name="connsiteX8" fmla="*/ 4330860 w 8068861"/>
                    <a:gd name="connsiteY8" fmla="*/ 4961300 h 7703181"/>
                    <a:gd name="connsiteX9" fmla="*/ 3849002 w 8068861"/>
                    <a:gd name="connsiteY9" fmla="*/ 5081164 h 7703181"/>
                    <a:gd name="connsiteX10" fmla="*/ 3312955 w 8068861"/>
                    <a:gd name="connsiteY10" fmla="*/ 5016591 h 7703181"/>
                    <a:gd name="connsiteX11" fmla="*/ 2885128 w 8068861"/>
                    <a:gd name="connsiteY11" fmla="*/ 4871708 h 7703181"/>
                    <a:gd name="connsiteX12" fmla="*/ 2705642 w 8068861"/>
                    <a:gd name="connsiteY12" fmla="*/ 5392610 h 7703181"/>
                    <a:gd name="connsiteX13" fmla="*/ 3147193 w 8068861"/>
                    <a:gd name="connsiteY13" fmla="*/ 5529737 h 7703181"/>
                    <a:gd name="connsiteX14" fmla="*/ 3705503 w 8068861"/>
                    <a:gd name="connsiteY14" fmla="*/ 5597140 h 7703181"/>
                    <a:gd name="connsiteX15" fmla="*/ 3705503 w 8068861"/>
                    <a:gd name="connsiteY15" fmla="*/ 6127671 h 7703181"/>
                    <a:gd name="connsiteX16" fmla="*/ 4291495 w 8068861"/>
                    <a:gd name="connsiteY16" fmla="*/ 6127671 h 7703181"/>
                    <a:gd name="connsiteX17" fmla="*/ 4291495 w 8068861"/>
                    <a:gd name="connsiteY17" fmla="*/ 5559967 h 7703181"/>
                    <a:gd name="connsiteX18" fmla="*/ 5081201 w 8068861"/>
                    <a:gd name="connsiteY18" fmla="*/ 5220530 h 7703181"/>
                    <a:gd name="connsiteX19" fmla="*/ 5363223 w 8068861"/>
                    <a:gd name="connsiteY19" fmla="*/ 4601730 h 7703181"/>
                    <a:gd name="connsiteX20" fmla="*/ 5113363 w 8068861"/>
                    <a:gd name="connsiteY20" fmla="*/ 4016967 h 7703181"/>
                    <a:gd name="connsiteX21" fmla="*/ 4333558 w 8068861"/>
                    <a:gd name="connsiteY21" fmla="*/ 3610248 h 7703181"/>
                    <a:gd name="connsiteX22" fmla="*/ 3791042 w 8068861"/>
                    <a:gd name="connsiteY22" fmla="*/ 3359467 h 7703181"/>
                    <a:gd name="connsiteX23" fmla="*/ 3602966 w 8068861"/>
                    <a:gd name="connsiteY23" fmla="*/ 3084257 h 7703181"/>
                    <a:gd name="connsiteX24" fmla="*/ 3755134 w 8068861"/>
                    <a:gd name="connsiteY24" fmla="*/ 2829994 h 7703181"/>
                    <a:gd name="connsiteX25" fmla="*/ 4207790 w 8068861"/>
                    <a:gd name="connsiteY25" fmla="*/ 2711861 h 7703181"/>
                    <a:gd name="connsiteX26" fmla="*/ 4681136 w 8068861"/>
                    <a:gd name="connsiteY26" fmla="*/ 2769472 h 7703181"/>
                    <a:gd name="connsiteX27" fmla="*/ 5028217 w 8068861"/>
                    <a:gd name="connsiteY27" fmla="*/ 2879442 h 7703181"/>
                    <a:gd name="connsiteX28" fmla="*/ 5207676 w 8068861"/>
                    <a:gd name="connsiteY28" fmla="*/ 2372546 h 7703181"/>
                    <a:gd name="connsiteX29" fmla="*/ 4846400 w 8068861"/>
                    <a:gd name="connsiteY29" fmla="*/ 2262718 h 7703181"/>
                    <a:gd name="connsiteX30" fmla="*/ 4345396 w 8068861"/>
                    <a:gd name="connsiteY30" fmla="*/ 2205209 h 7703181"/>
                    <a:gd name="connsiteX31" fmla="*/ 4345396 w 8068861"/>
                    <a:gd name="connsiteY31" fmla="*/ 1711911 h 7703181"/>
                    <a:gd name="connsiteX32" fmla="*/ 5437995 w 8068861"/>
                    <a:gd name="connsiteY32" fmla="*/ 0 h 7703181"/>
                    <a:gd name="connsiteX33" fmla="*/ 8068342 w 8068861"/>
                    <a:gd name="connsiteY33" fmla="*/ 4753044 h 7703181"/>
                    <a:gd name="connsiteX34" fmla="*/ 24537 w 8068861"/>
                    <a:gd name="connsiteY34" fmla="*/ 4741222 h 7703181"/>
                    <a:gd name="connsiteX35" fmla="*/ 2645644 w 8068861"/>
                    <a:gd name="connsiteY35" fmla="*/ 23660 h 7703181"/>
                    <a:gd name="connsiteX36" fmla="*/ 5437995 w 8068861"/>
                    <a:gd name="connsiteY36" fmla="*/ 0 h 7703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8068861" h="7703181">
                      <a:moveTo>
                        <a:pt x="3759377" y="1711911"/>
                      </a:moveTo>
                      <a:lnTo>
                        <a:pt x="3759377" y="2242381"/>
                      </a:lnTo>
                      <a:cubicBezTo>
                        <a:pt x="3439430" y="2301051"/>
                        <a:pt x="3191403" y="2411489"/>
                        <a:pt x="3015349" y="2573655"/>
                      </a:cubicBezTo>
                      <a:cubicBezTo>
                        <a:pt x="2839294" y="2735842"/>
                        <a:pt x="2750010" y="2932412"/>
                        <a:pt x="2747548" y="3163386"/>
                      </a:cubicBezTo>
                      <a:cubicBezTo>
                        <a:pt x="2752629" y="3394278"/>
                        <a:pt x="2845632" y="3580669"/>
                        <a:pt x="3026558" y="3722539"/>
                      </a:cubicBezTo>
                      <a:cubicBezTo>
                        <a:pt x="3207484" y="3864429"/>
                        <a:pt x="3445742" y="3986797"/>
                        <a:pt x="3741384" y="4089703"/>
                      </a:cubicBezTo>
                      <a:cubicBezTo>
                        <a:pt x="4013244" y="4180375"/>
                        <a:pt x="4206742" y="4270171"/>
                        <a:pt x="4321903" y="4359091"/>
                      </a:cubicBezTo>
                      <a:cubicBezTo>
                        <a:pt x="4437038" y="4448012"/>
                        <a:pt x="4493034" y="4550613"/>
                        <a:pt x="4489838" y="4666893"/>
                      </a:cubicBezTo>
                      <a:cubicBezTo>
                        <a:pt x="4490022" y="4785983"/>
                        <a:pt x="4437038" y="4884126"/>
                        <a:pt x="4330860" y="4961300"/>
                      </a:cubicBezTo>
                      <a:cubicBezTo>
                        <a:pt x="4224683" y="5038495"/>
                        <a:pt x="4064054" y="5078457"/>
                        <a:pt x="3849002" y="5081164"/>
                      </a:cubicBezTo>
                      <a:cubicBezTo>
                        <a:pt x="3658202" y="5079128"/>
                        <a:pt x="3479528" y="5057611"/>
                        <a:pt x="3312955" y="5016591"/>
                      </a:cubicBezTo>
                      <a:cubicBezTo>
                        <a:pt x="3146355" y="4975571"/>
                        <a:pt x="3003772" y="4927263"/>
                        <a:pt x="2885128" y="4871708"/>
                      </a:cubicBezTo>
                      <a:lnTo>
                        <a:pt x="2705642" y="5392610"/>
                      </a:lnTo>
                      <a:cubicBezTo>
                        <a:pt x="2822899" y="5445295"/>
                        <a:pt x="2970065" y="5491017"/>
                        <a:pt x="3147193" y="5529737"/>
                      </a:cubicBezTo>
                      <a:cubicBezTo>
                        <a:pt x="3324322" y="5568477"/>
                        <a:pt x="3510407" y="5590951"/>
                        <a:pt x="3705503" y="5597140"/>
                      </a:cubicBezTo>
                      <a:lnTo>
                        <a:pt x="3705503" y="6127671"/>
                      </a:lnTo>
                      <a:lnTo>
                        <a:pt x="4291495" y="6127671"/>
                      </a:lnTo>
                      <a:lnTo>
                        <a:pt x="4291495" y="5559967"/>
                      </a:lnTo>
                      <a:cubicBezTo>
                        <a:pt x="4632290" y="5504962"/>
                        <a:pt x="4895534" y="5391816"/>
                        <a:pt x="5081201" y="5220530"/>
                      </a:cubicBezTo>
                      <a:cubicBezTo>
                        <a:pt x="5266867" y="5049244"/>
                        <a:pt x="5360866" y="4842984"/>
                        <a:pt x="5363223" y="4601730"/>
                      </a:cubicBezTo>
                      <a:cubicBezTo>
                        <a:pt x="5364480" y="4364038"/>
                        <a:pt x="5281194" y="4169117"/>
                        <a:pt x="5113363" y="4016967"/>
                      </a:cubicBezTo>
                      <a:cubicBezTo>
                        <a:pt x="4945558" y="3864816"/>
                        <a:pt x="4685615" y="3729237"/>
                        <a:pt x="4333558" y="3610248"/>
                      </a:cubicBezTo>
                      <a:cubicBezTo>
                        <a:pt x="4096374" y="3522285"/>
                        <a:pt x="3915527" y="3438698"/>
                        <a:pt x="3791042" y="3359467"/>
                      </a:cubicBezTo>
                      <a:cubicBezTo>
                        <a:pt x="3666557" y="3280237"/>
                        <a:pt x="3603882" y="3188507"/>
                        <a:pt x="3602966" y="3084257"/>
                      </a:cubicBezTo>
                      <a:cubicBezTo>
                        <a:pt x="3603123" y="2989311"/>
                        <a:pt x="3653854" y="2904563"/>
                        <a:pt x="3755134" y="2829994"/>
                      </a:cubicBezTo>
                      <a:cubicBezTo>
                        <a:pt x="3856414" y="2755405"/>
                        <a:pt x="4007299" y="2716034"/>
                        <a:pt x="4207790" y="2711861"/>
                      </a:cubicBezTo>
                      <a:cubicBezTo>
                        <a:pt x="4382928" y="2714487"/>
                        <a:pt x="4540727" y="2733684"/>
                        <a:pt x="4681136" y="2769472"/>
                      </a:cubicBezTo>
                      <a:cubicBezTo>
                        <a:pt x="4821571" y="2805260"/>
                        <a:pt x="4937256" y="2841924"/>
                        <a:pt x="5028217" y="2879442"/>
                      </a:cubicBezTo>
                      <a:lnTo>
                        <a:pt x="5207676" y="2372546"/>
                      </a:lnTo>
                      <a:cubicBezTo>
                        <a:pt x="5109356" y="2331567"/>
                        <a:pt x="4988930" y="2294964"/>
                        <a:pt x="4846400" y="2262718"/>
                      </a:cubicBezTo>
                      <a:cubicBezTo>
                        <a:pt x="4703870" y="2230472"/>
                        <a:pt x="4536851" y="2211296"/>
                        <a:pt x="4345396" y="2205209"/>
                      </a:cubicBezTo>
                      <a:lnTo>
                        <a:pt x="4345396" y="1711911"/>
                      </a:lnTo>
                      <a:close/>
                      <a:moveTo>
                        <a:pt x="5437995" y="0"/>
                      </a:moveTo>
                      <a:cubicBezTo>
                        <a:pt x="6369752" y="782560"/>
                        <a:pt x="8103263" y="1635341"/>
                        <a:pt x="8068342" y="4753044"/>
                      </a:cubicBezTo>
                      <a:cubicBezTo>
                        <a:pt x="8025804" y="8551487"/>
                        <a:pt x="417989" y="8823430"/>
                        <a:pt x="24537" y="4741222"/>
                      </a:cubicBezTo>
                      <a:cubicBezTo>
                        <a:pt x="-228491" y="2115937"/>
                        <a:pt x="1533197" y="784076"/>
                        <a:pt x="2645644" y="23660"/>
                      </a:cubicBezTo>
                      <a:cubicBezTo>
                        <a:pt x="3232199" y="518864"/>
                        <a:pt x="4666086" y="934671"/>
                        <a:pt x="5437995" y="0"/>
                      </a:cubicBezTo>
                      <a:close/>
                    </a:path>
                  </a:pathLst>
                </a:custGeom>
                <a:grpFill/>
                <a:ln w="12700" cap="flat" cmpd="sng" algn="ctr">
                  <a:noFill/>
                  <a:prstDash val="solid"/>
                  <a:miter lim="800000"/>
                </a:ln>
                <a:effectLst/>
              </p:spPr>
              <p:txBody>
                <a:bodyPr wrap="square" rtlCol="0" anchor="ctr">
                  <a:noAutofit/>
                </a:bodyPr>
                <a:lstStyle/>
                <a:p>
                  <a:pPr algn="ctr"/>
                  <a:endParaRPr lang="en-US" sz="1500" kern="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44" name="Rounded Rectangle 53">
                  <a:extLst>
                    <a:ext uri="{FF2B5EF4-FFF2-40B4-BE49-F238E27FC236}">
                      <a16:creationId xmlns:a16="http://schemas.microsoft.com/office/drawing/2014/main" id="{D0D40E97-74E1-BDA3-0F87-6CEDA28A5524}"/>
                    </a:ext>
                  </a:extLst>
                </p:cNvPr>
                <p:cNvSpPr/>
                <p:nvPr/>
              </p:nvSpPr>
              <p:spPr>
                <a:xfrm>
                  <a:off x="406742" y="1752264"/>
                  <a:ext cx="3157265" cy="1011800"/>
                </a:xfrm>
                <a:custGeom>
                  <a:avLst/>
                  <a:gdLst>
                    <a:gd name="connsiteX0" fmla="*/ 0 w 793750"/>
                    <a:gd name="connsiteY0" fmla="*/ 88900 h 177800"/>
                    <a:gd name="connsiteX1" fmla="*/ 88900 w 793750"/>
                    <a:gd name="connsiteY1" fmla="*/ 0 h 177800"/>
                    <a:gd name="connsiteX2" fmla="*/ 704850 w 793750"/>
                    <a:gd name="connsiteY2" fmla="*/ 0 h 177800"/>
                    <a:gd name="connsiteX3" fmla="*/ 793750 w 793750"/>
                    <a:gd name="connsiteY3" fmla="*/ 88900 h 177800"/>
                    <a:gd name="connsiteX4" fmla="*/ 793750 w 793750"/>
                    <a:gd name="connsiteY4" fmla="*/ 88900 h 177800"/>
                    <a:gd name="connsiteX5" fmla="*/ 704850 w 793750"/>
                    <a:gd name="connsiteY5" fmla="*/ 177800 h 177800"/>
                    <a:gd name="connsiteX6" fmla="*/ 88900 w 793750"/>
                    <a:gd name="connsiteY6" fmla="*/ 177800 h 177800"/>
                    <a:gd name="connsiteX7" fmla="*/ 0 w 793750"/>
                    <a:gd name="connsiteY7" fmla="*/ 88900 h 177800"/>
                    <a:gd name="connsiteX0" fmla="*/ 0 w 793750"/>
                    <a:gd name="connsiteY0" fmla="*/ 88900 h 259644"/>
                    <a:gd name="connsiteX1" fmla="*/ 88900 w 793750"/>
                    <a:gd name="connsiteY1" fmla="*/ 0 h 259644"/>
                    <a:gd name="connsiteX2" fmla="*/ 704850 w 793750"/>
                    <a:gd name="connsiteY2" fmla="*/ 0 h 259644"/>
                    <a:gd name="connsiteX3" fmla="*/ 793750 w 793750"/>
                    <a:gd name="connsiteY3" fmla="*/ 88900 h 259644"/>
                    <a:gd name="connsiteX4" fmla="*/ 793750 w 793750"/>
                    <a:gd name="connsiteY4" fmla="*/ 88900 h 259644"/>
                    <a:gd name="connsiteX5" fmla="*/ 704850 w 793750"/>
                    <a:gd name="connsiteY5" fmla="*/ 177800 h 259644"/>
                    <a:gd name="connsiteX6" fmla="*/ 88900 w 793750"/>
                    <a:gd name="connsiteY6" fmla="*/ 177800 h 259644"/>
                    <a:gd name="connsiteX7" fmla="*/ 0 w 793750"/>
                    <a:gd name="connsiteY7" fmla="*/ 88900 h 259644"/>
                    <a:gd name="connsiteX0" fmla="*/ 0 w 793750"/>
                    <a:gd name="connsiteY0" fmla="*/ 88900 h 281213"/>
                    <a:gd name="connsiteX1" fmla="*/ 88900 w 793750"/>
                    <a:gd name="connsiteY1" fmla="*/ 0 h 281213"/>
                    <a:gd name="connsiteX2" fmla="*/ 704850 w 793750"/>
                    <a:gd name="connsiteY2" fmla="*/ 0 h 281213"/>
                    <a:gd name="connsiteX3" fmla="*/ 793750 w 793750"/>
                    <a:gd name="connsiteY3" fmla="*/ 88900 h 281213"/>
                    <a:gd name="connsiteX4" fmla="*/ 793750 w 793750"/>
                    <a:gd name="connsiteY4" fmla="*/ 88900 h 281213"/>
                    <a:gd name="connsiteX5" fmla="*/ 704850 w 793750"/>
                    <a:gd name="connsiteY5" fmla="*/ 177800 h 281213"/>
                    <a:gd name="connsiteX6" fmla="*/ 88900 w 793750"/>
                    <a:gd name="connsiteY6" fmla="*/ 177800 h 281213"/>
                    <a:gd name="connsiteX7" fmla="*/ 0 w 793750"/>
                    <a:gd name="connsiteY7" fmla="*/ 88900 h 281213"/>
                    <a:gd name="connsiteX0" fmla="*/ 0 w 793750"/>
                    <a:gd name="connsiteY0" fmla="*/ 88900 h 281213"/>
                    <a:gd name="connsiteX1" fmla="*/ 88900 w 793750"/>
                    <a:gd name="connsiteY1" fmla="*/ 0 h 281213"/>
                    <a:gd name="connsiteX2" fmla="*/ 704850 w 793750"/>
                    <a:gd name="connsiteY2" fmla="*/ 0 h 281213"/>
                    <a:gd name="connsiteX3" fmla="*/ 793750 w 793750"/>
                    <a:gd name="connsiteY3" fmla="*/ 88900 h 281213"/>
                    <a:gd name="connsiteX4" fmla="*/ 793750 w 793750"/>
                    <a:gd name="connsiteY4" fmla="*/ 88900 h 281213"/>
                    <a:gd name="connsiteX5" fmla="*/ 704850 w 793750"/>
                    <a:gd name="connsiteY5" fmla="*/ 177800 h 281213"/>
                    <a:gd name="connsiteX6" fmla="*/ 88900 w 793750"/>
                    <a:gd name="connsiteY6" fmla="*/ 177800 h 281213"/>
                    <a:gd name="connsiteX7" fmla="*/ 0 w 793750"/>
                    <a:gd name="connsiteY7" fmla="*/ 88900 h 281213"/>
                    <a:gd name="connsiteX0" fmla="*/ 0 w 793750"/>
                    <a:gd name="connsiteY0" fmla="*/ 88900 h 177800"/>
                    <a:gd name="connsiteX1" fmla="*/ 88900 w 793750"/>
                    <a:gd name="connsiteY1" fmla="*/ 0 h 177800"/>
                    <a:gd name="connsiteX2" fmla="*/ 704850 w 793750"/>
                    <a:gd name="connsiteY2" fmla="*/ 0 h 177800"/>
                    <a:gd name="connsiteX3" fmla="*/ 793750 w 793750"/>
                    <a:gd name="connsiteY3" fmla="*/ 88900 h 177800"/>
                    <a:gd name="connsiteX4" fmla="*/ 793750 w 793750"/>
                    <a:gd name="connsiteY4" fmla="*/ 88900 h 177800"/>
                    <a:gd name="connsiteX5" fmla="*/ 704850 w 793750"/>
                    <a:gd name="connsiteY5" fmla="*/ 177800 h 177800"/>
                    <a:gd name="connsiteX6" fmla="*/ 0 w 793750"/>
                    <a:gd name="connsiteY6" fmla="*/ 88900 h 177800"/>
                    <a:gd name="connsiteX0" fmla="*/ 0 w 793750"/>
                    <a:gd name="connsiteY0" fmla="*/ 88900 h 95485"/>
                    <a:gd name="connsiteX1" fmla="*/ 88900 w 793750"/>
                    <a:gd name="connsiteY1" fmla="*/ 0 h 95485"/>
                    <a:gd name="connsiteX2" fmla="*/ 704850 w 793750"/>
                    <a:gd name="connsiteY2" fmla="*/ 0 h 95485"/>
                    <a:gd name="connsiteX3" fmla="*/ 793750 w 793750"/>
                    <a:gd name="connsiteY3" fmla="*/ 88900 h 95485"/>
                    <a:gd name="connsiteX4" fmla="*/ 793750 w 793750"/>
                    <a:gd name="connsiteY4" fmla="*/ 88900 h 95485"/>
                    <a:gd name="connsiteX5" fmla="*/ 0 w 793750"/>
                    <a:gd name="connsiteY5" fmla="*/ 88900 h 95485"/>
                    <a:gd name="connsiteX0" fmla="*/ 0 w 793750"/>
                    <a:gd name="connsiteY0" fmla="*/ 88900 h 225307"/>
                    <a:gd name="connsiteX1" fmla="*/ 88900 w 793750"/>
                    <a:gd name="connsiteY1" fmla="*/ 0 h 225307"/>
                    <a:gd name="connsiteX2" fmla="*/ 704850 w 793750"/>
                    <a:gd name="connsiteY2" fmla="*/ 0 h 225307"/>
                    <a:gd name="connsiteX3" fmla="*/ 793750 w 793750"/>
                    <a:gd name="connsiteY3" fmla="*/ 88900 h 225307"/>
                    <a:gd name="connsiteX4" fmla="*/ 793750 w 793750"/>
                    <a:gd name="connsiteY4" fmla="*/ 88900 h 225307"/>
                    <a:gd name="connsiteX5" fmla="*/ 0 w 793750"/>
                    <a:gd name="connsiteY5" fmla="*/ 88900 h 225307"/>
                    <a:gd name="connsiteX0" fmla="*/ 0 w 793750"/>
                    <a:gd name="connsiteY0" fmla="*/ 88900 h 88900"/>
                    <a:gd name="connsiteX1" fmla="*/ 88900 w 793750"/>
                    <a:gd name="connsiteY1" fmla="*/ 0 h 88900"/>
                    <a:gd name="connsiteX2" fmla="*/ 704850 w 793750"/>
                    <a:gd name="connsiteY2" fmla="*/ 0 h 88900"/>
                    <a:gd name="connsiteX3" fmla="*/ 793750 w 793750"/>
                    <a:gd name="connsiteY3" fmla="*/ 88900 h 88900"/>
                    <a:gd name="connsiteX4" fmla="*/ 0 w 793750"/>
                    <a:gd name="connsiteY4" fmla="*/ 88900 h 88900"/>
                    <a:gd name="connsiteX0" fmla="*/ 0 w 793750"/>
                    <a:gd name="connsiteY0" fmla="*/ 88900 h 224366"/>
                    <a:gd name="connsiteX1" fmla="*/ 88900 w 793750"/>
                    <a:gd name="connsiteY1" fmla="*/ 0 h 224366"/>
                    <a:gd name="connsiteX2" fmla="*/ 704850 w 793750"/>
                    <a:gd name="connsiteY2" fmla="*/ 0 h 224366"/>
                    <a:gd name="connsiteX3" fmla="*/ 793750 w 793750"/>
                    <a:gd name="connsiteY3" fmla="*/ 88900 h 224366"/>
                    <a:gd name="connsiteX4" fmla="*/ 0 w 793750"/>
                    <a:gd name="connsiteY4" fmla="*/ 88900 h 224366"/>
                    <a:gd name="connsiteX0" fmla="*/ 0 w 793750"/>
                    <a:gd name="connsiteY0" fmla="*/ 88900 h 272907"/>
                    <a:gd name="connsiteX1" fmla="*/ 88900 w 793750"/>
                    <a:gd name="connsiteY1" fmla="*/ 0 h 272907"/>
                    <a:gd name="connsiteX2" fmla="*/ 704850 w 793750"/>
                    <a:gd name="connsiteY2" fmla="*/ 0 h 272907"/>
                    <a:gd name="connsiteX3" fmla="*/ 793750 w 793750"/>
                    <a:gd name="connsiteY3" fmla="*/ 88900 h 272907"/>
                    <a:gd name="connsiteX4" fmla="*/ 0 w 793750"/>
                    <a:gd name="connsiteY4" fmla="*/ 88900 h 272907"/>
                    <a:gd name="connsiteX0" fmla="*/ 0 w 793750"/>
                    <a:gd name="connsiteY0" fmla="*/ 88900 h 272907"/>
                    <a:gd name="connsiteX1" fmla="*/ 88900 w 793750"/>
                    <a:gd name="connsiteY1" fmla="*/ 0 h 272907"/>
                    <a:gd name="connsiteX2" fmla="*/ 704850 w 793750"/>
                    <a:gd name="connsiteY2" fmla="*/ 0 h 272907"/>
                    <a:gd name="connsiteX3" fmla="*/ 793750 w 793750"/>
                    <a:gd name="connsiteY3" fmla="*/ 88900 h 272907"/>
                    <a:gd name="connsiteX4" fmla="*/ 0 w 793750"/>
                    <a:gd name="connsiteY4" fmla="*/ 88900 h 272907"/>
                    <a:gd name="connsiteX0" fmla="*/ 0 w 793750"/>
                    <a:gd name="connsiteY0" fmla="*/ 88900 h 272907"/>
                    <a:gd name="connsiteX1" fmla="*/ 88900 w 793750"/>
                    <a:gd name="connsiteY1" fmla="*/ 0 h 272907"/>
                    <a:gd name="connsiteX2" fmla="*/ 704850 w 793750"/>
                    <a:gd name="connsiteY2" fmla="*/ 0 h 272907"/>
                    <a:gd name="connsiteX3" fmla="*/ 793750 w 793750"/>
                    <a:gd name="connsiteY3" fmla="*/ 88900 h 272907"/>
                    <a:gd name="connsiteX4" fmla="*/ 0 w 793750"/>
                    <a:gd name="connsiteY4" fmla="*/ 88900 h 272907"/>
                    <a:gd name="connsiteX0" fmla="*/ 0 w 793750"/>
                    <a:gd name="connsiteY0" fmla="*/ 88900 h 272907"/>
                    <a:gd name="connsiteX1" fmla="*/ 88900 w 793750"/>
                    <a:gd name="connsiteY1" fmla="*/ 0 h 272907"/>
                    <a:gd name="connsiteX2" fmla="*/ 704850 w 793750"/>
                    <a:gd name="connsiteY2" fmla="*/ 0 h 272907"/>
                    <a:gd name="connsiteX3" fmla="*/ 793750 w 793750"/>
                    <a:gd name="connsiteY3" fmla="*/ 88900 h 272907"/>
                    <a:gd name="connsiteX4" fmla="*/ 0 w 793750"/>
                    <a:gd name="connsiteY4" fmla="*/ 88900 h 272907"/>
                    <a:gd name="connsiteX0" fmla="*/ 0 w 793750"/>
                    <a:gd name="connsiteY0" fmla="*/ 88900 h 272907"/>
                    <a:gd name="connsiteX1" fmla="*/ 88900 w 793750"/>
                    <a:gd name="connsiteY1" fmla="*/ 0 h 272907"/>
                    <a:gd name="connsiteX2" fmla="*/ 704850 w 793750"/>
                    <a:gd name="connsiteY2" fmla="*/ 0 h 272907"/>
                    <a:gd name="connsiteX3" fmla="*/ 793750 w 793750"/>
                    <a:gd name="connsiteY3" fmla="*/ 88900 h 272907"/>
                    <a:gd name="connsiteX4" fmla="*/ 0 w 793750"/>
                    <a:gd name="connsiteY4" fmla="*/ 88900 h 272907"/>
                    <a:gd name="connsiteX0" fmla="*/ 0 w 793750"/>
                    <a:gd name="connsiteY0" fmla="*/ 88900 h 272907"/>
                    <a:gd name="connsiteX1" fmla="*/ 88900 w 793750"/>
                    <a:gd name="connsiteY1" fmla="*/ 0 h 272907"/>
                    <a:gd name="connsiteX2" fmla="*/ 704850 w 793750"/>
                    <a:gd name="connsiteY2" fmla="*/ 0 h 272907"/>
                    <a:gd name="connsiteX3" fmla="*/ 793750 w 793750"/>
                    <a:gd name="connsiteY3" fmla="*/ 88900 h 272907"/>
                    <a:gd name="connsiteX4" fmla="*/ 0 w 793750"/>
                    <a:gd name="connsiteY4" fmla="*/ 88900 h 272907"/>
                    <a:gd name="connsiteX0" fmla="*/ 0 w 793750"/>
                    <a:gd name="connsiteY0" fmla="*/ 88900 h 272907"/>
                    <a:gd name="connsiteX1" fmla="*/ 88900 w 793750"/>
                    <a:gd name="connsiteY1" fmla="*/ 0 h 272907"/>
                    <a:gd name="connsiteX2" fmla="*/ 704850 w 793750"/>
                    <a:gd name="connsiteY2" fmla="*/ 0 h 272907"/>
                    <a:gd name="connsiteX3" fmla="*/ 793750 w 793750"/>
                    <a:gd name="connsiteY3" fmla="*/ 88900 h 272907"/>
                    <a:gd name="connsiteX4" fmla="*/ 0 w 793750"/>
                    <a:gd name="connsiteY4" fmla="*/ 88900 h 272907"/>
                    <a:gd name="connsiteX0" fmla="*/ 0 w 793750"/>
                    <a:gd name="connsiteY0" fmla="*/ 88900 h 272907"/>
                    <a:gd name="connsiteX1" fmla="*/ 88900 w 793750"/>
                    <a:gd name="connsiteY1" fmla="*/ 0 h 272907"/>
                    <a:gd name="connsiteX2" fmla="*/ 704850 w 793750"/>
                    <a:gd name="connsiteY2" fmla="*/ 0 h 272907"/>
                    <a:gd name="connsiteX3" fmla="*/ 793750 w 793750"/>
                    <a:gd name="connsiteY3" fmla="*/ 88900 h 272907"/>
                    <a:gd name="connsiteX4" fmla="*/ 0 w 793750"/>
                    <a:gd name="connsiteY4" fmla="*/ 88900 h 272907"/>
                    <a:gd name="connsiteX0" fmla="*/ 0 w 765762"/>
                    <a:gd name="connsiteY0" fmla="*/ 120490 h 286450"/>
                    <a:gd name="connsiteX1" fmla="*/ 60912 w 765762"/>
                    <a:gd name="connsiteY1" fmla="*/ 0 h 286450"/>
                    <a:gd name="connsiteX2" fmla="*/ 676862 w 765762"/>
                    <a:gd name="connsiteY2" fmla="*/ 0 h 286450"/>
                    <a:gd name="connsiteX3" fmla="*/ 765762 w 765762"/>
                    <a:gd name="connsiteY3" fmla="*/ 88900 h 286450"/>
                    <a:gd name="connsiteX4" fmla="*/ 0 w 765762"/>
                    <a:gd name="connsiteY4" fmla="*/ 120490 h 286450"/>
                    <a:gd name="connsiteX0" fmla="*/ 0 w 765762"/>
                    <a:gd name="connsiteY0" fmla="*/ 120490 h 286450"/>
                    <a:gd name="connsiteX1" fmla="*/ 76461 w 765762"/>
                    <a:gd name="connsiteY1" fmla="*/ 28718 h 286450"/>
                    <a:gd name="connsiteX2" fmla="*/ 676862 w 765762"/>
                    <a:gd name="connsiteY2" fmla="*/ 0 h 286450"/>
                    <a:gd name="connsiteX3" fmla="*/ 765762 w 765762"/>
                    <a:gd name="connsiteY3" fmla="*/ 88900 h 286450"/>
                    <a:gd name="connsiteX4" fmla="*/ 0 w 765762"/>
                    <a:gd name="connsiteY4" fmla="*/ 120490 h 286450"/>
                    <a:gd name="connsiteX0" fmla="*/ 0 w 740884"/>
                    <a:gd name="connsiteY0" fmla="*/ 120490 h 296117"/>
                    <a:gd name="connsiteX1" fmla="*/ 76461 w 740884"/>
                    <a:gd name="connsiteY1" fmla="*/ 28718 h 296117"/>
                    <a:gd name="connsiteX2" fmla="*/ 676862 w 740884"/>
                    <a:gd name="connsiteY2" fmla="*/ 0 h 296117"/>
                    <a:gd name="connsiteX3" fmla="*/ 740884 w 740884"/>
                    <a:gd name="connsiteY3" fmla="*/ 106131 h 296117"/>
                    <a:gd name="connsiteX4" fmla="*/ 0 w 740884"/>
                    <a:gd name="connsiteY4" fmla="*/ 120490 h 296117"/>
                    <a:gd name="connsiteX0" fmla="*/ 0 w 740884"/>
                    <a:gd name="connsiteY0" fmla="*/ 91772 h 267399"/>
                    <a:gd name="connsiteX1" fmla="*/ 76461 w 740884"/>
                    <a:gd name="connsiteY1" fmla="*/ 0 h 267399"/>
                    <a:gd name="connsiteX2" fmla="*/ 658203 w 740884"/>
                    <a:gd name="connsiteY2" fmla="*/ 2872 h 267399"/>
                    <a:gd name="connsiteX3" fmla="*/ 740884 w 740884"/>
                    <a:gd name="connsiteY3" fmla="*/ 77413 h 267399"/>
                    <a:gd name="connsiteX4" fmla="*/ 0 w 740884"/>
                    <a:gd name="connsiteY4" fmla="*/ 91772 h 267399"/>
                    <a:gd name="connsiteX0" fmla="*/ 0 w 740884"/>
                    <a:gd name="connsiteY0" fmla="*/ 91772 h 219425"/>
                    <a:gd name="connsiteX1" fmla="*/ 76461 w 740884"/>
                    <a:gd name="connsiteY1" fmla="*/ 0 h 219425"/>
                    <a:gd name="connsiteX2" fmla="*/ 658203 w 740884"/>
                    <a:gd name="connsiteY2" fmla="*/ 2872 h 219425"/>
                    <a:gd name="connsiteX3" fmla="*/ 740884 w 740884"/>
                    <a:gd name="connsiteY3" fmla="*/ 77413 h 219425"/>
                    <a:gd name="connsiteX4" fmla="*/ 0 w 740884"/>
                    <a:gd name="connsiteY4" fmla="*/ 91772 h 219425"/>
                    <a:gd name="connsiteX0" fmla="*/ 0 w 740884"/>
                    <a:gd name="connsiteY0" fmla="*/ 91772 h 211728"/>
                    <a:gd name="connsiteX1" fmla="*/ 76461 w 740884"/>
                    <a:gd name="connsiteY1" fmla="*/ 0 h 211728"/>
                    <a:gd name="connsiteX2" fmla="*/ 658203 w 740884"/>
                    <a:gd name="connsiteY2" fmla="*/ 2872 h 211728"/>
                    <a:gd name="connsiteX3" fmla="*/ 740884 w 740884"/>
                    <a:gd name="connsiteY3" fmla="*/ 77413 h 211728"/>
                    <a:gd name="connsiteX4" fmla="*/ 0 w 740884"/>
                    <a:gd name="connsiteY4" fmla="*/ 91772 h 211728"/>
                    <a:gd name="connsiteX0" fmla="*/ 0 w 740884"/>
                    <a:gd name="connsiteY0" fmla="*/ 91772 h 217205"/>
                    <a:gd name="connsiteX1" fmla="*/ 76461 w 740884"/>
                    <a:gd name="connsiteY1" fmla="*/ 0 h 217205"/>
                    <a:gd name="connsiteX2" fmla="*/ 658203 w 740884"/>
                    <a:gd name="connsiteY2" fmla="*/ 2872 h 217205"/>
                    <a:gd name="connsiteX3" fmla="*/ 740884 w 740884"/>
                    <a:gd name="connsiteY3" fmla="*/ 77413 h 217205"/>
                    <a:gd name="connsiteX4" fmla="*/ 0 w 740884"/>
                    <a:gd name="connsiteY4" fmla="*/ 91772 h 217205"/>
                    <a:gd name="connsiteX0" fmla="*/ 0 w 740884"/>
                    <a:gd name="connsiteY0" fmla="*/ 91772 h 218254"/>
                    <a:gd name="connsiteX1" fmla="*/ 76461 w 740884"/>
                    <a:gd name="connsiteY1" fmla="*/ 0 h 218254"/>
                    <a:gd name="connsiteX2" fmla="*/ 658203 w 740884"/>
                    <a:gd name="connsiteY2" fmla="*/ 2872 h 218254"/>
                    <a:gd name="connsiteX3" fmla="*/ 740884 w 740884"/>
                    <a:gd name="connsiteY3" fmla="*/ 77413 h 218254"/>
                    <a:gd name="connsiteX4" fmla="*/ 0 w 740884"/>
                    <a:gd name="connsiteY4" fmla="*/ 91772 h 218254"/>
                    <a:gd name="connsiteX0" fmla="*/ 0 w 740884"/>
                    <a:gd name="connsiteY0" fmla="*/ 91772 h 218254"/>
                    <a:gd name="connsiteX1" fmla="*/ 76461 w 740884"/>
                    <a:gd name="connsiteY1" fmla="*/ 0 h 218254"/>
                    <a:gd name="connsiteX2" fmla="*/ 658203 w 740884"/>
                    <a:gd name="connsiteY2" fmla="*/ 2872 h 218254"/>
                    <a:gd name="connsiteX3" fmla="*/ 740884 w 740884"/>
                    <a:gd name="connsiteY3" fmla="*/ 77413 h 218254"/>
                    <a:gd name="connsiteX4" fmla="*/ 0 w 740884"/>
                    <a:gd name="connsiteY4" fmla="*/ 91772 h 218254"/>
                    <a:gd name="connsiteX0" fmla="*/ 0 w 740884"/>
                    <a:gd name="connsiteY0" fmla="*/ 91772 h 218254"/>
                    <a:gd name="connsiteX1" fmla="*/ 76461 w 740884"/>
                    <a:gd name="connsiteY1" fmla="*/ 0 h 218254"/>
                    <a:gd name="connsiteX2" fmla="*/ 658203 w 740884"/>
                    <a:gd name="connsiteY2" fmla="*/ 2872 h 218254"/>
                    <a:gd name="connsiteX3" fmla="*/ 740884 w 740884"/>
                    <a:gd name="connsiteY3" fmla="*/ 77413 h 218254"/>
                    <a:gd name="connsiteX4" fmla="*/ 0 w 740884"/>
                    <a:gd name="connsiteY4" fmla="*/ 91772 h 218254"/>
                    <a:gd name="connsiteX0" fmla="*/ 0 w 740884"/>
                    <a:gd name="connsiteY0" fmla="*/ 91772 h 218254"/>
                    <a:gd name="connsiteX1" fmla="*/ 76461 w 740884"/>
                    <a:gd name="connsiteY1" fmla="*/ 0 h 218254"/>
                    <a:gd name="connsiteX2" fmla="*/ 658203 w 740884"/>
                    <a:gd name="connsiteY2" fmla="*/ 2872 h 218254"/>
                    <a:gd name="connsiteX3" fmla="*/ 740884 w 740884"/>
                    <a:gd name="connsiteY3" fmla="*/ 77413 h 218254"/>
                    <a:gd name="connsiteX4" fmla="*/ 0 w 740884"/>
                    <a:gd name="connsiteY4" fmla="*/ 91772 h 218254"/>
                    <a:gd name="connsiteX0" fmla="*/ 0 w 740884"/>
                    <a:gd name="connsiteY0" fmla="*/ 91772 h 218254"/>
                    <a:gd name="connsiteX1" fmla="*/ 76461 w 740884"/>
                    <a:gd name="connsiteY1" fmla="*/ 0 h 218254"/>
                    <a:gd name="connsiteX2" fmla="*/ 658203 w 740884"/>
                    <a:gd name="connsiteY2" fmla="*/ 2872 h 218254"/>
                    <a:gd name="connsiteX3" fmla="*/ 740884 w 740884"/>
                    <a:gd name="connsiteY3" fmla="*/ 77413 h 218254"/>
                    <a:gd name="connsiteX4" fmla="*/ 0 w 740884"/>
                    <a:gd name="connsiteY4" fmla="*/ 91772 h 218254"/>
                    <a:gd name="connsiteX0" fmla="*/ 0 w 740884"/>
                    <a:gd name="connsiteY0" fmla="*/ 91772 h 222496"/>
                    <a:gd name="connsiteX1" fmla="*/ 76461 w 740884"/>
                    <a:gd name="connsiteY1" fmla="*/ 0 h 222496"/>
                    <a:gd name="connsiteX2" fmla="*/ 658203 w 740884"/>
                    <a:gd name="connsiteY2" fmla="*/ 2872 h 222496"/>
                    <a:gd name="connsiteX3" fmla="*/ 740884 w 740884"/>
                    <a:gd name="connsiteY3" fmla="*/ 77413 h 222496"/>
                    <a:gd name="connsiteX4" fmla="*/ 0 w 740884"/>
                    <a:gd name="connsiteY4" fmla="*/ 91772 h 222496"/>
                    <a:gd name="connsiteX0" fmla="*/ 0 w 740884"/>
                    <a:gd name="connsiteY0" fmla="*/ 91772 h 222496"/>
                    <a:gd name="connsiteX1" fmla="*/ 76461 w 740884"/>
                    <a:gd name="connsiteY1" fmla="*/ 0 h 222496"/>
                    <a:gd name="connsiteX2" fmla="*/ 658203 w 740884"/>
                    <a:gd name="connsiteY2" fmla="*/ 2872 h 222496"/>
                    <a:gd name="connsiteX3" fmla="*/ 740884 w 740884"/>
                    <a:gd name="connsiteY3" fmla="*/ 77413 h 222496"/>
                    <a:gd name="connsiteX4" fmla="*/ 0 w 740884"/>
                    <a:gd name="connsiteY4" fmla="*/ 91772 h 222496"/>
                    <a:gd name="connsiteX0" fmla="*/ 0 w 740884"/>
                    <a:gd name="connsiteY0" fmla="*/ 91772 h 222496"/>
                    <a:gd name="connsiteX1" fmla="*/ 76461 w 740884"/>
                    <a:gd name="connsiteY1" fmla="*/ 0 h 222496"/>
                    <a:gd name="connsiteX2" fmla="*/ 658203 w 740884"/>
                    <a:gd name="connsiteY2" fmla="*/ 2872 h 222496"/>
                    <a:gd name="connsiteX3" fmla="*/ 740884 w 740884"/>
                    <a:gd name="connsiteY3" fmla="*/ 77413 h 222496"/>
                    <a:gd name="connsiteX4" fmla="*/ 0 w 740884"/>
                    <a:gd name="connsiteY4" fmla="*/ 91772 h 222496"/>
                    <a:gd name="connsiteX0" fmla="*/ 0 w 740884"/>
                    <a:gd name="connsiteY0" fmla="*/ 91772 h 222496"/>
                    <a:gd name="connsiteX1" fmla="*/ 76461 w 740884"/>
                    <a:gd name="connsiteY1" fmla="*/ 0 h 222496"/>
                    <a:gd name="connsiteX2" fmla="*/ 658203 w 740884"/>
                    <a:gd name="connsiteY2" fmla="*/ 2872 h 222496"/>
                    <a:gd name="connsiteX3" fmla="*/ 740884 w 740884"/>
                    <a:gd name="connsiteY3" fmla="*/ 77413 h 222496"/>
                    <a:gd name="connsiteX4" fmla="*/ 0 w 740884"/>
                    <a:gd name="connsiteY4" fmla="*/ 91772 h 222496"/>
                    <a:gd name="connsiteX0" fmla="*/ 0 w 740884"/>
                    <a:gd name="connsiteY0" fmla="*/ 91772 h 219262"/>
                    <a:gd name="connsiteX1" fmla="*/ 76461 w 740884"/>
                    <a:gd name="connsiteY1" fmla="*/ 0 h 219262"/>
                    <a:gd name="connsiteX2" fmla="*/ 658203 w 740884"/>
                    <a:gd name="connsiteY2" fmla="*/ 2872 h 219262"/>
                    <a:gd name="connsiteX3" fmla="*/ 740884 w 740884"/>
                    <a:gd name="connsiteY3" fmla="*/ 77413 h 219262"/>
                    <a:gd name="connsiteX4" fmla="*/ 0 w 740884"/>
                    <a:gd name="connsiteY4" fmla="*/ 91772 h 219262"/>
                    <a:gd name="connsiteX0" fmla="*/ 0 w 740884"/>
                    <a:gd name="connsiteY0" fmla="*/ 91772 h 219262"/>
                    <a:gd name="connsiteX1" fmla="*/ 76461 w 740884"/>
                    <a:gd name="connsiteY1" fmla="*/ 0 h 219262"/>
                    <a:gd name="connsiteX2" fmla="*/ 658203 w 740884"/>
                    <a:gd name="connsiteY2" fmla="*/ 2872 h 219262"/>
                    <a:gd name="connsiteX3" fmla="*/ 740884 w 740884"/>
                    <a:gd name="connsiteY3" fmla="*/ 77413 h 219262"/>
                    <a:gd name="connsiteX4" fmla="*/ 0 w 740884"/>
                    <a:gd name="connsiteY4" fmla="*/ 91772 h 219262"/>
                    <a:gd name="connsiteX0" fmla="*/ 0 w 740884"/>
                    <a:gd name="connsiteY0" fmla="*/ 88900 h 216390"/>
                    <a:gd name="connsiteX1" fmla="*/ 85790 w 740884"/>
                    <a:gd name="connsiteY1" fmla="*/ 2872 h 216390"/>
                    <a:gd name="connsiteX2" fmla="*/ 658203 w 740884"/>
                    <a:gd name="connsiteY2" fmla="*/ 0 h 216390"/>
                    <a:gd name="connsiteX3" fmla="*/ 740884 w 740884"/>
                    <a:gd name="connsiteY3" fmla="*/ 74541 h 216390"/>
                    <a:gd name="connsiteX4" fmla="*/ 0 w 740884"/>
                    <a:gd name="connsiteY4" fmla="*/ 88900 h 216390"/>
                    <a:gd name="connsiteX0" fmla="*/ 0 w 740884"/>
                    <a:gd name="connsiteY0" fmla="*/ 86028 h 213518"/>
                    <a:gd name="connsiteX1" fmla="*/ 85790 w 740884"/>
                    <a:gd name="connsiteY1" fmla="*/ 0 h 213518"/>
                    <a:gd name="connsiteX2" fmla="*/ 651984 w 740884"/>
                    <a:gd name="connsiteY2" fmla="*/ 0 h 213518"/>
                    <a:gd name="connsiteX3" fmla="*/ 740884 w 740884"/>
                    <a:gd name="connsiteY3" fmla="*/ 71669 h 213518"/>
                    <a:gd name="connsiteX4" fmla="*/ 0 w 740884"/>
                    <a:gd name="connsiteY4" fmla="*/ 86028 h 213518"/>
                    <a:gd name="connsiteX0" fmla="*/ 0 w 740884"/>
                    <a:gd name="connsiteY0" fmla="*/ 86028 h 213518"/>
                    <a:gd name="connsiteX1" fmla="*/ 85790 w 740884"/>
                    <a:gd name="connsiteY1" fmla="*/ 0 h 213518"/>
                    <a:gd name="connsiteX2" fmla="*/ 651984 w 740884"/>
                    <a:gd name="connsiteY2" fmla="*/ 0 h 213518"/>
                    <a:gd name="connsiteX3" fmla="*/ 740884 w 740884"/>
                    <a:gd name="connsiteY3" fmla="*/ 71669 h 213518"/>
                    <a:gd name="connsiteX4" fmla="*/ 0 w 740884"/>
                    <a:gd name="connsiteY4" fmla="*/ 86028 h 213518"/>
                    <a:gd name="connsiteX0" fmla="*/ 0 w 740884"/>
                    <a:gd name="connsiteY0" fmla="*/ 86028 h 213518"/>
                    <a:gd name="connsiteX1" fmla="*/ 85790 w 740884"/>
                    <a:gd name="connsiteY1" fmla="*/ 0 h 213518"/>
                    <a:gd name="connsiteX2" fmla="*/ 651984 w 740884"/>
                    <a:gd name="connsiteY2" fmla="*/ 0 h 213518"/>
                    <a:gd name="connsiteX3" fmla="*/ 740884 w 740884"/>
                    <a:gd name="connsiteY3" fmla="*/ 71669 h 213518"/>
                    <a:gd name="connsiteX4" fmla="*/ 0 w 740884"/>
                    <a:gd name="connsiteY4" fmla="*/ 86028 h 213518"/>
                    <a:gd name="connsiteX0" fmla="*/ 0 w 740884"/>
                    <a:gd name="connsiteY0" fmla="*/ 91772 h 219262"/>
                    <a:gd name="connsiteX1" fmla="*/ 85790 w 740884"/>
                    <a:gd name="connsiteY1" fmla="*/ 5744 h 219262"/>
                    <a:gd name="connsiteX2" fmla="*/ 658203 w 740884"/>
                    <a:gd name="connsiteY2" fmla="*/ 0 h 219262"/>
                    <a:gd name="connsiteX3" fmla="*/ 740884 w 740884"/>
                    <a:gd name="connsiteY3" fmla="*/ 77413 h 219262"/>
                    <a:gd name="connsiteX4" fmla="*/ 0 w 740884"/>
                    <a:gd name="connsiteY4" fmla="*/ 91772 h 219262"/>
                    <a:gd name="connsiteX0" fmla="*/ 0 w 740884"/>
                    <a:gd name="connsiteY0" fmla="*/ 91772 h 219262"/>
                    <a:gd name="connsiteX1" fmla="*/ 85790 w 740884"/>
                    <a:gd name="connsiteY1" fmla="*/ 5744 h 219262"/>
                    <a:gd name="connsiteX2" fmla="*/ 658203 w 740884"/>
                    <a:gd name="connsiteY2" fmla="*/ 0 h 219262"/>
                    <a:gd name="connsiteX3" fmla="*/ 740884 w 740884"/>
                    <a:gd name="connsiteY3" fmla="*/ 77413 h 219262"/>
                    <a:gd name="connsiteX4" fmla="*/ 0 w 740884"/>
                    <a:gd name="connsiteY4" fmla="*/ 91772 h 219262"/>
                    <a:gd name="connsiteX0" fmla="*/ 0 w 740884"/>
                    <a:gd name="connsiteY0" fmla="*/ 91772 h 219262"/>
                    <a:gd name="connsiteX1" fmla="*/ 85790 w 740884"/>
                    <a:gd name="connsiteY1" fmla="*/ 5744 h 219262"/>
                    <a:gd name="connsiteX2" fmla="*/ 658203 w 740884"/>
                    <a:gd name="connsiteY2" fmla="*/ 0 h 219262"/>
                    <a:gd name="connsiteX3" fmla="*/ 740884 w 740884"/>
                    <a:gd name="connsiteY3" fmla="*/ 77413 h 219262"/>
                    <a:gd name="connsiteX4" fmla="*/ 0 w 740884"/>
                    <a:gd name="connsiteY4" fmla="*/ 91772 h 219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0884" h="219262">
                      <a:moveTo>
                        <a:pt x="0" y="91772"/>
                      </a:moveTo>
                      <a:cubicBezTo>
                        <a:pt x="0" y="42674"/>
                        <a:pt x="36692" y="5744"/>
                        <a:pt x="85790" y="5744"/>
                      </a:cubicBezTo>
                      <a:cubicBezTo>
                        <a:pt x="248745" y="134883"/>
                        <a:pt x="515734" y="167526"/>
                        <a:pt x="658203" y="0"/>
                      </a:cubicBezTo>
                      <a:cubicBezTo>
                        <a:pt x="707301" y="0"/>
                        <a:pt x="740884" y="28315"/>
                        <a:pt x="740884" y="77413"/>
                      </a:cubicBezTo>
                      <a:cubicBezTo>
                        <a:pt x="582293" y="273084"/>
                        <a:pt x="253688" y="255213"/>
                        <a:pt x="0" y="91772"/>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solidFill>
                      <a:schemeClr val="tx1">
                        <a:lumMod val="75000"/>
                        <a:lumOff val="25000"/>
                      </a:schemeClr>
                    </a:solidFill>
                    <a:latin typeface="Segoe UI" panose="020B0502040204020203" pitchFamily="34" charset="0"/>
                    <a:cs typeface="Segoe UI" panose="020B0502040204020203" pitchFamily="34" charset="0"/>
                  </a:endParaRPr>
                </a:p>
              </p:txBody>
            </p:sp>
          </p:grpSp>
          <p:grpSp>
            <p:nvGrpSpPr>
              <p:cNvPr id="34" name="Group 33">
                <a:extLst>
                  <a:ext uri="{FF2B5EF4-FFF2-40B4-BE49-F238E27FC236}">
                    <a16:creationId xmlns:a16="http://schemas.microsoft.com/office/drawing/2014/main" id="{73BC44F9-FF27-8749-A02C-06147DB031A5}"/>
                  </a:ext>
                </a:extLst>
              </p:cNvPr>
              <p:cNvGrpSpPr/>
              <p:nvPr/>
            </p:nvGrpSpPr>
            <p:grpSpPr>
              <a:xfrm>
                <a:off x="2750060" y="-1957454"/>
                <a:ext cx="5860539" cy="11062122"/>
                <a:chOff x="2750070" y="-1957454"/>
                <a:chExt cx="5860529" cy="11062127"/>
              </a:xfrm>
              <a:grpFill/>
            </p:grpSpPr>
            <p:sp>
              <p:nvSpPr>
                <p:cNvPr id="35" name="Freeform 46">
                  <a:extLst>
                    <a:ext uri="{FF2B5EF4-FFF2-40B4-BE49-F238E27FC236}">
                      <a16:creationId xmlns:a16="http://schemas.microsoft.com/office/drawing/2014/main" id="{02C73332-3C58-5774-2DD5-F94F791DDA2A}"/>
                    </a:ext>
                  </a:extLst>
                </p:cNvPr>
                <p:cNvSpPr/>
                <p:nvPr/>
              </p:nvSpPr>
              <p:spPr>
                <a:xfrm>
                  <a:off x="3967259" y="1583739"/>
                  <a:ext cx="4643340" cy="7520934"/>
                </a:xfrm>
                <a:custGeom>
                  <a:avLst/>
                  <a:gdLst>
                    <a:gd name="connsiteX0" fmla="*/ 2012475 w 4643340"/>
                    <a:gd name="connsiteY0" fmla="*/ 0 h 7520934"/>
                    <a:gd name="connsiteX1" fmla="*/ 4642821 w 4643340"/>
                    <a:gd name="connsiteY1" fmla="*/ 4753044 h 7520934"/>
                    <a:gd name="connsiteX2" fmla="*/ 2182760 w 4643340"/>
                    <a:gd name="connsiteY2" fmla="*/ 7494905 h 7520934"/>
                    <a:gd name="connsiteX3" fmla="*/ 2077833 w 4643340"/>
                    <a:gd name="connsiteY3" fmla="*/ 7520934 h 7520934"/>
                    <a:gd name="connsiteX4" fmla="*/ 2103415 w 4643340"/>
                    <a:gd name="connsiteY4" fmla="*/ 7485307 h 7520934"/>
                    <a:gd name="connsiteX5" fmla="*/ 2585356 w 4643340"/>
                    <a:gd name="connsiteY5" fmla="*/ 5910453 h 7520934"/>
                    <a:gd name="connsiteX6" fmla="*/ 39718 w 4643340"/>
                    <a:gd name="connsiteY6" fmla="*/ 869838 h 7520934"/>
                    <a:gd name="connsiteX7" fmla="*/ 0 w 4643340"/>
                    <a:gd name="connsiteY7" fmla="*/ 839233 h 7520934"/>
                    <a:gd name="connsiteX8" fmla="*/ 25547 w 4643340"/>
                    <a:gd name="connsiteY8" fmla="*/ 818829 h 7520934"/>
                    <a:gd name="connsiteX9" fmla="*/ 249588 w 4643340"/>
                    <a:gd name="connsiteY9" fmla="*/ 596121 h 7520934"/>
                    <a:gd name="connsiteX10" fmla="*/ 271062 w 4643340"/>
                    <a:gd name="connsiteY10" fmla="*/ 541092 h 7520934"/>
                    <a:gd name="connsiteX11" fmla="*/ 279069 w 4643340"/>
                    <a:gd name="connsiteY11" fmla="*/ 506301 h 7520934"/>
                    <a:gd name="connsiteX12" fmla="*/ 350141 w 4643340"/>
                    <a:gd name="connsiteY12" fmla="*/ 521584 h 7520934"/>
                    <a:gd name="connsiteX13" fmla="*/ 2012475 w 4643340"/>
                    <a:gd name="connsiteY13" fmla="*/ 0 h 7520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43340" h="7520934">
                      <a:moveTo>
                        <a:pt x="2012475" y="0"/>
                      </a:moveTo>
                      <a:cubicBezTo>
                        <a:pt x="2944232" y="782560"/>
                        <a:pt x="4677743" y="1635341"/>
                        <a:pt x="4642821" y="4753044"/>
                      </a:cubicBezTo>
                      <a:cubicBezTo>
                        <a:pt x="4626869" y="6177460"/>
                        <a:pt x="3547051" y="7105962"/>
                        <a:pt x="2182760" y="7494905"/>
                      </a:cubicBezTo>
                      <a:lnTo>
                        <a:pt x="2077833" y="7520934"/>
                      </a:lnTo>
                      <a:lnTo>
                        <a:pt x="2103415" y="7485307"/>
                      </a:lnTo>
                      <a:cubicBezTo>
                        <a:pt x="2402425" y="7041051"/>
                        <a:pt x="2578583" y="6515231"/>
                        <a:pt x="2585356" y="5910453"/>
                      </a:cubicBezTo>
                      <a:cubicBezTo>
                        <a:pt x="2619953" y="2821789"/>
                        <a:pt x="1121584" y="1696473"/>
                        <a:pt x="39718" y="869838"/>
                      </a:cubicBezTo>
                      <a:lnTo>
                        <a:pt x="0" y="839233"/>
                      </a:lnTo>
                      <a:lnTo>
                        <a:pt x="25547" y="818829"/>
                      </a:lnTo>
                      <a:cubicBezTo>
                        <a:pt x="103178" y="749639"/>
                        <a:pt x="193882" y="714275"/>
                        <a:pt x="249588" y="596121"/>
                      </a:cubicBezTo>
                      <a:cubicBezTo>
                        <a:pt x="258344" y="577550"/>
                        <a:pt x="265466" y="559196"/>
                        <a:pt x="271062" y="541092"/>
                      </a:cubicBezTo>
                      <a:lnTo>
                        <a:pt x="279069" y="506301"/>
                      </a:lnTo>
                      <a:lnTo>
                        <a:pt x="350141" y="521584"/>
                      </a:lnTo>
                      <a:cubicBezTo>
                        <a:pt x="934623" y="624205"/>
                        <a:pt x="1578276" y="525752"/>
                        <a:pt x="2012475" y="0"/>
                      </a:cubicBezTo>
                      <a:close/>
                    </a:path>
                  </a:pathLst>
                </a:custGeom>
                <a:grpFill/>
                <a:ln w="12700" cap="flat" cmpd="sng" algn="ctr">
                  <a:noFill/>
                  <a:prstDash val="solid"/>
                  <a:miter lim="800000"/>
                </a:ln>
                <a:effectLst/>
              </p:spPr>
              <p:txBody>
                <a:bodyPr wrap="square" rtlCol="0" anchor="ctr">
                  <a:noAutofit/>
                </a:bodyPr>
                <a:lstStyle/>
                <a:p>
                  <a:pPr algn="ctr"/>
                  <a:endParaRPr lang="en-US" sz="1500" kern="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37" name="Freeform 48">
                  <a:extLst>
                    <a:ext uri="{FF2B5EF4-FFF2-40B4-BE49-F238E27FC236}">
                      <a16:creationId xmlns:a16="http://schemas.microsoft.com/office/drawing/2014/main" id="{3A1E7BBF-E6CE-056E-AA6D-F47ADBDA105D}"/>
                    </a:ext>
                  </a:extLst>
                </p:cNvPr>
                <p:cNvSpPr/>
                <p:nvPr/>
              </p:nvSpPr>
              <p:spPr>
                <a:xfrm>
                  <a:off x="3842915" y="714039"/>
                  <a:ext cx="2311889" cy="1011803"/>
                </a:xfrm>
                <a:custGeom>
                  <a:avLst/>
                  <a:gdLst>
                    <a:gd name="connsiteX0" fmla="*/ 1959545 w 2311889"/>
                    <a:gd name="connsiteY0" fmla="*/ 0 h 1011803"/>
                    <a:gd name="connsiteX1" fmla="*/ 2311889 w 2311889"/>
                    <a:gd name="connsiteY1" fmla="*/ 357228 h 1011803"/>
                    <a:gd name="connsiteX2" fmla="*/ 8991 w 2311889"/>
                    <a:gd name="connsiteY2" fmla="*/ 858293 h 1011803"/>
                    <a:gd name="connsiteX3" fmla="*/ 0 w 2311889"/>
                    <a:gd name="connsiteY3" fmla="*/ 854873 h 1011803"/>
                    <a:gd name="connsiteX4" fmla="*/ 37592 w 2311889"/>
                    <a:gd name="connsiteY4" fmla="*/ 813165 h 1011803"/>
                    <a:gd name="connsiteX5" fmla="*/ 188604 w 2311889"/>
                    <a:gd name="connsiteY5" fmla="*/ 497664 h 1011803"/>
                    <a:gd name="connsiteX6" fmla="*/ 196550 w 2311889"/>
                    <a:gd name="connsiteY6" fmla="*/ 413565 h 1011803"/>
                    <a:gd name="connsiteX7" fmla="*/ 271406 w 2311889"/>
                    <a:gd name="connsiteY7" fmla="*/ 440127 h 1011803"/>
                    <a:gd name="connsiteX8" fmla="*/ 1959545 w 2311889"/>
                    <a:gd name="connsiteY8" fmla="*/ 0 h 1011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1889" h="1011803">
                      <a:moveTo>
                        <a:pt x="1959545" y="0"/>
                      </a:moveTo>
                      <a:cubicBezTo>
                        <a:pt x="2168776" y="0"/>
                        <a:pt x="2311889" y="130662"/>
                        <a:pt x="2311889" y="357228"/>
                      </a:cubicBezTo>
                      <a:cubicBezTo>
                        <a:pt x="1805015" y="1034431"/>
                        <a:pt x="890602" y="1157344"/>
                        <a:pt x="8991" y="858293"/>
                      </a:cubicBezTo>
                      <a:lnTo>
                        <a:pt x="0" y="854873"/>
                      </a:lnTo>
                      <a:lnTo>
                        <a:pt x="37592" y="813165"/>
                      </a:lnTo>
                      <a:cubicBezTo>
                        <a:pt x="115651" y="714526"/>
                        <a:pt x="167539" y="608530"/>
                        <a:pt x="188604" y="497664"/>
                      </a:cubicBezTo>
                      <a:lnTo>
                        <a:pt x="196550" y="413565"/>
                      </a:lnTo>
                      <a:lnTo>
                        <a:pt x="271406" y="440127"/>
                      </a:lnTo>
                      <a:cubicBezTo>
                        <a:pt x="873932" y="626369"/>
                        <a:pt x="1542144" y="531479"/>
                        <a:pt x="1959545"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38" name="Freeform 49">
                  <a:extLst>
                    <a:ext uri="{FF2B5EF4-FFF2-40B4-BE49-F238E27FC236}">
                      <a16:creationId xmlns:a16="http://schemas.microsoft.com/office/drawing/2014/main" id="{326B4053-9ACA-7108-0944-6386DD20C1DD}"/>
                    </a:ext>
                  </a:extLst>
                </p:cNvPr>
                <p:cNvSpPr/>
                <p:nvPr/>
              </p:nvSpPr>
              <p:spPr>
                <a:xfrm flipH="1">
                  <a:off x="2750070" y="-1957454"/>
                  <a:ext cx="3785552" cy="1176794"/>
                </a:xfrm>
                <a:custGeom>
                  <a:avLst/>
                  <a:gdLst>
                    <a:gd name="connsiteX0" fmla="*/ 1892776 w 3785552"/>
                    <a:gd name="connsiteY0" fmla="*/ 123825 h 1176794"/>
                    <a:gd name="connsiteX1" fmla="*/ 235425 w 3785552"/>
                    <a:gd name="connsiteY1" fmla="*/ 588397 h 1176794"/>
                    <a:gd name="connsiteX2" fmla="*/ 1892776 w 3785552"/>
                    <a:gd name="connsiteY2" fmla="*/ 1052969 h 1176794"/>
                    <a:gd name="connsiteX3" fmla="*/ 3550127 w 3785552"/>
                    <a:gd name="connsiteY3" fmla="*/ 588397 h 1176794"/>
                    <a:gd name="connsiteX4" fmla="*/ 1892776 w 3785552"/>
                    <a:gd name="connsiteY4" fmla="*/ 123825 h 1176794"/>
                    <a:gd name="connsiteX5" fmla="*/ 1892776 w 3785552"/>
                    <a:gd name="connsiteY5" fmla="*/ 0 h 1176794"/>
                    <a:gd name="connsiteX6" fmla="*/ 3785552 w 3785552"/>
                    <a:gd name="connsiteY6" fmla="*/ 588397 h 1176794"/>
                    <a:gd name="connsiteX7" fmla="*/ 3700457 w 3785552"/>
                    <a:gd name="connsiteY7" fmla="*/ 763369 h 1176794"/>
                    <a:gd name="connsiteX8" fmla="*/ 3667379 w 3785552"/>
                    <a:gd name="connsiteY8" fmla="*/ 791463 h 1176794"/>
                    <a:gd name="connsiteX9" fmla="*/ 3554878 w 3785552"/>
                    <a:gd name="connsiteY9" fmla="*/ 811974 h 1176794"/>
                    <a:gd name="connsiteX10" fmla="*/ 2691846 w 3785552"/>
                    <a:gd name="connsiteY10" fmla="*/ 1108625 h 1176794"/>
                    <a:gd name="connsiteX11" fmla="*/ 2665226 w 3785552"/>
                    <a:gd name="connsiteY11" fmla="*/ 1125210 h 1176794"/>
                    <a:gd name="connsiteX12" fmla="*/ 2629530 w 3785552"/>
                    <a:gd name="connsiteY12" fmla="*/ 1130555 h 1176794"/>
                    <a:gd name="connsiteX13" fmla="*/ 1892776 w 3785552"/>
                    <a:gd name="connsiteY13" fmla="*/ 1176794 h 1176794"/>
                    <a:gd name="connsiteX14" fmla="*/ 0 w 3785552"/>
                    <a:gd name="connsiteY14" fmla="*/ 588397 h 1176794"/>
                    <a:gd name="connsiteX15" fmla="*/ 1892776 w 3785552"/>
                    <a:gd name="connsiteY15" fmla="*/ 0 h 1176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85552" h="1176794">
                      <a:moveTo>
                        <a:pt x="1892776" y="123825"/>
                      </a:moveTo>
                      <a:cubicBezTo>
                        <a:pt x="977446" y="123825"/>
                        <a:pt x="235425" y="331821"/>
                        <a:pt x="235425" y="588397"/>
                      </a:cubicBezTo>
                      <a:cubicBezTo>
                        <a:pt x="235425" y="844973"/>
                        <a:pt x="977446" y="1052969"/>
                        <a:pt x="1892776" y="1052969"/>
                      </a:cubicBezTo>
                      <a:cubicBezTo>
                        <a:pt x="2808106" y="1052969"/>
                        <a:pt x="3550127" y="844973"/>
                        <a:pt x="3550127" y="588397"/>
                      </a:cubicBezTo>
                      <a:cubicBezTo>
                        <a:pt x="3550127" y="331821"/>
                        <a:pt x="2808106" y="123825"/>
                        <a:pt x="1892776" y="123825"/>
                      </a:cubicBezTo>
                      <a:close/>
                      <a:moveTo>
                        <a:pt x="1892776" y="0"/>
                      </a:moveTo>
                      <a:cubicBezTo>
                        <a:pt x="2938127" y="0"/>
                        <a:pt x="3785552" y="263434"/>
                        <a:pt x="3785552" y="588397"/>
                      </a:cubicBezTo>
                      <a:cubicBezTo>
                        <a:pt x="3785552" y="649328"/>
                        <a:pt x="3755760" y="708095"/>
                        <a:pt x="3700457" y="763369"/>
                      </a:cubicBezTo>
                      <a:lnTo>
                        <a:pt x="3667379" y="791463"/>
                      </a:lnTo>
                      <a:lnTo>
                        <a:pt x="3554878" y="811974"/>
                      </a:lnTo>
                      <a:cubicBezTo>
                        <a:pt x="3208023" y="883286"/>
                        <a:pt x="2911801" y="985404"/>
                        <a:pt x="2691846" y="1108625"/>
                      </a:cubicBezTo>
                      <a:lnTo>
                        <a:pt x="2665226" y="1125210"/>
                      </a:lnTo>
                      <a:lnTo>
                        <a:pt x="2629530" y="1130555"/>
                      </a:lnTo>
                      <a:cubicBezTo>
                        <a:pt x="2403081" y="1160330"/>
                        <a:pt x="2154114" y="1176794"/>
                        <a:pt x="1892776" y="1176794"/>
                      </a:cubicBezTo>
                      <a:cubicBezTo>
                        <a:pt x="847425" y="1176794"/>
                        <a:pt x="0" y="913360"/>
                        <a:pt x="0" y="588397"/>
                      </a:cubicBezTo>
                      <a:cubicBezTo>
                        <a:pt x="0" y="263434"/>
                        <a:pt x="847425" y="0"/>
                        <a:pt x="1892776"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solidFill>
                      <a:schemeClr val="tx1">
                        <a:lumMod val="75000"/>
                        <a:lumOff val="25000"/>
                      </a:schemeClr>
                    </a:solidFill>
                    <a:latin typeface="Segoe UI" panose="020B0502040204020203" pitchFamily="34" charset="0"/>
                    <a:cs typeface="Segoe UI" panose="020B0502040204020203" pitchFamily="34" charset="0"/>
                  </a:endParaRPr>
                </a:p>
              </p:txBody>
            </p:sp>
          </p:grpSp>
        </p:grpSp>
        <p:sp>
          <p:nvSpPr>
            <p:cNvPr id="49" name="Rounded Rectangular Callout 42">
              <a:extLst>
                <a:ext uri="{FF2B5EF4-FFF2-40B4-BE49-F238E27FC236}">
                  <a16:creationId xmlns:a16="http://schemas.microsoft.com/office/drawing/2014/main" id="{52768E09-2109-6FD3-C485-ABD570AAF44B}"/>
                </a:ext>
              </a:extLst>
            </p:cNvPr>
            <p:cNvSpPr/>
            <p:nvPr/>
          </p:nvSpPr>
          <p:spPr>
            <a:xfrm>
              <a:off x="3043878" y="4714082"/>
              <a:ext cx="802672" cy="514014"/>
            </a:xfrm>
            <a:prstGeom prst="wedgeRoundRectCallout">
              <a:avLst>
                <a:gd name="adj1" fmla="val 3045"/>
                <a:gd name="adj2" fmla="val 89289"/>
                <a:gd name="adj3" fmla="val 16667"/>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latin typeface="Segoe UI" panose="020B0502040204020203" pitchFamily="34" charset="0"/>
                <a:cs typeface="Segoe UI" panose="020B0502040204020203" pitchFamily="34" charset="0"/>
              </a:endParaRPr>
            </a:p>
          </p:txBody>
        </p:sp>
        <p:sp>
          <p:nvSpPr>
            <p:cNvPr id="62" name="Rectangle 61">
              <a:extLst>
                <a:ext uri="{FF2B5EF4-FFF2-40B4-BE49-F238E27FC236}">
                  <a16:creationId xmlns:a16="http://schemas.microsoft.com/office/drawing/2014/main" id="{93FE7FD2-BF39-57B0-6B04-0846E036763C}"/>
                </a:ext>
              </a:extLst>
            </p:cNvPr>
            <p:cNvSpPr/>
            <p:nvPr/>
          </p:nvSpPr>
          <p:spPr>
            <a:xfrm rot="2460000">
              <a:off x="3332853" y="5250766"/>
              <a:ext cx="76409" cy="2933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latin typeface="Segoe UI" panose="020B0502040204020203" pitchFamily="34" charset="0"/>
                <a:cs typeface="Segoe UI" panose="020B0502040204020203" pitchFamily="34" charset="0"/>
              </a:endParaRPr>
            </a:p>
          </p:txBody>
        </p:sp>
        <p:sp>
          <p:nvSpPr>
            <p:cNvPr id="63" name="Rounded Rectangular Callout 41">
              <a:extLst>
                <a:ext uri="{FF2B5EF4-FFF2-40B4-BE49-F238E27FC236}">
                  <a16:creationId xmlns:a16="http://schemas.microsoft.com/office/drawing/2014/main" id="{503A65A8-CC22-134F-598B-75EEA6975D9F}"/>
                </a:ext>
              </a:extLst>
            </p:cNvPr>
            <p:cNvSpPr/>
            <p:nvPr/>
          </p:nvSpPr>
          <p:spPr>
            <a:xfrm>
              <a:off x="4129022" y="6653965"/>
              <a:ext cx="940810" cy="614583"/>
            </a:xfrm>
            <a:prstGeom prst="wedgeRoundRectCallout">
              <a:avLst>
                <a:gd name="adj1" fmla="val 3045"/>
                <a:gd name="adj2" fmla="val 89289"/>
                <a:gd name="adj3" fmla="val 16667"/>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latin typeface="Segoe UI" panose="020B0502040204020203" pitchFamily="34" charset="0"/>
                <a:cs typeface="Segoe UI" panose="020B0502040204020203" pitchFamily="34" charset="0"/>
              </a:endParaRPr>
            </a:p>
          </p:txBody>
        </p:sp>
        <p:sp>
          <p:nvSpPr>
            <p:cNvPr id="64" name="Freeform 47">
              <a:extLst>
                <a:ext uri="{FF2B5EF4-FFF2-40B4-BE49-F238E27FC236}">
                  <a16:creationId xmlns:a16="http://schemas.microsoft.com/office/drawing/2014/main" id="{E84D3781-7122-77F3-D9D3-2F62F25B9085}"/>
                </a:ext>
              </a:extLst>
            </p:cNvPr>
            <p:cNvSpPr>
              <a:spLocks noEditPoints="1"/>
            </p:cNvSpPr>
            <p:nvPr/>
          </p:nvSpPr>
          <p:spPr bwMode="auto">
            <a:xfrm>
              <a:off x="4466304" y="6754989"/>
              <a:ext cx="266247" cy="412535"/>
            </a:xfrm>
            <a:custGeom>
              <a:avLst/>
              <a:gdLst>
                <a:gd name="T0" fmla="*/ 70 w 281"/>
                <a:gd name="T1" fmla="*/ 387 h 439"/>
                <a:gd name="T2" fmla="*/ 73 w 281"/>
                <a:gd name="T3" fmla="*/ 397 h 439"/>
                <a:gd name="T4" fmla="*/ 209 w 281"/>
                <a:gd name="T5" fmla="*/ 396 h 439"/>
                <a:gd name="T6" fmla="*/ 209 w 281"/>
                <a:gd name="T7" fmla="*/ 384 h 439"/>
                <a:gd name="T8" fmla="*/ 76 w 281"/>
                <a:gd name="T9" fmla="*/ 362 h 439"/>
                <a:gd name="T10" fmla="*/ 68 w 281"/>
                <a:gd name="T11" fmla="*/ 371 h 439"/>
                <a:gd name="T12" fmla="*/ 76 w 281"/>
                <a:gd name="T13" fmla="*/ 377 h 439"/>
                <a:gd name="T14" fmla="*/ 210 w 281"/>
                <a:gd name="T15" fmla="*/ 372 h 439"/>
                <a:gd name="T16" fmla="*/ 207 w 281"/>
                <a:gd name="T17" fmla="*/ 362 h 439"/>
                <a:gd name="T18" fmla="*/ 73 w 281"/>
                <a:gd name="T19" fmla="*/ 344 h 439"/>
                <a:gd name="T20" fmla="*/ 70 w 281"/>
                <a:gd name="T21" fmla="*/ 354 h 439"/>
                <a:gd name="T22" fmla="*/ 204 w 281"/>
                <a:gd name="T23" fmla="*/ 358 h 439"/>
                <a:gd name="T24" fmla="*/ 212 w 281"/>
                <a:gd name="T25" fmla="*/ 351 h 439"/>
                <a:gd name="T26" fmla="*/ 204 w 281"/>
                <a:gd name="T27" fmla="*/ 343 h 439"/>
                <a:gd name="T28" fmla="*/ 70 w 281"/>
                <a:gd name="T29" fmla="*/ 326 h 439"/>
                <a:gd name="T30" fmla="*/ 70 w 281"/>
                <a:gd name="T31" fmla="*/ 336 h 439"/>
                <a:gd name="T32" fmla="*/ 207 w 281"/>
                <a:gd name="T33" fmla="*/ 338 h 439"/>
                <a:gd name="T34" fmla="*/ 210 w 281"/>
                <a:gd name="T35" fmla="*/ 328 h 439"/>
                <a:gd name="T36" fmla="*/ 76 w 281"/>
                <a:gd name="T37" fmla="*/ 323 h 439"/>
                <a:gd name="T38" fmla="*/ 94 w 281"/>
                <a:gd name="T39" fmla="*/ 62 h 439"/>
                <a:gd name="T40" fmla="*/ 43 w 281"/>
                <a:gd name="T41" fmla="*/ 148 h 439"/>
                <a:gd name="T42" fmla="*/ 76 w 281"/>
                <a:gd name="T43" fmla="*/ 108 h 439"/>
                <a:gd name="T44" fmla="*/ 131 w 281"/>
                <a:gd name="T45" fmla="*/ 86 h 439"/>
                <a:gd name="T46" fmla="*/ 137 w 281"/>
                <a:gd name="T47" fmla="*/ 95 h 439"/>
                <a:gd name="T48" fmla="*/ 136 w 281"/>
                <a:gd name="T49" fmla="*/ 151 h 439"/>
                <a:gd name="T50" fmla="*/ 151 w 281"/>
                <a:gd name="T51" fmla="*/ 200 h 439"/>
                <a:gd name="T52" fmla="*/ 194 w 281"/>
                <a:gd name="T53" fmla="*/ 123 h 439"/>
                <a:gd name="T54" fmla="*/ 177 w 281"/>
                <a:gd name="T55" fmla="*/ 50 h 439"/>
                <a:gd name="T56" fmla="*/ 141 w 281"/>
                <a:gd name="T57" fmla="*/ 0 h 439"/>
                <a:gd name="T58" fmla="*/ 261 w 281"/>
                <a:gd name="T59" fmla="*/ 71 h 439"/>
                <a:gd name="T60" fmla="*/ 263 w 281"/>
                <a:gd name="T61" fmla="*/ 209 h 439"/>
                <a:gd name="T62" fmla="*/ 218 w 281"/>
                <a:gd name="T63" fmla="*/ 268 h 439"/>
                <a:gd name="T64" fmla="*/ 215 w 281"/>
                <a:gd name="T65" fmla="*/ 311 h 439"/>
                <a:gd name="T66" fmla="*/ 223 w 281"/>
                <a:gd name="T67" fmla="*/ 382 h 439"/>
                <a:gd name="T68" fmla="*/ 209 w 281"/>
                <a:gd name="T69" fmla="*/ 407 h 439"/>
                <a:gd name="T70" fmla="*/ 187 w 281"/>
                <a:gd name="T71" fmla="*/ 417 h 439"/>
                <a:gd name="T72" fmla="*/ 162 w 281"/>
                <a:gd name="T73" fmla="*/ 425 h 439"/>
                <a:gd name="T74" fmla="*/ 149 w 281"/>
                <a:gd name="T75" fmla="*/ 437 h 439"/>
                <a:gd name="T76" fmla="*/ 128 w 281"/>
                <a:gd name="T77" fmla="*/ 435 h 439"/>
                <a:gd name="T78" fmla="*/ 119 w 281"/>
                <a:gd name="T79" fmla="*/ 420 h 439"/>
                <a:gd name="T80" fmla="*/ 91 w 281"/>
                <a:gd name="T81" fmla="*/ 412 h 439"/>
                <a:gd name="T82" fmla="*/ 66 w 281"/>
                <a:gd name="T83" fmla="*/ 404 h 439"/>
                <a:gd name="T84" fmla="*/ 56 w 281"/>
                <a:gd name="T85" fmla="*/ 333 h 439"/>
                <a:gd name="T86" fmla="*/ 71 w 281"/>
                <a:gd name="T87" fmla="*/ 308 h 439"/>
                <a:gd name="T88" fmla="*/ 48 w 281"/>
                <a:gd name="T89" fmla="*/ 245 h 439"/>
                <a:gd name="T90" fmla="*/ 5 w 281"/>
                <a:gd name="T91" fmla="*/ 176 h 439"/>
                <a:gd name="T92" fmla="*/ 18 w 281"/>
                <a:gd name="T93" fmla="*/ 70 h 439"/>
                <a:gd name="T94" fmla="*/ 139 w 281"/>
                <a:gd name="T95" fmla="*/ 0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439">
                  <a:moveTo>
                    <a:pt x="76" y="382"/>
                  </a:moveTo>
                  <a:lnTo>
                    <a:pt x="73" y="382"/>
                  </a:lnTo>
                  <a:lnTo>
                    <a:pt x="70" y="384"/>
                  </a:lnTo>
                  <a:lnTo>
                    <a:pt x="70" y="387"/>
                  </a:lnTo>
                  <a:lnTo>
                    <a:pt x="68" y="389"/>
                  </a:lnTo>
                  <a:lnTo>
                    <a:pt x="70" y="392"/>
                  </a:lnTo>
                  <a:lnTo>
                    <a:pt x="70" y="396"/>
                  </a:lnTo>
                  <a:lnTo>
                    <a:pt x="73" y="397"/>
                  </a:lnTo>
                  <a:lnTo>
                    <a:pt x="76" y="397"/>
                  </a:lnTo>
                  <a:lnTo>
                    <a:pt x="204" y="397"/>
                  </a:lnTo>
                  <a:lnTo>
                    <a:pt x="207" y="397"/>
                  </a:lnTo>
                  <a:lnTo>
                    <a:pt x="209" y="396"/>
                  </a:lnTo>
                  <a:lnTo>
                    <a:pt x="210" y="392"/>
                  </a:lnTo>
                  <a:lnTo>
                    <a:pt x="212" y="389"/>
                  </a:lnTo>
                  <a:lnTo>
                    <a:pt x="210" y="387"/>
                  </a:lnTo>
                  <a:lnTo>
                    <a:pt x="209" y="384"/>
                  </a:lnTo>
                  <a:lnTo>
                    <a:pt x="207" y="382"/>
                  </a:lnTo>
                  <a:lnTo>
                    <a:pt x="204" y="382"/>
                  </a:lnTo>
                  <a:lnTo>
                    <a:pt x="76" y="382"/>
                  </a:lnTo>
                  <a:close/>
                  <a:moveTo>
                    <a:pt x="76" y="362"/>
                  </a:moveTo>
                  <a:lnTo>
                    <a:pt x="73" y="362"/>
                  </a:lnTo>
                  <a:lnTo>
                    <a:pt x="70" y="364"/>
                  </a:lnTo>
                  <a:lnTo>
                    <a:pt x="70" y="367"/>
                  </a:lnTo>
                  <a:lnTo>
                    <a:pt x="68" y="371"/>
                  </a:lnTo>
                  <a:lnTo>
                    <a:pt x="70" y="372"/>
                  </a:lnTo>
                  <a:lnTo>
                    <a:pt x="70" y="374"/>
                  </a:lnTo>
                  <a:lnTo>
                    <a:pt x="73" y="377"/>
                  </a:lnTo>
                  <a:lnTo>
                    <a:pt x="76" y="377"/>
                  </a:lnTo>
                  <a:lnTo>
                    <a:pt x="204" y="377"/>
                  </a:lnTo>
                  <a:lnTo>
                    <a:pt x="207" y="377"/>
                  </a:lnTo>
                  <a:lnTo>
                    <a:pt x="209" y="374"/>
                  </a:lnTo>
                  <a:lnTo>
                    <a:pt x="210" y="372"/>
                  </a:lnTo>
                  <a:lnTo>
                    <a:pt x="212" y="371"/>
                  </a:lnTo>
                  <a:lnTo>
                    <a:pt x="210" y="367"/>
                  </a:lnTo>
                  <a:lnTo>
                    <a:pt x="209" y="364"/>
                  </a:lnTo>
                  <a:lnTo>
                    <a:pt x="207" y="362"/>
                  </a:lnTo>
                  <a:lnTo>
                    <a:pt x="204" y="362"/>
                  </a:lnTo>
                  <a:lnTo>
                    <a:pt x="76" y="362"/>
                  </a:lnTo>
                  <a:close/>
                  <a:moveTo>
                    <a:pt x="76" y="343"/>
                  </a:moveTo>
                  <a:lnTo>
                    <a:pt x="73" y="344"/>
                  </a:lnTo>
                  <a:lnTo>
                    <a:pt x="70" y="344"/>
                  </a:lnTo>
                  <a:lnTo>
                    <a:pt x="70" y="348"/>
                  </a:lnTo>
                  <a:lnTo>
                    <a:pt x="68" y="351"/>
                  </a:lnTo>
                  <a:lnTo>
                    <a:pt x="70" y="354"/>
                  </a:lnTo>
                  <a:lnTo>
                    <a:pt x="70" y="356"/>
                  </a:lnTo>
                  <a:lnTo>
                    <a:pt x="73" y="358"/>
                  </a:lnTo>
                  <a:lnTo>
                    <a:pt x="76" y="358"/>
                  </a:lnTo>
                  <a:lnTo>
                    <a:pt x="204" y="358"/>
                  </a:lnTo>
                  <a:lnTo>
                    <a:pt x="207" y="358"/>
                  </a:lnTo>
                  <a:lnTo>
                    <a:pt x="209" y="356"/>
                  </a:lnTo>
                  <a:lnTo>
                    <a:pt x="210" y="354"/>
                  </a:lnTo>
                  <a:lnTo>
                    <a:pt x="212" y="351"/>
                  </a:lnTo>
                  <a:lnTo>
                    <a:pt x="210" y="348"/>
                  </a:lnTo>
                  <a:lnTo>
                    <a:pt x="209" y="344"/>
                  </a:lnTo>
                  <a:lnTo>
                    <a:pt x="207" y="344"/>
                  </a:lnTo>
                  <a:lnTo>
                    <a:pt x="204" y="343"/>
                  </a:lnTo>
                  <a:lnTo>
                    <a:pt x="76" y="343"/>
                  </a:lnTo>
                  <a:close/>
                  <a:moveTo>
                    <a:pt x="76" y="323"/>
                  </a:moveTo>
                  <a:lnTo>
                    <a:pt x="73" y="324"/>
                  </a:lnTo>
                  <a:lnTo>
                    <a:pt x="70" y="326"/>
                  </a:lnTo>
                  <a:lnTo>
                    <a:pt x="70" y="328"/>
                  </a:lnTo>
                  <a:lnTo>
                    <a:pt x="68" y="329"/>
                  </a:lnTo>
                  <a:lnTo>
                    <a:pt x="70" y="333"/>
                  </a:lnTo>
                  <a:lnTo>
                    <a:pt x="70" y="336"/>
                  </a:lnTo>
                  <a:lnTo>
                    <a:pt x="73" y="338"/>
                  </a:lnTo>
                  <a:lnTo>
                    <a:pt x="76" y="338"/>
                  </a:lnTo>
                  <a:lnTo>
                    <a:pt x="204" y="338"/>
                  </a:lnTo>
                  <a:lnTo>
                    <a:pt x="207" y="338"/>
                  </a:lnTo>
                  <a:lnTo>
                    <a:pt x="209" y="336"/>
                  </a:lnTo>
                  <a:lnTo>
                    <a:pt x="210" y="333"/>
                  </a:lnTo>
                  <a:lnTo>
                    <a:pt x="212" y="329"/>
                  </a:lnTo>
                  <a:lnTo>
                    <a:pt x="210" y="328"/>
                  </a:lnTo>
                  <a:lnTo>
                    <a:pt x="209" y="326"/>
                  </a:lnTo>
                  <a:lnTo>
                    <a:pt x="207" y="324"/>
                  </a:lnTo>
                  <a:lnTo>
                    <a:pt x="204" y="323"/>
                  </a:lnTo>
                  <a:lnTo>
                    <a:pt x="76" y="323"/>
                  </a:lnTo>
                  <a:close/>
                  <a:moveTo>
                    <a:pt x="180" y="35"/>
                  </a:moveTo>
                  <a:lnTo>
                    <a:pt x="166" y="38"/>
                  </a:lnTo>
                  <a:lnTo>
                    <a:pt x="126" y="48"/>
                  </a:lnTo>
                  <a:lnTo>
                    <a:pt x="94" y="62"/>
                  </a:lnTo>
                  <a:lnTo>
                    <a:pt x="68" y="78"/>
                  </a:lnTo>
                  <a:lnTo>
                    <a:pt x="52" y="100"/>
                  </a:lnTo>
                  <a:lnTo>
                    <a:pt x="43" y="123"/>
                  </a:lnTo>
                  <a:lnTo>
                    <a:pt x="43" y="148"/>
                  </a:lnTo>
                  <a:lnTo>
                    <a:pt x="52" y="174"/>
                  </a:lnTo>
                  <a:lnTo>
                    <a:pt x="66" y="202"/>
                  </a:lnTo>
                  <a:lnTo>
                    <a:pt x="78" y="162"/>
                  </a:lnTo>
                  <a:lnTo>
                    <a:pt x="76" y="108"/>
                  </a:lnTo>
                  <a:lnTo>
                    <a:pt x="76" y="108"/>
                  </a:lnTo>
                  <a:lnTo>
                    <a:pt x="94" y="131"/>
                  </a:lnTo>
                  <a:lnTo>
                    <a:pt x="111" y="108"/>
                  </a:lnTo>
                  <a:lnTo>
                    <a:pt x="131" y="86"/>
                  </a:lnTo>
                  <a:lnTo>
                    <a:pt x="142" y="76"/>
                  </a:lnTo>
                  <a:lnTo>
                    <a:pt x="147" y="83"/>
                  </a:lnTo>
                  <a:lnTo>
                    <a:pt x="137" y="93"/>
                  </a:lnTo>
                  <a:lnTo>
                    <a:pt x="137" y="95"/>
                  </a:lnTo>
                  <a:lnTo>
                    <a:pt x="118" y="123"/>
                  </a:lnTo>
                  <a:lnTo>
                    <a:pt x="103" y="154"/>
                  </a:lnTo>
                  <a:lnTo>
                    <a:pt x="134" y="148"/>
                  </a:lnTo>
                  <a:lnTo>
                    <a:pt x="136" y="151"/>
                  </a:lnTo>
                  <a:lnTo>
                    <a:pt x="96" y="181"/>
                  </a:lnTo>
                  <a:lnTo>
                    <a:pt x="93" y="219"/>
                  </a:lnTo>
                  <a:lnTo>
                    <a:pt x="124" y="212"/>
                  </a:lnTo>
                  <a:lnTo>
                    <a:pt x="151" y="200"/>
                  </a:lnTo>
                  <a:lnTo>
                    <a:pt x="171" y="187"/>
                  </a:lnTo>
                  <a:lnTo>
                    <a:pt x="184" y="171"/>
                  </a:lnTo>
                  <a:lnTo>
                    <a:pt x="192" y="148"/>
                  </a:lnTo>
                  <a:lnTo>
                    <a:pt x="194" y="123"/>
                  </a:lnTo>
                  <a:lnTo>
                    <a:pt x="190" y="93"/>
                  </a:lnTo>
                  <a:lnTo>
                    <a:pt x="179" y="58"/>
                  </a:lnTo>
                  <a:lnTo>
                    <a:pt x="179" y="58"/>
                  </a:lnTo>
                  <a:lnTo>
                    <a:pt x="177" y="50"/>
                  </a:lnTo>
                  <a:lnTo>
                    <a:pt x="179" y="42"/>
                  </a:lnTo>
                  <a:lnTo>
                    <a:pt x="180" y="35"/>
                  </a:lnTo>
                  <a:close/>
                  <a:moveTo>
                    <a:pt x="139" y="0"/>
                  </a:moveTo>
                  <a:lnTo>
                    <a:pt x="141" y="0"/>
                  </a:lnTo>
                  <a:lnTo>
                    <a:pt x="177" y="5"/>
                  </a:lnTo>
                  <a:lnTo>
                    <a:pt x="210" y="19"/>
                  </a:lnTo>
                  <a:lnTo>
                    <a:pt x="240" y="42"/>
                  </a:lnTo>
                  <a:lnTo>
                    <a:pt x="261" y="71"/>
                  </a:lnTo>
                  <a:lnTo>
                    <a:pt x="276" y="105"/>
                  </a:lnTo>
                  <a:lnTo>
                    <a:pt x="281" y="141"/>
                  </a:lnTo>
                  <a:lnTo>
                    <a:pt x="276" y="176"/>
                  </a:lnTo>
                  <a:lnTo>
                    <a:pt x="263" y="209"/>
                  </a:lnTo>
                  <a:lnTo>
                    <a:pt x="243" y="237"/>
                  </a:lnTo>
                  <a:lnTo>
                    <a:pt x="240" y="240"/>
                  </a:lnTo>
                  <a:lnTo>
                    <a:pt x="235" y="243"/>
                  </a:lnTo>
                  <a:lnTo>
                    <a:pt x="218" y="268"/>
                  </a:lnTo>
                  <a:lnTo>
                    <a:pt x="210" y="293"/>
                  </a:lnTo>
                  <a:lnTo>
                    <a:pt x="210" y="300"/>
                  </a:lnTo>
                  <a:lnTo>
                    <a:pt x="210" y="308"/>
                  </a:lnTo>
                  <a:lnTo>
                    <a:pt x="215" y="311"/>
                  </a:lnTo>
                  <a:lnTo>
                    <a:pt x="220" y="318"/>
                  </a:lnTo>
                  <a:lnTo>
                    <a:pt x="223" y="324"/>
                  </a:lnTo>
                  <a:lnTo>
                    <a:pt x="223" y="333"/>
                  </a:lnTo>
                  <a:lnTo>
                    <a:pt x="223" y="382"/>
                  </a:lnTo>
                  <a:lnTo>
                    <a:pt x="223" y="391"/>
                  </a:lnTo>
                  <a:lnTo>
                    <a:pt x="220" y="397"/>
                  </a:lnTo>
                  <a:lnTo>
                    <a:pt x="215" y="404"/>
                  </a:lnTo>
                  <a:lnTo>
                    <a:pt x="209" y="407"/>
                  </a:lnTo>
                  <a:lnTo>
                    <a:pt x="204" y="410"/>
                  </a:lnTo>
                  <a:lnTo>
                    <a:pt x="199" y="412"/>
                  </a:lnTo>
                  <a:lnTo>
                    <a:pt x="189" y="412"/>
                  </a:lnTo>
                  <a:lnTo>
                    <a:pt x="187" y="417"/>
                  </a:lnTo>
                  <a:lnTo>
                    <a:pt x="184" y="419"/>
                  </a:lnTo>
                  <a:lnTo>
                    <a:pt x="180" y="420"/>
                  </a:lnTo>
                  <a:lnTo>
                    <a:pt x="162" y="420"/>
                  </a:lnTo>
                  <a:lnTo>
                    <a:pt x="162" y="425"/>
                  </a:lnTo>
                  <a:lnTo>
                    <a:pt x="161" y="429"/>
                  </a:lnTo>
                  <a:lnTo>
                    <a:pt x="157" y="432"/>
                  </a:lnTo>
                  <a:lnTo>
                    <a:pt x="154" y="435"/>
                  </a:lnTo>
                  <a:lnTo>
                    <a:pt x="149" y="437"/>
                  </a:lnTo>
                  <a:lnTo>
                    <a:pt x="144" y="439"/>
                  </a:lnTo>
                  <a:lnTo>
                    <a:pt x="136" y="439"/>
                  </a:lnTo>
                  <a:lnTo>
                    <a:pt x="131" y="437"/>
                  </a:lnTo>
                  <a:lnTo>
                    <a:pt x="128" y="435"/>
                  </a:lnTo>
                  <a:lnTo>
                    <a:pt x="124" y="432"/>
                  </a:lnTo>
                  <a:lnTo>
                    <a:pt x="121" y="429"/>
                  </a:lnTo>
                  <a:lnTo>
                    <a:pt x="119" y="425"/>
                  </a:lnTo>
                  <a:lnTo>
                    <a:pt x="119" y="420"/>
                  </a:lnTo>
                  <a:lnTo>
                    <a:pt x="99" y="420"/>
                  </a:lnTo>
                  <a:lnTo>
                    <a:pt x="98" y="419"/>
                  </a:lnTo>
                  <a:lnTo>
                    <a:pt x="94" y="417"/>
                  </a:lnTo>
                  <a:lnTo>
                    <a:pt x="91" y="412"/>
                  </a:lnTo>
                  <a:lnTo>
                    <a:pt x="88" y="412"/>
                  </a:lnTo>
                  <a:lnTo>
                    <a:pt x="80" y="412"/>
                  </a:lnTo>
                  <a:lnTo>
                    <a:pt x="73" y="409"/>
                  </a:lnTo>
                  <a:lnTo>
                    <a:pt x="66" y="404"/>
                  </a:lnTo>
                  <a:lnTo>
                    <a:pt x="61" y="397"/>
                  </a:lnTo>
                  <a:lnTo>
                    <a:pt x="58" y="391"/>
                  </a:lnTo>
                  <a:lnTo>
                    <a:pt x="56" y="382"/>
                  </a:lnTo>
                  <a:lnTo>
                    <a:pt x="56" y="333"/>
                  </a:lnTo>
                  <a:lnTo>
                    <a:pt x="58" y="324"/>
                  </a:lnTo>
                  <a:lnTo>
                    <a:pt x="61" y="318"/>
                  </a:lnTo>
                  <a:lnTo>
                    <a:pt x="66" y="311"/>
                  </a:lnTo>
                  <a:lnTo>
                    <a:pt x="71" y="308"/>
                  </a:lnTo>
                  <a:lnTo>
                    <a:pt x="71" y="300"/>
                  </a:lnTo>
                  <a:lnTo>
                    <a:pt x="70" y="293"/>
                  </a:lnTo>
                  <a:lnTo>
                    <a:pt x="65" y="268"/>
                  </a:lnTo>
                  <a:lnTo>
                    <a:pt x="48" y="245"/>
                  </a:lnTo>
                  <a:lnTo>
                    <a:pt x="42" y="240"/>
                  </a:lnTo>
                  <a:lnTo>
                    <a:pt x="40" y="237"/>
                  </a:lnTo>
                  <a:lnTo>
                    <a:pt x="18" y="209"/>
                  </a:lnTo>
                  <a:lnTo>
                    <a:pt x="5" y="176"/>
                  </a:lnTo>
                  <a:lnTo>
                    <a:pt x="0" y="141"/>
                  </a:lnTo>
                  <a:lnTo>
                    <a:pt x="0" y="139"/>
                  </a:lnTo>
                  <a:lnTo>
                    <a:pt x="5" y="103"/>
                  </a:lnTo>
                  <a:lnTo>
                    <a:pt x="18" y="70"/>
                  </a:lnTo>
                  <a:lnTo>
                    <a:pt x="42" y="42"/>
                  </a:lnTo>
                  <a:lnTo>
                    <a:pt x="70" y="19"/>
                  </a:lnTo>
                  <a:lnTo>
                    <a:pt x="103" y="5"/>
                  </a:lnTo>
                  <a:lnTo>
                    <a:pt x="139" y="0"/>
                  </a:lnTo>
                  <a:close/>
                </a:path>
              </a:pathLst>
            </a:custGeom>
            <a:solidFill>
              <a:schemeClr val="bg1"/>
            </a:solidFill>
            <a:ln w="0">
              <a:noFill/>
              <a:prstDash val="solid"/>
              <a:round/>
              <a:headEnd/>
              <a:tailEnd/>
            </a:ln>
          </p:spPr>
          <p:txBody>
            <a:bodyPr vert="horz" wrap="square" lIns="68580" tIns="34290" rIns="68580" bIns="34290" numCol="1" anchor="t" anchorCtr="0" compatLnSpc="1">
              <a:prstTxWarp prst="textNoShape">
                <a:avLst/>
              </a:prstTxWarp>
            </a:bodyPr>
            <a:lstStyle/>
            <a:p>
              <a:endParaRPr lang="en-US" sz="1500">
                <a:latin typeface="Segoe UI" panose="020B0502040204020203" pitchFamily="34" charset="0"/>
                <a:cs typeface="Segoe UI" panose="020B0502040204020203" pitchFamily="34" charset="0"/>
              </a:endParaRPr>
            </a:p>
          </p:txBody>
        </p:sp>
        <p:sp>
          <p:nvSpPr>
            <p:cNvPr id="66" name="TextBox 65">
              <a:extLst>
                <a:ext uri="{FF2B5EF4-FFF2-40B4-BE49-F238E27FC236}">
                  <a16:creationId xmlns:a16="http://schemas.microsoft.com/office/drawing/2014/main" id="{D06B1482-297E-AD84-7E0A-C431B579B6B9}"/>
                </a:ext>
              </a:extLst>
            </p:cNvPr>
            <p:cNvSpPr txBox="1"/>
            <p:nvPr/>
          </p:nvSpPr>
          <p:spPr>
            <a:xfrm>
              <a:off x="5983468" y="5138685"/>
              <a:ext cx="1581354" cy="309118"/>
            </a:xfrm>
            <a:prstGeom prst="rect">
              <a:avLst/>
            </a:prstGeom>
            <a:noFill/>
          </p:spPr>
          <p:txBody>
            <a:bodyPr wrap="none" rtlCol="0">
              <a:spAutoFit/>
            </a:bodyPr>
            <a:lstStyle/>
            <a:p>
              <a:pPr algn="r"/>
              <a:r>
                <a:rPr lang="en-US" sz="1200" b="1">
                  <a:solidFill>
                    <a:schemeClr val="accent4">
                      <a:lumMod val="75000"/>
                    </a:schemeClr>
                  </a:solidFill>
                  <a:latin typeface="+mj-lt"/>
                  <a:cs typeface="Segoe UI" panose="020B0502040204020203" pitchFamily="34" charset="0"/>
                </a:rPr>
                <a:t>TECHNOLOGY</a:t>
              </a:r>
            </a:p>
          </p:txBody>
        </p:sp>
        <p:sp>
          <p:nvSpPr>
            <p:cNvPr id="68" name="TextBox 67">
              <a:extLst>
                <a:ext uri="{FF2B5EF4-FFF2-40B4-BE49-F238E27FC236}">
                  <a16:creationId xmlns:a16="http://schemas.microsoft.com/office/drawing/2014/main" id="{AB40FA53-5408-493E-57E6-9A4F282322D3}"/>
                </a:ext>
              </a:extLst>
            </p:cNvPr>
            <p:cNvSpPr txBox="1"/>
            <p:nvPr/>
          </p:nvSpPr>
          <p:spPr>
            <a:xfrm>
              <a:off x="2576386" y="2832663"/>
              <a:ext cx="1583372" cy="309118"/>
            </a:xfrm>
            <a:prstGeom prst="rect">
              <a:avLst/>
            </a:prstGeom>
            <a:noFill/>
          </p:spPr>
          <p:txBody>
            <a:bodyPr wrap="none" rtlCol="0">
              <a:spAutoFit/>
            </a:bodyPr>
            <a:lstStyle/>
            <a:p>
              <a:pPr algn="r"/>
              <a:r>
                <a:rPr lang="en-US" sz="1200" b="1">
                  <a:solidFill>
                    <a:schemeClr val="accent6">
                      <a:lumMod val="75000"/>
                    </a:schemeClr>
                  </a:solidFill>
                  <a:latin typeface="+mj-lt"/>
                  <a:cs typeface="Segoe UI" panose="020B0502040204020203" pitchFamily="34" charset="0"/>
                </a:rPr>
                <a:t>ACTION PLAN</a:t>
              </a:r>
            </a:p>
          </p:txBody>
        </p:sp>
        <p:sp>
          <p:nvSpPr>
            <p:cNvPr id="69" name="TextBox 68">
              <a:extLst>
                <a:ext uri="{FF2B5EF4-FFF2-40B4-BE49-F238E27FC236}">
                  <a16:creationId xmlns:a16="http://schemas.microsoft.com/office/drawing/2014/main" id="{6432E0C9-1F94-73B6-D94F-17F86E38581D}"/>
                </a:ext>
              </a:extLst>
            </p:cNvPr>
            <p:cNvSpPr txBox="1"/>
            <p:nvPr/>
          </p:nvSpPr>
          <p:spPr>
            <a:xfrm>
              <a:off x="1572953" y="4825295"/>
              <a:ext cx="1369348" cy="309118"/>
            </a:xfrm>
            <a:prstGeom prst="rect">
              <a:avLst/>
            </a:prstGeom>
            <a:noFill/>
          </p:spPr>
          <p:txBody>
            <a:bodyPr wrap="none" rtlCol="0">
              <a:spAutoFit/>
            </a:bodyPr>
            <a:lstStyle/>
            <a:p>
              <a:pPr algn="r"/>
              <a:r>
                <a:rPr lang="en-US" sz="1200" b="1">
                  <a:solidFill>
                    <a:schemeClr val="accent5">
                      <a:lumMod val="75000"/>
                    </a:schemeClr>
                  </a:solidFill>
                  <a:latin typeface="+mj-lt"/>
                  <a:cs typeface="Segoe UI" panose="020B0502040204020203" pitchFamily="34" charset="0"/>
                </a:rPr>
                <a:t>BLUEPRINT</a:t>
              </a:r>
            </a:p>
          </p:txBody>
        </p:sp>
        <p:sp>
          <p:nvSpPr>
            <p:cNvPr id="70" name="TextBox 69">
              <a:extLst>
                <a:ext uri="{FF2B5EF4-FFF2-40B4-BE49-F238E27FC236}">
                  <a16:creationId xmlns:a16="http://schemas.microsoft.com/office/drawing/2014/main" id="{6A5B4E05-F0E1-0EA7-2CA6-E86ACEBCC717}"/>
                </a:ext>
              </a:extLst>
            </p:cNvPr>
            <p:cNvSpPr txBox="1"/>
            <p:nvPr/>
          </p:nvSpPr>
          <p:spPr>
            <a:xfrm>
              <a:off x="2612008" y="6413721"/>
              <a:ext cx="1262336" cy="309118"/>
            </a:xfrm>
            <a:prstGeom prst="rect">
              <a:avLst/>
            </a:prstGeom>
            <a:noFill/>
          </p:spPr>
          <p:txBody>
            <a:bodyPr wrap="none" rtlCol="0">
              <a:spAutoFit/>
            </a:bodyPr>
            <a:lstStyle/>
            <a:p>
              <a:pPr algn="r"/>
              <a:r>
                <a:rPr lang="en-US" sz="1200" b="1">
                  <a:solidFill>
                    <a:schemeClr val="accent3">
                      <a:lumMod val="75000"/>
                    </a:schemeClr>
                  </a:solidFill>
                  <a:latin typeface="+mj-lt"/>
                  <a:cs typeface="Segoe UI" panose="020B0502040204020203" pitchFamily="34" charset="0"/>
                </a:rPr>
                <a:t>STRATEGY</a:t>
              </a:r>
            </a:p>
          </p:txBody>
        </p:sp>
        <p:sp>
          <p:nvSpPr>
            <p:cNvPr id="72" name="Rectangle 71">
              <a:extLst>
                <a:ext uri="{FF2B5EF4-FFF2-40B4-BE49-F238E27FC236}">
                  <a16:creationId xmlns:a16="http://schemas.microsoft.com/office/drawing/2014/main" id="{F21FFFED-DED5-2AC9-4FF4-A997F8107F5F}"/>
                </a:ext>
              </a:extLst>
            </p:cNvPr>
            <p:cNvSpPr/>
            <p:nvPr/>
          </p:nvSpPr>
          <p:spPr>
            <a:xfrm>
              <a:off x="5866244" y="5432392"/>
              <a:ext cx="2835201" cy="1038980"/>
            </a:xfrm>
            <a:prstGeom prst="rect">
              <a:avLst/>
            </a:prstGeom>
          </p:spPr>
          <p:txBody>
            <a:bodyPr wrap="square">
              <a:spAutoFit/>
            </a:bodyPr>
            <a:lstStyle/>
            <a:p>
              <a:pPr marL="128588" indent="-128588">
                <a:spcAft>
                  <a:spcPts val="450"/>
                </a:spcAft>
                <a:buFont typeface="Arial" panose="020B0604020202020204" pitchFamily="34" charset="0"/>
                <a:buChar char="•"/>
              </a:pPr>
              <a:r>
                <a:rPr lang="en-GB" sz="1050" b="1">
                  <a:solidFill>
                    <a:schemeClr val="bg1">
                      <a:lumMod val="50000"/>
                    </a:schemeClr>
                  </a:solidFill>
                  <a:latin typeface="+mj-lt"/>
                  <a:cs typeface="Segoe UI" panose="020B0502040204020203" pitchFamily="34" charset="0"/>
                </a:rPr>
                <a:t> AI Architecture​</a:t>
              </a:r>
            </a:p>
            <a:p>
              <a:pPr marL="128588" indent="-128588">
                <a:spcAft>
                  <a:spcPts val="450"/>
                </a:spcAft>
                <a:buFont typeface="Arial" panose="020B0604020202020204" pitchFamily="34" charset="0"/>
                <a:buChar char="•"/>
              </a:pPr>
              <a:r>
                <a:rPr lang="en-GB" sz="1050" b="1">
                  <a:solidFill>
                    <a:schemeClr val="bg1">
                      <a:lumMod val="50000"/>
                    </a:schemeClr>
                  </a:solidFill>
                  <a:latin typeface="+mj-lt"/>
                  <a:cs typeface="Segoe UI" panose="020B0502040204020203" pitchFamily="34" charset="0"/>
                </a:rPr>
                <a:t> Tool and Platform Selection​</a:t>
              </a:r>
            </a:p>
            <a:p>
              <a:pPr marL="128588" indent="-128588">
                <a:spcAft>
                  <a:spcPts val="450"/>
                </a:spcAft>
                <a:buFont typeface="Arial" panose="020B0604020202020204" pitchFamily="34" charset="0"/>
                <a:buChar char="•"/>
              </a:pPr>
              <a:r>
                <a:rPr lang="en-GB" sz="1050" b="1">
                  <a:solidFill>
                    <a:schemeClr val="bg1">
                      <a:lumMod val="50000"/>
                    </a:schemeClr>
                  </a:solidFill>
                  <a:latin typeface="+mj-lt"/>
                  <a:cs typeface="Segoe UI" panose="020B0502040204020203" pitchFamily="34" charset="0"/>
                </a:rPr>
                <a:t> Data Readiness​</a:t>
              </a:r>
            </a:p>
            <a:p>
              <a:pPr marL="128588" indent="-128588">
                <a:spcAft>
                  <a:spcPts val="450"/>
                </a:spcAft>
                <a:buFont typeface="Arial" panose="020B0604020202020204" pitchFamily="34" charset="0"/>
                <a:buChar char="•"/>
              </a:pPr>
              <a:r>
                <a:rPr lang="en-GB" sz="1050" b="1">
                  <a:solidFill>
                    <a:schemeClr val="bg1">
                      <a:lumMod val="50000"/>
                    </a:schemeClr>
                  </a:solidFill>
                  <a:latin typeface="+mj-lt"/>
                  <a:cs typeface="Segoe UI" panose="020B0502040204020203" pitchFamily="34" charset="0"/>
                </a:rPr>
                <a:t> Model Development</a:t>
              </a:r>
              <a:endParaRPr lang="en-IN" sz="1050" b="1">
                <a:solidFill>
                  <a:schemeClr val="bg1">
                    <a:lumMod val="50000"/>
                  </a:schemeClr>
                </a:solidFill>
                <a:latin typeface="+mj-lt"/>
                <a:cs typeface="Segoe UI" panose="020B0502040204020203" pitchFamily="34" charset="0"/>
              </a:endParaRPr>
            </a:p>
          </p:txBody>
        </p:sp>
        <p:sp>
          <p:nvSpPr>
            <p:cNvPr id="74" name="Rectangle 73">
              <a:extLst>
                <a:ext uri="{FF2B5EF4-FFF2-40B4-BE49-F238E27FC236}">
                  <a16:creationId xmlns:a16="http://schemas.microsoft.com/office/drawing/2014/main" id="{CF0E0EB6-457E-7631-6082-32D085D5B968}"/>
                </a:ext>
              </a:extLst>
            </p:cNvPr>
            <p:cNvSpPr/>
            <p:nvPr/>
          </p:nvSpPr>
          <p:spPr>
            <a:xfrm>
              <a:off x="721062" y="6708453"/>
              <a:ext cx="3162325" cy="1290854"/>
            </a:xfrm>
            <a:prstGeom prst="rect">
              <a:avLst/>
            </a:prstGeom>
          </p:spPr>
          <p:txBody>
            <a:bodyPr wrap="square">
              <a:spAutoFit/>
            </a:bodyPr>
            <a:lstStyle/>
            <a:p>
              <a:pPr marL="214313" indent="-214313" algn="r">
                <a:spcAft>
                  <a:spcPts val="450"/>
                </a:spcAft>
                <a:buFont typeface="Arial" panose="020B0604020202020204" pitchFamily="34" charset="0"/>
                <a:buChar char="•"/>
              </a:pPr>
              <a:r>
                <a:rPr lang="en-GB" sz="1050" b="1">
                  <a:solidFill>
                    <a:schemeClr val="bg1">
                      <a:lumMod val="50000"/>
                    </a:schemeClr>
                  </a:solidFill>
                  <a:latin typeface="+mj-lt"/>
                  <a:cs typeface="Segoe UI" panose="020B0502040204020203" pitchFamily="34" charset="0"/>
                </a:rPr>
                <a:t> Vision &amp; Objectives Alignment</a:t>
              </a:r>
            </a:p>
            <a:p>
              <a:pPr marL="214313" indent="-214313" algn="r">
                <a:spcAft>
                  <a:spcPts val="450"/>
                </a:spcAft>
                <a:buFont typeface="Arial" panose="020B0604020202020204" pitchFamily="34" charset="0"/>
                <a:buChar char="•"/>
              </a:pPr>
              <a:r>
                <a:rPr lang="en-GB" sz="1050" b="1">
                  <a:solidFill>
                    <a:schemeClr val="bg1">
                      <a:lumMod val="50000"/>
                    </a:schemeClr>
                  </a:solidFill>
                  <a:latin typeface="+mj-lt"/>
                  <a:cs typeface="Segoe UI" panose="020B0502040204020203" pitchFamily="34" charset="0"/>
                </a:rPr>
                <a:t> Use Case Prioritization​</a:t>
              </a:r>
            </a:p>
            <a:p>
              <a:pPr marL="214313" indent="-214313" algn="r">
                <a:spcAft>
                  <a:spcPts val="450"/>
                </a:spcAft>
                <a:buFont typeface="Arial" panose="020B0604020202020204" pitchFamily="34" charset="0"/>
                <a:buChar char="•"/>
              </a:pPr>
              <a:r>
                <a:rPr lang="en-GB" sz="1050" b="1">
                  <a:solidFill>
                    <a:schemeClr val="bg1">
                      <a:lumMod val="50000"/>
                    </a:schemeClr>
                  </a:solidFill>
                  <a:latin typeface="+mj-lt"/>
                  <a:cs typeface="Segoe UI" panose="020B0502040204020203" pitchFamily="34" charset="0"/>
                </a:rPr>
                <a:t> Value Realization Framework​</a:t>
              </a:r>
            </a:p>
            <a:p>
              <a:pPr marL="214313" indent="-214313" algn="r">
                <a:spcAft>
                  <a:spcPts val="450"/>
                </a:spcAft>
                <a:buFont typeface="Arial" panose="020B0604020202020204" pitchFamily="34" charset="0"/>
                <a:buChar char="•"/>
              </a:pPr>
              <a:r>
                <a:rPr lang="en-GB" sz="1050" b="1">
                  <a:solidFill>
                    <a:schemeClr val="bg1">
                      <a:lumMod val="50000"/>
                    </a:schemeClr>
                  </a:solidFill>
                  <a:latin typeface="+mj-lt"/>
                  <a:cs typeface="Segoe UI" panose="020B0502040204020203" pitchFamily="34" charset="0"/>
                </a:rPr>
                <a:t>AI Strategy Design</a:t>
              </a:r>
            </a:p>
            <a:p>
              <a:pPr marL="214313" indent="-214313" algn="r">
                <a:spcAft>
                  <a:spcPts val="450"/>
                </a:spcAft>
                <a:buFont typeface="Arial" panose="020B0604020202020204" pitchFamily="34" charset="0"/>
                <a:buChar char="•"/>
              </a:pPr>
              <a:r>
                <a:rPr lang="en-GB" sz="1050" b="1">
                  <a:solidFill>
                    <a:schemeClr val="bg1">
                      <a:lumMod val="50000"/>
                    </a:schemeClr>
                  </a:solidFill>
                  <a:latin typeface="+mj-lt"/>
                  <a:cs typeface="Segoe UI" panose="020B0502040204020203" pitchFamily="34" charset="0"/>
                </a:rPr>
                <a:t> AI Governance Framework</a:t>
              </a:r>
              <a:endParaRPr lang="en-IN" sz="1050" b="1">
                <a:solidFill>
                  <a:schemeClr val="bg1">
                    <a:lumMod val="50000"/>
                  </a:schemeClr>
                </a:solidFill>
                <a:latin typeface="+mj-lt"/>
                <a:cs typeface="Segoe UI" panose="020B0502040204020203" pitchFamily="34" charset="0"/>
              </a:endParaRPr>
            </a:p>
          </p:txBody>
        </p:sp>
        <p:sp>
          <p:nvSpPr>
            <p:cNvPr id="75" name="Rectangle 74">
              <a:extLst>
                <a:ext uri="{FF2B5EF4-FFF2-40B4-BE49-F238E27FC236}">
                  <a16:creationId xmlns:a16="http://schemas.microsoft.com/office/drawing/2014/main" id="{6EB53FAB-1E20-61F7-2B0C-B2324A8AAB23}"/>
                </a:ext>
              </a:extLst>
            </p:cNvPr>
            <p:cNvSpPr/>
            <p:nvPr/>
          </p:nvSpPr>
          <p:spPr>
            <a:xfrm>
              <a:off x="165511" y="5146336"/>
              <a:ext cx="2835201" cy="1038980"/>
            </a:xfrm>
            <a:prstGeom prst="rect">
              <a:avLst/>
            </a:prstGeom>
          </p:spPr>
          <p:txBody>
            <a:bodyPr wrap="square">
              <a:spAutoFit/>
            </a:bodyPr>
            <a:lstStyle/>
            <a:p>
              <a:pPr marL="128588" indent="-128588" algn="r">
                <a:spcAft>
                  <a:spcPts val="450"/>
                </a:spcAft>
                <a:buFont typeface="Arial" panose="020B0604020202020204" pitchFamily="34" charset="0"/>
                <a:buChar char="•"/>
              </a:pPr>
              <a:r>
                <a:rPr lang="en-GB" sz="1050" b="1">
                  <a:solidFill>
                    <a:schemeClr val="bg1">
                      <a:lumMod val="50000"/>
                    </a:schemeClr>
                  </a:solidFill>
                  <a:latin typeface="+mj-lt"/>
                  <a:cs typeface="Segoe UI" panose="020B0502040204020203" pitchFamily="34" charset="0"/>
                </a:rPr>
                <a:t> Capability Mapping​</a:t>
              </a:r>
            </a:p>
            <a:p>
              <a:pPr marL="128588" indent="-128588" algn="r">
                <a:spcAft>
                  <a:spcPts val="450"/>
                </a:spcAft>
                <a:buFont typeface="Arial" panose="020B0604020202020204" pitchFamily="34" charset="0"/>
                <a:buChar char="•"/>
              </a:pPr>
              <a:r>
                <a:rPr lang="en-GB" sz="1050" b="1">
                  <a:solidFill>
                    <a:schemeClr val="bg1">
                      <a:lumMod val="50000"/>
                    </a:schemeClr>
                  </a:solidFill>
                  <a:latin typeface="+mj-lt"/>
                  <a:cs typeface="Segoe UI" panose="020B0502040204020203" pitchFamily="34" charset="0"/>
                </a:rPr>
                <a:t> AI Operating Model​</a:t>
              </a:r>
            </a:p>
            <a:p>
              <a:pPr marL="128588" indent="-128588" algn="r">
                <a:spcAft>
                  <a:spcPts val="450"/>
                </a:spcAft>
                <a:buFont typeface="Arial" panose="020B0604020202020204" pitchFamily="34" charset="0"/>
                <a:buChar char="•"/>
              </a:pPr>
              <a:r>
                <a:rPr lang="en-GB" sz="1050" b="1">
                  <a:solidFill>
                    <a:schemeClr val="bg1">
                      <a:lumMod val="50000"/>
                    </a:schemeClr>
                  </a:solidFill>
                  <a:latin typeface="+mj-lt"/>
                  <a:cs typeface="Segoe UI" panose="020B0502040204020203" pitchFamily="34" charset="0"/>
                </a:rPr>
                <a:t> Roadmap Design​</a:t>
              </a:r>
            </a:p>
            <a:p>
              <a:pPr marL="128588" indent="-128588" algn="r">
                <a:spcAft>
                  <a:spcPts val="450"/>
                </a:spcAft>
                <a:buFont typeface="Arial" panose="020B0604020202020204" pitchFamily="34" charset="0"/>
                <a:buChar char="•"/>
              </a:pPr>
              <a:r>
                <a:rPr lang="en-GB" sz="1050" b="1">
                  <a:solidFill>
                    <a:schemeClr val="bg1">
                      <a:lumMod val="50000"/>
                    </a:schemeClr>
                  </a:solidFill>
                  <a:latin typeface="+mj-lt"/>
                  <a:cs typeface="Segoe UI" panose="020B0502040204020203" pitchFamily="34" charset="0"/>
                </a:rPr>
                <a:t> Budgeting</a:t>
              </a:r>
              <a:endParaRPr lang="en-IN" sz="1050" b="1">
                <a:solidFill>
                  <a:schemeClr val="bg1">
                    <a:lumMod val="50000"/>
                  </a:schemeClr>
                </a:solidFill>
                <a:latin typeface="+mj-lt"/>
                <a:cs typeface="Segoe UI" panose="020B0502040204020203" pitchFamily="34" charset="0"/>
              </a:endParaRPr>
            </a:p>
          </p:txBody>
        </p:sp>
        <p:sp>
          <p:nvSpPr>
            <p:cNvPr id="76" name="Rectangle 75">
              <a:extLst>
                <a:ext uri="{FF2B5EF4-FFF2-40B4-BE49-F238E27FC236}">
                  <a16:creationId xmlns:a16="http://schemas.microsoft.com/office/drawing/2014/main" id="{BC86CBA5-4C77-637D-44B2-F401D1137166}"/>
                </a:ext>
              </a:extLst>
            </p:cNvPr>
            <p:cNvSpPr/>
            <p:nvPr/>
          </p:nvSpPr>
          <p:spPr>
            <a:xfrm>
              <a:off x="1370750" y="3130656"/>
              <a:ext cx="2835201" cy="1038980"/>
            </a:xfrm>
            <a:prstGeom prst="rect">
              <a:avLst/>
            </a:prstGeom>
          </p:spPr>
          <p:txBody>
            <a:bodyPr wrap="square">
              <a:spAutoFit/>
            </a:bodyPr>
            <a:lstStyle/>
            <a:p>
              <a:pPr marL="214313" indent="-214313" algn="r">
                <a:spcAft>
                  <a:spcPts val="450"/>
                </a:spcAft>
                <a:buFont typeface="Arial" panose="020B0604020202020204" pitchFamily="34" charset="0"/>
                <a:buChar char="•"/>
              </a:pPr>
              <a:r>
                <a:rPr lang="en-US" sz="1050" b="1">
                  <a:solidFill>
                    <a:schemeClr val="bg1">
                      <a:lumMod val="50000"/>
                    </a:schemeClr>
                  </a:solidFill>
                  <a:latin typeface="+mj-lt"/>
                  <a:cs typeface="Segoe UI" panose="020B0502040204020203" pitchFamily="34" charset="0"/>
                </a:rPr>
                <a:t> Pilot Execution​</a:t>
              </a:r>
            </a:p>
            <a:p>
              <a:pPr marL="214313" indent="-214313" algn="r">
                <a:spcAft>
                  <a:spcPts val="450"/>
                </a:spcAft>
                <a:buFont typeface="Arial" panose="020B0604020202020204" pitchFamily="34" charset="0"/>
                <a:buChar char="•"/>
              </a:pPr>
              <a:r>
                <a:rPr lang="en-US" sz="1050" b="1">
                  <a:solidFill>
                    <a:schemeClr val="bg1">
                      <a:lumMod val="50000"/>
                    </a:schemeClr>
                  </a:solidFill>
                  <a:latin typeface="+mj-lt"/>
                  <a:cs typeface="Segoe UI" panose="020B0502040204020203" pitchFamily="34" charset="0"/>
                </a:rPr>
                <a:t> Change Management​</a:t>
              </a:r>
            </a:p>
            <a:p>
              <a:pPr marL="214313" indent="-214313" algn="r">
                <a:spcAft>
                  <a:spcPts val="450"/>
                </a:spcAft>
                <a:buFont typeface="Arial" panose="020B0604020202020204" pitchFamily="34" charset="0"/>
                <a:buChar char="•"/>
              </a:pPr>
              <a:r>
                <a:rPr lang="en-US" sz="1050" b="1">
                  <a:solidFill>
                    <a:schemeClr val="bg1">
                      <a:lumMod val="50000"/>
                    </a:schemeClr>
                  </a:solidFill>
                  <a:latin typeface="+mj-lt"/>
                  <a:cs typeface="Segoe UI" panose="020B0502040204020203" pitchFamily="34" charset="0"/>
                </a:rPr>
                <a:t> Scaling Strategy​</a:t>
              </a:r>
            </a:p>
            <a:p>
              <a:pPr marL="214313" indent="-214313" algn="r">
                <a:spcAft>
                  <a:spcPts val="450"/>
                </a:spcAft>
                <a:buFont typeface="Arial" panose="020B0604020202020204" pitchFamily="34" charset="0"/>
                <a:buChar char="•"/>
              </a:pPr>
              <a:r>
                <a:rPr lang="en-US" sz="1050" b="1">
                  <a:solidFill>
                    <a:schemeClr val="bg1">
                      <a:lumMod val="50000"/>
                    </a:schemeClr>
                  </a:solidFill>
                  <a:latin typeface="+mj-lt"/>
                  <a:cs typeface="Segoe UI" panose="020B0502040204020203" pitchFamily="34" charset="0"/>
                </a:rPr>
                <a:t> Continuous Improvement</a:t>
              </a:r>
              <a:endParaRPr lang="en-IN" sz="1050" b="1">
                <a:solidFill>
                  <a:schemeClr val="bg1">
                    <a:lumMod val="50000"/>
                  </a:schemeClr>
                </a:solidFill>
                <a:latin typeface="+mj-lt"/>
                <a:cs typeface="Segoe UI" panose="020B0502040204020203" pitchFamily="34" charset="0"/>
              </a:endParaRPr>
            </a:p>
          </p:txBody>
        </p:sp>
      </p:grpSp>
      <p:pic>
        <p:nvPicPr>
          <p:cNvPr id="80" name="Graphic 79" descr="Abacus with solid fill">
            <a:extLst>
              <a:ext uri="{FF2B5EF4-FFF2-40B4-BE49-F238E27FC236}">
                <a16:creationId xmlns:a16="http://schemas.microsoft.com/office/drawing/2014/main" id="{C3E2ACE8-4CD6-DF4C-4722-1BA30463A51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248098" y="3417515"/>
            <a:ext cx="274556" cy="274556"/>
          </a:xfrm>
          <a:prstGeom prst="rect">
            <a:avLst/>
          </a:prstGeom>
        </p:spPr>
      </p:pic>
      <p:pic>
        <p:nvPicPr>
          <p:cNvPr id="82" name="Graphic 81" descr="Aspiration with solid fill">
            <a:extLst>
              <a:ext uri="{FF2B5EF4-FFF2-40B4-BE49-F238E27FC236}">
                <a16:creationId xmlns:a16="http://schemas.microsoft.com/office/drawing/2014/main" id="{2D3C3160-E8BC-EBB6-FDE0-E79BC6FF9D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2637" y="1935090"/>
            <a:ext cx="345219" cy="345219"/>
          </a:xfrm>
          <a:prstGeom prst="rect">
            <a:avLst/>
          </a:prstGeom>
        </p:spPr>
      </p:pic>
      <p:grpSp>
        <p:nvGrpSpPr>
          <p:cNvPr id="5" name="Group 4">
            <a:extLst>
              <a:ext uri="{FF2B5EF4-FFF2-40B4-BE49-F238E27FC236}">
                <a16:creationId xmlns:a16="http://schemas.microsoft.com/office/drawing/2014/main" id="{FA65B2CB-0CFA-D1A4-45ED-B9C44468AB2E}"/>
              </a:ext>
            </a:extLst>
          </p:cNvPr>
          <p:cNvGrpSpPr/>
          <p:nvPr/>
        </p:nvGrpSpPr>
        <p:grpSpPr>
          <a:xfrm>
            <a:off x="7250149" y="3742028"/>
            <a:ext cx="4681652" cy="671979"/>
            <a:chOff x="11724639" y="6135056"/>
            <a:chExt cx="4493799" cy="895972"/>
          </a:xfrm>
        </p:grpSpPr>
        <p:sp>
          <p:nvSpPr>
            <p:cNvPr id="8" name="Rectangle 7">
              <a:extLst>
                <a:ext uri="{FF2B5EF4-FFF2-40B4-BE49-F238E27FC236}">
                  <a16:creationId xmlns:a16="http://schemas.microsoft.com/office/drawing/2014/main" id="{937FC77D-7864-3E19-E715-520B228872CF}"/>
                </a:ext>
              </a:extLst>
            </p:cNvPr>
            <p:cNvSpPr/>
            <p:nvPr/>
          </p:nvSpPr>
          <p:spPr>
            <a:xfrm>
              <a:off x="11724639" y="6185856"/>
              <a:ext cx="1097280" cy="340067"/>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14350">
                <a:defRPr/>
              </a:pPr>
              <a:r>
                <a:rPr lang="en-US" sz="900" b="1">
                  <a:solidFill>
                    <a:schemeClr val="accent3">
                      <a:lumMod val="75000"/>
                    </a:schemeClr>
                  </a:solidFill>
                  <a:latin typeface="+mj-lt"/>
                </a:rPr>
                <a:t>US Insurance Organization</a:t>
              </a:r>
            </a:p>
            <a:p>
              <a:pPr algn="ctr" defTabSz="514350">
                <a:defRPr/>
              </a:pPr>
              <a:r>
                <a:rPr lang="en-US" sz="900" b="1">
                  <a:solidFill>
                    <a:schemeClr val="accent3">
                      <a:lumMod val="75000"/>
                    </a:schemeClr>
                  </a:solidFill>
                  <a:latin typeface="+mj-lt"/>
                </a:rPr>
                <a:t>(Assurant)</a:t>
              </a:r>
            </a:p>
          </p:txBody>
        </p:sp>
        <p:sp>
          <p:nvSpPr>
            <p:cNvPr id="24" name="TextBox 23">
              <a:extLst>
                <a:ext uri="{FF2B5EF4-FFF2-40B4-BE49-F238E27FC236}">
                  <a16:creationId xmlns:a16="http://schemas.microsoft.com/office/drawing/2014/main" id="{E7C955D3-4F1F-2957-1FC9-B08893CE7A04}"/>
                </a:ext>
              </a:extLst>
            </p:cNvPr>
            <p:cNvSpPr txBox="1"/>
            <p:nvPr/>
          </p:nvSpPr>
          <p:spPr>
            <a:xfrm>
              <a:off x="12704650" y="6135056"/>
              <a:ext cx="3513788" cy="895972"/>
            </a:xfrm>
            <a:prstGeom prst="rect">
              <a:avLst/>
            </a:prstGeom>
            <a:noFill/>
            <a:effectLst/>
          </p:spPr>
          <p:txBody>
            <a:bodyPr wrap="square">
              <a:spAutoFit/>
            </a:bodyPr>
            <a:lstStyle/>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Discovery, Implementation with outcome defined for multiple process interventions in policy and claims across multiple GEOs</a:t>
              </a:r>
            </a:p>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Achieved 95% automation of processes generating 80% efficiency, time reduction and high data accuracy</a:t>
              </a:r>
            </a:p>
          </p:txBody>
        </p:sp>
      </p:grpSp>
      <p:grpSp>
        <p:nvGrpSpPr>
          <p:cNvPr id="28" name="Group 27">
            <a:extLst>
              <a:ext uri="{FF2B5EF4-FFF2-40B4-BE49-F238E27FC236}">
                <a16:creationId xmlns:a16="http://schemas.microsoft.com/office/drawing/2014/main" id="{92A1A451-2545-C6C2-13FD-F0C145BE176E}"/>
              </a:ext>
            </a:extLst>
          </p:cNvPr>
          <p:cNvGrpSpPr/>
          <p:nvPr/>
        </p:nvGrpSpPr>
        <p:grpSpPr>
          <a:xfrm>
            <a:off x="7193587" y="3462347"/>
            <a:ext cx="4800600" cy="205740"/>
            <a:chOff x="1888842" y="1836371"/>
            <a:chExt cx="8242711" cy="274320"/>
          </a:xfrm>
          <a:solidFill>
            <a:schemeClr val="accent3">
              <a:lumMod val="75000"/>
            </a:schemeClr>
          </a:solidFill>
        </p:grpSpPr>
        <p:sp>
          <p:nvSpPr>
            <p:cNvPr id="36" name="Rectangle: Rounded Corners 35">
              <a:extLst>
                <a:ext uri="{FF2B5EF4-FFF2-40B4-BE49-F238E27FC236}">
                  <a16:creationId xmlns:a16="http://schemas.microsoft.com/office/drawing/2014/main" id="{ADFD36CD-5461-2BCA-4C2D-1AFC22303EB2}"/>
                </a:ext>
              </a:extLst>
            </p:cNvPr>
            <p:cNvSpPr/>
            <p:nvPr/>
          </p:nvSpPr>
          <p:spPr>
            <a:xfrm>
              <a:off x="1888842" y="1963807"/>
              <a:ext cx="8229600" cy="457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IN" sz="900">
                <a:solidFill>
                  <a:prstClr val="white"/>
                </a:solidFill>
                <a:latin typeface="Poppins"/>
              </a:endParaRPr>
            </a:p>
          </p:txBody>
        </p:sp>
        <p:sp>
          <p:nvSpPr>
            <p:cNvPr id="39" name="TextBox 38">
              <a:extLst>
                <a:ext uri="{FF2B5EF4-FFF2-40B4-BE49-F238E27FC236}">
                  <a16:creationId xmlns:a16="http://schemas.microsoft.com/office/drawing/2014/main" id="{A1615F89-1E2C-8C4F-1346-B6BE799F94BF}"/>
                </a:ext>
              </a:extLst>
            </p:cNvPr>
            <p:cNvSpPr txBox="1"/>
            <p:nvPr/>
          </p:nvSpPr>
          <p:spPr>
            <a:xfrm>
              <a:off x="4385579" y="1836371"/>
              <a:ext cx="3657600" cy="27432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defRPr/>
              </a:pPr>
              <a:r>
                <a:rPr lang="en-US" sz="1050">
                  <a:solidFill>
                    <a:prstClr val="white"/>
                  </a:solidFill>
                  <a:latin typeface="Poppins"/>
                </a:rPr>
                <a:t>EXPERIENCE</a:t>
              </a:r>
              <a:endParaRPr lang="hi-IN" sz="1050">
                <a:solidFill>
                  <a:prstClr val="white"/>
                </a:solidFill>
                <a:latin typeface="Poppins"/>
              </a:endParaRPr>
            </a:p>
          </p:txBody>
        </p:sp>
        <p:grpSp>
          <p:nvGrpSpPr>
            <p:cNvPr id="42" name="Group 41">
              <a:extLst>
                <a:ext uri="{FF2B5EF4-FFF2-40B4-BE49-F238E27FC236}">
                  <a16:creationId xmlns:a16="http://schemas.microsoft.com/office/drawing/2014/main" id="{458BA582-0DBD-9DCB-83FA-EB4C2F898338}"/>
                </a:ext>
              </a:extLst>
            </p:cNvPr>
            <p:cNvGrpSpPr/>
            <p:nvPr/>
          </p:nvGrpSpPr>
          <p:grpSpPr>
            <a:xfrm>
              <a:off x="1888842" y="1887532"/>
              <a:ext cx="686778" cy="173384"/>
              <a:chOff x="10645552" y="925267"/>
              <a:chExt cx="686778" cy="173384"/>
            </a:xfrm>
            <a:grpFill/>
          </p:grpSpPr>
          <p:sp>
            <p:nvSpPr>
              <p:cNvPr id="60" name="Oval 59">
                <a:extLst>
                  <a:ext uri="{FF2B5EF4-FFF2-40B4-BE49-F238E27FC236}">
                    <a16:creationId xmlns:a16="http://schemas.microsoft.com/office/drawing/2014/main" id="{61C402D3-442D-163A-9897-467C7FEEB973}"/>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1" name="Oval 60">
                <a:extLst>
                  <a:ext uri="{FF2B5EF4-FFF2-40B4-BE49-F238E27FC236}">
                    <a16:creationId xmlns:a16="http://schemas.microsoft.com/office/drawing/2014/main" id="{27132D85-40CF-4356-2E9B-0F619AC4EFD7}"/>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5" name="Oval 64">
                <a:extLst>
                  <a:ext uri="{FF2B5EF4-FFF2-40B4-BE49-F238E27FC236}">
                    <a16:creationId xmlns:a16="http://schemas.microsoft.com/office/drawing/2014/main" id="{BC61324C-63A2-AF7A-B062-3B9BDBC5A497}"/>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43" name="Group 42">
              <a:extLst>
                <a:ext uri="{FF2B5EF4-FFF2-40B4-BE49-F238E27FC236}">
                  <a16:creationId xmlns:a16="http://schemas.microsoft.com/office/drawing/2014/main" id="{2411100F-C852-2461-205F-634A29D0FDC1}"/>
                </a:ext>
              </a:extLst>
            </p:cNvPr>
            <p:cNvGrpSpPr/>
            <p:nvPr/>
          </p:nvGrpSpPr>
          <p:grpSpPr>
            <a:xfrm>
              <a:off x="9444775" y="1898957"/>
              <a:ext cx="686778" cy="173384"/>
              <a:chOff x="10645552" y="925267"/>
              <a:chExt cx="686778" cy="173384"/>
            </a:xfrm>
            <a:grpFill/>
          </p:grpSpPr>
          <p:sp>
            <p:nvSpPr>
              <p:cNvPr id="47" name="Oval 46">
                <a:extLst>
                  <a:ext uri="{FF2B5EF4-FFF2-40B4-BE49-F238E27FC236}">
                    <a16:creationId xmlns:a16="http://schemas.microsoft.com/office/drawing/2014/main" id="{4CF10A28-5620-AE3A-E69F-3ED36EC643FC}"/>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8" name="Oval 57">
                <a:extLst>
                  <a:ext uri="{FF2B5EF4-FFF2-40B4-BE49-F238E27FC236}">
                    <a16:creationId xmlns:a16="http://schemas.microsoft.com/office/drawing/2014/main" id="{263488C4-9C98-DCA1-8875-7BD388D6B338}"/>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9" name="Oval 58">
                <a:extLst>
                  <a:ext uri="{FF2B5EF4-FFF2-40B4-BE49-F238E27FC236}">
                    <a16:creationId xmlns:a16="http://schemas.microsoft.com/office/drawing/2014/main" id="{60F571CE-55A6-1319-0392-A667CAF81C8F}"/>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grpSp>
        <p:nvGrpSpPr>
          <p:cNvPr id="84" name="Group 83">
            <a:extLst>
              <a:ext uri="{FF2B5EF4-FFF2-40B4-BE49-F238E27FC236}">
                <a16:creationId xmlns:a16="http://schemas.microsoft.com/office/drawing/2014/main" id="{2585CECC-C3E2-DCC0-BCE1-C2C065EBCB84}"/>
              </a:ext>
            </a:extLst>
          </p:cNvPr>
          <p:cNvGrpSpPr/>
          <p:nvPr/>
        </p:nvGrpSpPr>
        <p:grpSpPr>
          <a:xfrm>
            <a:off x="7240624" y="4580224"/>
            <a:ext cx="4681652" cy="671979"/>
            <a:chOff x="11724639" y="6135056"/>
            <a:chExt cx="4493799" cy="895973"/>
          </a:xfrm>
        </p:grpSpPr>
        <p:sp>
          <p:nvSpPr>
            <p:cNvPr id="85" name="Rectangle 84">
              <a:extLst>
                <a:ext uri="{FF2B5EF4-FFF2-40B4-BE49-F238E27FC236}">
                  <a16:creationId xmlns:a16="http://schemas.microsoft.com/office/drawing/2014/main" id="{ACCCEE0B-14FA-F03B-E3B2-6819744A2A81}"/>
                </a:ext>
              </a:extLst>
            </p:cNvPr>
            <p:cNvSpPr/>
            <p:nvPr/>
          </p:nvSpPr>
          <p:spPr>
            <a:xfrm>
              <a:off x="11724639" y="6287456"/>
              <a:ext cx="1097280" cy="340067"/>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14350">
                <a:defRPr/>
              </a:pPr>
              <a:r>
                <a:rPr lang="en-US" sz="900" b="1">
                  <a:solidFill>
                    <a:schemeClr val="accent3">
                      <a:lumMod val="75000"/>
                    </a:schemeClr>
                  </a:solidFill>
                  <a:latin typeface="+mj-lt"/>
                </a:rPr>
                <a:t>US Investment Management Organization</a:t>
              </a:r>
            </a:p>
            <a:p>
              <a:pPr algn="ctr" defTabSz="514350">
                <a:defRPr/>
              </a:pPr>
              <a:r>
                <a:rPr lang="en-US" sz="900" b="1">
                  <a:solidFill>
                    <a:schemeClr val="accent3">
                      <a:lumMod val="75000"/>
                    </a:schemeClr>
                  </a:solidFill>
                  <a:latin typeface="+mj-lt"/>
                </a:rPr>
                <a:t>(Voya)</a:t>
              </a:r>
            </a:p>
          </p:txBody>
        </p:sp>
        <p:sp>
          <p:nvSpPr>
            <p:cNvPr id="86" name="TextBox 85">
              <a:extLst>
                <a:ext uri="{FF2B5EF4-FFF2-40B4-BE49-F238E27FC236}">
                  <a16:creationId xmlns:a16="http://schemas.microsoft.com/office/drawing/2014/main" id="{37C75D48-86CA-835F-02A8-D47004CED019}"/>
                </a:ext>
              </a:extLst>
            </p:cNvPr>
            <p:cNvSpPr txBox="1"/>
            <p:nvPr/>
          </p:nvSpPr>
          <p:spPr>
            <a:xfrm>
              <a:off x="12704650" y="6135056"/>
              <a:ext cx="3513788" cy="895973"/>
            </a:xfrm>
            <a:prstGeom prst="rect">
              <a:avLst/>
            </a:prstGeom>
            <a:noFill/>
            <a:effectLst/>
          </p:spPr>
          <p:txBody>
            <a:bodyPr wrap="square">
              <a:spAutoFit/>
            </a:bodyPr>
            <a:lstStyle/>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Defines and establish AI led processes for legal &amp; contract division.</a:t>
              </a:r>
            </a:p>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Achieved 100% automated data processing for complex legal documents, reduced processing time from ~3.5 hours to ~2 min</a:t>
              </a:r>
            </a:p>
          </p:txBody>
        </p:sp>
      </p:grpSp>
      <p:grpSp>
        <p:nvGrpSpPr>
          <p:cNvPr id="87" name="Group 86">
            <a:extLst>
              <a:ext uri="{FF2B5EF4-FFF2-40B4-BE49-F238E27FC236}">
                <a16:creationId xmlns:a16="http://schemas.microsoft.com/office/drawing/2014/main" id="{2B691AD0-6B57-D3B3-D051-C4034F09809B}"/>
              </a:ext>
            </a:extLst>
          </p:cNvPr>
          <p:cNvGrpSpPr/>
          <p:nvPr/>
        </p:nvGrpSpPr>
        <p:grpSpPr>
          <a:xfrm>
            <a:off x="7250149" y="5351752"/>
            <a:ext cx="4681652" cy="671979"/>
            <a:chOff x="11724639" y="6135056"/>
            <a:chExt cx="4493799" cy="895971"/>
          </a:xfrm>
        </p:grpSpPr>
        <p:sp>
          <p:nvSpPr>
            <p:cNvPr id="88" name="Rectangle 87">
              <a:extLst>
                <a:ext uri="{FF2B5EF4-FFF2-40B4-BE49-F238E27FC236}">
                  <a16:creationId xmlns:a16="http://schemas.microsoft.com/office/drawing/2014/main" id="{11F99A41-2CD3-0D4B-737D-50FFE2054598}"/>
                </a:ext>
              </a:extLst>
            </p:cNvPr>
            <p:cNvSpPr/>
            <p:nvPr/>
          </p:nvSpPr>
          <p:spPr>
            <a:xfrm>
              <a:off x="11724639" y="6198258"/>
              <a:ext cx="1097280" cy="340067"/>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14350">
                <a:defRPr/>
              </a:pPr>
              <a:r>
                <a:rPr lang="en-US" sz="900" b="1">
                  <a:solidFill>
                    <a:schemeClr val="accent3">
                      <a:lumMod val="75000"/>
                    </a:schemeClr>
                  </a:solidFill>
                  <a:latin typeface="+mj-lt"/>
                </a:rPr>
                <a:t>UK Semiconductor Organization</a:t>
              </a:r>
            </a:p>
            <a:p>
              <a:pPr algn="ctr" defTabSz="514350">
                <a:defRPr/>
              </a:pPr>
              <a:r>
                <a:rPr lang="en-US" sz="900" b="1">
                  <a:solidFill>
                    <a:schemeClr val="accent3">
                      <a:lumMod val="75000"/>
                    </a:schemeClr>
                  </a:solidFill>
                  <a:latin typeface="+mj-lt"/>
                </a:rPr>
                <a:t>(ARM)</a:t>
              </a:r>
            </a:p>
          </p:txBody>
        </p:sp>
        <p:sp>
          <p:nvSpPr>
            <p:cNvPr id="89" name="TextBox 88">
              <a:extLst>
                <a:ext uri="{FF2B5EF4-FFF2-40B4-BE49-F238E27FC236}">
                  <a16:creationId xmlns:a16="http://schemas.microsoft.com/office/drawing/2014/main" id="{10C528E4-010C-B62D-7871-5354209894F0}"/>
                </a:ext>
              </a:extLst>
            </p:cNvPr>
            <p:cNvSpPr txBox="1"/>
            <p:nvPr/>
          </p:nvSpPr>
          <p:spPr>
            <a:xfrm>
              <a:off x="12704650" y="6135056"/>
              <a:ext cx="3513788" cy="895971"/>
            </a:xfrm>
            <a:prstGeom prst="rect">
              <a:avLst/>
            </a:prstGeom>
            <a:noFill/>
            <a:effectLst/>
          </p:spPr>
          <p:txBody>
            <a:bodyPr wrap="square">
              <a:spAutoFit/>
            </a:bodyPr>
            <a:lstStyle/>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Defined and established AI CoE with outcome to be delivered around risk and governance</a:t>
              </a:r>
            </a:p>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Standardized the architectural design best practices, tooling choices and technologies.</a:t>
              </a:r>
            </a:p>
          </p:txBody>
        </p:sp>
      </p:grpSp>
    </p:spTree>
    <p:extLst>
      <p:ext uri="{BB962C8B-B14F-4D97-AF65-F5344CB8AC3E}">
        <p14:creationId xmlns:p14="http://schemas.microsoft.com/office/powerpoint/2010/main" val="3836865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6DE95-AAB2-70B7-A92B-BB75299AED3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50E61F0-D6C6-041F-513A-99FBF37448A1}"/>
              </a:ext>
            </a:extLst>
          </p:cNvPr>
          <p:cNvSpPr>
            <a:spLocks noGrp="1"/>
          </p:cNvSpPr>
          <p:nvPr>
            <p:ph type="title"/>
          </p:nvPr>
        </p:nvSpPr>
        <p:spPr/>
        <p:txBody>
          <a:bodyPr>
            <a:normAutofit/>
          </a:bodyPr>
          <a:lstStyle/>
          <a:p>
            <a:r>
              <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AI Foundation: </a:t>
            </a:r>
            <a:r>
              <a:rPr lang="en-US"/>
              <a:t>Our </a:t>
            </a:r>
            <a:r>
              <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areas of focus </a:t>
            </a:r>
            <a:r>
              <a:rPr lang="en-US"/>
              <a:t>in setting up the AI foundation</a:t>
            </a:r>
            <a:endPar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B6F6CCBF-571D-652D-E416-34E943894943}"/>
              </a:ext>
            </a:extLst>
          </p:cNvPr>
          <p:cNvSpPr/>
          <p:nvPr/>
        </p:nvSpPr>
        <p:spPr>
          <a:xfrm>
            <a:off x="622417" y="7028651"/>
            <a:ext cx="2523642" cy="36101"/>
          </a:xfrm>
          <a:prstGeom prst="rect">
            <a:avLst/>
          </a:prstGeom>
          <a:solidFill>
            <a:srgbClr val="0F1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18">
              <a:latin typeface="+mj-lt"/>
            </a:endParaRPr>
          </a:p>
        </p:txBody>
      </p:sp>
      <p:sp>
        <p:nvSpPr>
          <p:cNvPr id="2" name="Rounded Rectangle 13">
            <a:extLst>
              <a:ext uri="{FF2B5EF4-FFF2-40B4-BE49-F238E27FC236}">
                <a16:creationId xmlns:a16="http://schemas.microsoft.com/office/drawing/2014/main" id="{AA822477-2D1D-A2A8-FC9D-2A6029E3A75A}"/>
              </a:ext>
            </a:extLst>
          </p:cNvPr>
          <p:cNvSpPr/>
          <p:nvPr/>
        </p:nvSpPr>
        <p:spPr>
          <a:xfrm>
            <a:off x="200026" y="1244985"/>
            <a:ext cx="7543800" cy="411480"/>
          </a:xfrm>
          <a:prstGeom prst="roundRect">
            <a:avLst/>
          </a:prstGeom>
          <a:gradFill rotWithShape="0">
            <a:gsLst>
              <a:gs pos="0">
                <a:srgbClr val="082340">
                  <a:hueOff val="0"/>
                  <a:satOff val="0"/>
                  <a:lumOff val="0"/>
                  <a:alphaOff val="0"/>
                  <a:satMod val="103000"/>
                  <a:lumMod val="102000"/>
                  <a:tint val="94000"/>
                </a:srgbClr>
              </a:gs>
              <a:gs pos="50000">
                <a:srgbClr val="082340">
                  <a:hueOff val="0"/>
                  <a:satOff val="0"/>
                  <a:lumOff val="0"/>
                  <a:alphaOff val="0"/>
                  <a:satMod val="110000"/>
                  <a:lumMod val="100000"/>
                  <a:shade val="100000"/>
                </a:srgbClr>
              </a:gs>
              <a:gs pos="100000">
                <a:srgbClr val="082340">
                  <a:hueOff val="0"/>
                  <a:satOff val="0"/>
                  <a:lumOff val="0"/>
                  <a:alphaOff val="0"/>
                  <a:lumMod val="99000"/>
                  <a:satMod val="120000"/>
                  <a:shade val="78000"/>
                </a:srgbClr>
              </a:gs>
            </a:gsLst>
            <a:lin ang="5400000" scaled="0"/>
          </a:gradFill>
          <a:ln>
            <a:noFill/>
          </a:ln>
          <a:effectLst/>
        </p:spPr>
        <p:txBody>
          <a:bodyPr spcFirstLastPara="0" vert="horz" wrap="square" lIns="22860" tIns="17145" rIns="22860" bIns="17145" numCol="1" spcCol="1270" anchor="ctr" anchorCtr="0">
            <a:noAutofit/>
          </a:bodyPr>
          <a:lstStyle/>
          <a:p>
            <a:pPr algn="ctr"/>
            <a:r>
              <a:rPr lang="en-US" sz="1050" b="1">
                <a:solidFill>
                  <a:schemeClr val="bg1"/>
                </a:solidFill>
              </a:rPr>
              <a:t>AI Foundation</a:t>
            </a:r>
          </a:p>
        </p:txBody>
      </p:sp>
      <p:graphicFrame>
        <p:nvGraphicFramePr>
          <p:cNvPr id="3" name="Diagram 2">
            <a:extLst>
              <a:ext uri="{FF2B5EF4-FFF2-40B4-BE49-F238E27FC236}">
                <a16:creationId xmlns:a16="http://schemas.microsoft.com/office/drawing/2014/main" id="{B6370394-3C39-F535-C57D-2BB6C66476F1}"/>
              </a:ext>
            </a:extLst>
          </p:cNvPr>
          <p:cNvGraphicFramePr/>
          <p:nvPr/>
        </p:nvGraphicFramePr>
        <p:xfrm>
          <a:off x="200026" y="1695654"/>
          <a:ext cx="7553324" cy="39554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8" name="Group 17">
            <a:extLst>
              <a:ext uri="{FF2B5EF4-FFF2-40B4-BE49-F238E27FC236}">
                <a16:creationId xmlns:a16="http://schemas.microsoft.com/office/drawing/2014/main" id="{A4A2E2FE-63CD-F567-BDED-AE311370086F}"/>
              </a:ext>
            </a:extLst>
          </p:cNvPr>
          <p:cNvGrpSpPr/>
          <p:nvPr/>
        </p:nvGrpSpPr>
        <p:grpSpPr>
          <a:xfrm>
            <a:off x="7957841" y="1252414"/>
            <a:ext cx="4114800" cy="205740"/>
            <a:chOff x="1888842" y="1836371"/>
            <a:chExt cx="8242711" cy="274320"/>
          </a:xfrm>
          <a:solidFill>
            <a:schemeClr val="accent2"/>
          </a:solidFill>
        </p:grpSpPr>
        <p:sp>
          <p:nvSpPr>
            <p:cNvPr id="19" name="Rectangle: Rounded Corners 18">
              <a:extLst>
                <a:ext uri="{FF2B5EF4-FFF2-40B4-BE49-F238E27FC236}">
                  <a16:creationId xmlns:a16="http://schemas.microsoft.com/office/drawing/2014/main" id="{8A04A42E-5BDA-AA9A-4914-AEE5175036B1}"/>
                </a:ext>
              </a:extLst>
            </p:cNvPr>
            <p:cNvSpPr/>
            <p:nvPr/>
          </p:nvSpPr>
          <p:spPr>
            <a:xfrm>
              <a:off x="1888842" y="1963807"/>
              <a:ext cx="8229600" cy="457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IN" sz="900">
                <a:solidFill>
                  <a:prstClr val="white"/>
                </a:solidFill>
                <a:latin typeface="Poppins"/>
              </a:endParaRPr>
            </a:p>
          </p:txBody>
        </p:sp>
        <p:sp>
          <p:nvSpPr>
            <p:cNvPr id="21" name="TextBox 20">
              <a:extLst>
                <a:ext uri="{FF2B5EF4-FFF2-40B4-BE49-F238E27FC236}">
                  <a16:creationId xmlns:a16="http://schemas.microsoft.com/office/drawing/2014/main" id="{280F0F2D-D99D-82DA-7123-49FE161DFB2F}"/>
                </a:ext>
              </a:extLst>
            </p:cNvPr>
            <p:cNvSpPr txBox="1"/>
            <p:nvPr/>
          </p:nvSpPr>
          <p:spPr>
            <a:xfrm>
              <a:off x="4385579" y="1836371"/>
              <a:ext cx="3657600" cy="27432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defRPr/>
              </a:pPr>
              <a:r>
                <a:rPr lang="en-US" sz="1050">
                  <a:solidFill>
                    <a:prstClr val="white"/>
                  </a:solidFill>
                  <a:latin typeface="Poppins"/>
                </a:rPr>
                <a:t>ASSETS</a:t>
              </a:r>
              <a:endParaRPr lang="hi-IN" sz="1050">
                <a:solidFill>
                  <a:prstClr val="white"/>
                </a:solidFill>
                <a:latin typeface="Poppins"/>
              </a:endParaRPr>
            </a:p>
          </p:txBody>
        </p:sp>
        <p:grpSp>
          <p:nvGrpSpPr>
            <p:cNvPr id="22" name="Group 21">
              <a:extLst>
                <a:ext uri="{FF2B5EF4-FFF2-40B4-BE49-F238E27FC236}">
                  <a16:creationId xmlns:a16="http://schemas.microsoft.com/office/drawing/2014/main" id="{6BF7337F-A201-9857-000F-4A20DFCDDEDB}"/>
                </a:ext>
              </a:extLst>
            </p:cNvPr>
            <p:cNvGrpSpPr/>
            <p:nvPr/>
          </p:nvGrpSpPr>
          <p:grpSpPr>
            <a:xfrm>
              <a:off x="1888842" y="1887532"/>
              <a:ext cx="686778" cy="173384"/>
              <a:chOff x="10645552" y="925267"/>
              <a:chExt cx="686778" cy="173384"/>
            </a:xfrm>
            <a:grpFill/>
          </p:grpSpPr>
          <p:sp>
            <p:nvSpPr>
              <p:cNvPr id="27" name="Oval 26">
                <a:extLst>
                  <a:ext uri="{FF2B5EF4-FFF2-40B4-BE49-F238E27FC236}">
                    <a16:creationId xmlns:a16="http://schemas.microsoft.com/office/drawing/2014/main" id="{273138D9-F8E7-0432-F5AC-562CB70A44BC}"/>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8" name="Oval 27">
                <a:extLst>
                  <a:ext uri="{FF2B5EF4-FFF2-40B4-BE49-F238E27FC236}">
                    <a16:creationId xmlns:a16="http://schemas.microsoft.com/office/drawing/2014/main" id="{C439B801-F706-91DD-3B80-FCD60DE41FF5}"/>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7" name="Oval 36">
                <a:extLst>
                  <a:ext uri="{FF2B5EF4-FFF2-40B4-BE49-F238E27FC236}">
                    <a16:creationId xmlns:a16="http://schemas.microsoft.com/office/drawing/2014/main" id="{0F11C8B3-AC0D-AAAC-0AF3-3A3A42FB545E}"/>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3" name="Group 22">
              <a:extLst>
                <a:ext uri="{FF2B5EF4-FFF2-40B4-BE49-F238E27FC236}">
                  <a16:creationId xmlns:a16="http://schemas.microsoft.com/office/drawing/2014/main" id="{8E9458E7-B398-2794-E65A-AF7FC862A7A3}"/>
                </a:ext>
              </a:extLst>
            </p:cNvPr>
            <p:cNvGrpSpPr/>
            <p:nvPr/>
          </p:nvGrpSpPr>
          <p:grpSpPr>
            <a:xfrm>
              <a:off x="9444775" y="1898957"/>
              <a:ext cx="686778" cy="173384"/>
              <a:chOff x="10645552" y="925267"/>
              <a:chExt cx="686778" cy="173384"/>
            </a:xfrm>
            <a:grpFill/>
          </p:grpSpPr>
          <p:sp>
            <p:nvSpPr>
              <p:cNvPr id="24" name="Oval 23">
                <a:extLst>
                  <a:ext uri="{FF2B5EF4-FFF2-40B4-BE49-F238E27FC236}">
                    <a16:creationId xmlns:a16="http://schemas.microsoft.com/office/drawing/2014/main" id="{D7BDE68B-7B74-BE97-343C-A383DE9BCEAF}"/>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5" name="Oval 24">
                <a:extLst>
                  <a:ext uri="{FF2B5EF4-FFF2-40B4-BE49-F238E27FC236}">
                    <a16:creationId xmlns:a16="http://schemas.microsoft.com/office/drawing/2014/main" id="{2EB46477-CD7C-3DCE-C664-C13F6E9EA049}"/>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6" name="Oval 25">
                <a:extLst>
                  <a:ext uri="{FF2B5EF4-FFF2-40B4-BE49-F238E27FC236}">
                    <a16:creationId xmlns:a16="http://schemas.microsoft.com/office/drawing/2014/main" id="{C647544B-1486-D130-8A3B-D14FF400B521}"/>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grpSp>
        <p:nvGrpSpPr>
          <p:cNvPr id="70" name="Group 69">
            <a:extLst>
              <a:ext uri="{FF2B5EF4-FFF2-40B4-BE49-F238E27FC236}">
                <a16:creationId xmlns:a16="http://schemas.microsoft.com/office/drawing/2014/main" id="{BE7A92A3-8586-35DE-0D65-922D4387E5AB}"/>
              </a:ext>
            </a:extLst>
          </p:cNvPr>
          <p:cNvGrpSpPr/>
          <p:nvPr/>
        </p:nvGrpSpPr>
        <p:grpSpPr>
          <a:xfrm>
            <a:off x="8236022" y="1553260"/>
            <a:ext cx="1714500" cy="2194560"/>
            <a:chOff x="12054258" y="2205127"/>
            <a:chExt cx="1832976" cy="2665057"/>
          </a:xfrm>
        </p:grpSpPr>
        <p:sp>
          <p:nvSpPr>
            <p:cNvPr id="38" name="Rectangle 37">
              <a:extLst>
                <a:ext uri="{FF2B5EF4-FFF2-40B4-BE49-F238E27FC236}">
                  <a16:creationId xmlns:a16="http://schemas.microsoft.com/office/drawing/2014/main" id="{75A473F2-6F27-E6BD-F686-5539320CC2C6}"/>
                </a:ext>
              </a:extLst>
            </p:cNvPr>
            <p:cNvSpPr/>
            <p:nvPr/>
          </p:nvSpPr>
          <p:spPr>
            <a:xfrm>
              <a:off x="12056346" y="2205127"/>
              <a:ext cx="1828800" cy="4572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Pre-built Industry-Specific AI Solutions</a:t>
              </a:r>
            </a:p>
          </p:txBody>
        </p:sp>
        <p:sp>
          <p:nvSpPr>
            <p:cNvPr id="40" name="Rectangle 39">
              <a:extLst>
                <a:ext uri="{FF2B5EF4-FFF2-40B4-BE49-F238E27FC236}">
                  <a16:creationId xmlns:a16="http://schemas.microsoft.com/office/drawing/2014/main" id="{ABC39543-147F-8BE7-372D-16E29489E2CE}"/>
                </a:ext>
              </a:extLst>
            </p:cNvPr>
            <p:cNvSpPr/>
            <p:nvPr/>
          </p:nvSpPr>
          <p:spPr>
            <a:xfrm>
              <a:off x="12058434" y="2754183"/>
              <a:ext cx="1828800" cy="4572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Ready-to-Deploy AI Accelerators</a:t>
              </a:r>
            </a:p>
          </p:txBody>
        </p:sp>
        <p:sp>
          <p:nvSpPr>
            <p:cNvPr id="42" name="Rectangle 41">
              <a:extLst>
                <a:ext uri="{FF2B5EF4-FFF2-40B4-BE49-F238E27FC236}">
                  <a16:creationId xmlns:a16="http://schemas.microsoft.com/office/drawing/2014/main" id="{DFAB1C29-79ED-E786-DC8B-7BA8CA724D8F}"/>
                </a:ext>
              </a:extLst>
            </p:cNvPr>
            <p:cNvSpPr/>
            <p:nvPr/>
          </p:nvSpPr>
          <p:spPr>
            <a:xfrm>
              <a:off x="12054258" y="3302680"/>
              <a:ext cx="1828800" cy="4572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Vectorization Libraries</a:t>
              </a:r>
            </a:p>
          </p:txBody>
        </p:sp>
        <p:sp>
          <p:nvSpPr>
            <p:cNvPr id="44" name="Rectangle 43">
              <a:extLst>
                <a:ext uri="{FF2B5EF4-FFF2-40B4-BE49-F238E27FC236}">
                  <a16:creationId xmlns:a16="http://schemas.microsoft.com/office/drawing/2014/main" id="{108238BB-FEA2-BA56-2B9A-BFEDA7F0C5FE}"/>
                </a:ext>
              </a:extLst>
            </p:cNvPr>
            <p:cNvSpPr/>
            <p:nvPr/>
          </p:nvSpPr>
          <p:spPr>
            <a:xfrm>
              <a:off x="12056346" y="3863928"/>
              <a:ext cx="1828800" cy="4572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Cloud Infrastructure Blueprints</a:t>
              </a:r>
            </a:p>
          </p:txBody>
        </p:sp>
        <p:sp>
          <p:nvSpPr>
            <p:cNvPr id="46" name="Rectangle 45">
              <a:extLst>
                <a:ext uri="{FF2B5EF4-FFF2-40B4-BE49-F238E27FC236}">
                  <a16:creationId xmlns:a16="http://schemas.microsoft.com/office/drawing/2014/main" id="{504943C9-0487-6544-7757-463C0AC6F6C5}"/>
                </a:ext>
              </a:extLst>
            </p:cNvPr>
            <p:cNvSpPr/>
            <p:nvPr/>
          </p:nvSpPr>
          <p:spPr>
            <a:xfrm>
              <a:off x="12058434" y="4412984"/>
              <a:ext cx="1828800" cy="4572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Data Infrastructure Blueprints</a:t>
              </a:r>
            </a:p>
          </p:txBody>
        </p:sp>
      </p:grpSp>
      <p:grpSp>
        <p:nvGrpSpPr>
          <p:cNvPr id="71" name="Group 70">
            <a:extLst>
              <a:ext uri="{FF2B5EF4-FFF2-40B4-BE49-F238E27FC236}">
                <a16:creationId xmlns:a16="http://schemas.microsoft.com/office/drawing/2014/main" id="{C4C4E3FB-7A51-98BF-2FAE-4AD2BE59690A}"/>
              </a:ext>
            </a:extLst>
          </p:cNvPr>
          <p:cNvGrpSpPr/>
          <p:nvPr/>
        </p:nvGrpSpPr>
        <p:grpSpPr>
          <a:xfrm>
            <a:off x="10120884" y="1553261"/>
            <a:ext cx="1714500" cy="2194560"/>
            <a:chOff x="13994384" y="2205127"/>
            <a:chExt cx="1832976" cy="2665057"/>
          </a:xfrm>
        </p:grpSpPr>
        <p:sp>
          <p:nvSpPr>
            <p:cNvPr id="39" name="Rectangle 38">
              <a:extLst>
                <a:ext uri="{FF2B5EF4-FFF2-40B4-BE49-F238E27FC236}">
                  <a16:creationId xmlns:a16="http://schemas.microsoft.com/office/drawing/2014/main" id="{18454967-DF69-6D32-B021-ED6A06DFAAAD}"/>
                </a:ext>
              </a:extLst>
            </p:cNvPr>
            <p:cNvSpPr/>
            <p:nvPr/>
          </p:nvSpPr>
          <p:spPr>
            <a:xfrm>
              <a:off x="13996472" y="2205127"/>
              <a:ext cx="1828800" cy="4572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900" b="1">
                  <a:solidFill>
                    <a:prstClr val="black"/>
                  </a:solidFill>
                  <a:latin typeface="+mj-lt"/>
                </a:rPr>
                <a:t>AI Sandboxes and Innovation Lab</a:t>
              </a:r>
            </a:p>
          </p:txBody>
        </p:sp>
        <p:sp>
          <p:nvSpPr>
            <p:cNvPr id="41" name="Rectangle 40">
              <a:extLst>
                <a:ext uri="{FF2B5EF4-FFF2-40B4-BE49-F238E27FC236}">
                  <a16:creationId xmlns:a16="http://schemas.microsoft.com/office/drawing/2014/main" id="{7238F07A-C25C-6613-7700-FFEED1CDEDF3}"/>
                </a:ext>
              </a:extLst>
            </p:cNvPr>
            <p:cNvSpPr/>
            <p:nvPr/>
          </p:nvSpPr>
          <p:spPr>
            <a:xfrm>
              <a:off x="13998560" y="2754183"/>
              <a:ext cx="1828800" cy="4572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AI Toolkits and Frameworks</a:t>
              </a:r>
            </a:p>
          </p:txBody>
        </p:sp>
        <p:sp>
          <p:nvSpPr>
            <p:cNvPr id="43" name="Rectangle 42">
              <a:extLst>
                <a:ext uri="{FF2B5EF4-FFF2-40B4-BE49-F238E27FC236}">
                  <a16:creationId xmlns:a16="http://schemas.microsoft.com/office/drawing/2014/main" id="{FE19BF02-D47D-FEE4-595D-49DD36EA6024}"/>
                </a:ext>
              </a:extLst>
            </p:cNvPr>
            <p:cNvSpPr/>
            <p:nvPr/>
          </p:nvSpPr>
          <p:spPr>
            <a:xfrm>
              <a:off x="13994384" y="3302680"/>
              <a:ext cx="1828800" cy="4572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Containerized AI Environments</a:t>
              </a:r>
            </a:p>
          </p:txBody>
        </p:sp>
        <p:sp>
          <p:nvSpPr>
            <p:cNvPr id="45" name="Rectangle 44">
              <a:extLst>
                <a:ext uri="{FF2B5EF4-FFF2-40B4-BE49-F238E27FC236}">
                  <a16:creationId xmlns:a16="http://schemas.microsoft.com/office/drawing/2014/main" id="{268B8D18-9C1E-AA3E-A7AA-17B2BB483421}"/>
                </a:ext>
              </a:extLst>
            </p:cNvPr>
            <p:cNvSpPr/>
            <p:nvPr/>
          </p:nvSpPr>
          <p:spPr>
            <a:xfrm>
              <a:off x="13996472" y="3863928"/>
              <a:ext cx="1828800" cy="4572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Ent. Architecture Blueprints</a:t>
              </a:r>
            </a:p>
          </p:txBody>
        </p:sp>
        <p:sp>
          <p:nvSpPr>
            <p:cNvPr id="47" name="Rectangle 46">
              <a:extLst>
                <a:ext uri="{FF2B5EF4-FFF2-40B4-BE49-F238E27FC236}">
                  <a16:creationId xmlns:a16="http://schemas.microsoft.com/office/drawing/2014/main" id="{EE8D3625-28CE-C65A-692B-D307F1200E8C}"/>
                </a:ext>
              </a:extLst>
            </p:cNvPr>
            <p:cNvSpPr/>
            <p:nvPr/>
          </p:nvSpPr>
          <p:spPr>
            <a:xfrm>
              <a:off x="13998560" y="4412984"/>
              <a:ext cx="1828800" cy="4572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Model Infrastructure Blueprints</a:t>
              </a:r>
            </a:p>
          </p:txBody>
        </p:sp>
      </p:grpSp>
      <p:grpSp>
        <p:nvGrpSpPr>
          <p:cNvPr id="5" name="Group 4">
            <a:extLst>
              <a:ext uri="{FF2B5EF4-FFF2-40B4-BE49-F238E27FC236}">
                <a16:creationId xmlns:a16="http://schemas.microsoft.com/office/drawing/2014/main" id="{AD696E72-5F03-B574-E904-E10AC2C18248}"/>
              </a:ext>
            </a:extLst>
          </p:cNvPr>
          <p:cNvGrpSpPr/>
          <p:nvPr/>
        </p:nvGrpSpPr>
        <p:grpSpPr>
          <a:xfrm>
            <a:off x="200026" y="5690304"/>
            <a:ext cx="7553324" cy="411480"/>
            <a:chOff x="2801915" y="1582635"/>
            <a:chExt cx="1906034" cy="1036119"/>
          </a:xfrm>
          <a:solidFill>
            <a:schemeClr val="bg1">
              <a:lumMod val="95000"/>
            </a:schemeClr>
          </a:solidFill>
        </p:grpSpPr>
        <p:sp>
          <p:nvSpPr>
            <p:cNvPr id="6" name="Rectangle: Rounded Corners 5">
              <a:extLst>
                <a:ext uri="{FF2B5EF4-FFF2-40B4-BE49-F238E27FC236}">
                  <a16:creationId xmlns:a16="http://schemas.microsoft.com/office/drawing/2014/main" id="{A26EC8E1-24A0-C34F-DC3B-41570A59014A}"/>
                </a:ext>
              </a:extLst>
            </p:cNvPr>
            <p:cNvSpPr/>
            <p:nvPr/>
          </p:nvSpPr>
          <p:spPr>
            <a:xfrm>
              <a:off x="2801915" y="1582635"/>
              <a:ext cx="1906034" cy="1036119"/>
            </a:xfrm>
            <a:prstGeom prst="roundRect">
              <a:avLst>
                <a:gd name="adj" fmla="val 10000"/>
              </a:avLst>
            </a:prstGeom>
            <a:grpFill/>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endParaRPr lang="en-US" sz="1050" b="1">
                <a:solidFill>
                  <a:schemeClr val="tx2"/>
                </a:solidFill>
              </a:endParaRPr>
            </a:p>
          </p:txBody>
        </p:sp>
        <p:sp>
          <p:nvSpPr>
            <p:cNvPr id="7" name="Rectangle: Rounded Corners 4">
              <a:extLst>
                <a:ext uri="{FF2B5EF4-FFF2-40B4-BE49-F238E27FC236}">
                  <a16:creationId xmlns:a16="http://schemas.microsoft.com/office/drawing/2014/main" id="{BED9D404-E92E-610A-F982-82D49BEAE030}"/>
                </a:ext>
              </a:extLst>
            </p:cNvPr>
            <p:cNvSpPr txBox="1"/>
            <p:nvPr/>
          </p:nvSpPr>
          <p:spPr>
            <a:xfrm>
              <a:off x="2832262" y="1612982"/>
              <a:ext cx="1845340" cy="97542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24765" tIns="18574" rIns="24765" bIns="18574" numCol="1" spcCol="1270" anchor="ctr" anchorCtr="0">
              <a:noAutofit/>
            </a:bodyPr>
            <a:lstStyle/>
            <a:p>
              <a:pPr algn="ctr" defTabSz="433388">
                <a:lnSpc>
                  <a:spcPct val="90000"/>
                </a:lnSpc>
                <a:spcBef>
                  <a:spcPct val="0"/>
                </a:spcBef>
                <a:spcAft>
                  <a:spcPct val="35000"/>
                </a:spcAft>
              </a:pPr>
              <a:r>
                <a:rPr lang="en-US" sz="825" b="1">
                  <a:solidFill>
                    <a:schemeClr val="tx2"/>
                  </a:solidFill>
                </a:rPr>
                <a:t>Responsible AI Foundation</a:t>
              </a:r>
            </a:p>
          </p:txBody>
        </p:sp>
      </p:grpSp>
      <p:grpSp>
        <p:nvGrpSpPr>
          <p:cNvPr id="36" name="Group 35">
            <a:extLst>
              <a:ext uri="{FF2B5EF4-FFF2-40B4-BE49-F238E27FC236}">
                <a16:creationId xmlns:a16="http://schemas.microsoft.com/office/drawing/2014/main" id="{D3F250D0-2F31-1C81-5814-601D0F8748DE}"/>
              </a:ext>
            </a:extLst>
          </p:cNvPr>
          <p:cNvGrpSpPr/>
          <p:nvPr/>
        </p:nvGrpSpPr>
        <p:grpSpPr>
          <a:xfrm>
            <a:off x="7993876" y="4190520"/>
            <a:ext cx="4001295" cy="974626"/>
            <a:chOff x="11587907" y="6120712"/>
            <a:chExt cx="4882457" cy="1299500"/>
          </a:xfrm>
        </p:grpSpPr>
        <p:sp>
          <p:nvSpPr>
            <p:cNvPr id="81" name="Rectangle 80">
              <a:extLst>
                <a:ext uri="{FF2B5EF4-FFF2-40B4-BE49-F238E27FC236}">
                  <a16:creationId xmlns:a16="http://schemas.microsoft.com/office/drawing/2014/main" id="{834776DB-7475-F0A3-69BD-CB405F679C13}"/>
                </a:ext>
              </a:extLst>
            </p:cNvPr>
            <p:cNvSpPr/>
            <p:nvPr/>
          </p:nvSpPr>
          <p:spPr>
            <a:xfrm>
              <a:off x="11587907" y="6380673"/>
              <a:ext cx="1226000" cy="374954"/>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a:defRPr/>
              </a:pPr>
              <a:r>
                <a:rPr lang="en-US" sz="900" b="1">
                  <a:solidFill>
                    <a:schemeClr val="accent3">
                      <a:lumMod val="75000"/>
                    </a:schemeClr>
                  </a:solidFill>
                  <a:latin typeface="+mj-lt"/>
                </a:rPr>
                <a:t>Travel Technology Major</a:t>
              </a:r>
            </a:p>
          </p:txBody>
        </p:sp>
        <p:sp>
          <p:nvSpPr>
            <p:cNvPr id="82" name="TextBox 51">
              <a:extLst>
                <a:ext uri="{FF2B5EF4-FFF2-40B4-BE49-F238E27FC236}">
                  <a16:creationId xmlns:a16="http://schemas.microsoft.com/office/drawing/2014/main" id="{9E6B1871-1082-6742-4C65-66F63338EC91}"/>
                </a:ext>
              </a:extLst>
            </p:cNvPr>
            <p:cNvSpPr txBox="1"/>
            <p:nvPr/>
          </p:nvSpPr>
          <p:spPr>
            <a:xfrm>
              <a:off x="12704646" y="6120712"/>
              <a:ext cx="3765718" cy="1299500"/>
            </a:xfrm>
            <a:prstGeom prst="rect">
              <a:avLst/>
            </a:prstGeom>
            <a:noFill/>
            <a:effec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Setup </a:t>
              </a:r>
              <a:r>
                <a:rPr lang="en-US" sz="900" err="1">
                  <a:solidFill>
                    <a:prstClr val="black"/>
                  </a:solidFill>
                  <a:latin typeface="+mj-lt"/>
                  <a:cs typeface="Poppins" panose="00000500000000000000" pitchFamily="2" charset="0"/>
                </a:rPr>
                <a:t>GenAI</a:t>
              </a:r>
              <a:r>
                <a:rPr lang="en-US" sz="900">
                  <a:solidFill>
                    <a:prstClr val="black"/>
                  </a:solidFill>
                  <a:latin typeface="+mj-lt"/>
                  <a:cs typeface="Poppins" panose="00000500000000000000" pitchFamily="2" charset="0"/>
                </a:rPr>
                <a:t> foundation using GCP as platform to enable multiple use cases. Involved creating setting up the complete Gen AI life cycle technologies.</a:t>
              </a:r>
            </a:p>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Developed and deployed use cases for cut-down in IT tickets using the platform. </a:t>
              </a:r>
            </a:p>
            <a:p>
              <a:pPr marL="96441" indent="-96441" defTabSz="514350">
                <a:spcAft>
                  <a:spcPts val="169"/>
                </a:spcAft>
                <a:buFont typeface="Arial" panose="020B0604020202020204" pitchFamily="34" charset="0"/>
                <a:buChar char="•"/>
                <a:defRPr/>
              </a:pPr>
              <a:endParaRPr lang="en-US" sz="900">
                <a:solidFill>
                  <a:prstClr val="black"/>
                </a:solidFill>
                <a:latin typeface="+mj-lt"/>
                <a:cs typeface="Poppins" panose="00000500000000000000" pitchFamily="2" charset="0"/>
              </a:endParaRPr>
            </a:p>
          </p:txBody>
        </p:sp>
      </p:grpSp>
      <p:grpSp>
        <p:nvGrpSpPr>
          <p:cNvPr id="48" name="Group 47">
            <a:extLst>
              <a:ext uri="{FF2B5EF4-FFF2-40B4-BE49-F238E27FC236}">
                <a16:creationId xmlns:a16="http://schemas.microsoft.com/office/drawing/2014/main" id="{C55F2734-61B9-9F20-5DF1-315D6FA512B6}"/>
              </a:ext>
            </a:extLst>
          </p:cNvPr>
          <p:cNvGrpSpPr/>
          <p:nvPr/>
        </p:nvGrpSpPr>
        <p:grpSpPr>
          <a:xfrm>
            <a:off x="7889216" y="3921599"/>
            <a:ext cx="4114800" cy="205740"/>
            <a:chOff x="1888842" y="1836371"/>
            <a:chExt cx="8242711" cy="274320"/>
          </a:xfrm>
          <a:solidFill>
            <a:schemeClr val="accent3">
              <a:lumMod val="75000"/>
            </a:schemeClr>
          </a:solidFill>
        </p:grpSpPr>
        <p:sp>
          <p:nvSpPr>
            <p:cNvPr id="69" name="Rectangle: Rounded Corners 68">
              <a:extLst>
                <a:ext uri="{FF2B5EF4-FFF2-40B4-BE49-F238E27FC236}">
                  <a16:creationId xmlns:a16="http://schemas.microsoft.com/office/drawing/2014/main" id="{513030CC-CC42-E931-8C60-CF1F8B20A096}"/>
                </a:ext>
              </a:extLst>
            </p:cNvPr>
            <p:cNvSpPr/>
            <p:nvPr/>
          </p:nvSpPr>
          <p:spPr>
            <a:xfrm>
              <a:off x="1888842" y="1963807"/>
              <a:ext cx="8229600" cy="457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en-IN" sz="900">
                <a:solidFill>
                  <a:prstClr val="white"/>
                </a:solidFill>
                <a:latin typeface="Poppins"/>
              </a:endParaRPr>
            </a:p>
          </p:txBody>
        </p:sp>
        <p:sp>
          <p:nvSpPr>
            <p:cNvPr id="72" name="TextBox 54">
              <a:extLst>
                <a:ext uri="{FF2B5EF4-FFF2-40B4-BE49-F238E27FC236}">
                  <a16:creationId xmlns:a16="http://schemas.microsoft.com/office/drawing/2014/main" id="{D1FE8344-1A2D-7631-DBB6-CCA6A4B348B5}"/>
                </a:ext>
              </a:extLst>
            </p:cNvPr>
            <p:cNvSpPr txBox="1"/>
            <p:nvPr/>
          </p:nvSpPr>
          <p:spPr>
            <a:xfrm>
              <a:off x="4385579" y="1836371"/>
              <a:ext cx="3657600" cy="27432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ctr"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685800">
                <a:defRPr/>
              </a:pPr>
              <a:r>
                <a:rPr lang="en-US" sz="1050">
                  <a:solidFill>
                    <a:prstClr val="white"/>
                  </a:solidFill>
                  <a:latin typeface="Poppins"/>
                </a:rPr>
                <a:t>EXPERIENCE</a:t>
              </a:r>
              <a:endParaRPr lang="hi-IN" sz="1050">
                <a:solidFill>
                  <a:prstClr val="white"/>
                </a:solidFill>
                <a:latin typeface="Poppins"/>
              </a:endParaRPr>
            </a:p>
          </p:txBody>
        </p:sp>
        <p:grpSp>
          <p:nvGrpSpPr>
            <p:cNvPr id="73" name="Group 72">
              <a:extLst>
                <a:ext uri="{FF2B5EF4-FFF2-40B4-BE49-F238E27FC236}">
                  <a16:creationId xmlns:a16="http://schemas.microsoft.com/office/drawing/2014/main" id="{D8839C48-2EC2-37BC-8870-D11B6EE51729}"/>
                </a:ext>
              </a:extLst>
            </p:cNvPr>
            <p:cNvGrpSpPr/>
            <p:nvPr/>
          </p:nvGrpSpPr>
          <p:grpSpPr>
            <a:xfrm>
              <a:off x="1888842" y="1887532"/>
              <a:ext cx="686778" cy="173384"/>
              <a:chOff x="10645552" y="925267"/>
              <a:chExt cx="686778" cy="173384"/>
            </a:xfrm>
            <a:grpFill/>
          </p:grpSpPr>
          <p:sp>
            <p:nvSpPr>
              <p:cNvPr id="78" name="Oval 77">
                <a:extLst>
                  <a:ext uri="{FF2B5EF4-FFF2-40B4-BE49-F238E27FC236}">
                    <a16:creationId xmlns:a16="http://schemas.microsoft.com/office/drawing/2014/main" id="{C4C13B05-B808-9086-77C5-B0E1ED4A242F}"/>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p>
            </p:txBody>
          </p:sp>
          <p:sp>
            <p:nvSpPr>
              <p:cNvPr id="79" name="Oval 78">
                <a:extLst>
                  <a:ext uri="{FF2B5EF4-FFF2-40B4-BE49-F238E27FC236}">
                    <a16:creationId xmlns:a16="http://schemas.microsoft.com/office/drawing/2014/main" id="{2211D366-75F8-B2B3-211B-D0B6ED549E7C}"/>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p>
            </p:txBody>
          </p:sp>
          <p:sp>
            <p:nvSpPr>
              <p:cNvPr id="80" name="Oval 79">
                <a:extLst>
                  <a:ext uri="{FF2B5EF4-FFF2-40B4-BE49-F238E27FC236}">
                    <a16:creationId xmlns:a16="http://schemas.microsoft.com/office/drawing/2014/main" id="{CC06C257-342E-88FB-481F-E687FC5232C6}"/>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p>
            </p:txBody>
          </p:sp>
        </p:grpSp>
        <p:grpSp>
          <p:nvGrpSpPr>
            <p:cNvPr id="74" name="Group 73">
              <a:extLst>
                <a:ext uri="{FF2B5EF4-FFF2-40B4-BE49-F238E27FC236}">
                  <a16:creationId xmlns:a16="http://schemas.microsoft.com/office/drawing/2014/main" id="{DB9046F2-27FD-09A6-7032-760706849CB3}"/>
                </a:ext>
              </a:extLst>
            </p:cNvPr>
            <p:cNvGrpSpPr/>
            <p:nvPr/>
          </p:nvGrpSpPr>
          <p:grpSpPr>
            <a:xfrm>
              <a:off x="9444775" y="1898957"/>
              <a:ext cx="686778" cy="173384"/>
              <a:chOff x="10645552" y="925267"/>
              <a:chExt cx="686778" cy="173384"/>
            </a:xfrm>
            <a:grpFill/>
          </p:grpSpPr>
          <p:sp>
            <p:nvSpPr>
              <p:cNvPr id="75" name="Oval 74">
                <a:extLst>
                  <a:ext uri="{FF2B5EF4-FFF2-40B4-BE49-F238E27FC236}">
                    <a16:creationId xmlns:a16="http://schemas.microsoft.com/office/drawing/2014/main" id="{4C4DC14A-C53D-AF17-6459-C9185594E796}"/>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p>
            </p:txBody>
          </p:sp>
          <p:sp>
            <p:nvSpPr>
              <p:cNvPr id="76" name="Oval 75">
                <a:extLst>
                  <a:ext uri="{FF2B5EF4-FFF2-40B4-BE49-F238E27FC236}">
                    <a16:creationId xmlns:a16="http://schemas.microsoft.com/office/drawing/2014/main" id="{6B5CA7C1-0019-45D6-563C-ADCF9CC94612}"/>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p>
            </p:txBody>
          </p:sp>
          <p:sp>
            <p:nvSpPr>
              <p:cNvPr id="77" name="Oval 76">
                <a:extLst>
                  <a:ext uri="{FF2B5EF4-FFF2-40B4-BE49-F238E27FC236}">
                    <a16:creationId xmlns:a16="http://schemas.microsoft.com/office/drawing/2014/main" id="{B4BABD3C-2DF7-A16D-A3D6-D841847D7542}"/>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p>
            </p:txBody>
          </p:sp>
        </p:grpSp>
      </p:grpSp>
      <p:grpSp>
        <p:nvGrpSpPr>
          <p:cNvPr id="49" name="Group 48">
            <a:extLst>
              <a:ext uri="{FF2B5EF4-FFF2-40B4-BE49-F238E27FC236}">
                <a16:creationId xmlns:a16="http://schemas.microsoft.com/office/drawing/2014/main" id="{0A871BFE-7B46-9DF1-7718-480117F17434}"/>
              </a:ext>
            </a:extLst>
          </p:cNvPr>
          <p:cNvGrpSpPr/>
          <p:nvPr/>
        </p:nvGrpSpPr>
        <p:grpSpPr>
          <a:xfrm>
            <a:off x="8072576" y="5177891"/>
            <a:ext cx="4029149" cy="713337"/>
            <a:chOff x="12043657" y="6185856"/>
            <a:chExt cx="4400261" cy="951117"/>
          </a:xfrm>
        </p:grpSpPr>
        <p:sp>
          <p:nvSpPr>
            <p:cNvPr id="67" name="Rectangle 66">
              <a:extLst>
                <a:ext uri="{FF2B5EF4-FFF2-40B4-BE49-F238E27FC236}">
                  <a16:creationId xmlns:a16="http://schemas.microsoft.com/office/drawing/2014/main" id="{72DB06D0-1564-6D98-4A00-6104213C6FAF}"/>
                </a:ext>
              </a:extLst>
            </p:cNvPr>
            <p:cNvSpPr/>
            <p:nvPr/>
          </p:nvSpPr>
          <p:spPr>
            <a:xfrm>
              <a:off x="12043657" y="6478004"/>
              <a:ext cx="992323" cy="340067"/>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a:defRPr/>
              </a:pPr>
              <a:r>
                <a:rPr lang="en-US" sz="900" b="1">
                  <a:solidFill>
                    <a:schemeClr val="accent3">
                      <a:lumMod val="75000"/>
                    </a:schemeClr>
                  </a:solidFill>
                  <a:latin typeface="+mj-lt"/>
                </a:rPr>
                <a:t>ASIAN Supply Chain Organization</a:t>
              </a:r>
            </a:p>
            <a:p>
              <a:pPr algn="ctr" defTabSz="514350">
                <a:defRPr/>
              </a:pPr>
              <a:r>
                <a:rPr lang="en-US" sz="900" b="1">
                  <a:solidFill>
                    <a:schemeClr val="accent3">
                      <a:lumMod val="75000"/>
                    </a:schemeClr>
                  </a:solidFill>
                  <a:latin typeface="+mj-lt"/>
                </a:rPr>
                <a:t>(SIAM)</a:t>
              </a:r>
            </a:p>
          </p:txBody>
        </p:sp>
        <p:sp>
          <p:nvSpPr>
            <p:cNvPr id="68" name="TextBox 65">
              <a:extLst>
                <a:ext uri="{FF2B5EF4-FFF2-40B4-BE49-F238E27FC236}">
                  <a16:creationId xmlns:a16="http://schemas.microsoft.com/office/drawing/2014/main" id="{7B9486BF-CDC6-88C5-FB9F-A77858074B13}"/>
                </a:ext>
              </a:extLst>
            </p:cNvPr>
            <p:cNvSpPr txBox="1"/>
            <p:nvPr/>
          </p:nvSpPr>
          <p:spPr>
            <a:xfrm>
              <a:off x="13073568" y="6185856"/>
              <a:ext cx="3370350" cy="951117"/>
            </a:xfrm>
            <a:prstGeom prst="rect">
              <a:avLst/>
            </a:prstGeom>
            <a:noFill/>
            <a:effec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6441" indent="-96441" defTabSz="514350">
                <a:lnSpc>
                  <a:spcPct val="115000"/>
                </a:lnSpc>
                <a:spcAft>
                  <a:spcPts val="169"/>
                </a:spcAft>
                <a:buFont typeface="Arial" panose="020B0604020202020204" pitchFamily="34" charset="0"/>
                <a:buChar char="•"/>
                <a:defRPr/>
              </a:pPr>
              <a:r>
                <a:rPr lang="en-IN" sz="900">
                  <a:solidFill>
                    <a:prstClr val="black"/>
                  </a:solidFill>
                  <a:latin typeface="+mj-lt"/>
                  <a:cs typeface="Poppins" panose="00000500000000000000" pitchFamily="2" charset="0"/>
                </a:rPr>
                <a:t>Delivered an outcome-based AI roadmap around AI technologies specially around Microsoft AI and Copilots. Helped them establish AI based process definition for their vendors, employees, customers.</a:t>
              </a:r>
            </a:p>
          </p:txBody>
        </p:sp>
      </p:grpSp>
    </p:spTree>
    <p:extLst>
      <p:ext uri="{BB962C8B-B14F-4D97-AF65-F5344CB8AC3E}">
        <p14:creationId xmlns:p14="http://schemas.microsoft.com/office/powerpoint/2010/main" val="1730279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BFFA4-AF17-566C-9E70-042B8C7E21F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E1E992-8980-88BA-A61F-A601C86367AE}"/>
              </a:ext>
            </a:extLst>
          </p:cNvPr>
          <p:cNvSpPr>
            <a:spLocks noGrp="1"/>
          </p:cNvSpPr>
          <p:nvPr>
            <p:ph type="title"/>
          </p:nvPr>
        </p:nvSpPr>
        <p:spPr/>
        <p:txBody>
          <a:bodyPr>
            <a:noAutofit/>
          </a:bodyPr>
          <a:lstStyle/>
          <a:p>
            <a:r>
              <a:rPr lang="en-US" sz="2700"/>
              <a:t>We have codified our experience into </a:t>
            </a:r>
            <a:r>
              <a:rPr lang="en-US" sz="2700"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‘Quasar’, </a:t>
            </a:r>
            <a:r>
              <a:rPr lang="en-US" sz="2700"/>
              <a:t>a platform that houses </a:t>
            </a:r>
            <a:r>
              <a:rPr lang="en-US" sz="2700"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AI Accelerators </a:t>
            </a:r>
            <a:r>
              <a:rPr lang="en-US" sz="2700"/>
              <a:t>to help fast track </a:t>
            </a:r>
            <a:r>
              <a:rPr lang="en-US" sz="2700"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AI adoption</a:t>
            </a:r>
          </a:p>
        </p:txBody>
      </p:sp>
      <p:grpSp>
        <p:nvGrpSpPr>
          <p:cNvPr id="120" name="Group 119">
            <a:extLst>
              <a:ext uri="{FF2B5EF4-FFF2-40B4-BE49-F238E27FC236}">
                <a16:creationId xmlns:a16="http://schemas.microsoft.com/office/drawing/2014/main" id="{F8C659FF-712F-4C46-7296-138FB58D1ECA}"/>
              </a:ext>
            </a:extLst>
          </p:cNvPr>
          <p:cNvGrpSpPr/>
          <p:nvPr/>
        </p:nvGrpSpPr>
        <p:grpSpPr>
          <a:xfrm>
            <a:off x="481530" y="1395389"/>
            <a:ext cx="11335248" cy="4814382"/>
            <a:chOff x="271861" y="1568419"/>
            <a:chExt cx="11747302" cy="4479660"/>
          </a:xfrm>
        </p:grpSpPr>
        <p:sp>
          <p:nvSpPr>
            <p:cNvPr id="66" name="Rectangle 65">
              <a:extLst>
                <a:ext uri="{FF2B5EF4-FFF2-40B4-BE49-F238E27FC236}">
                  <a16:creationId xmlns:a16="http://schemas.microsoft.com/office/drawing/2014/main" id="{7037A981-AD5A-4589-7CC0-BEE98C46DBBD}"/>
                </a:ext>
              </a:extLst>
            </p:cNvPr>
            <p:cNvSpPr/>
            <p:nvPr/>
          </p:nvSpPr>
          <p:spPr>
            <a:xfrm>
              <a:off x="322617" y="2860019"/>
              <a:ext cx="1481599" cy="3185438"/>
            </a:xfrm>
            <a:prstGeom prst="rect">
              <a:avLst/>
            </a:prstGeom>
            <a:solidFill>
              <a:sysClr val="window" lastClr="FFFFFF"/>
            </a:solidFill>
            <a:ln w="12700" cap="flat" cmpd="sng" algn="ctr">
              <a:noFill/>
              <a:prstDash val="solid"/>
              <a:miter lim="800000"/>
            </a:ln>
            <a:effectLst>
              <a:outerShdw blurRad="63500" algn="ctr" rotWithShape="0">
                <a:prstClr val="black">
                  <a:alpha val="40000"/>
                </a:prstClr>
              </a:outerShdw>
            </a:effectLst>
          </p:spPr>
          <p:txBody>
            <a:bodyPr rtlCol="0" anchor="ctr"/>
            <a:lstStyle/>
            <a:p>
              <a:pPr algn="ctr" defTabSz="1371121">
                <a:defRPr/>
              </a:pPr>
              <a:endParaRPr lang="en-US" sz="900" kern="0">
                <a:solidFill>
                  <a:prstClr val="white"/>
                </a:solidFill>
              </a:endParaRPr>
            </a:p>
          </p:txBody>
        </p:sp>
        <p:pic>
          <p:nvPicPr>
            <p:cNvPr id="67" name="Picture 66">
              <a:extLst>
                <a:ext uri="{FF2B5EF4-FFF2-40B4-BE49-F238E27FC236}">
                  <a16:creationId xmlns:a16="http://schemas.microsoft.com/office/drawing/2014/main" id="{164F3319-F84A-AE6F-723F-8CA39CB6DCB4}"/>
                </a:ext>
              </a:extLst>
            </p:cNvPr>
            <p:cNvPicPr>
              <a:picLocks noChangeAspect="1"/>
            </p:cNvPicPr>
            <p:nvPr/>
          </p:nvPicPr>
          <p:blipFill>
            <a:blip r:embed="rId3"/>
            <a:stretch>
              <a:fillRect/>
            </a:stretch>
          </p:blipFill>
          <p:spPr>
            <a:xfrm>
              <a:off x="424444" y="3931268"/>
              <a:ext cx="1277945" cy="1013686"/>
            </a:xfrm>
            <a:prstGeom prst="rect">
              <a:avLst/>
            </a:prstGeom>
            <a:effectLst>
              <a:outerShdw blurRad="63500" sx="102000" sy="102000" algn="ctr" rotWithShape="0">
                <a:prstClr val="black">
                  <a:alpha val="40000"/>
                </a:prstClr>
              </a:outerShdw>
            </a:effectLst>
          </p:spPr>
        </p:pic>
        <p:sp>
          <p:nvSpPr>
            <p:cNvPr id="68" name="Rectangle 67">
              <a:extLst>
                <a:ext uri="{FF2B5EF4-FFF2-40B4-BE49-F238E27FC236}">
                  <a16:creationId xmlns:a16="http://schemas.microsoft.com/office/drawing/2014/main" id="{F63CE901-9EA4-4499-CCE0-AF4F1475BAF3}"/>
                </a:ext>
              </a:extLst>
            </p:cNvPr>
            <p:cNvSpPr/>
            <p:nvPr/>
          </p:nvSpPr>
          <p:spPr>
            <a:xfrm>
              <a:off x="271861" y="5565473"/>
              <a:ext cx="1536246" cy="472524"/>
            </a:xfrm>
            <a:prstGeom prst="rect">
              <a:avLst/>
            </a:prstGeom>
          </p:spPr>
          <p:txBody>
            <a:bodyPr wrap="square">
              <a:spAutoFit/>
            </a:bodyPr>
            <a:lstStyle/>
            <a:p>
              <a:pPr algn="ctr" defTabSz="1371121">
                <a:defRPr/>
              </a:pPr>
              <a:r>
                <a:rPr lang="en-US" sz="900" b="1" kern="0">
                  <a:solidFill>
                    <a:prstClr val="black"/>
                  </a:solidFill>
                  <a:cs typeface="Calibri" panose="020F0502020204030204" pitchFamily="34" charset="0"/>
                </a:rPr>
                <a:t>Intelligent Document Processor for Text Analytics</a:t>
              </a:r>
            </a:p>
          </p:txBody>
        </p:sp>
        <p:sp>
          <p:nvSpPr>
            <p:cNvPr id="69" name="Rectangle 68">
              <a:extLst>
                <a:ext uri="{FF2B5EF4-FFF2-40B4-BE49-F238E27FC236}">
                  <a16:creationId xmlns:a16="http://schemas.microsoft.com/office/drawing/2014/main" id="{E3FD6DCF-3B00-5EC6-739B-97FDF0835574}"/>
                </a:ext>
              </a:extLst>
            </p:cNvPr>
            <p:cNvSpPr/>
            <p:nvPr/>
          </p:nvSpPr>
          <p:spPr>
            <a:xfrm>
              <a:off x="2019287" y="2860019"/>
              <a:ext cx="1481598" cy="3188059"/>
            </a:xfrm>
            <a:prstGeom prst="rect">
              <a:avLst/>
            </a:prstGeom>
            <a:solidFill>
              <a:sysClr val="window" lastClr="FFFFFF"/>
            </a:solidFill>
            <a:ln w="12700" cap="flat" cmpd="sng" algn="ctr">
              <a:noFill/>
              <a:prstDash val="solid"/>
              <a:miter lim="800000"/>
            </a:ln>
            <a:effectLst>
              <a:outerShdw blurRad="63500" algn="ctr" rotWithShape="0">
                <a:prstClr val="black">
                  <a:alpha val="40000"/>
                </a:prstClr>
              </a:outerShdw>
            </a:effectLst>
          </p:spPr>
          <p:txBody>
            <a:bodyPr rtlCol="0" anchor="ctr"/>
            <a:lstStyle/>
            <a:p>
              <a:pPr algn="ctr" defTabSz="1371121">
                <a:defRPr/>
              </a:pPr>
              <a:endParaRPr lang="en-US" sz="900" kern="0">
                <a:solidFill>
                  <a:prstClr val="white"/>
                </a:solidFill>
              </a:endParaRPr>
            </a:p>
          </p:txBody>
        </p:sp>
        <p:sp>
          <p:nvSpPr>
            <p:cNvPr id="70" name="Rectangle 69">
              <a:extLst>
                <a:ext uri="{FF2B5EF4-FFF2-40B4-BE49-F238E27FC236}">
                  <a16:creationId xmlns:a16="http://schemas.microsoft.com/office/drawing/2014/main" id="{DFF00BFE-12B8-7226-A293-6312AC565536}"/>
                </a:ext>
              </a:extLst>
            </p:cNvPr>
            <p:cNvSpPr/>
            <p:nvPr/>
          </p:nvSpPr>
          <p:spPr>
            <a:xfrm>
              <a:off x="3715738" y="2868002"/>
              <a:ext cx="1481599" cy="3180075"/>
            </a:xfrm>
            <a:prstGeom prst="rect">
              <a:avLst/>
            </a:prstGeom>
            <a:solidFill>
              <a:sysClr val="window" lastClr="FFFFFF"/>
            </a:solidFill>
            <a:ln w="12700" cap="flat" cmpd="sng" algn="ctr">
              <a:noFill/>
              <a:prstDash val="solid"/>
              <a:miter lim="800000"/>
            </a:ln>
            <a:effectLst>
              <a:outerShdw blurRad="63500" algn="ctr" rotWithShape="0">
                <a:prstClr val="black">
                  <a:alpha val="40000"/>
                </a:prstClr>
              </a:outerShdw>
            </a:effectLst>
          </p:spPr>
          <p:txBody>
            <a:bodyPr rtlCol="0" anchor="ctr"/>
            <a:lstStyle/>
            <a:p>
              <a:pPr algn="ctr" defTabSz="1371121">
                <a:defRPr/>
              </a:pPr>
              <a:endParaRPr lang="en-US" sz="900" kern="0">
                <a:solidFill>
                  <a:prstClr val="white"/>
                </a:solidFill>
              </a:endParaRPr>
            </a:p>
          </p:txBody>
        </p:sp>
        <p:sp>
          <p:nvSpPr>
            <p:cNvPr id="71" name="Rectangle 70">
              <a:extLst>
                <a:ext uri="{FF2B5EF4-FFF2-40B4-BE49-F238E27FC236}">
                  <a16:creationId xmlns:a16="http://schemas.microsoft.com/office/drawing/2014/main" id="{B18A0D2E-22F7-2B4F-6384-58EB0773A13E}"/>
                </a:ext>
              </a:extLst>
            </p:cNvPr>
            <p:cNvSpPr/>
            <p:nvPr/>
          </p:nvSpPr>
          <p:spPr>
            <a:xfrm>
              <a:off x="1939569" y="5565475"/>
              <a:ext cx="1631882" cy="472524"/>
            </a:xfrm>
            <a:prstGeom prst="rect">
              <a:avLst/>
            </a:prstGeom>
          </p:spPr>
          <p:txBody>
            <a:bodyPr wrap="square">
              <a:spAutoFit/>
            </a:bodyPr>
            <a:lstStyle/>
            <a:p>
              <a:pPr algn="ctr" defTabSz="1371121">
                <a:defRPr/>
              </a:pPr>
              <a:r>
                <a:rPr lang="en-GB" sz="900" b="1" kern="0">
                  <a:solidFill>
                    <a:prstClr val="black"/>
                  </a:solidFill>
                  <a:cs typeface="Calibri" panose="020F0502020204030204" pitchFamily="34" charset="0"/>
                </a:rPr>
                <a:t>Accelerator for AI Models, </a:t>
              </a:r>
              <a:r>
                <a:rPr lang="en-GB" sz="900" b="1" kern="0" err="1">
                  <a:solidFill>
                    <a:prstClr val="black"/>
                  </a:solidFill>
                  <a:cs typeface="Calibri" panose="020F0502020204030204" pitchFamily="34" charset="0"/>
                </a:rPr>
                <a:t>MLOps</a:t>
              </a:r>
              <a:r>
                <a:rPr lang="en-GB" sz="900" b="1" kern="0">
                  <a:solidFill>
                    <a:prstClr val="black"/>
                  </a:solidFill>
                  <a:cs typeface="Calibri" panose="020F0502020204030204" pitchFamily="34" charset="0"/>
                </a:rPr>
                <a:t> </a:t>
              </a:r>
              <a:r>
                <a:rPr lang="en-GB" sz="900" b="1" kern="0" err="1">
                  <a:solidFill>
                    <a:prstClr val="black"/>
                  </a:solidFill>
                  <a:cs typeface="Calibri" panose="020F0502020204030204" pitchFamily="34" charset="0"/>
                </a:rPr>
                <a:t>LLMOps</a:t>
              </a:r>
              <a:r>
                <a:rPr lang="en-GB" sz="900" b="1" kern="0">
                  <a:solidFill>
                    <a:prstClr val="black"/>
                  </a:solidFill>
                  <a:cs typeface="Calibri" panose="020F0502020204030204" pitchFamily="34" charset="0"/>
                </a:rPr>
                <a:t> &amp; Governance</a:t>
              </a:r>
            </a:p>
          </p:txBody>
        </p:sp>
        <p:sp>
          <p:nvSpPr>
            <p:cNvPr id="72" name="Rectangle 71">
              <a:extLst>
                <a:ext uri="{FF2B5EF4-FFF2-40B4-BE49-F238E27FC236}">
                  <a16:creationId xmlns:a16="http://schemas.microsoft.com/office/drawing/2014/main" id="{E38D80AE-8478-BDA7-8811-8D8F7CF43E7E}"/>
                </a:ext>
              </a:extLst>
            </p:cNvPr>
            <p:cNvSpPr/>
            <p:nvPr/>
          </p:nvSpPr>
          <p:spPr>
            <a:xfrm>
              <a:off x="5405113" y="2868003"/>
              <a:ext cx="1481599" cy="3180076"/>
            </a:xfrm>
            <a:prstGeom prst="rect">
              <a:avLst/>
            </a:prstGeom>
            <a:solidFill>
              <a:sysClr val="window" lastClr="FFFFFF"/>
            </a:solidFill>
            <a:ln w="12700" cap="flat" cmpd="sng" algn="ctr">
              <a:noFill/>
              <a:prstDash val="solid"/>
              <a:miter lim="800000"/>
            </a:ln>
            <a:effectLst>
              <a:outerShdw blurRad="63500" algn="ctr" rotWithShape="0">
                <a:prstClr val="black">
                  <a:alpha val="40000"/>
                </a:prstClr>
              </a:outerShdw>
            </a:effectLst>
          </p:spPr>
          <p:txBody>
            <a:bodyPr rtlCol="0" anchor="ctr"/>
            <a:lstStyle/>
            <a:p>
              <a:pPr algn="ctr" defTabSz="1371121">
                <a:defRPr/>
              </a:pPr>
              <a:endParaRPr lang="en-US" sz="900" kern="0">
                <a:solidFill>
                  <a:prstClr val="white"/>
                </a:solidFill>
              </a:endParaRPr>
            </a:p>
          </p:txBody>
        </p:sp>
        <p:sp>
          <p:nvSpPr>
            <p:cNvPr id="73" name="Rectangle 72">
              <a:extLst>
                <a:ext uri="{FF2B5EF4-FFF2-40B4-BE49-F238E27FC236}">
                  <a16:creationId xmlns:a16="http://schemas.microsoft.com/office/drawing/2014/main" id="{AE49870C-694A-9C06-7570-2A1486EE6593}"/>
                </a:ext>
              </a:extLst>
            </p:cNvPr>
            <p:cNvSpPr/>
            <p:nvPr/>
          </p:nvSpPr>
          <p:spPr>
            <a:xfrm>
              <a:off x="5405326" y="5565475"/>
              <a:ext cx="1481171" cy="472524"/>
            </a:xfrm>
            <a:prstGeom prst="rect">
              <a:avLst/>
            </a:prstGeom>
          </p:spPr>
          <p:txBody>
            <a:bodyPr wrap="square">
              <a:spAutoFit/>
            </a:bodyPr>
            <a:lstStyle/>
            <a:p>
              <a:pPr algn="ctr" defTabSz="1371121">
                <a:defRPr/>
              </a:pPr>
              <a:r>
                <a:rPr lang="en-US" sz="900" b="1" kern="0">
                  <a:solidFill>
                    <a:prstClr val="black"/>
                  </a:solidFill>
                  <a:cs typeface="Calibri" panose="020F0502020204030204" pitchFamily="34" charset="0"/>
                </a:rPr>
                <a:t>Large Scale Speech Analytics (22+ languages)</a:t>
              </a:r>
            </a:p>
          </p:txBody>
        </p:sp>
        <p:pic>
          <p:nvPicPr>
            <p:cNvPr id="74" name="Picture 73">
              <a:extLst>
                <a:ext uri="{FF2B5EF4-FFF2-40B4-BE49-F238E27FC236}">
                  <a16:creationId xmlns:a16="http://schemas.microsoft.com/office/drawing/2014/main" id="{6B91A0D0-FC60-BE47-FD9B-885A6E5DAB30}"/>
                </a:ext>
              </a:extLst>
            </p:cNvPr>
            <p:cNvPicPr>
              <a:picLocks noChangeAspect="1"/>
            </p:cNvPicPr>
            <p:nvPr/>
          </p:nvPicPr>
          <p:blipFill>
            <a:blip r:embed="rId4"/>
            <a:stretch>
              <a:fillRect/>
            </a:stretch>
          </p:blipFill>
          <p:spPr>
            <a:xfrm>
              <a:off x="5575036" y="3994600"/>
              <a:ext cx="1141752" cy="982650"/>
            </a:xfrm>
            <a:prstGeom prst="rect">
              <a:avLst/>
            </a:prstGeom>
          </p:spPr>
        </p:pic>
        <p:sp>
          <p:nvSpPr>
            <p:cNvPr id="75" name="Rectangle 74">
              <a:extLst>
                <a:ext uri="{FF2B5EF4-FFF2-40B4-BE49-F238E27FC236}">
                  <a16:creationId xmlns:a16="http://schemas.microsoft.com/office/drawing/2014/main" id="{5FC1CBDF-133D-41C9-5421-39427DBD12BA}"/>
                </a:ext>
              </a:extLst>
            </p:cNvPr>
            <p:cNvSpPr/>
            <p:nvPr/>
          </p:nvSpPr>
          <p:spPr>
            <a:xfrm>
              <a:off x="7093333" y="2868002"/>
              <a:ext cx="1481599" cy="3180075"/>
            </a:xfrm>
            <a:prstGeom prst="rect">
              <a:avLst/>
            </a:prstGeom>
            <a:solidFill>
              <a:sysClr val="window" lastClr="FFFFFF"/>
            </a:solidFill>
            <a:ln w="12700" cap="flat" cmpd="sng" algn="ctr">
              <a:noFill/>
              <a:prstDash val="solid"/>
              <a:miter lim="800000"/>
            </a:ln>
            <a:effectLst>
              <a:outerShdw blurRad="63500" algn="ctr" rotWithShape="0">
                <a:prstClr val="black">
                  <a:alpha val="40000"/>
                </a:prstClr>
              </a:outerShdw>
            </a:effectLst>
          </p:spPr>
          <p:txBody>
            <a:bodyPr rtlCol="0" anchor="ctr"/>
            <a:lstStyle/>
            <a:p>
              <a:pPr algn="ctr" defTabSz="1371121">
                <a:defRPr/>
              </a:pPr>
              <a:endParaRPr lang="en-US" sz="900" kern="0">
                <a:solidFill>
                  <a:prstClr val="white"/>
                </a:solidFill>
              </a:endParaRPr>
            </a:p>
          </p:txBody>
        </p:sp>
        <p:pic>
          <p:nvPicPr>
            <p:cNvPr id="76" name="Picture 75">
              <a:extLst>
                <a:ext uri="{FF2B5EF4-FFF2-40B4-BE49-F238E27FC236}">
                  <a16:creationId xmlns:a16="http://schemas.microsoft.com/office/drawing/2014/main" id="{850FCE8A-D500-4F5C-FD6F-DF5F5DDCE9A7}"/>
                </a:ext>
              </a:extLst>
            </p:cNvPr>
            <p:cNvPicPr>
              <a:picLocks noChangeAspect="1"/>
            </p:cNvPicPr>
            <p:nvPr/>
          </p:nvPicPr>
          <p:blipFill>
            <a:blip r:embed="rId5"/>
            <a:stretch>
              <a:fillRect/>
            </a:stretch>
          </p:blipFill>
          <p:spPr>
            <a:xfrm>
              <a:off x="2079430" y="4121106"/>
              <a:ext cx="1361314" cy="634009"/>
            </a:xfrm>
            <a:prstGeom prst="rect">
              <a:avLst/>
            </a:prstGeom>
          </p:spPr>
        </p:pic>
        <p:pic>
          <p:nvPicPr>
            <p:cNvPr id="77" name="Picture 76">
              <a:extLst>
                <a:ext uri="{FF2B5EF4-FFF2-40B4-BE49-F238E27FC236}">
                  <a16:creationId xmlns:a16="http://schemas.microsoft.com/office/drawing/2014/main" id="{4EE0F3AA-1D3D-A9D8-861A-F0DBD54A077C}"/>
                </a:ext>
              </a:extLst>
            </p:cNvPr>
            <p:cNvPicPr>
              <a:picLocks noChangeAspect="1"/>
            </p:cNvPicPr>
            <p:nvPr/>
          </p:nvPicPr>
          <p:blipFill rotWithShape="1">
            <a:blip r:embed="rId6">
              <a:clrChange>
                <a:clrFrom>
                  <a:srgbClr val="FCFCFC"/>
                </a:clrFrom>
                <a:clrTo>
                  <a:srgbClr val="FCFCFC">
                    <a:alpha val="0"/>
                  </a:srgbClr>
                </a:clrTo>
              </a:clrChange>
            </a:blip>
            <a:srcRect r="50738"/>
            <a:stretch/>
          </p:blipFill>
          <p:spPr>
            <a:xfrm>
              <a:off x="3905747" y="3994600"/>
              <a:ext cx="1101581" cy="787967"/>
            </a:xfrm>
            <a:prstGeom prst="rect">
              <a:avLst/>
            </a:prstGeom>
            <a:solidFill>
              <a:sysClr val="window" lastClr="FFFFFF"/>
            </a:solidFill>
            <a:ln>
              <a:noFill/>
            </a:ln>
            <a:effectLst>
              <a:outerShdw blurRad="50800" dist="38100" dir="5400000" algn="t" rotWithShape="0">
                <a:prstClr val="black">
                  <a:alpha val="40000"/>
                </a:prstClr>
              </a:outerShdw>
            </a:effectLst>
          </p:spPr>
        </p:pic>
        <p:sp>
          <p:nvSpPr>
            <p:cNvPr id="78" name="Rectangle 77">
              <a:extLst>
                <a:ext uri="{FF2B5EF4-FFF2-40B4-BE49-F238E27FC236}">
                  <a16:creationId xmlns:a16="http://schemas.microsoft.com/office/drawing/2014/main" id="{51E717E8-1540-32F5-3112-3DC0F558B8B9}"/>
                </a:ext>
              </a:extLst>
            </p:cNvPr>
            <p:cNvSpPr/>
            <p:nvPr/>
          </p:nvSpPr>
          <p:spPr>
            <a:xfrm>
              <a:off x="3723381" y="5565475"/>
              <a:ext cx="1466317" cy="472524"/>
            </a:xfrm>
            <a:prstGeom prst="rect">
              <a:avLst/>
            </a:prstGeom>
          </p:spPr>
          <p:txBody>
            <a:bodyPr wrap="square">
              <a:spAutoFit/>
            </a:bodyPr>
            <a:lstStyle/>
            <a:p>
              <a:pPr algn="ctr" defTabSz="1371121">
                <a:defRPr/>
              </a:pPr>
              <a:r>
                <a:rPr lang="en-GB" sz="900" b="1" kern="0">
                  <a:solidFill>
                    <a:prstClr val="black"/>
                  </a:solidFill>
                  <a:cs typeface="Calibri" panose="020F0502020204030204" pitchFamily="34" charset="0"/>
                </a:rPr>
                <a:t>LLM / ML /Deep Learning on Knowledge Graphs</a:t>
              </a:r>
              <a:endParaRPr lang="en-US" sz="900" b="1" kern="0">
                <a:solidFill>
                  <a:prstClr val="black"/>
                </a:solidFill>
                <a:cs typeface="Calibri" panose="020F0502020204030204" pitchFamily="34" charset="0"/>
              </a:endParaRPr>
            </a:p>
          </p:txBody>
        </p:sp>
        <p:pic>
          <p:nvPicPr>
            <p:cNvPr id="79" name="Picture 78">
              <a:extLst>
                <a:ext uri="{FF2B5EF4-FFF2-40B4-BE49-F238E27FC236}">
                  <a16:creationId xmlns:a16="http://schemas.microsoft.com/office/drawing/2014/main" id="{4B321A2F-AD23-BF6D-9FA8-188C7C79C792}"/>
                </a:ext>
              </a:extLst>
            </p:cNvPr>
            <p:cNvPicPr>
              <a:picLocks noChangeAspect="1"/>
            </p:cNvPicPr>
            <p:nvPr/>
          </p:nvPicPr>
          <p:blipFill>
            <a:blip r:embed="rId7"/>
            <a:stretch>
              <a:fillRect/>
            </a:stretch>
          </p:blipFill>
          <p:spPr>
            <a:xfrm>
              <a:off x="7259243" y="4052706"/>
              <a:ext cx="1149779" cy="892247"/>
            </a:xfrm>
            <a:prstGeom prst="rect">
              <a:avLst/>
            </a:prstGeom>
          </p:spPr>
        </p:pic>
        <p:sp>
          <p:nvSpPr>
            <p:cNvPr id="80" name="Rectangle 79">
              <a:extLst>
                <a:ext uri="{FF2B5EF4-FFF2-40B4-BE49-F238E27FC236}">
                  <a16:creationId xmlns:a16="http://schemas.microsoft.com/office/drawing/2014/main" id="{052A032B-82A7-1487-31F3-7399F006A4C4}"/>
                </a:ext>
              </a:extLst>
            </p:cNvPr>
            <p:cNvSpPr/>
            <p:nvPr/>
          </p:nvSpPr>
          <p:spPr>
            <a:xfrm>
              <a:off x="7092182" y="5565475"/>
              <a:ext cx="1483901" cy="472524"/>
            </a:xfrm>
            <a:prstGeom prst="rect">
              <a:avLst/>
            </a:prstGeom>
          </p:spPr>
          <p:txBody>
            <a:bodyPr wrap="square">
              <a:spAutoFit/>
            </a:bodyPr>
            <a:lstStyle/>
            <a:p>
              <a:pPr algn="ctr" defTabSz="1371121">
                <a:defRPr/>
              </a:pPr>
              <a:r>
                <a:rPr lang="en-US" sz="900" b="1" kern="0">
                  <a:solidFill>
                    <a:prstClr val="black"/>
                  </a:solidFill>
                  <a:cs typeface="Calibri" panose="020F0502020204030204" pitchFamily="34" charset="0"/>
                </a:rPr>
                <a:t>Computer Vision AI for Images &amp; Video Analytics</a:t>
              </a:r>
            </a:p>
          </p:txBody>
        </p:sp>
        <p:pic>
          <p:nvPicPr>
            <p:cNvPr id="81" name="Picture 80">
              <a:extLst>
                <a:ext uri="{FF2B5EF4-FFF2-40B4-BE49-F238E27FC236}">
                  <a16:creationId xmlns:a16="http://schemas.microsoft.com/office/drawing/2014/main" id="{EF1732EA-063E-FA5A-FFD7-4D80D1B99611}"/>
                </a:ext>
              </a:extLst>
            </p:cNvPr>
            <p:cNvPicPr>
              <a:picLocks noChangeAspect="1"/>
            </p:cNvPicPr>
            <p:nvPr/>
          </p:nvPicPr>
          <p:blipFill rotWithShape="1">
            <a:blip r:embed="rId8"/>
            <a:srcRect t="7851"/>
            <a:stretch/>
          </p:blipFill>
          <p:spPr>
            <a:xfrm>
              <a:off x="428429" y="2945051"/>
              <a:ext cx="1269973" cy="332901"/>
            </a:xfrm>
            <a:prstGeom prst="rect">
              <a:avLst/>
            </a:prstGeom>
          </p:spPr>
        </p:pic>
        <p:pic>
          <p:nvPicPr>
            <p:cNvPr id="82" name="Picture 81">
              <a:extLst>
                <a:ext uri="{FF2B5EF4-FFF2-40B4-BE49-F238E27FC236}">
                  <a16:creationId xmlns:a16="http://schemas.microsoft.com/office/drawing/2014/main" id="{CD98FE1A-7454-2551-F737-C817DC9B565B}"/>
                </a:ext>
              </a:extLst>
            </p:cNvPr>
            <p:cNvPicPr>
              <a:picLocks noChangeAspect="1"/>
            </p:cNvPicPr>
            <p:nvPr/>
          </p:nvPicPr>
          <p:blipFill rotWithShape="1">
            <a:blip r:embed="rId9"/>
            <a:srcRect t="12590"/>
            <a:stretch/>
          </p:blipFill>
          <p:spPr>
            <a:xfrm>
              <a:off x="2175453" y="2932860"/>
              <a:ext cx="1169266" cy="357281"/>
            </a:xfrm>
            <a:prstGeom prst="rect">
              <a:avLst/>
            </a:prstGeom>
          </p:spPr>
        </p:pic>
        <p:pic>
          <p:nvPicPr>
            <p:cNvPr id="83" name="Picture 82">
              <a:extLst>
                <a:ext uri="{FF2B5EF4-FFF2-40B4-BE49-F238E27FC236}">
                  <a16:creationId xmlns:a16="http://schemas.microsoft.com/office/drawing/2014/main" id="{D321AA7D-CB95-7639-9E73-96FF2981F91B}"/>
                </a:ext>
              </a:extLst>
            </p:cNvPr>
            <p:cNvPicPr>
              <a:picLocks noChangeAspect="1"/>
            </p:cNvPicPr>
            <p:nvPr/>
          </p:nvPicPr>
          <p:blipFill>
            <a:blip r:embed="rId10"/>
            <a:stretch>
              <a:fillRect/>
            </a:stretch>
          </p:blipFill>
          <p:spPr>
            <a:xfrm>
              <a:off x="3905747" y="2935736"/>
              <a:ext cx="1101581" cy="351532"/>
            </a:xfrm>
            <a:prstGeom prst="rect">
              <a:avLst/>
            </a:prstGeom>
          </p:spPr>
        </p:pic>
        <p:pic>
          <p:nvPicPr>
            <p:cNvPr id="84" name="Picture 83">
              <a:extLst>
                <a:ext uri="{FF2B5EF4-FFF2-40B4-BE49-F238E27FC236}">
                  <a16:creationId xmlns:a16="http://schemas.microsoft.com/office/drawing/2014/main" id="{911FF350-BE34-F2D8-8F65-76C9709DC1EB}"/>
                </a:ext>
              </a:extLst>
            </p:cNvPr>
            <p:cNvPicPr>
              <a:picLocks noChangeAspect="1"/>
            </p:cNvPicPr>
            <p:nvPr/>
          </p:nvPicPr>
          <p:blipFill>
            <a:blip r:embed="rId11"/>
            <a:stretch>
              <a:fillRect/>
            </a:stretch>
          </p:blipFill>
          <p:spPr>
            <a:xfrm>
              <a:off x="5577460" y="2930958"/>
              <a:ext cx="1136905" cy="361087"/>
            </a:xfrm>
            <a:prstGeom prst="rect">
              <a:avLst/>
            </a:prstGeom>
          </p:spPr>
        </p:pic>
        <p:pic>
          <p:nvPicPr>
            <p:cNvPr id="85" name="Picture 84">
              <a:extLst>
                <a:ext uri="{FF2B5EF4-FFF2-40B4-BE49-F238E27FC236}">
                  <a16:creationId xmlns:a16="http://schemas.microsoft.com/office/drawing/2014/main" id="{49586313-471F-40F0-23BF-4320E515237F}"/>
                </a:ext>
              </a:extLst>
            </p:cNvPr>
            <p:cNvPicPr>
              <a:picLocks noChangeAspect="1"/>
            </p:cNvPicPr>
            <p:nvPr/>
          </p:nvPicPr>
          <p:blipFill>
            <a:blip r:embed="rId12"/>
            <a:stretch>
              <a:fillRect/>
            </a:stretch>
          </p:blipFill>
          <p:spPr>
            <a:xfrm>
              <a:off x="7273035" y="2935366"/>
              <a:ext cx="1122194" cy="352271"/>
            </a:xfrm>
            <a:prstGeom prst="rect">
              <a:avLst/>
            </a:prstGeom>
          </p:spPr>
        </p:pic>
        <p:sp>
          <p:nvSpPr>
            <p:cNvPr id="86" name="Rectangle 85">
              <a:extLst>
                <a:ext uri="{FF2B5EF4-FFF2-40B4-BE49-F238E27FC236}">
                  <a16:creationId xmlns:a16="http://schemas.microsoft.com/office/drawing/2014/main" id="{0DF268F7-B1FA-3D4B-EC41-E705463555DE}"/>
                </a:ext>
              </a:extLst>
            </p:cNvPr>
            <p:cNvSpPr/>
            <p:nvPr/>
          </p:nvSpPr>
          <p:spPr>
            <a:xfrm>
              <a:off x="8773233" y="2868001"/>
              <a:ext cx="1481599" cy="3180074"/>
            </a:xfrm>
            <a:prstGeom prst="rect">
              <a:avLst/>
            </a:prstGeom>
            <a:solidFill>
              <a:sysClr val="window" lastClr="FFFFFF"/>
            </a:solidFill>
            <a:ln w="12700" cap="flat" cmpd="sng" algn="ctr">
              <a:noFill/>
              <a:prstDash val="solid"/>
              <a:miter lim="800000"/>
            </a:ln>
            <a:effectLst>
              <a:outerShdw blurRad="63500" algn="ctr" rotWithShape="0">
                <a:prstClr val="black">
                  <a:alpha val="40000"/>
                </a:prstClr>
              </a:outerShdw>
            </a:effectLst>
          </p:spPr>
          <p:txBody>
            <a:bodyPr rtlCol="0" anchor="ctr"/>
            <a:lstStyle/>
            <a:p>
              <a:pPr algn="ctr" defTabSz="1371121">
                <a:defRPr/>
              </a:pPr>
              <a:endParaRPr lang="en-US" sz="900" kern="0">
                <a:solidFill>
                  <a:prstClr val="white"/>
                </a:solidFill>
              </a:endParaRPr>
            </a:p>
          </p:txBody>
        </p:sp>
        <p:sp>
          <p:nvSpPr>
            <p:cNvPr id="87" name="Rectangle 86">
              <a:extLst>
                <a:ext uri="{FF2B5EF4-FFF2-40B4-BE49-F238E27FC236}">
                  <a16:creationId xmlns:a16="http://schemas.microsoft.com/office/drawing/2014/main" id="{DF92C5AB-319D-D616-77B6-E8168D6CB406}"/>
                </a:ext>
              </a:extLst>
            </p:cNvPr>
            <p:cNvSpPr/>
            <p:nvPr/>
          </p:nvSpPr>
          <p:spPr>
            <a:xfrm>
              <a:off x="8818789" y="4276134"/>
              <a:ext cx="1390485" cy="674517"/>
            </a:xfrm>
            <a:prstGeom prst="rect">
              <a:avLst/>
            </a:prstGeom>
            <a:solidFill>
              <a:sysClr val="window" lastClr="FFFFFF"/>
            </a:solidFill>
            <a:ln w="12700" cap="flat" cmpd="sng" algn="ctr">
              <a:noFill/>
              <a:prstDash val="solid"/>
              <a:miter lim="800000"/>
            </a:ln>
            <a:effectLst/>
          </p:spPr>
          <p:txBody>
            <a:bodyPr rtlCol="0" anchor="ctr"/>
            <a:lstStyle/>
            <a:p>
              <a:pPr algn="r" defTabSz="685800">
                <a:defRPr/>
              </a:pPr>
              <a:r>
                <a:rPr lang="en-US" sz="900" kern="0">
                  <a:solidFill>
                    <a:srgbClr val="505050"/>
                  </a:solidFill>
                </a:rPr>
                <a:t>Extend </a:t>
              </a:r>
            </a:p>
            <a:p>
              <a:pPr algn="r" defTabSz="685800">
                <a:defRPr/>
              </a:pPr>
              <a:r>
                <a:rPr lang="en-US" sz="900" kern="0">
                  <a:solidFill>
                    <a:srgbClr val="505050"/>
                  </a:solidFill>
                </a:rPr>
                <a:t>Copilot</a:t>
              </a:r>
            </a:p>
          </p:txBody>
        </p:sp>
        <p:grpSp>
          <p:nvGrpSpPr>
            <p:cNvPr id="88" name="Group 87">
              <a:extLst>
                <a:ext uri="{FF2B5EF4-FFF2-40B4-BE49-F238E27FC236}">
                  <a16:creationId xmlns:a16="http://schemas.microsoft.com/office/drawing/2014/main" id="{68D7B124-62C5-00C5-DD8F-202A58F7FC43}"/>
                </a:ext>
              </a:extLst>
            </p:cNvPr>
            <p:cNvGrpSpPr/>
            <p:nvPr/>
          </p:nvGrpSpPr>
          <p:grpSpPr>
            <a:xfrm>
              <a:off x="8818789" y="3560666"/>
              <a:ext cx="1390485" cy="665566"/>
              <a:chOff x="10210425" y="3503646"/>
              <a:chExt cx="1650146" cy="775692"/>
            </a:xfrm>
          </p:grpSpPr>
          <p:sp>
            <p:nvSpPr>
              <p:cNvPr id="89" name="Rectangle 88">
                <a:extLst>
                  <a:ext uri="{FF2B5EF4-FFF2-40B4-BE49-F238E27FC236}">
                    <a16:creationId xmlns:a16="http://schemas.microsoft.com/office/drawing/2014/main" id="{2094BCA4-771D-0FA9-A1A4-800D3660837D}"/>
                  </a:ext>
                </a:extLst>
              </p:cNvPr>
              <p:cNvSpPr/>
              <p:nvPr/>
            </p:nvSpPr>
            <p:spPr>
              <a:xfrm>
                <a:off x="10210425" y="3503646"/>
                <a:ext cx="1650146" cy="775692"/>
              </a:xfrm>
              <a:prstGeom prst="rect">
                <a:avLst/>
              </a:prstGeom>
              <a:noFill/>
              <a:ln w="12700" cap="flat" cmpd="sng" algn="ctr">
                <a:noFill/>
                <a:prstDash val="solid"/>
                <a:miter lim="800000"/>
              </a:ln>
              <a:effectLst/>
            </p:spPr>
            <p:txBody>
              <a:bodyPr rtlCol="0" anchor="ctr"/>
              <a:lstStyle/>
              <a:p>
                <a:pPr algn="r" defTabSz="685800">
                  <a:defRPr/>
                </a:pPr>
                <a:r>
                  <a:rPr lang="en-US" sz="900" kern="0">
                    <a:solidFill>
                      <a:srgbClr val="505050"/>
                    </a:solidFill>
                  </a:rPr>
                  <a:t>SaaS</a:t>
                </a:r>
              </a:p>
              <a:p>
                <a:pPr algn="r" defTabSz="685800">
                  <a:defRPr/>
                </a:pPr>
                <a:r>
                  <a:rPr lang="en-US" sz="900" kern="0">
                    <a:solidFill>
                      <a:srgbClr val="505050"/>
                    </a:solidFill>
                  </a:rPr>
                  <a:t> Products</a:t>
                </a:r>
              </a:p>
            </p:txBody>
          </p:sp>
          <p:pic>
            <p:nvPicPr>
              <p:cNvPr id="90" name="Picture 89">
                <a:extLst>
                  <a:ext uri="{FF2B5EF4-FFF2-40B4-BE49-F238E27FC236}">
                    <a16:creationId xmlns:a16="http://schemas.microsoft.com/office/drawing/2014/main" id="{55A59436-C09C-D96C-B71B-F0C1BC189859}"/>
                  </a:ext>
                </a:extLst>
              </p:cNvPr>
              <p:cNvPicPr>
                <a:picLocks noChangeAspect="1"/>
              </p:cNvPicPr>
              <p:nvPr/>
            </p:nvPicPr>
            <p:blipFill>
              <a:blip r:embed="rId13">
                <a:clrChange>
                  <a:clrFrom>
                    <a:srgbClr val="FFFFFF"/>
                  </a:clrFrom>
                  <a:clrTo>
                    <a:srgbClr val="FFFFFF">
                      <a:alpha val="0"/>
                    </a:srgbClr>
                  </a:clrTo>
                </a:clrChange>
              </a:blip>
              <a:stretch>
                <a:fillRect/>
              </a:stretch>
            </p:blipFill>
            <p:spPr>
              <a:xfrm>
                <a:off x="10325101" y="3623951"/>
                <a:ext cx="676950" cy="536319"/>
              </a:xfrm>
              <a:prstGeom prst="rect">
                <a:avLst/>
              </a:prstGeom>
            </p:spPr>
          </p:pic>
        </p:grpSp>
        <p:sp>
          <p:nvSpPr>
            <p:cNvPr id="91" name="Rectangle 90">
              <a:extLst>
                <a:ext uri="{FF2B5EF4-FFF2-40B4-BE49-F238E27FC236}">
                  <a16:creationId xmlns:a16="http://schemas.microsoft.com/office/drawing/2014/main" id="{77541266-38D8-E88D-56D8-834F642CB6C8}"/>
                </a:ext>
              </a:extLst>
            </p:cNvPr>
            <p:cNvSpPr/>
            <p:nvPr/>
          </p:nvSpPr>
          <p:spPr>
            <a:xfrm>
              <a:off x="8818789" y="4840201"/>
              <a:ext cx="1390485" cy="674517"/>
            </a:xfrm>
            <a:prstGeom prst="rect">
              <a:avLst/>
            </a:prstGeom>
            <a:solidFill>
              <a:sysClr val="window" lastClr="FFFFFF"/>
            </a:solidFill>
            <a:ln w="12700" cap="flat" cmpd="sng" algn="ctr">
              <a:noFill/>
              <a:prstDash val="solid"/>
              <a:miter lim="800000"/>
            </a:ln>
            <a:effectLst/>
          </p:spPr>
          <p:txBody>
            <a:bodyPr rtlCol="0" anchor="ctr"/>
            <a:lstStyle/>
            <a:p>
              <a:pPr algn="r" defTabSz="685800">
                <a:defRPr/>
              </a:pPr>
              <a:r>
                <a:rPr lang="en-US" sz="900" kern="0">
                  <a:solidFill>
                    <a:srgbClr val="505050"/>
                  </a:solidFill>
                </a:rPr>
                <a:t>Custom </a:t>
              </a:r>
            </a:p>
            <a:p>
              <a:pPr algn="r" defTabSz="685800">
                <a:defRPr/>
              </a:pPr>
              <a:r>
                <a:rPr lang="en-US" sz="900" kern="0">
                  <a:solidFill>
                    <a:srgbClr val="505050"/>
                  </a:solidFill>
                </a:rPr>
                <a:t>Copilot</a:t>
              </a:r>
            </a:p>
          </p:txBody>
        </p:sp>
        <p:grpSp>
          <p:nvGrpSpPr>
            <p:cNvPr id="92" name="Group 91">
              <a:extLst>
                <a:ext uri="{FF2B5EF4-FFF2-40B4-BE49-F238E27FC236}">
                  <a16:creationId xmlns:a16="http://schemas.microsoft.com/office/drawing/2014/main" id="{B11779B3-01D5-63EF-5437-BA894BA2CDE8}"/>
                </a:ext>
              </a:extLst>
            </p:cNvPr>
            <p:cNvGrpSpPr/>
            <p:nvPr/>
          </p:nvGrpSpPr>
          <p:grpSpPr>
            <a:xfrm>
              <a:off x="9053548" y="2941617"/>
              <a:ext cx="1242978" cy="408268"/>
              <a:chOff x="10247963" y="2667157"/>
              <a:chExt cx="2083712" cy="720271"/>
            </a:xfrm>
          </p:grpSpPr>
          <p:pic>
            <p:nvPicPr>
              <p:cNvPr id="93" name="Picture 92">
                <a:extLst>
                  <a:ext uri="{FF2B5EF4-FFF2-40B4-BE49-F238E27FC236}">
                    <a16:creationId xmlns:a16="http://schemas.microsoft.com/office/drawing/2014/main" id="{44EF30A0-C21B-CE7E-8FD7-B3D5511CF895}"/>
                  </a:ext>
                </a:extLst>
              </p:cNvPr>
              <p:cNvPicPr>
                <a:picLocks noChangeAspect="1"/>
              </p:cNvPicPr>
              <p:nvPr/>
            </p:nvPicPr>
            <p:blipFill>
              <a:blip r:embed="rId14"/>
              <a:srcRect r="58209" b="-8587"/>
              <a:stretch/>
            </p:blipFill>
            <p:spPr>
              <a:xfrm>
                <a:off x="10247963" y="2667157"/>
                <a:ext cx="1248945" cy="720271"/>
              </a:xfrm>
              <a:prstGeom prst="rect">
                <a:avLst/>
              </a:prstGeom>
            </p:spPr>
          </p:pic>
          <p:pic>
            <p:nvPicPr>
              <p:cNvPr id="94" name="Picture 93">
                <a:extLst>
                  <a:ext uri="{FF2B5EF4-FFF2-40B4-BE49-F238E27FC236}">
                    <a16:creationId xmlns:a16="http://schemas.microsoft.com/office/drawing/2014/main" id="{BBE26CC1-FBF3-2A7A-1E07-FE46D7402BF2}"/>
                  </a:ext>
                </a:extLst>
              </p:cNvPr>
              <p:cNvPicPr>
                <a:picLocks noChangeAspect="1"/>
              </p:cNvPicPr>
              <p:nvPr/>
            </p:nvPicPr>
            <p:blipFill>
              <a:blip r:embed="rId15"/>
              <a:srcRect t="14897" b="22552"/>
              <a:stretch/>
            </p:blipFill>
            <p:spPr>
              <a:xfrm>
                <a:off x="10530948" y="2880377"/>
                <a:ext cx="1800727" cy="425823"/>
              </a:xfrm>
              <a:prstGeom prst="rect">
                <a:avLst/>
              </a:prstGeom>
            </p:spPr>
          </p:pic>
        </p:grpSp>
        <p:sp>
          <p:nvSpPr>
            <p:cNvPr id="95" name="Rectangle 94">
              <a:extLst>
                <a:ext uri="{FF2B5EF4-FFF2-40B4-BE49-F238E27FC236}">
                  <a16:creationId xmlns:a16="http://schemas.microsoft.com/office/drawing/2014/main" id="{9BDAF1C0-D4C6-9F5E-17B8-ABF0C84B73AF}"/>
                </a:ext>
              </a:extLst>
            </p:cNvPr>
            <p:cNvSpPr/>
            <p:nvPr/>
          </p:nvSpPr>
          <p:spPr>
            <a:xfrm>
              <a:off x="8751801" y="5537174"/>
              <a:ext cx="1501693" cy="472524"/>
            </a:xfrm>
            <a:prstGeom prst="rect">
              <a:avLst/>
            </a:prstGeom>
          </p:spPr>
          <p:txBody>
            <a:bodyPr wrap="square">
              <a:spAutoFit/>
            </a:bodyPr>
            <a:lstStyle/>
            <a:p>
              <a:pPr algn="ctr" defTabSz="1371121">
                <a:defRPr/>
              </a:pPr>
              <a:r>
                <a:rPr lang="en-US" sz="900" b="1" kern="0">
                  <a:solidFill>
                    <a:prstClr val="black"/>
                  </a:solidFill>
                  <a:cs typeface="Calibri" panose="020F0502020204030204" pitchFamily="34" charset="0"/>
                </a:rPr>
                <a:t>Copilot</a:t>
              </a:r>
            </a:p>
            <a:p>
              <a:pPr algn="ctr" defTabSz="1371121">
                <a:defRPr/>
              </a:pPr>
              <a:r>
                <a:rPr lang="en-US" sz="900" b="1" kern="0">
                  <a:solidFill>
                    <a:prstClr val="black"/>
                  </a:solidFill>
                  <a:cs typeface="Calibri" panose="020F0502020204030204" pitchFamily="34" charset="0"/>
                </a:rPr>
                <a:t>(Code, Assistant and Others)</a:t>
              </a:r>
            </a:p>
          </p:txBody>
        </p:sp>
        <p:pic>
          <p:nvPicPr>
            <p:cNvPr id="96" name="Picture 95">
              <a:extLst>
                <a:ext uri="{FF2B5EF4-FFF2-40B4-BE49-F238E27FC236}">
                  <a16:creationId xmlns:a16="http://schemas.microsoft.com/office/drawing/2014/main" id="{1F6F0E61-4561-A4C5-0C72-34CE8AA24D39}"/>
                </a:ext>
              </a:extLst>
            </p:cNvPr>
            <p:cNvPicPr>
              <a:picLocks noChangeAspect="1"/>
            </p:cNvPicPr>
            <p:nvPr/>
          </p:nvPicPr>
          <p:blipFill>
            <a:blip r:embed="rId16">
              <a:duotone>
                <a:schemeClr val="accent2">
                  <a:shade val="45000"/>
                  <a:satMod val="135000"/>
                </a:schemeClr>
                <a:prstClr val="white"/>
              </a:duotone>
              <a:extLst>
                <a:ext uri="{BEBA8EAE-BF5A-486C-A8C5-ECC9F3942E4B}">
                  <a14:imgProps xmlns:a14="http://schemas.microsoft.com/office/drawing/2010/main">
                    <a14:imgLayer r:embed="rId17">
                      <a14:imgEffect>
                        <a14:saturation sat="0"/>
                      </a14:imgEffect>
                    </a14:imgLayer>
                  </a14:imgProps>
                </a:ext>
              </a:extLst>
            </a:blip>
            <a:stretch>
              <a:fillRect/>
            </a:stretch>
          </p:blipFill>
          <p:spPr>
            <a:xfrm>
              <a:off x="8928831" y="4434574"/>
              <a:ext cx="573816" cy="380284"/>
            </a:xfrm>
            <a:prstGeom prst="rect">
              <a:avLst/>
            </a:prstGeom>
          </p:spPr>
        </p:pic>
        <p:pic>
          <p:nvPicPr>
            <p:cNvPr id="97" name="Picture 96">
              <a:extLst>
                <a:ext uri="{FF2B5EF4-FFF2-40B4-BE49-F238E27FC236}">
                  <a16:creationId xmlns:a16="http://schemas.microsoft.com/office/drawing/2014/main" id="{BBF93EB3-26A1-C75B-1C39-0552AD1959A6}"/>
                </a:ext>
              </a:extLst>
            </p:cNvPr>
            <p:cNvPicPr>
              <a:picLocks noChangeAspect="1"/>
            </p:cNvPicPr>
            <p:nvPr/>
          </p:nvPicPr>
          <p:blipFill>
            <a:blip r:embed="rId18"/>
            <a:stretch>
              <a:fillRect/>
            </a:stretch>
          </p:blipFill>
          <p:spPr>
            <a:xfrm>
              <a:off x="8999298" y="5011207"/>
              <a:ext cx="486550" cy="387844"/>
            </a:xfrm>
            <a:prstGeom prst="rect">
              <a:avLst/>
            </a:prstGeom>
          </p:spPr>
        </p:pic>
        <p:grpSp>
          <p:nvGrpSpPr>
            <p:cNvPr id="98" name="Group 97">
              <a:extLst>
                <a:ext uri="{FF2B5EF4-FFF2-40B4-BE49-F238E27FC236}">
                  <a16:creationId xmlns:a16="http://schemas.microsoft.com/office/drawing/2014/main" id="{37712D44-2431-A75F-044D-6FD9736C7144}"/>
                </a:ext>
              </a:extLst>
            </p:cNvPr>
            <p:cNvGrpSpPr/>
            <p:nvPr/>
          </p:nvGrpSpPr>
          <p:grpSpPr>
            <a:xfrm>
              <a:off x="290912" y="1568419"/>
              <a:ext cx="11640276" cy="1276682"/>
              <a:chOff x="290912" y="1568419"/>
              <a:chExt cx="11640276" cy="1276682"/>
            </a:xfrm>
          </p:grpSpPr>
          <p:sp>
            <p:nvSpPr>
              <p:cNvPr id="99" name="Rectangle 98">
                <a:extLst>
                  <a:ext uri="{FF2B5EF4-FFF2-40B4-BE49-F238E27FC236}">
                    <a16:creationId xmlns:a16="http://schemas.microsoft.com/office/drawing/2014/main" id="{9A7222E3-5B60-4F0B-80CA-13A4A2AD1569}"/>
                  </a:ext>
                </a:extLst>
              </p:cNvPr>
              <p:cNvSpPr/>
              <p:nvPr/>
            </p:nvSpPr>
            <p:spPr>
              <a:xfrm>
                <a:off x="290912" y="1568419"/>
                <a:ext cx="11640276" cy="1002310"/>
              </a:xfrm>
              <a:prstGeom prst="rect">
                <a:avLst/>
              </a:prstGeom>
              <a:solidFill>
                <a:srgbClr val="082340"/>
              </a:solidFill>
              <a:ln w="12700" cap="flat" cmpd="sng" algn="ctr">
                <a:solidFill>
                  <a:srgbClr val="082340">
                    <a:shade val="15000"/>
                  </a:srgbClr>
                </a:solidFill>
                <a:prstDash val="solid"/>
                <a:miter lim="800000"/>
              </a:ln>
              <a:effectLst/>
            </p:spPr>
            <p:txBody>
              <a:bodyPr rtlCol="0" anchor="ctr"/>
              <a:lstStyle/>
              <a:p>
                <a:pPr algn="ctr" defTabSz="685800">
                  <a:defRPr/>
                </a:pPr>
                <a:endParaRPr lang="en-US" sz="900" kern="0">
                  <a:solidFill>
                    <a:prstClr val="white"/>
                  </a:solidFill>
                </a:endParaRPr>
              </a:p>
            </p:txBody>
          </p:sp>
          <p:pic>
            <p:nvPicPr>
              <p:cNvPr id="100" name="Graphic 99">
                <a:extLst>
                  <a:ext uri="{FF2B5EF4-FFF2-40B4-BE49-F238E27FC236}">
                    <a16:creationId xmlns:a16="http://schemas.microsoft.com/office/drawing/2014/main" id="{A303EB9C-BF5F-9806-3669-C75BD959E9A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655259" y="1737342"/>
                <a:ext cx="2089281" cy="630880"/>
              </a:xfrm>
              <a:prstGeom prst="rect">
                <a:avLst/>
              </a:prstGeom>
            </p:spPr>
          </p:pic>
          <p:cxnSp>
            <p:nvCxnSpPr>
              <p:cNvPr id="101" name="Straight Connector 100">
                <a:extLst>
                  <a:ext uri="{FF2B5EF4-FFF2-40B4-BE49-F238E27FC236}">
                    <a16:creationId xmlns:a16="http://schemas.microsoft.com/office/drawing/2014/main" id="{B722E3D3-7083-156A-FB83-193E3FB315EC}"/>
                  </a:ext>
                </a:extLst>
              </p:cNvPr>
              <p:cNvCxnSpPr>
                <a:cxnSpLocks/>
              </p:cNvCxnSpPr>
              <p:nvPr/>
            </p:nvCxnSpPr>
            <p:spPr>
              <a:xfrm>
                <a:off x="3169025" y="1610957"/>
                <a:ext cx="0" cy="954926"/>
              </a:xfrm>
              <a:prstGeom prst="line">
                <a:avLst/>
              </a:prstGeom>
              <a:noFill/>
              <a:ln w="6350" cap="flat" cmpd="sng" algn="ctr">
                <a:solidFill>
                  <a:sysClr val="window" lastClr="FFFFFF"/>
                </a:solidFill>
                <a:prstDash val="solid"/>
                <a:miter lim="800000"/>
              </a:ln>
              <a:effectLst/>
            </p:spPr>
          </p:cxnSp>
          <p:cxnSp>
            <p:nvCxnSpPr>
              <p:cNvPr id="102" name="Straight Connector 101">
                <a:extLst>
                  <a:ext uri="{FF2B5EF4-FFF2-40B4-BE49-F238E27FC236}">
                    <a16:creationId xmlns:a16="http://schemas.microsoft.com/office/drawing/2014/main" id="{4379FA9C-504D-F311-7DFB-ABAF784AE10D}"/>
                  </a:ext>
                </a:extLst>
              </p:cNvPr>
              <p:cNvCxnSpPr>
                <a:cxnSpLocks/>
              </p:cNvCxnSpPr>
              <p:nvPr/>
            </p:nvCxnSpPr>
            <p:spPr>
              <a:xfrm>
                <a:off x="5349268" y="1595870"/>
                <a:ext cx="0" cy="954926"/>
              </a:xfrm>
              <a:prstGeom prst="line">
                <a:avLst/>
              </a:prstGeom>
              <a:noFill/>
              <a:ln w="6350" cap="flat" cmpd="sng" algn="ctr">
                <a:solidFill>
                  <a:sysClr val="window" lastClr="FFFFFF"/>
                </a:solidFill>
                <a:prstDash val="solid"/>
                <a:miter lim="800000"/>
              </a:ln>
              <a:effectLst/>
            </p:spPr>
          </p:cxnSp>
          <p:cxnSp>
            <p:nvCxnSpPr>
              <p:cNvPr id="103" name="Straight Connector 102">
                <a:extLst>
                  <a:ext uri="{FF2B5EF4-FFF2-40B4-BE49-F238E27FC236}">
                    <a16:creationId xmlns:a16="http://schemas.microsoft.com/office/drawing/2014/main" id="{73342623-86C3-D37B-3F01-D2C50F8E70E5}"/>
                  </a:ext>
                </a:extLst>
              </p:cNvPr>
              <p:cNvCxnSpPr>
                <a:cxnSpLocks/>
              </p:cNvCxnSpPr>
              <p:nvPr/>
            </p:nvCxnSpPr>
            <p:spPr>
              <a:xfrm>
                <a:off x="7529511" y="1595870"/>
                <a:ext cx="0" cy="954926"/>
              </a:xfrm>
              <a:prstGeom prst="line">
                <a:avLst/>
              </a:prstGeom>
              <a:noFill/>
              <a:ln w="6350" cap="flat" cmpd="sng" algn="ctr">
                <a:solidFill>
                  <a:sysClr val="window" lastClr="FFFFFF"/>
                </a:solidFill>
                <a:prstDash val="solid"/>
                <a:miter lim="800000"/>
              </a:ln>
              <a:effectLst/>
            </p:spPr>
          </p:cxnSp>
          <p:cxnSp>
            <p:nvCxnSpPr>
              <p:cNvPr id="104" name="Straight Connector 103">
                <a:extLst>
                  <a:ext uri="{FF2B5EF4-FFF2-40B4-BE49-F238E27FC236}">
                    <a16:creationId xmlns:a16="http://schemas.microsoft.com/office/drawing/2014/main" id="{00016091-68EA-2C4B-3852-D8A9EC2EB7C0}"/>
                  </a:ext>
                </a:extLst>
              </p:cNvPr>
              <p:cNvCxnSpPr>
                <a:cxnSpLocks/>
              </p:cNvCxnSpPr>
              <p:nvPr/>
            </p:nvCxnSpPr>
            <p:spPr>
              <a:xfrm>
                <a:off x="400930" y="2845101"/>
                <a:ext cx="2171116" cy="0"/>
              </a:xfrm>
              <a:prstGeom prst="line">
                <a:avLst/>
              </a:prstGeom>
              <a:noFill/>
              <a:ln w="6350" cap="flat" cmpd="sng" algn="ctr">
                <a:solidFill>
                  <a:sysClr val="window" lastClr="FFFFFF"/>
                </a:solidFill>
                <a:prstDash val="solid"/>
                <a:miter lim="800000"/>
              </a:ln>
              <a:effectLst/>
            </p:spPr>
          </p:cxnSp>
          <p:cxnSp>
            <p:nvCxnSpPr>
              <p:cNvPr id="105" name="Straight Connector 104">
                <a:extLst>
                  <a:ext uri="{FF2B5EF4-FFF2-40B4-BE49-F238E27FC236}">
                    <a16:creationId xmlns:a16="http://schemas.microsoft.com/office/drawing/2014/main" id="{C2657EB5-C4C0-66A6-646C-7F4ACC9E043A}"/>
                  </a:ext>
                </a:extLst>
              </p:cNvPr>
              <p:cNvCxnSpPr>
                <a:cxnSpLocks/>
              </p:cNvCxnSpPr>
              <p:nvPr/>
            </p:nvCxnSpPr>
            <p:spPr>
              <a:xfrm>
                <a:off x="2989438" y="2845101"/>
                <a:ext cx="2293335" cy="0"/>
              </a:xfrm>
              <a:prstGeom prst="line">
                <a:avLst/>
              </a:prstGeom>
              <a:noFill/>
              <a:ln w="6350" cap="flat" cmpd="sng" algn="ctr">
                <a:solidFill>
                  <a:sysClr val="window" lastClr="FFFFFF"/>
                </a:solidFill>
                <a:prstDash val="solid"/>
                <a:miter lim="800000"/>
              </a:ln>
              <a:effectLst/>
            </p:spPr>
          </p:cxnSp>
          <p:cxnSp>
            <p:nvCxnSpPr>
              <p:cNvPr id="106" name="Straight Connector 105">
                <a:extLst>
                  <a:ext uri="{FF2B5EF4-FFF2-40B4-BE49-F238E27FC236}">
                    <a16:creationId xmlns:a16="http://schemas.microsoft.com/office/drawing/2014/main" id="{C076CC90-62AC-51CF-C441-FAE259D1B67C}"/>
                  </a:ext>
                </a:extLst>
              </p:cNvPr>
              <p:cNvCxnSpPr>
                <a:cxnSpLocks/>
              </p:cNvCxnSpPr>
              <p:nvPr/>
            </p:nvCxnSpPr>
            <p:spPr>
              <a:xfrm>
                <a:off x="5612448" y="2845101"/>
                <a:ext cx="1970893" cy="0"/>
              </a:xfrm>
              <a:prstGeom prst="line">
                <a:avLst/>
              </a:prstGeom>
              <a:noFill/>
              <a:ln w="6350" cap="flat" cmpd="sng" algn="ctr">
                <a:solidFill>
                  <a:sysClr val="window" lastClr="FFFFFF"/>
                </a:solidFill>
                <a:prstDash val="solid"/>
                <a:miter lim="800000"/>
              </a:ln>
              <a:effectLst/>
            </p:spPr>
          </p:cxnSp>
          <p:sp>
            <p:nvSpPr>
              <p:cNvPr id="107" name="TextBox 106">
                <a:extLst>
                  <a:ext uri="{FF2B5EF4-FFF2-40B4-BE49-F238E27FC236}">
                    <a16:creationId xmlns:a16="http://schemas.microsoft.com/office/drawing/2014/main" id="{5990DD62-39E6-4976-A0E4-DE6B606C5309}"/>
                  </a:ext>
                </a:extLst>
              </p:cNvPr>
              <p:cNvSpPr txBox="1"/>
              <p:nvPr/>
            </p:nvSpPr>
            <p:spPr>
              <a:xfrm>
                <a:off x="3497757" y="1924236"/>
                <a:ext cx="1818132" cy="343654"/>
              </a:xfrm>
              <a:prstGeom prst="rect">
                <a:avLst/>
              </a:prstGeom>
              <a:noFill/>
            </p:spPr>
            <p:txBody>
              <a:bodyPr wrap="square" rtlCol="0">
                <a:spAutoFit/>
              </a:bodyPr>
              <a:lstStyle/>
              <a:p>
                <a:pPr defTabSz="685800">
                  <a:defRPr/>
                </a:pPr>
                <a:r>
                  <a:rPr lang="en-US" b="1">
                    <a:solidFill>
                      <a:srgbClr val="F75D42"/>
                    </a:solidFill>
                  </a:rPr>
                  <a:t>Cognitive AI</a:t>
                </a:r>
                <a:endParaRPr lang="en-IN" b="1">
                  <a:solidFill>
                    <a:srgbClr val="F75D42"/>
                  </a:solidFill>
                </a:endParaRPr>
              </a:p>
            </p:txBody>
          </p:sp>
          <p:sp>
            <p:nvSpPr>
              <p:cNvPr id="108" name="TextBox 107">
                <a:extLst>
                  <a:ext uri="{FF2B5EF4-FFF2-40B4-BE49-F238E27FC236}">
                    <a16:creationId xmlns:a16="http://schemas.microsoft.com/office/drawing/2014/main" id="{DB2517F7-882C-0EFD-E985-3EB2B3669D27}"/>
                  </a:ext>
                </a:extLst>
              </p:cNvPr>
              <p:cNvSpPr txBox="1"/>
              <p:nvPr/>
            </p:nvSpPr>
            <p:spPr>
              <a:xfrm>
                <a:off x="5590564" y="1924236"/>
                <a:ext cx="1933957" cy="343654"/>
              </a:xfrm>
              <a:prstGeom prst="rect">
                <a:avLst/>
              </a:prstGeom>
              <a:noFill/>
            </p:spPr>
            <p:txBody>
              <a:bodyPr wrap="square" rtlCol="0">
                <a:spAutoFit/>
              </a:bodyPr>
              <a:lstStyle/>
              <a:p>
                <a:pPr defTabSz="685800">
                  <a:defRPr/>
                </a:pPr>
                <a:r>
                  <a:rPr lang="en-US" b="1">
                    <a:solidFill>
                      <a:srgbClr val="F75D42"/>
                    </a:solidFill>
                  </a:rPr>
                  <a:t>Generative AI</a:t>
                </a:r>
                <a:endParaRPr lang="en-IN" b="1">
                  <a:solidFill>
                    <a:srgbClr val="F75D42"/>
                  </a:solidFill>
                </a:endParaRPr>
              </a:p>
            </p:txBody>
          </p:sp>
          <p:sp>
            <p:nvSpPr>
              <p:cNvPr id="109" name="TextBox 108">
                <a:extLst>
                  <a:ext uri="{FF2B5EF4-FFF2-40B4-BE49-F238E27FC236}">
                    <a16:creationId xmlns:a16="http://schemas.microsoft.com/office/drawing/2014/main" id="{C178F34B-DAD7-9F0D-E1FB-9EB843158869}"/>
                  </a:ext>
                </a:extLst>
              </p:cNvPr>
              <p:cNvSpPr txBox="1"/>
              <p:nvPr/>
            </p:nvSpPr>
            <p:spPr>
              <a:xfrm>
                <a:off x="7960358" y="1924236"/>
                <a:ext cx="1818132" cy="343654"/>
              </a:xfrm>
              <a:prstGeom prst="rect">
                <a:avLst/>
              </a:prstGeom>
              <a:noFill/>
            </p:spPr>
            <p:txBody>
              <a:bodyPr wrap="square" rtlCol="0">
                <a:spAutoFit/>
              </a:bodyPr>
              <a:lstStyle/>
              <a:p>
                <a:pPr defTabSz="685800">
                  <a:defRPr/>
                </a:pPr>
                <a:r>
                  <a:rPr lang="en-US" b="1">
                    <a:solidFill>
                      <a:srgbClr val="F75D42"/>
                    </a:solidFill>
                  </a:rPr>
                  <a:t>Agentic AI</a:t>
                </a:r>
                <a:endParaRPr lang="en-IN" b="1">
                  <a:solidFill>
                    <a:srgbClr val="F75D42"/>
                  </a:solidFill>
                </a:endParaRPr>
              </a:p>
            </p:txBody>
          </p:sp>
          <p:sp>
            <p:nvSpPr>
              <p:cNvPr id="110" name="TextBox 109">
                <a:extLst>
                  <a:ext uri="{FF2B5EF4-FFF2-40B4-BE49-F238E27FC236}">
                    <a16:creationId xmlns:a16="http://schemas.microsoft.com/office/drawing/2014/main" id="{2406A392-C15B-E63D-1AD9-ADA67C7260FD}"/>
                  </a:ext>
                </a:extLst>
              </p:cNvPr>
              <p:cNvSpPr txBox="1"/>
              <p:nvPr/>
            </p:nvSpPr>
            <p:spPr>
              <a:xfrm>
                <a:off x="9845248" y="1924236"/>
                <a:ext cx="2083681" cy="343654"/>
              </a:xfrm>
              <a:prstGeom prst="rect">
                <a:avLst/>
              </a:prstGeom>
              <a:noFill/>
            </p:spPr>
            <p:txBody>
              <a:bodyPr wrap="square" rtlCol="0">
                <a:spAutoFit/>
              </a:bodyPr>
              <a:lstStyle/>
              <a:p>
                <a:pPr defTabSz="685800">
                  <a:defRPr/>
                </a:pPr>
                <a:r>
                  <a:rPr lang="en-US" b="1">
                    <a:solidFill>
                      <a:srgbClr val="F75D42"/>
                    </a:solidFill>
                  </a:rPr>
                  <a:t>Responsible AI</a:t>
                </a:r>
                <a:endParaRPr lang="en-IN" b="1">
                  <a:solidFill>
                    <a:srgbClr val="F75D42"/>
                  </a:solidFill>
                </a:endParaRPr>
              </a:p>
            </p:txBody>
          </p:sp>
          <p:cxnSp>
            <p:nvCxnSpPr>
              <p:cNvPr id="111" name="Straight Connector 110">
                <a:extLst>
                  <a:ext uri="{FF2B5EF4-FFF2-40B4-BE49-F238E27FC236}">
                    <a16:creationId xmlns:a16="http://schemas.microsoft.com/office/drawing/2014/main" id="{E2FC03E7-B74D-34AC-4C77-3B12729A14B2}"/>
                  </a:ext>
                </a:extLst>
              </p:cNvPr>
              <p:cNvCxnSpPr>
                <a:cxnSpLocks/>
              </p:cNvCxnSpPr>
              <p:nvPr/>
            </p:nvCxnSpPr>
            <p:spPr>
              <a:xfrm>
                <a:off x="9709755" y="1595870"/>
                <a:ext cx="0" cy="954926"/>
              </a:xfrm>
              <a:prstGeom prst="line">
                <a:avLst/>
              </a:prstGeom>
              <a:noFill/>
              <a:ln w="6350" cap="flat" cmpd="sng" algn="ctr">
                <a:solidFill>
                  <a:sysClr val="window" lastClr="FFFFFF"/>
                </a:solidFill>
                <a:prstDash val="solid"/>
                <a:miter lim="800000"/>
              </a:ln>
              <a:effectLst/>
            </p:spPr>
          </p:cxnSp>
        </p:grpSp>
        <p:sp>
          <p:nvSpPr>
            <p:cNvPr id="112" name="Rectangle 111">
              <a:extLst>
                <a:ext uri="{FF2B5EF4-FFF2-40B4-BE49-F238E27FC236}">
                  <a16:creationId xmlns:a16="http://schemas.microsoft.com/office/drawing/2014/main" id="{0EFE2CBF-67AD-FC25-B631-33AD84291C4F}"/>
                </a:ext>
              </a:extLst>
            </p:cNvPr>
            <p:cNvSpPr/>
            <p:nvPr/>
          </p:nvSpPr>
          <p:spPr>
            <a:xfrm>
              <a:off x="10430538" y="2868001"/>
              <a:ext cx="1481599" cy="3180074"/>
            </a:xfrm>
            <a:prstGeom prst="rect">
              <a:avLst/>
            </a:prstGeom>
            <a:solidFill>
              <a:sysClr val="window" lastClr="FFFFFF"/>
            </a:solidFill>
            <a:ln w="12700" cap="flat" cmpd="sng" algn="ctr">
              <a:noFill/>
              <a:prstDash val="solid"/>
              <a:miter lim="800000"/>
            </a:ln>
            <a:effectLst>
              <a:outerShdw blurRad="63500" algn="ctr" rotWithShape="0">
                <a:prstClr val="black">
                  <a:alpha val="40000"/>
                </a:prstClr>
              </a:outerShdw>
            </a:effectLst>
          </p:spPr>
          <p:txBody>
            <a:bodyPr rtlCol="0" anchor="ctr"/>
            <a:lstStyle/>
            <a:p>
              <a:pPr algn="ctr" defTabSz="1371121">
                <a:defRPr/>
              </a:pPr>
              <a:endParaRPr lang="en-US" sz="900" kern="0">
                <a:solidFill>
                  <a:prstClr val="white"/>
                </a:solidFill>
              </a:endParaRPr>
            </a:p>
          </p:txBody>
        </p:sp>
        <p:sp>
          <p:nvSpPr>
            <p:cNvPr id="113" name="TextBox 112">
              <a:extLst>
                <a:ext uri="{FF2B5EF4-FFF2-40B4-BE49-F238E27FC236}">
                  <a16:creationId xmlns:a16="http://schemas.microsoft.com/office/drawing/2014/main" id="{4648140F-0ED9-9441-A0EB-CBF492F01A02}"/>
                </a:ext>
              </a:extLst>
            </p:cNvPr>
            <p:cNvSpPr txBox="1"/>
            <p:nvPr/>
          </p:nvSpPr>
          <p:spPr>
            <a:xfrm>
              <a:off x="10865364" y="2915134"/>
              <a:ext cx="887058" cy="665830"/>
            </a:xfrm>
            <a:prstGeom prst="rect">
              <a:avLst/>
            </a:prstGeom>
            <a:noFill/>
          </p:spPr>
          <p:txBody>
            <a:bodyPr wrap="square" rtlCol="0">
              <a:spAutoFit/>
            </a:bodyPr>
            <a:lstStyle/>
            <a:p>
              <a:pPr algn="ctr"/>
              <a:r>
                <a:rPr lang="en-US" sz="1350">
                  <a:solidFill>
                    <a:schemeClr val="accent2"/>
                  </a:solidFill>
                </a:rPr>
                <a:t>Platforms &amp; Tools</a:t>
              </a:r>
              <a:endParaRPr lang="en-IN" sz="1350">
                <a:solidFill>
                  <a:schemeClr val="accent2"/>
                </a:solidFill>
              </a:endParaRPr>
            </a:p>
          </p:txBody>
        </p:sp>
        <p:pic>
          <p:nvPicPr>
            <p:cNvPr id="114" name="Picture 113">
              <a:extLst>
                <a:ext uri="{FF2B5EF4-FFF2-40B4-BE49-F238E27FC236}">
                  <a16:creationId xmlns:a16="http://schemas.microsoft.com/office/drawing/2014/main" id="{499C8946-81AC-B526-7979-472551EBA708}"/>
                </a:ext>
              </a:extLst>
            </p:cNvPr>
            <p:cNvPicPr>
              <a:picLocks noChangeAspect="1"/>
            </p:cNvPicPr>
            <p:nvPr/>
          </p:nvPicPr>
          <p:blipFill>
            <a:blip r:embed="rId20">
              <a:clrChange>
                <a:clrFrom>
                  <a:srgbClr val="FFFFFF"/>
                </a:clrFrom>
                <a:clrTo>
                  <a:srgbClr val="FFFFFF">
                    <a:alpha val="0"/>
                  </a:srgbClr>
                </a:clrTo>
              </a:clrChange>
            </a:blip>
            <a:stretch>
              <a:fillRect/>
            </a:stretch>
          </p:blipFill>
          <p:spPr>
            <a:xfrm>
              <a:off x="10604606" y="3439574"/>
              <a:ext cx="589715" cy="555026"/>
            </a:xfrm>
            <a:prstGeom prst="rect">
              <a:avLst/>
            </a:prstGeom>
          </p:spPr>
        </p:pic>
        <p:pic>
          <p:nvPicPr>
            <p:cNvPr id="115" name="Picture 114">
              <a:extLst>
                <a:ext uri="{FF2B5EF4-FFF2-40B4-BE49-F238E27FC236}">
                  <a16:creationId xmlns:a16="http://schemas.microsoft.com/office/drawing/2014/main" id="{4CAABDD0-BA53-D836-6CAD-11AF70AE276B}"/>
                </a:ext>
              </a:extLst>
            </p:cNvPr>
            <p:cNvPicPr>
              <a:picLocks noChangeAspect="1"/>
            </p:cNvPicPr>
            <p:nvPr/>
          </p:nvPicPr>
          <p:blipFill>
            <a:blip r:embed="rId21">
              <a:clrChange>
                <a:clrFrom>
                  <a:srgbClr val="FFFFFF"/>
                </a:clrFrom>
                <a:clrTo>
                  <a:srgbClr val="FFFFFF">
                    <a:alpha val="0"/>
                  </a:srgbClr>
                </a:clrTo>
              </a:clrChange>
            </a:blip>
            <a:stretch>
              <a:fillRect/>
            </a:stretch>
          </p:blipFill>
          <p:spPr>
            <a:xfrm>
              <a:off x="11246669" y="3948548"/>
              <a:ext cx="540328" cy="508229"/>
            </a:xfrm>
            <a:prstGeom prst="rect">
              <a:avLst/>
            </a:prstGeom>
          </p:spPr>
        </p:pic>
        <p:pic>
          <p:nvPicPr>
            <p:cNvPr id="116" name="Picture 2" descr="Salesforce Logo - Salesforce">
              <a:extLst>
                <a:ext uri="{FF2B5EF4-FFF2-40B4-BE49-F238E27FC236}">
                  <a16:creationId xmlns:a16="http://schemas.microsoft.com/office/drawing/2014/main" id="{D194EB2C-BCEE-A42A-98EA-F14AB987D2F7}"/>
                </a:ext>
              </a:extLst>
            </p:cNvPr>
            <p:cNvPicPr>
              <a:picLocks noChangeAspect="1" noChangeArrowheads="1"/>
            </p:cNvPicPr>
            <p:nvPr/>
          </p:nvPicPr>
          <p:blipFill>
            <a:blip r:embed="rId2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797401" y="4938476"/>
              <a:ext cx="617402" cy="576242"/>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6" descr="Servicenow Logo SVG, PNG Icon, Symbol ...">
              <a:extLst>
                <a:ext uri="{FF2B5EF4-FFF2-40B4-BE49-F238E27FC236}">
                  <a16:creationId xmlns:a16="http://schemas.microsoft.com/office/drawing/2014/main" id="{DF3E255E-D06A-61DB-D2EA-95042F26DB8E}"/>
                </a:ext>
              </a:extLst>
            </p:cNvPr>
            <p:cNvPicPr>
              <a:picLocks noChangeAspect="1" noChangeArrowheads="1"/>
            </p:cNvPicPr>
            <p:nvPr/>
          </p:nvPicPr>
          <p:blipFill rotWithShape="1">
            <a:blip r:embed="rId23">
              <a:clrChange>
                <a:clrFrom>
                  <a:srgbClr val="FFFFFF"/>
                </a:clrFrom>
                <a:clrTo>
                  <a:srgbClr val="FFFFFF">
                    <a:alpha val="0"/>
                  </a:srgbClr>
                </a:clrTo>
              </a:clrChange>
              <a:extLst>
                <a:ext uri="{28A0092B-C50C-407E-A947-70E740481C1C}">
                  <a14:useLocalDpi xmlns:a14="http://schemas.microsoft.com/office/drawing/2010/main" val="0"/>
                </a:ext>
              </a:extLst>
            </a:blip>
            <a:srcRect t="39860" b="37480"/>
            <a:stretch/>
          </p:blipFill>
          <p:spPr bwMode="auto">
            <a:xfrm>
              <a:off x="10451982" y="4547918"/>
              <a:ext cx="1409065" cy="319296"/>
            </a:xfrm>
            <a:prstGeom prst="rect">
              <a:avLst/>
            </a:prstGeom>
            <a:noFill/>
            <a:extLst>
              <a:ext uri="{909E8E84-426E-40DD-AFC4-6F175D3DCCD1}">
                <a14:hiddenFill xmlns:a14="http://schemas.microsoft.com/office/drawing/2010/main">
                  <a:solidFill>
                    <a:srgbClr val="FFFFFF"/>
                  </a:solidFill>
                </a14:hiddenFill>
              </a:ext>
            </a:extLst>
          </p:spPr>
        </p:pic>
        <p:sp>
          <p:nvSpPr>
            <p:cNvPr id="118" name="Rectangle 117">
              <a:extLst>
                <a:ext uri="{FF2B5EF4-FFF2-40B4-BE49-F238E27FC236}">
                  <a16:creationId xmlns:a16="http://schemas.microsoft.com/office/drawing/2014/main" id="{B6FCC565-0ED9-A6E7-576D-7BD37DCB08FA}"/>
                </a:ext>
              </a:extLst>
            </p:cNvPr>
            <p:cNvSpPr/>
            <p:nvPr/>
          </p:nvSpPr>
          <p:spPr>
            <a:xfrm>
              <a:off x="10323510" y="5524705"/>
              <a:ext cx="1695653" cy="472524"/>
            </a:xfrm>
            <a:prstGeom prst="rect">
              <a:avLst/>
            </a:prstGeom>
          </p:spPr>
          <p:txBody>
            <a:bodyPr wrap="square">
              <a:spAutoFit/>
            </a:bodyPr>
            <a:lstStyle/>
            <a:p>
              <a:pPr algn="ctr" defTabSz="1371121">
                <a:defRPr/>
              </a:pPr>
              <a:r>
                <a:rPr lang="en-US" sz="900" b="1" kern="0">
                  <a:solidFill>
                    <a:prstClr val="black"/>
                  </a:solidFill>
                  <a:cs typeface="Calibri" panose="020F0502020204030204" pitchFamily="34" charset="0"/>
                </a:rPr>
                <a:t>Native AI &amp; Augment with external AI Capabilities </a:t>
              </a:r>
            </a:p>
          </p:txBody>
        </p:sp>
        <p:pic>
          <p:nvPicPr>
            <p:cNvPr id="119" name="Picture 118">
              <a:extLst>
                <a:ext uri="{FF2B5EF4-FFF2-40B4-BE49-F238E27FC236}">
                  <a16:creationId xmlns:a16="http://schemas.microsoft.com/office/drawing/2014/main" id="{208C47A0-DA53-2D72-6065-2E372E1BB966}"/>
                </a:ext>
              </a:extLst>
            </p:cNvPr>
            <p:cNvPicPr>
              <a:picLocks noChangeAspect="1"/>
            </p:cNvPicPr>
            <p:nvPr/>
          </p:nvPicPr>
          <p:blipFill>
            <a:blip r:embed="rId24">
              <a:clrChange>
                <a:clrFrom>
                  <a:srgbClr val="F7F7F7"/>
                </a:clrFrom>
                <a:clrTo>
                  <a:srgbClr val="F7F7F7">
                    <a:alpha val="0"/>
                  </a:srgbClr>
                </a:clrTo>
              </a:clrChange>
              <a:biLevel thresh="25000"/>
            </a:blip>
            <a:stretch>
              <a:fillRect/>
            </a:stretch>
          </p:blipFill>
          <p:spPr>
            <a:xfrm>
              <a:off x="10604606" y="2941617"/>
              <a:ext cx="325760" cy="391490"/>
            </a:xfrm>
            <a:prstGeom prst="rect">
              <a:avLst/>
            </a:prstGeom>
          </p:spPr>
        </p:pic>
      </p:grpSp>
    </p:spTree>
    <p:extLst>
      <p:ext uri="{BB962C8B-B14F-4D97-AF65-F5344CB8AC3E}">
        <p14:creationId xmlns:p14="http://schemas.microsoft.com/office/powerpoint/2010/main" val="330143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C8D36-2021-AB9C-3A0E-C6C6B161D2F0}"/>
            </a:ext>
          </a:extLst>
        </p:cNvPr>
        <p:cNvGrpSpPr/>
        <p:nvPr/>
      </p:nvGrpSpPr>
      <p:grpSpPr>
        <a:xfrm>
          <a:off x="0" y="0"/>
          <a:ext cx="0" cy="0"/>
          <a:chOff x="0" y="0"/>
          <a:chExt cx="0" cy="0"/>
        </a:xfrm>
      </p:grpSpPr>
      <p:sp>
        <p:nvSpPr>
          <p:cNvPr id="91" name="Title 3">
            <a:extLst>
              <a:ext uri="{FF2B5EF4-FFF2-40B4-BE49-F238E27FC236}">
                <a16:creationId xmlns:a16="http://schemas.microsoft.com/office/drawing/2014/main" id="{C498282D-7990-2F02-13A6-9680FDA29940}"/>
              </a:ext>
            </a:extLst>
          </p:cNvPr>
          <p:cNvSpPr txBox="1">
            <a:spLocks/>
          </p:cNvSpPr>
          <p:nvPr/>
        </p:nvSpPr>
        <p:spPr>
          <a:xfrm>
            <a:off x="481530" y="163730"/>
            <a:ext cx="11335249" cy="945514"/>
          </a:xfrm>
          <a:prstGeom prst="rect">
            <a:avLst/>
          </a:prstGeom>
        </p:spPr>
        <p:txBody>
          <a:bodyPr vert="horz" lIns="0" tIns="34290" rIns="68580" bIns="34290" rtlCol="0" anchor="ctr">
            <a:normAutofit/>
          </a:bodyPr>
          <a:lstStyle>
            <a:lvl1pPr algn="l" defTabSz="1219170" rtl="0" eaLnBrk="1" latinLnBrk="0" hangingPunct="1">
              <a:lnSpc>
                <a:spcPct val="90000"/>
              </a:lnSpc>
              <a:spcBef>
                <a:spcPct val="0"/>
              </a:spcBef>
              <a:buNone/>
              <a:defRPr sz="3200" b="1" kern="1200">
                <a:solidFill>
                  <a:schemeClr val="accent1"/>
                </a:solidFill>
                <a:latin typeface="+mj-lt"/>
                <a:ea typeface="+mj-ea"/>
                <a:cs typeface="+mj-cs"/>
              </a:defRPr>
            </a:lvl1pPr>
          </a:lstStyle>
          <a:p>
            <a:pPr>
              <a:defRPr/>
            </a:pPr>
            <a:r>
              <a:rPr lang="en-US" sz="2400"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Industry Focused AI Solutions: </a:t>
            </a:r>
            <a:r>
              <a:rPr lang="en-US" sz="2400">
                <a:solidFill>
                  <a:srgbClr val="082340"/>
                </a:solidFill>
                <a:latin typeface="Tahoma"/>
              </a:rPr>
              <a:t>Our </a:t>
            </a:r>
            <a:r>
              <a:rPr lang="en-US" sz="2400"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assets and experience</a:t>
            </a:r>
            <a:r>
              <a:rPr lang="en-US" sz="2400">
                <a:solidFill>
                  <a:srgbClr val="082340"/>
                </a:solidFill>
                <a:latin typeface="Tahoma"/>
              </a:rPr>
              <a:t> across multiple industries</a:t>
            </a:r>
          </a:p>
        </p:txBody>
      </p:sp>
      <p:grpSp>
        <p:nvGrpSpPr>
          <p:cNvPr id="2" name="Group 1">
            <a:extLst>
              <a:ext uri="{FF2B5EF4-FFF2-40B4-BE49-F238E27FC236}">
                <a16:creationId xmlns:a16="http://schemas.microsoft.com/office/drawing/2014/main" id="{610711D3-4017-DBCE-EF1B-BF43D8A83A16}"/>
              </a:ext>
            </a:extLst>
          </p:cNvPr>
          <p:cNvGrpSpPr/>
          <p:nvPr/>
        </p:nvGrpSpPr>
        <p:grpSpPr>
          <a:xfrm>
            <a:off x="132428" y="1354256"/>
            <a:ext cx="5829300" cy="205740"/>
            <a:chOff x="1888842" y="1836371"/>
            <a:chExt cx="8242711" cy="274320"/>
          </a:xfrm>
          <a:solidFill>
            <a:schemeClr val="accent2"/>
          </a:solidFill>
        </p:grpSpPr>
        <p:sp>
          <p:nvSpPr>
            <p:cNvPr id="3" name="Rectangle: Rounded Corners 2">
              <a:extLst>
                <a:ext uri="{FF2B5EF4-FFF2-40B4-BE49-F238E27FC236}">
                  <a16:creationId xmlns:a16="http://schemas.microsoft.com/office/drawing/2014/main" id="{B2D34532-B64B-FA67-9025-6804EE6EAAAC}"/>
                </a:ext>
              </a:extLst>
            </p:cNvPr>
            <p:cNvSpPr/>
            <p:nvPr/>
          </p:nvSpPr>
          <p:spPr>
            <a:xfrm>
              <a:off x="1888842" y="1963807"/>
              <a:ext cx="8229600" cy="457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IN" sz="900">
                <a:solidFill>
                  <a:prstClr val="white"/>
                </a:solidFill>
                <a:latin typeface="Poppins"/>
              </a:endParaRPr>
            </a:p>
          </p:txBody>
        </p:sp>
        <p:sp>
          <p:nvSpPr>
            <p:cNvPr id="4" name="TextBox 3">
              <a:extLst>
                <a:ext uri="{FF2B5EF4-FFF2-40B4-BE49-F238E27FC236}">
                  <a16:creationId xmlns:a16="http://schemas.microsoft.com/office/drawing/2014/main" id="{DABE120F-55D5-9042-5968-336CF40A8E79}"/>
                </a:ext>
              </a:extLst>
            </p:cNvPr>
            <p:cNvSpPr txBox="1"/>
            <p:nvPr/>
          </p:nvSpPr>
          <p:spPr>
            <a:xfrm>
              <a:off x="4385579" y="1836371"/>
              <a:ext cx="3657600" cy="27432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defRPr/>
              </a:pPr>
              <a:r>
                <a:rPr lang="en-US" sz="1050">
                  <a:solidFill>
                    <a:prstClr val="white"/>
                  </a:solidFill>
                  <a:latin typeface="Poppins"/>
                </a:rPr>
                <a:t>ASSETS</a:t>
              </a:r>
              <a:endParaRPr lang="hi-IN" sz="1050">
                <a:solidFill>
                  <a:prstClr val="white"/>
                </a:solidFill>
                <a:latin typeface="Poppins"/>
              </a:endParaRPr>
            </a:p>
          </p:txBody>
        </p:sp>
        <p:grpSp>
          <p:nvGrpSpPr>
            <p:cNvPr id="5" name="Group 4">
              <a:extLst>
                <a:ext uri="{FF2B5EF4-FFF2-40B4-BE49-F238E27FC236}">
                  <a16:creationId xmlns:a16="http://schemas.microsoft.com/office/drawing/2014/main" id="{4AD825EA-556A-4053-CA58-75376E16CB95}"/>
                </a:ext>
              </a:extLst>
            </p:cNvPr>
            <p:cNvGrpSpPr/>
            <p:nvPr/>
          </p:nvGrpSpPr>
          <p:grpSpPr>
            <a:xfrm>
              <a:off x="1888842" y="1887532"/>
              <a:ext cx="686778" cy="173384"/>
              <a:chOff x="10645552" y="925267"/>
              <a:chExt cx="686778" cy="173384"/>
            </a:xfrm>
            <a:grpFill/>
          </p:grpSpPr>
          <p:sp>
            <p:nvSpPr>
              <p:cNvPr id="10" name="Oval 9">
                <a:extLst>
                  <a:ext uri="{FF2B5EF4-FFF2-40B4-BE49-F238E27FC236}">
                    <a16:creationId xmlns:a16="http://schemas.microsoft.com/office/drawing/2014/main" id="{C0E80FBC-7217-FB57-B087-B5B3A3907701}"/>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 name="Oval 10">
                <a:extLst>
                  <a:ext uri="{FF2B5EF4-FFF2-40B4-BE49-F238E27FC236}">
                    <a16:creationId xmlns:a16="http://schemas.microsoft.com/office/drawing/2014/main" id="{D02323B7-B64A-4215-4B14-7835660648D0}"/>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Oval 11">
                <a:extLst>
                  <a:ext uri="{FF2B5EF4-FFF2-40B4-BE49-F238E27FC236}">
                    <a16:creationId xmlns:a16="http://schemas.microsoft.com/office/drawing/2014/main" id="{6125C8D4-247E-A5FB-0F38-FC7F75653505}"/>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6" name="Group 5">
              <a:extLst>
                <a:ext uri="{FF2B5EF4-FFF2-40B4-BE49-F238E27FC236}">
                  <a16:creationId xmlns:a16="http://schemas.microsoft.com/office/drawing/2014/main" id="{2B631733-BDAE-2001-C4FA-E3F88578F54E}"/>
                </a:ext>
              </a:extLst>
            </p:cNvPr>
            <p:cNvGrpSpPr/>
            <p:nvPr/>
          </p:nvGrpSpPr>
          <p:grpSpPr>
            <a:xfrm>
              <a:off x="9444775" y="1898957"/>
              <a:ext cx="686778" cy="173384"/>
              <a:chOff x="10645552" y="925267"/>
              <a:chExt cx="686778" cy="173384"/>
            </a:xfrm>
            <a:grpFill/>
          </p:grpSpPr>
          <p:sp>
            <p:nvSpPr>
              <p:cNvPr id="7" name="Oval 6">
                <a:extLst>
                  <a:ext uri="{FF2B5EF4-FFF2-40B4-BE49-F238E27FC236}">
                    <a16:creationId xmlns:a16="http://schemas.microsoft.com/office/drawing/2014/main" id="{2A8E99EB-56F0-D355-32A2-BDD097CAD339}"/>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Oval 7">
                <a:extLst>
                  <a:ext uri="{FF2B5EF4-FFF2-40B4-BE49-F238E27FC236}">
                    <a16:creationId xmlns:a16="http://schemas.microsoft.com/office/drawing/2014/main" id="{587BE288-ECA4-533A-F015-FF206375791E}"/>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Oval 8">
                <a:extLst>
                  <a:ext uri="{FF2B5EF4-FFF2-40B4-BE49-F238E27FC236}">
                    <a16:creationId xmlns:a16="http://schemas.microsoft.com/office/drawing/2014/main" id="{637999FC-A4A2-97F7-F8B4-28CBF0303699}"/>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grpSp>
        <p:nvGrpSpPr>
          <p:cNvPr id="30" name="Group 29">
            <a:extLst>
              <a:ext uri="{FF2B5EF4-FFF2-40B4-BE49-F238E27FC236}">
                <a16:creationId xmlns:a16="http://schemas.microsoft.com/office/drawing/2014/main" id="{19361EB2-0C72-2236-66D6-DA5DCD7954D0}"/>
              </a:ext>
            </a:extLst>
          </p:cNvPr>
          <p:cNvGrpSpPr/>
          <p:nvPr/>
        </p:nvGrpSpPr>
        <p:grpSpPr>
          <a:xfrm>
            <a:off x="320637" y="2580165"/>
            <a:ext cx="5510387" cy="572251"/>
            <a:chOff x="719616" y="3359760"/>
            <a:chExt cx="7347182" cy="763001"/>
          </a:xfrm>
        </p:grpSpPr>
        <p:sp>
          <p:nvSpPr>
            <p:cNvPr id="14" name="Rectangle 13">
              <a:extLst>
                <a:ext uri="{FF2B5EF4-FFF2-40B4-BE49-F238E27FC236}">
                  <a16:creationId xmlns:a16="http://schemas.microsoft.com/office/drawing/2014/main" id="{DFF3AF97-AA56-A6F2-E77D-8A340B8E4099}"/>
                </a:ext>
              </a:extLst>
            </p:cNvPr>
            <p:cNvSpPr/>
            <p:nvPr/>
          </p:nvSpPr>
          <p:spPr>
            <a:xfrm>
              <a:off x="719616" y="3359760"/>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825" b="1">
                  <a:solidFill>
                    <a:prstClr val="black"/>
                  </a:solidFill>
                </a:rPr>
                <a:t>Peer Analysis or Competitor Analysis Platform </a:t>
              </a:r>
            </a:p>
          </p:txBody>
        </p:sp>
        <p:sp>
          <p:nvSpPr>
            <p:cNvPr id="15" name="Rectangle 14">
              <a:extLst>
                <a:ext uri="{FF2B5EF4-FFF2-40B4-BE49-F238E27FC236}">
                  <a16:creationId xmlns:a16="http://schemas.microsoft.com/office/drawing/2014/main" id="{181B0718-A1F5-6D2D-A0F9-B7B069E23984}"/>
                </a:ext>
              </a:extLst>
            </p:cNvPr>
            <p:cNvSpPr/>
            <p:nvPr/>
          </p:nvSpPr>
          <p:spPr>
            <a:xfrm>
              <a:off x="2596639" y="3359760"/>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825" b="1">
                  <a:solidFill>
                    <a:prstClr val="black"/>
                  </a:solidFill>
                </a:rPr>
                <a:t>Matching &amp; Mapping Competitors Products</a:t>
              </a:r>
            </a:p>
          </p:txBody>
        </p:sp>
        <p:sp>
          <p:nvSpPr>
            <p:cNvPr id="16" name="Rectangle 15">
              <a:extLst>
                <a:ext uri="{FF2B5EF4-FFF2-40B4-BE49-F238E27FC236}">
                  <a16:creationId xmlns:a16="http://schemas.microsoft.com/office/drawing/2014/main" id="{31B79AA3-DA55-C87A-A622-268320BC544E}"/>
                </a:ext>
              </a:extLst>
            </p:cNvPr>
            <p:cNvSpPr/>
            <p:nvPr/>
          </p:nvSpPr>
          <p:spPr>
            <a:xfrm>
              <a:off x="4473660" y="3359760"/>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825" b="1">
                  <a:solidFill>
                    <a:prstClr val="black"/>
                  </a:solidFill>
                </a:rPr>
                <a:t>Augmented Sales Engine</a:t>
              </a:r>
            </a:p>
          </p:txBody>
        </p:sp>
        <p:sp>
          <p:nvSpPr>
            <p:cNvPr id="18" name="Rectangle 17">
              <a:extLst>
                <a:ext uri="{FF2B5EF4-FFF2-40B4-BE49-F238E27FC236}">
                  <a16:creationId xmlns:a16="http://schemas.microsoft.com/office/drawing/2014/main" id="{15F87EE6-3B68-0203-07DD-43DF3E92FECD}"/>
                </a:ext>
              </a:extLst>
            </p:cNvPr>
            <p:cNvSpPr/>
            <p:nvPr/>
          </p:nvSpPr>
          <p:spPr>
            <a:xfrm>
              <a:off x="6350681" y="3359760"/>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825" b="1">
                  <a:solidFill>
                    <a:prstClr val="black"/>
                  </a:solidFill>
                </a:rPr>
                <a:t>Customer Segmentation and Loyalty Program &amp; Loyalty Fraud</a:t>
              </a:r>
            </a:p>
          </p:txBody>
        </p:sp>
      </p:grpSp>
      <p:grpSp>
        <p:nvGrpSpPr>
          <p:cNvPr id="33" name="Group 32">
            <a:extLst>
              <a:ext uri="{FF2B5EF4-FFF2-40B4-BE49-F238E27FC236}">
                <a16:creationId xmlns:a16="http://schemas.microsoft.com/office/drawing/2014/main" id="{D1F6F98F-A03F-E99F-BAA1-849A61482405}"/>
              </a:ext>
            </a:extLst>
          </p:cNvPr>
          <p:cNvGrpSpPr/>
          <p:nvPr/>
        </p:nvGrpSpPr>
        <p:grpSpPr>
          <a:xfrm>
            <a:off x="308457" y="4933669"/>
            <a:ext cx="5522565" cy="576500"/>
            <a:chOff x="703376" y="6507384"/>
            <a:chExt cx="7363420" cy="768666"/>
          </a:xfrm>
        </p:grpSpPr>
        <p:sp>
          <p:nvSpPr>
            <p:cNvPr id="48" name="Rectangle 47">
              <a:extLst>
                <a:ext uri="{FF2B5EF4-FFF2-40B4-BE49-F238E27FC236}">
                  <a16:creationId xmlns:a16="http://schemas.microsoft.com/office/drawing/2014/main" id="{E88A2A66-73C8-48CB-C758-8667AA5F469F}"/>
                </a:ext>
              </a:extLst>
            </p:cNvPr>
            <p:cNvSpPr/>
            <p:nvPr/>
          </p:nvSpPr>
          <p:spPr>
            <a:xfrm>
              <a:off x="703376" y="6509695"/>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825" b="1">
                  <a:solidFill>
                    <a:prstClr val="black"/>
                  </a:solidFill>
                </a:rPr>
                <a:t>Fictitious Booking</a:t>
              </a:r>
            </a:p>
            <a:p>
              <a:pPr algn="ctr" defTabSz="685800">
                <a:defRPr/>
              </a:pPr>
              <a:endParaRPr lang="en-US" sz="825" b="1">
                <a:solidFill>
                  <a:prstClr val="black"/>
                </a:solidFill>
              </a:endParaRPr>
            </a:p>
          </p:txBody>
        </p:sp>
        <p:sp>
          <p:nvSpPr>
            <p:cNvPr id="49" name="Rectangle 48">
              <a:extLst>
                <a:ext uri="{FF2B5EF4-FFF2-40B4-BE49-F238E27FC236}">
                  <a16:creationId xmlns:a16="http://schemas.microsoft.com/office/drawing/2014/main" id="{B1C91B12-B368-7527-6280-9CD98A382E1B}"/>
                </a:ext>
              </a:extLst>
            </p:cNvPr>
            <p:cNvSpPr/>
            <p:nvPr/>
          </p:nvSpPr>
          <p:spPr>
            <a:xfrm>
              <a:off x="2585810" y="6507385"/>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825" b="1">
                  <a:solidFill>
                    <a:prstClr val="black"/>
                  </a:solidFill>
                </a:rPr>
                <a:t>Cargo Delay Prediction</a:t>
              </a:r>
            </a:p>
          </p:txBody>
        </p:sp>
        <p:sp>
          <p:nvSpPr>
            <p:cNvPr id="50" name="Rectangle 49">
              <a:extLst>
                <a:ext uri="{FF2B5EF4-FFF2-40B4-BE49-F238E27FC236}">
                  <a16:creationId xmlns:a16="http://schemas.microsoft.com/office/drawing/2014/main" id="{5DA9381D-094B-CC82-076C-5CB546D57344}"/>
                </a:ext>
              </a:extLst>
            </p:cNvPr>
            <p:cNvSpPr/>
            <p:nvPr/>
          </p:nvSpPr>
          <p:spPr>
            <a:xfrm>
              <a:off x="4468244" y="6513049"/>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825" b="1">
                  <a:solidFill>
                    <a:prstClr val="black"/>
                  </a:solidFill>
                </a:rPr>
                <a:t>Airplane Turnaround Optimization</a:t>
              </a:r>
            </a:p>
          </p:txBody>
        </p:sp>
        <p:sp>
          <p:nvSpPr>
            <p:cNvPr id="51" name="Rectangle 50">
              <a:extLst>
                <a:ext uri="{FF2B5EF4-FFF2-40B4-BE49-F238E27FC236}">
                  <a16:creationId xmlns:a16="http://schemas.microsoft.com/office/drawing/2014/main" id="{B12D05F0-CAC5-2CC7-66F7-4B3B774EF2C5}"/>
                </a:ext>
              </a:extLst>
            </p:cNvPr>
            <p:cNvSpPr/>
            <p:nvPr/>
          </p:nvSpPr>
          <p:spPr>
            <a:xfrm>
              <a:off x="6350679" y="6507384"/>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825" b="1">
                  <a:solidFill>
                    <a:prstClr val="black"/>
                  </a:solidFill>
                </a:rPr>
                <a:t>Real Time Ancillary Recommendation</a:t>
              </a:r>
            </a:p>
          </p:txBody>
        </p:sp>
      </p:grpSp>
      <p:grpSp>
        <p:nvGrpSpPr>
          <p:cNvPr id="31" name="Group 30">
            <a:extLst>
              <a:ext uri="{FF2B5EF4-FFF2-40B4-BE49-F238E27FC236}">
                <a16:creationId xmlns:a16="http://schemas.microsoft.com/office/drawing/2014/main" id="{F30BF281-76E9-FF92-4D59-56CBC7D261EE}"/>
              </a:ext>
            </a:extLst>
          </p:cNvPr>
          <p:cNvGrpSpPr/>
          <p:nvPr/>
        </p:nvGrpSpPr>
        <p:grpSpPr>
          <a:xfrm>
            <a:off x="308458" y="3355321"/>
            <a:ext cx="5522566" cy="587321"/>
            <a:chOff x="703377" y="4338611"/>
            <a:chExt cx="7363421" cy="783095"/>
          </a:xfrm>
        </p:grpSpPr>
        <p:sp>
          <p:nvSpPr>
            <p:cNvPr id="17" name="Rectangle 16">
              <a:extLst>
                <a:ext uri="{FF2B5EF4-FFF2-40B4-BE49-F238E27FC236}">
                  <a16:creationId xmlns:a16="http://schemas.microsoft.com/office/drawing/2014/main" id="{98B52371-8906-483A-C5C3-C88725178AD6}"/>
                </a:ext>
              </a:extLst>
            </p:cNvPr>
            <p:cNvSpPr/>
            <p:nvPr/>
          </p:nvSpPr>
          <p:spPr>
            <a:xfrm>
              <a:off x="703377" y="4341014"/>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defRPr/>
              </a:pPr>
              <a:r>
                <a:rPr lang="en-US" sz="825" b="1">
                  <a:solidFill>
                    <a:prstClr val="black"/>
                  </a:solidFill>
                </a:rPr>
                <a:t>Loss Run Data Processing and Reporting</a:t>
              </a:r>
            </a:p>
          </p:txBody>
        </p:sp>
        <p:sp>
          <p:nvSpPr>
            <p:cNvPr id="52" name="Rectangle 51">
              <a:extLst>
                <a:ext uri="{FF2B5EF4-FFF2-40B4-BE49-F238E27FC236}">
                  <a16:creationId xmlns:a16="http://schemas.microsoft.com/office/drawing/2014/main" id="{52D7B6D4-DB6B-AE3F-580F-C07B18FE3972}"/>
                </a:ext>
              </a:extLst>
            </p:cNvPr>
            <p:cNvSpPr/>
            <p:nvPr/>
          </p:nvSpPr>
          <p:spPr>
            <a:xfrm>
              <a:off x="2580399" y="4358705"/>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825" b="1">
                  <a:solidFill>
                    <a:prstClr val="black"/>
                  </a:solidFill>
                </a:rPr>
                <a:t>Submission Management Solution for Underwriters</a:t>
              </a:r>
            </a:p>
          </p:txBody>
        </p:sp>
        <p:sp>
          <p:nvSpPr>
            <p:cNvPr id="53" name="Rectangle 52">
              <a:extLst>
                <a:ext uri="{FF2B5EF4-FFF2-40B4-BE49-F238E27FC236}">
                  <a16:creationId xmlns:a16="http://schemas.microsoft.com/office/drawing/2014/main" id="{22CDCF80-F8F6-DFEB-F25E-1F8E84AB49A9}"/>
                </a:ext>
              </a:extLst>
            </p:cNvPr>
            <p:cNvSpPr/>
            <p:nvPr/>
          </p:nvSpPr>
          <p:spPr>
            <a:xfrm>
              <a:off x="6350681" y="4338611"/>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825" b="1">
                  <a:solidFill>
                    <a:prstClr val="black"/>
                  </a:solidFill>
                </a:rPr>
                <a:t>Fraudulent Claims</a:t>
              </a:r>
            </a:p>
          </p:txBody>
        </p:sp>
        <p:sp>
          <p:nvSpPr>
            <p:cNvPr id="54" name="Rectangle 53">
              <a:extLst>
                <a:ext uri="{FF2B5EF4-FFF2-40B4-BE49-F238E27FC236}">
                  <a16:creationId xmlns:a16="http://schemas.microsoft.com/office/drawing/2014/main" id="{960A636C-A9D7-70ED-3B60-0C24D39E5D19}"/>
                </a:ext>
              </a:extLst>
            </p:cNvPr>
            <p:cNvSpPr/>
            <p:nvPr/>
          </p:nvSpPr>
          <p:spPr>
            <a:xfrm>
              <a:off x="4457421" y="4340231"/>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825" b="1">
                  <a:solidFill>
                    <a:prstClr val="black"/>
                  </a:solidFill>
                </a:rPr>
                <a:t>Property Inspection Using Smart Glass</a:t>
              </a:r>
            </a:p>
          </p:txBody>
        </p:sp>
      </p:grpSp>
      <p:grpSp>
        <p:nvGrpSpPr>
          <p:cNvPr id="32" name="Group 31">
            <a:extLst>
              <a:ext uri="{FF2B5EF4-FFF2-40B4-BE49-F238E27FC236}">
                <a16:creationId xmlns:a16="http://schemas.microsoft.com/office/drawing/2014/main" id="{914017FE-9135-CAA6-436A-C84F0F101D2A}"/>
              </a:ext>
            </a:extLst>
          </p:cNvPr>
          <p:cNvGrpSpPr/>
          <p:nvPr/>
        </p:nvGrpSpPr>
        <p:grpSpPr>
          <a:xfrm>
            <a:off x="311051" y="4145546"/>
            <a:ext cx="5519972" cy="585219"/>
            <a:chOff x="706834" y="5317462"/>
            <a:chExt cx="7359963" cy="780292"/>
          </a:xfrm>
        </p:grpSpPr>
        <p:sp>
          <p:nvSpPr>
            <p:cNvPr id="20" name="Rectangle 19">
              <a:extLst>
                <a:ext uri="{FF2B5EF4-FFF2-40B4-BE49-F238E27FC236}">
                  <a16:creationId xmlns:a16="http://schemas.microsoft.com/office/drawing/2014/main" id="{3EFE851E-5BC5-A6C6-92C4-92D1597E2E46}"/>
                </a:ext>
              </a:extLst>
            </p:cNvPr>
            <p:cNvSpPr/>
            <p:nvPr/>
          </p:nvSpPr>
          <p:spPr>
            <a:xfrm>
              <a:off x="706834" y="5334753"/>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2285829"/>
              <a:r>
                <a:rPr lang="en-US" sz="825" b="1">
                  <a:solidFill>
                    <a:srgbClr val="141414"/>
                  </a:solidFill>
                  <a:ea typeface="Tahoma" panose="020B0604030504040204" pitchFamily="34" charset="0"/>
                  <a:cs typeface="Tahoma" panose="020B0604030504040204" pitchFamily="34" charset="0"/>
                  <a:sym typeface="Bebas Neue" charset="0"/>
                </a:rPr>
                <a:t>Investment Research for Portfolio Analysis</a:t>
              </a:r>
            </a:p>
          </p:txBody>
        </p:sp>
        <p:sp>
          <p:nvSpPr>
            <p:cNvPr id="21" name="Rectangle 20">
              <a:extLst>
                <a:ext uri="{FF2B5EF4-FFF2-40B4-BE49-F238E27FC236}">
                  <a16:creationId xmlns:a16="http://schemas.microsoft.com/office/drawing/2014/main" id="{0F5C209C-5D1E-045F-A02A-ACE62CBB5FCF}"/>
                </a:ext>
              </a:extLst>
            </p:cNvPr>
            <p:cNvSpPr/>
            <p:nvPr/>
          </p:nvSpPr>
          <p:spPr>
            <a:xfrm>
              <a:off x="2588116" y="5334753"/>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25" b="1">
                  <a:solidFill>
                    <a:srgbClr val="141414"/>
                  </a:solidFill>
                  <a:ea typeface="Tahoma" panose="020B0604030504040204" pitchFamily="34" charset="0"/>
                  <a:cs typeface="Tahoma" panose="020B0604030504040204" pitchFamily="34" charset="0"/>
                  <a:sym typeface="Bebas Neue" charset="0"/>
                </a:rPr>
                <a:t>Predictive Collection for better planning</a:t>
              </a:r>
              <a:endParaRPr lang="en-US" sz="825" b="1">
                <a:solidFill>
                  <a:prstClr val="black"/>
                </a:solidFill>
              </a:endParaRPr>
            </a:p>
          </p:txBody>
        </p:sp>
        <p:sp>
          <p:nvSpPr>
            <p:cNvPr id="22" name="Rectangle 21">
              <a:extLst>
                <a:ext uri="{FF2B5EF4-FFF2-40B4-BE49-F238E27FC236}">
                  <a16:creationId xmlns:a16="http://schemas.microsoft.com/office/drawing/2014/main" id="{0C8CEC31-C740-C07B-A1F8-0D8B97AD2162}"/>
                </a:ext>
              </a:extLst>
            </p:cNvPr>
            <p:cNvSpPr/>
            <p:nvPr/>
          </p:nvSpPr>
          <p:spPr>
            <a:xfrm>
              <a:off x="4469398" y="5334753"/>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25" b="1">
                  <a:solidFill>
                    <a:srgbClr val="141414"/>
                  </a:solidFill>
                  <a:ea typeface="Tahoma" panose="020B0604030504040204" pitchFamily="34" charset="0"/>
                  <a:cs typeface="Tahoma" panose="020B0604030504040204" pitchFamily="34" charset="0"/>
                  <a:sym typeface="Bebas Neue" charset="0"/>
                </a:rPr>
                <a:t>Predictive Models for reducing False Positive in AML</a:t>
              </a:r>
            </a:p>
          </p:txBody>
        </p:sp>
        <p:sp>
          <p:nvSpPr>
            <p:cNvPr id="55" name="Rectangle 54">
              <a:extLst>
                <a:ext uri="{FF2B5EF4-FFF2-40B4-BE49-F238E27FC236}">
                  <a16:creationId xmlns:a16="http://schemas.microsoft.com/office/drawing/2014/main" id="{4EB8EF3F-BEE1-8930-BF4F-AB14966E1FE5}"/>
                </a:ext>
              </a:extLst>
            </p:cNvPr>
            <p:cNvSpPr/>
            <p:nvPr/>
          </p:nvSpPr>
          <p:spPr>
            <a:xfrm>
              <a:off x="6350680" y="5317462"/>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825" b="1">
                  <a:solidFill>
                    <a:prstClr val="black"/>
                  </a:solidFill>
                </a:rPr>
                <a:t>Automated Accident Claims using Voice Chatbots</a:t>
              </a:r>
            </a:p>
          </p:txBody>
        </p:sp>
      </p:grpSp>
      <p:grpSp>
        <p:nvGrpSpPr>
          <p:cNvPr id="56" name="Group 55">
            <a:extLst>
              <a:ext uri="{FF2B5EF4-FFF2-40B4-BE49-F238E27FC236}">
                <a16:creationId xmlns:a16="http://schemas.microsoft.com/office/drawing/2014/main" id="{2843D0FD-A6AE-D7EC-B408-5A0CB7BACA9B}"/>
              </a:ext>
            </a:extLst>
          </p:cNvPr>
          <p:cNvGrpSpPr/>
          <p:nvPr/>
        </p:nvGrpSpPr>
        <p:grpSpPr>
          <a:xfrm>
            <a:off x="7069762" y="2017495"/>
            <a:ext cx="4738214" cy="1242456"/>
            <a:chOff x="11670346" y="6135056"/>
            <a:chExt cx="4548092" cy="1656607"/>
          </a:xfrm>
        </p:grpSpPr>
        <p:sp>
          <p:nvSpPr>
            <p:cNvPr id="57" name="Rectangle 56">
              <a:extLst>
                <a:ext uri="{FF2B5EF4-FFF2-40B4-BE49-F238E27FC236}">
                  <a16:creationId xmlns:a16="http://schemas.microsoft.com/office/drawing/2014/main" id="{6D5AAD92-4040-A21B-C3A3-8F0D6B47B3C6}"/>
                </a:ext>
              </a:extLst>
            </p:cNvPr>
            <p:cNvSpPr/>
            <p:nvPr/>
          </p:nvSpPr>
          <p:spPr>
            <a:xfrm>
              <a:off x="11670346" y="6253470"/>
              <a:ext cx="1097280" cy="340067"/>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14350">
                <a:defRPr/>
              </a:pPr>
              <a:r>
                <a:rPr lang="en-US" sz="900" b="1">
                  <a:solidFill>
                    <a:schemeClr val="accent3">
                      <a:lumMod val="75000"/>
                    </a:schemeClr>
                  </a:solidFill>
                  <a:latin typeface="+mj-lt"/>
                </a:rPr>
                <a:t>UK Insurance Organization</a:t>
              </a:r>
            </a:p>
            <a:p>
              <a:pPr algn="ctr" defTabSz="514350">
                <a:defRPr/>
              </a:pPr>
              <a:r>
                <a:rPr lang="en-US" sz="900" b="1">
                  <a:solidFill>
                    <a:schemeClr val="accent3">
                      <a:lumMod val="75000"/>
                    </a:schemeClr>
                  </a:solidFill>
                  <a:latin typeface="+mj-lt"/>
                </a:rPr>
                <a:t>(SOMPO)</a:t>
              </a:r>
            </a:p>
          </p:txBody>
        </p:sp>
        <p:sp>
          <p:nvSpPr>
            <p:cNvPr id="58" name="TextBox 57">
              <a:extLst>
                <a:ext uri="{FF2B5EF4-FFF2-40B4-BE49-F238E27FC236}">
                  <a16:creationId xmlns:a16="http://schemas.microsoft.com/office/drawing/2014/main" id="{7AEF54BC-0990-1F3A-B061-A5FEE0D73DF5}"/>
                </a:ext>
              </a:extLst>
            </p:cNvPr>
            <p:cNvSpPr txBox="1"/>
            <p:nvPr/>
          </p:nvSpPr>
          <p:spPr>
            <a:xfrm>
              <a:off x="12704650" y="6135056"/>
              <a:ext cx="3513788" cy="1656607"/>
            </a:xfrm>
            <a:prstGeom prst="rect">
              <a:avLst/>
            </a:prstGeom>
            <a:noFill/>
            <a:effectLst/>
          </p:spPr>
          <p:txBody>
            <a:bodyPr wrap="square">
              <a:spAutoFit/>
            </a:bodyPr>
            <a:lstStyle/>
            <a:p>
              <a:pPr marL="96441" indent="-96441" defTabSz="514350">
                <a:lnSpc>
                  <a:spcPct val="115000"/>
                </a:lnSpc>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Submission management for underwriting efficiency – Unique solution for Submission Management using AI for underwriters. </a:t>
              </a:r>
            </a:p>
            <a:p>
              <a:pPr marL="96441" indent="-96441" defTabSz="514350">
                <a:lnSpc>
                  <a:spcPct val="115000"/>
                </a:lnSpc>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Built complete process starting from data ingestion, data enrichment, ML/NLP models, negotiations, risk modelling and feeding to PAS systems</a:t>
              </a:r>
            </a:p>
            <a:p>
              <a:pPr marL="96441" indent="-96441" defTabSz="514350">
                <a:lnSpc>
                  <a:spcPct val="115000"/>
                </a:lnSpc>
                <a:spcAft>
                  <a:spcPts val="169"/>
                </a:spcAft>
                <a:buFont typeface="Arial" panose="020B0604020202020204" pitchFamily="34" charset="0"/>
                <a:buChar char="•"/>
                <a:defRPr/>
              </a:pPr>
              <a:r>
                <a:rPr lang="en-IN" sz="900">
                  <a:solidFill>
                    <a:prstClr val="black"/>
                  </a:solidFill>
                  <a:latin typeface="+mj-lt"/>
                  <a:cs typeface="Poppins" panose="00000500000000000000" pitchFamily="2" charset="0"/>
                </a:rPr>
                <a:t>Achieved 96% automation with 80% efficiency (time reduction) and 100% accuracy for decision making</a:t>
              </a:r>
            </a:p>
          </p:txBody>
        </p:sp>
      </p:grpSp>
      <p:grpSp>
        <p:nvGrpSpPr>
          <p:cNvPr id="59" name="Group 58">
            <a:extLst>
              <a:ext uri="{FF2B5EF4-FFF2-40B4-BE49-F238E27FC236}">
                <a16:creationId xmlns:a16="http://schemas.microsoft.com/office/drawing/2014/main" id="{2C256135-3B7F-42BC-70B0-ED7D1A55A35B}"/>
              </a:ext>
            </a:extLst>
          </p:cNvPr>
          <p:cNvGrpSpPr/>
          <p:nvPr/>
        </p:nvGrpSpPr>
        <p:grpSpPr>
          <a:xfrm>
            <a:off x="7069762" y="1318718"/>
            <a:ext cx="4800600" cy="205740"/>
            <a:chOff x="1888842" y="1836371"/>
            <a:chExt cx="8242711" cy="274320"/>
          </a:xfrm>
          <a:solidFill>
            <a:schemeClr val="accent3">
              <a:lumMod val="75000"/>
            </a:schemeClr>
          </a:solidFill>
        </p:grpSpPr>
        <p:sp>
          <p:nvSpPr>
            <p:cNvPr id="60" name="Rectangle: Rounded Corners 59">
              <a:extLst>
                <a:ext uri="{FF2B5EF4-FFF2-40B4-BE49-F238E27FC236}">
                  <a16:creationId xmlns:a16="http://schemas.microsoft.com/office/drawing/2014/main" id="{D07F34CE-E8D6-F21E-190D-11F2E3BA59C4}"/>
                </a:ext>
              </a:extLst>
            </p:cNvPr>
            <p:cNvSpPr/>
            <p:nvPr/>
          </p:nvSpPr>
          <p:spPr>
            <a:xfrm>
              <a:off x="1888842" y="1963807"/>
              <a:ext cx="8229600" cy="457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IN" sz="900">
                <a:solidFill>
                  <a:prstClr val="white"/>
                </a:solidFill>
                <a:latin typeface="Poppins"/>
              </a:endParaRPr>
            </a:p>
          </p:txBody>
        </p:sp>
        <p:sp>
          <p:nvSpPr>
            <p:cNvPr id="61" name="TextBox 60">
              <a:extLst>
                <a:ext uri="{FF2B5EF4-FFF2-40B4-BE49-F238E27FC236}">
                  <a16:creationId xmlns:a16="http://schemas.microsoft.com/office/drawing/2014/main" id="{F0C13814-4357-8C3B-EFCD-53F6796CF0A0}"/>
                </a:ext>
              </a:extLst>
            </p:cNvPr>
            <p:cNvSpPr txBox="1"/>
            <p:nvPr/>
          </p:nvSpPr>
          <p:spPr>
            <a:xfrm>
              <a:off x="4385579" y="1836371"/>
              <a:ext cx="3657600" cy="27432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defRPr/>
              </a:pPr>
              <a:r>
                <a:rPr lang="en-US" sz="1050">
                  <a:solidFill>
                    <a:prstClr val="white"/>
                  </a:solidFill>
                  <a:latin typeface="Poppins"/>
                </a:rPr>
                <a:t>EXPERIENCE</a:t>
              </a:r>
              <a:endParaRPr lang="hi-IN" sz="1050">
                <a:solidFill>
                  <a:prstClr val="white"/>
                </a:solidFill>
                <a:latin typeface="Poppins"/>
              </a:endParaRPr>
            </a:p>
          </p:txBody>
        </p:sp>
        <p:grpSp>
          <p:nvGrpSpPr>
            <p:cNvPr id="62" name="Group 61">
              <a:extLst>
                <a:ext uri="{FF2B5EF4-FFF2-40B4-BE49-F238E27FC236}">
                  <a16:creationId xmlns:a16="http://schemas.microsoft.com/office/drawing/2014/main" id="{6AC8DB92-57F7-0DDE-2C60-B2C1C63131B4}"/>
                </a:ext>
              </a:extLst>
            </p:cNvPr>
            <p:cNvGrpSpPr/>
            <p:nvPr/>
          </p:nvGrpSpPr>
          <p:grpSpPr>
            <a:xfrm>
              <a:off x="1888842" y="1887532"/>
              <a:ext cx="686778" cy="173384"/>
              <a:chOff x="10645552" y="925267"/>
              <a:chExt cx="686778" cy="173384"/>
            </a:xfrm>
            <a:grpFill/>
          </p:grpSpPr>
          <p:sp>
            <p:nvSpPr>
              <p:cNvPr id="67" name="Oval 66">
                <a:extLst>
                  <a:ext uri="{FF2B5EF4-FFF2-40B4-BE49-F238E27FC236}">
                    <a16:creationId xmlns:a16="http://schemas.microsoft.com/office/drawing/2014/main" id="{16CD31C1-AB99-FD66-6097-AE1F8A35806C}"/>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8" name="Oval 67">
                <a:extLst>
                  <a:ext uri="{FF2B5EF4-FFF2-40B4-BE49-F238E27FC236}">
                    <a16:creationId xmlns:a16="http://schemas.microsoft.com/office/drawing/2014/main" id="{1DA6B7D1-EF9D-58DE-A201-E5275645C392}"/>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9" name="Oval 68">
                <a:extLst>
                  <a:ext uri="{FF2B5EF4-FFF2-40B4-BE49-F238E27FC236}">
                    <a16:creationId xmlns:a16="http://schemas.microsoft.com/office/drawing/2014/main" id="{00F9F590-1FD8-AA95-6986-65CF0D86DFA2}"/>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63" name="Group 62">
              <a:extLst>
                <a:ext uri="{FF2B5EF4-FFF2-40B4-BE49-F238E27FC236}">
                  <a16:creationId xmlns:a16="http://schemas.microsoft.com/office/drawing/2014/main" id="{58425DC4-E54A-1875-F7AB-753736DCD5AF}"/>
                </a:ext>
              </a:extLst>
            </p:cNvPr>
            <p:cNvGrpSpPr/>
            <p:nvPr/>
          </p:nvGrpSpPr>
          <p:grpSpPr>
            <a:xfrm>
              <a:off x="9444775" y="1898957"/>
              <a:ext cx="686778" cy="173384"/>
              <a:chOff x="10645552" y="925267"/>
              <a:chExt cx="686778" cy="173384"/>
            </a:xfrm>
            <a:grpFill/>
          </p:grpSpPr>
          <p:sp>
            <p:nvSpPr>
              <p:cNvPr id="64" name="Oval 63">
                <a:extLst>
                  <a:ext uri="{FF2B5EF4-FFF2-40B4-BE49-F238E27FC236}">
                    <a16:creationId xmlns:a16="http://schemas.microsoft.com/office/drawing/2014/main" id="{48CB967B-CE5F-2D45-0D25-CC5DD14AE612}"/>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5" name="Oval 64">
                <a:extLst>
                  <a:ext uri="{FF2B5EF4-FFF2-40B4-BE49-F238E27FC236}">
                    <a16:creationId xmlns:a16="http://schemas.microsoft.com/office/drawing/2014/main" id="{7F61E164-2242-6CAC-AE36-B11D198EBAF4}"/>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6" name="Oval 65">
                <a:extLst>
                  <a:ext uri="{FF2B5EF4-FFF2-40B4-BE49-F238E27FC236}">
                    <a16:creationId xmlns:a16="http://schemas.microsoft.com/office/drawing/2014/main" id="{0015FE0D-8473-BB5E-F8E6-D5087C2DDACE}"/>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grpSp>
        <p:nvGrpSpPr>
          <p:cNvPr id="70" name="Group 69">
            <a:extLst>
              <a:ext uri="{FF2B5EF4-FFF2-40B4-BE49-F238E27FC236}">
                <a16:creationId xmlns:a16="http://schemas.microsoft.com/office/drawing/2014/main" id="{18838842-87FB-0BE5-A386-672826C99E42}"/>
              </a:ext>
            </a:extLst>
          </p:cNvPr>
          <p:cNvGrpSpPr/>
          <p:nvPr/>
        </p:nvGrpSpPr>
        <p:grpSpPr>
          <a:xfrm>
            <a:off x="7069761" y="3379571"/>
            <a:ext cx="4728690" cy="738985"/>
            <a:chOff x="11679488" y="6135056"/>
            <a:chExt cx="4538950" cy="985312"/>
          </a:xfrm>
        </p:grpSpPr>
        <p:sp>
          <p:nvSpPr>
            <p:cNvPr id="71" name="Rectangle 70">
              <a:extLst>
                <a:ext uri="{FF2B5EF4-FFF2-40B4-BE49-F238E27FC236}">
                  <a16:creationId xmlns:a16="http://schemas.microsoft.com/office/drawing/2014/main" id="{5D49D4C0-7C59-A51D-BA91-920A342BE081}"/>
                </a:ext>
              </a:extLst>
            </p:cNvPr>
            <p:cNvSpPr/>
            <p:nvPr/>
          </p:nvSpPr>
          <p:spPr>
            <a:xfrm>
              <a:off x="11679488" y="6185015"/>
              <a:ext cx="1097280" cy="340067"/>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14350">
                <a:defRPr/>
              </a:pPr>
              <a:r>
                <a:rPr lang="en-US" sz="900" b="1">
                  <a:solidFill>
                    <a:schemeClr val="accent3">
                      <a:lumMod val="75000"/>
                    </a:schemeClr>
                  </a:solidFill>
                  <a:latin typeface="+mj-lt"/>
                </a:rPr>
                <a:t>Global Airline</a:t>
              </a:r>
            </a:p>
            <a:p>
              <a:pPr algn="ctr" defTabSz="514350">
                <a:defRPr/>
              </a:pPr>
              <a:r>
                <a:rPr lang="en-US" sz="900" b="1">
                  <a:solidFill>
                    <a:schemeClr val="accent3">
                      <a:lumMod val="75000"/>
                    </a:schemeClr>
                  </a:solidFill>
                  <a:latin typeface="+mj-lt"/>
                </a:rPr>
                <a:t>(Cathay)</a:t>
              </a:r>
            </a:p>
          </p:txBody>
        </p:sp>
        <p:sp>
          <p:nvSpPr>
            <p:cNvPr id="72" name="TextBox 71">
              <a:extLst>
                <a:ext uri="{FF2B5EF4-FFF2-40B4-BE49-F238E27FC236}">
                  <a16:creationId xmlns:a16="http://schemas.microsoft.com/office/drawing/2014/main" id="{F2AB3BAB-90F1-189D-80DB-F1E5773B8329}"/>
                </a:ext>
              </a:extLst>
            </p:cNvPr>
            <p:cNvSpPr txBox="1"/>
            <p:nvPr/>
          </p:nvSpPr>
          <p:spPr>
            <a:xfrm>
              <a:off x="12704650" y="6135056"/>
              <a:ext cx="3513788" cy="985312"/>
            </a:xfrm>
            <a:prstGeom prst="rect">
              <a:avLst/>
            </a:prstGeom>
            <a:noFill/>
            <a:effectLst/>
          </p:spPr>
          <p:txBody>
            <a:bodyPr wrap="square">
              <a:spAutoFit/>
            </a:bodyPr>
            <a:lstStyle>
              <a:defPPr>
                <a:defRPr lang="en-US"/>
              </a:defPPr>
              <a:lvl1pPr marL="128588" lvl="0" indent="-128588" defTabSz="685800">
                <a:lnSpc>
                  <a:spcPct val="115000"/>
                </a:lnSpc>
                <a:spcAft>
                  <a:spcPts val="225"/>
                </a:spcAft>
                <a:buFont typeface="Arial" panose="020B0604020202020204" pitchFamily="34" charset="0"/>
                <a:buChar char="•"/>
                <a:defRPr sz="1200">
                  <a:solidFill>
                    <a:prstClr val="black"/>
                  </a:solidFill>
                  <a:latin typeface="+mj-lt"/>
                  <a:cs typeface="Poppins" panose="00000500000000000000" pitchFamily="2" charset="0"/>
                </a:defRPr>
              </a:lvl1pPr>
            </a:lstStyle>
            <a:p>
              <a:r>
                <a:rPr lang="en-US" sz="900"/>
                <a:t>Automation of reading and processing AWB for airline cargo using handheld devices. </a:t>
              </a:r>
            </a:p>
            <a:p>
              <a:r>
                <a:rPr lang="en-US" sz="900"/>
                <a:t>Improved data accuracy and reduced the time of availability of data to backend processing engine to &lt;1 min from &gt;3mins</a:t>
              </a:r>
            </a:p>
          </p:txBody>
        </p:sp>
      </p:grpSp>
      <p:grpSp>
        <p:nvGrpSpPr>
          <p:cNvPr id="73" name="Group 72">
            <a:extLst>
              <a:ext uri="{FF2B5EF4-FFF2-40B4-BE49-F238E27FC236}">
                <a16:creationId xmlns:a16="http://schemas.microsoft.com/office/drawing/2014/main" id="{74FA6009-6147-1DB8-ACE7-E848AF3E232E}"/>
              </a:ext>
            </a:extLst>
          </p:cNvPr>
          <p:cNvGrpSpPr/>
          <p:nvPr/>
        </p:nvGrpSpPr>
        <p:grpSpPr>
          <a:xfrm>
            <a:off x="7123849" y="4224152"/>
            <a:ext cx="4684128" cy="1216808"/>
            <a:chOff x="11722262" y="6135056"/>
            <a:chExt cx="4496176" cy="1622411"/>
          </a:xfrm>
        </p:grpSpPr>
        <p:sp>
          <p:nvSpPr>
            <p:cNvPr id="74" name="Rectangle 73">
              <a:extLst>
                <a:ext uri="{FF2B5EF4-FFF2-40B4-BE49-F238E27FC236}">
                  <a16:creationId xmlns:a16="http://schemas.microsoft.com/office/drawing/2014/main" id="{8B64D5D7-D4FD-DE22-E50E-66D1743358EC}"/>
                </a:ext>
              </a:extLst>
            </p:cNvPr>
            <p:cNvSpPr/>
            <p:nvPr/>
          </p:nvSpPr>
          <p:spPr>
            <a:xfrm>
              <a:off x="11722262" y="6275939"/>
              <a:ext cx="1097280" cy="340067"/>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14350">
                <a:defRPr/>
              </a:pPr>
              <a:r>
                <a:rPr lang="en-US" sz="900" b="1">
                  <a:solidFill>
                    <a:schemeClr val="accent3">
                      <a:lumMod val="75000"/>
                    </a:schemeClr>
                  </a:solidFill>
                  <a:latin typeface="+mj-lt"/>
                </a:rPr>
                <a:t>US Underwriting Analytics</a:t>
              </a:r>
            </a:p>
            <a:p>
              <a:pPr algn="ctr" defTabSz="514350">
                <a:defRPr/>
              </a:pPr>
              <a:r>
                <a:rPr lang="en-US" sz="900" b="1">
                  <a:solidFill>
                    <a:schemeClr val="accent3">
                      <a:lumMod val="75000"/>
                    </a:schemeClr>
                  </a:solidFill>
                  <a:latin typeface="+mj-lt"/>
                </a:rPr>
                <a:t>(</a:t>
              </a:r>
              <a:r>
                <a:rPr lang="en-US" sz="900" b="1" err="1">
                  <a:solidFill>
                    <a:schemeClr val="accent3">
                      <a:lumMod val="75000"/>
                    </a:schemeClr>
                  </a:solidFill>
                  <a:latin typeface="+mj-lt"/>
                </a:rPr>
                <a:t>Aurenity</a:t>
              </a:r>
              <a:r>
                <a:rPr lang="en-US" sz="900" b="1">
                  <a:solidFill>
                    <a:schemeClr val="accent3">
                      <a:lumMod val="75000"/>
                    </a:schemeClr>
                  </a:solidFill>
                  <a:latin typeface="+mj-lt"/>
                </a:rPr>
                <a:t>)</a:t>
              </a:r>
            </a:p>
          </p:txBody>
        </p:sp>
        <p:sp>
          <p:nvSpPr>
            <p:cNvPr id="75" name="TextBox 74">
              <a:extLst>
                <a:ext uri="{FF2B5EF4-FFF2-40B4-BE49-F238E27FC236}">
                  <a16:creationId xmlns:a16="http://schemas.microsoft.com/office/drawing/2014/main" id="{81970EA2-408E-AB4F-6395-D25E7BF80559}"/>
                </a:ext>
              </a:extLst>
            </p:cNvPr>
            <p:cNvSpPr txBox="1"/>
            <p:nvPr/>
          </p:nvSpPr>
          <p:spPr>
            <a:xfrm>
              <a:off x="12704650" y="6135056"/>
              <a:ext cx="3513788" cy="1622411"/>
            </a:xfrm>
            <a:prstGeom prst="rect">
              <a:avLst/>
            </a:prstGeom>
            <a:noFill/>
            <a:effectLst/>
          </p:spPr>
          <p:txBody>
            <a:bodyPr wrap="square">
              <a:spAutoFit/>
            </a:bodyPr>
            <a:lstStyle/>
            <a:p>
              <a:pPr marL="96441" indent="-96441" defTabSz="514350">
                <a:lnSpc>
                  <a:spcPct val="115000"/>
                </a:lnSpc>
                <a:spcAft>
                  <a:spcPts val="169"/>
                </a:spcAft>
                <a:buFont typeface="Arial" panose="020B0604020202020204" pitchFamily="34" charset="0"/>
                <a:buChar char="•"/>
              </a:pPr>
              <a:r>
                <a:rPr lang="en-US" sz="900">
                  <a:solidFill>
                    <a:prstClr val="black"/>
                  </a:solidFill>
                  <a:latin typeface="+mj-lt"/>
                  <a:cs typeface="Poppins" panose="00000500000000000000" pitchFamily="2" charset="0"/>
                </a:rPr>
                <a:t>Built a Loss Run Files processing SaaS solution to consume multi format loss run files, enrich data from multiple sources, create &amp; consume in data lake and provides highly configurable reports and dashboards. </a:t>
              </a:r>
            </a:p>
            <a:p>
              <a:pPr marL="96441" indent="-96441" defTabSz="514350">
                <a:lnSpc>
                  <a:spcPct val="115000"/>
                </a:lnSpc>
                <a:spcAft>
                  <a:spcPts val="169"/>
                </a:spcAft>
                <a:buFont typeface="Arial" panose="020B0604020202020204" pitchFamily="34" charset="0"/>
                <a:buChar char="•"/>
              </a:pPr>
              <a:r>
                <a:rPr lang="en-US" sz="900">
                  <a:solidFill>
                    <a:prstClr val="black"/>
                  </a:solidFill>
                  <a:latin typeface="+mj-lt"/>
                  <a:cs typeface="Poppins" panose="00000500000000000000" pitchFamily="2" charset="0"/>
                </a:rPr>
                <a:t>Reduced overall timeline for accumulation and processing of data by ~80% along with easily configurable reports and dashboards improves customer experience</a:t>
              </a:r>
              <a:endParaRPr lang="en-IN" sz="900">
                <a:solidFill>
                  <a:prstClr val="black"/>
                </a:solidFill>
                <a:latin typeface="+mj-lt"/>
                <a:cs typeface="Poppins" panose="00000500000000000000" pitchFamily="2" charset="0"/>
              </a:endParaRPr>
            </a:p>
          </p:txBody>
        </p:sp>
      </p:grpSp>
      <p:grpSp>
        <p:nvGrpSpPr>
          <p:cNvPr id="34" name="Group 33">
            <a:extLst>
              <a:ext uri="{FF2B5EF4-FFF2-40B4-BE49-F238E27FC236}">
                <a16:creationId xmlns:a16="http://schemas.microsoft.com/office/drawing/2014/main" id="{4484E307-DCCB-E17F-8B0F-888C8D185473}"/>
              </a:ext>
            </a:extLst>
          </p:cNvPr>
          <p:cNvGrpSpPr/>
          <p:nvPr/>
        </p:nvGrpSpPr>
        <p:grpSpPr>
          <a:xfrm>
            <a:off x="325879" y="5713072"/>
            <a:ext cx="5505143" cy="572251"/>
            <a:chOff x="726606" y="7553929"/>
            <a:chExt cx="7340190" cy="763001"/>
          </a:xfrm>
        </p:grpSpPr>
        <p:sp>
          <p:nvSpPr>
            <p:cNvPr id="19" name="Rectangle 18">
              <a:extLst>
                <a:ext uri="{FF2B5EF4-FFF2-40B4-BE49-F238E27FC236}">
                  <a16:creationId xmlns:a16="http://schemas.microsoft.com/office/drawing/2014/main" id="{6BD9A885-8E6E-178C-94C8-240A84C49C9F}"/>
                </a:ext>
              </a:extLst>
            </p:cNvPr>
            <p:cNvSpPr/>
            <p:nvPr/>
          </p:nvSpPr>
          <p:spPr>
            <a:xfrm>
              <a:off x="726606" y="7553929"/>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825" b="1">
                  <a:solidFill>
                    <a:prstClr val="black"/>
                  </a:solidFill>
                </a:rPr>
                <a:t>Automation of Electronic Bill of Lading / Invoice Processing</a:t>
              </a:r>
            </a:p>
          </p:txBody>
        </p:sp>
        <p:sp>
          <p:nvSpPr>
            <p:cNvPr id="47" name="Rectangle 46">
              <a:extLst>
                <a:ext uri="{FF2B5EF4-FFF2-40B4-BE49-F238E27FC236}">
                  <a16:creationId xmlns:a16="http://schemas.microsoft.com/office/drawing/2014/main" id="{6A85D760-48CC-C449-E36C-C7748FE5A2A6}"/>
                </a:ext>
              </a:extLst>
            </p:cNvPr>
            <p:cNvSpPr/>
            <p:nvPr/>
          </p:nvSpPr>
          <p:spPr>
            <a:xfrm>
              <a:off x="2601297" y="7553929"/>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25" b="1">
                  <a:solidFill>
                    <a:srgbClr val="141414"/>
                  </a:solidFill>
                  <a:ea typeface="Tahoma" panose="020B0604030504040204" pitchFamily="34" charset="0"/>
                  <a:cs typeface="Tahoma" panose="020B0604030504040204" pitchFamily="34" charset="0"/>
                  <a:sym typeface="Bebas Neue" charset="0"/>
                </a:rPr>
                <a:t>Customer conversation Analytics for better CX</a:t>
              </a:r>
            </a:p>
          </p:txBody>
        </p:sp>
        <p:sp>
          <p:nvSpPr>
            <p:cNvPr id="23" name="Rectangle 22">
              <a:extLst>
                <a:ext uri="{FF2B5EF4-FFF2-40B4-BE49-F238E27FC236}">
                  <a16:creationId xmlns:a16="http://schemas.microsoft.com/office/drawing/2014/main" id="{8E0D214D-FCC4-0F36-3873-6BACB53E45BE}"/>
                </a:ext>
              </a:extLst>
            </p:cNvPr>
            <p:cNvSpPr/>
            <p:nvPr/>
          </p:nvSpPr>
          <p:spPr>
            <a:xfrm>
              <a:off x="4475988" y="7553929"/>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25" b="1">
                  <a:solidFill>
                    <a:srgbClr val="141414"/>
                  </a:solidFill>
                  <a:ea typeface="Tahoma" panose="020B0604030504040204" pitchFamily="34" charset="0"/>
                  <a:cs typeface="Tahoma" panose="020B0604030504040204" pitchFamily="34" charset="0"/>
                  <a:sym typeface="Bebas Neue" charset="0"/>
                </a:rPr>
                <a:t>Financial Narrative Summary</a:t>
              </a:r>
            </a:p>
          </p:txBody>
        </p:sp>
        <p:sp>
          <p:nvSpPr>
            <p:cNvPr id="24" name="Rectangle 23">
              <a:extLst>
                <a:ext uri="{FF2B5EF4-FFF2-40B4-BE49-F238E27FC236}">
                  <a16:creationId xmlns:a16="http://schemas.microsoft.com/office/drawing/2014/main" id="{9ADB349B-DA7A-06A4-423F-8E52D952A419}"/>
                </a:ext>
              </a:extLst>
            </p:cNvPr>
            <p:cNvSpPr/>
            <p:nvPr/>
          </p:nvSpPr>
          <p:spPr>
            <a:xfrm>
              <a:off x="6350679" y="7553929"/>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25" b="1">
                  <a:solidFill>
                    <a:srgbClr val="141414"/>
                  </a:solidFill>
                  <a:ea typeface="Tahoma" panose="020B0604030504040204" pitchFamily="34" charset="0"/>
                  <a:cs typeface="Tahoma" panose="020B0604030504040204" pitchFamily="34" charset="0"/>
                  <a:sym typeface="Bebas Neue" charset="0"/>
                </a:rPr>
                <a:t>Agent Assist for Contact Center Employees</a:t>
              </a:r>
            </a:p>
          </p:txBody>
        </p:sp>
      </p:grpSp>
      <p:grpSp>
        <p:nvGrpSpPr>
          <p:cNvPr id="29" name="Group 28">
            <a:extLst>
              <a:ext uri="{FF2B5EF4-FFF2-40B4-BE49-F238E27FC236}">
                <a16:creationId xmlns:a16="http://schemas.microsoft.com/office/drawing/2014/main" id="{4FDA3B43-D991-C832-A51B-D1E64C1C4203}"/>
              </a:ext>
            </a:extLst>
          </p:cNvPr>
          <p:cNvGrpSpPr/>
          <p:nvPr/>
        </p:nvGrpSpPr>
        <p:grpSpPr>
          <a:xfrm>
            <a:off x="308457" y="1805010"/>
            <a:ext cx="5510387" cy="572251"/>
            <a:chOff x="703376" y="2343180"/>
            <a:chExt cx="7347182" cy="763001"/>
          </a:xfrm>
        </p:grpSpPr>
        <p:sp>
          <p:nvSpPr>
            <p:cNvPr id="25" name="Rectangle 24">
              <a:extLst>
                <a:ext uri="{FF2B5EF4-FFF2-40B4-BE49-F238E27FC236}">
                  <a16:creationId xmlns:a16="http://schemas.microsoft.com/office/drawing/2014/main" id="{D6AA0FF7-5947-B67C-229E-9E1C72949B6C}"/>
                </a:ext>
              </a:extLst>
            </p:cNvPr>
            <p:cNvSpPr/>
            <p:nvPr/>
          </p:nvSpPr>
          <p:spPr>
            <a:xfrm>
              <a:off x="703376" y="2343180"/>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825" b="1">
                  <a:solidFill>
                    <a:prstClr val="black"/>
                  </a:solidFill>
                </a:rPr>
                <a:t>Document AI</a:t>
              </a:r>
            </a:p>
          </p:txBody>
        </p:sp>
        <p:sp>
          <p:nvSpPr>
            <p:cNvPr id="26" name="Rectangle 25">
              <a:extLst>
                <a:ext uri="{FF2B5EF4-FFF2-40B4-BE49-F238E27FC236}">
                  <a16:creationId xmlns:a16="http://schemas.microsoft.com/office/drawing/2014/main" id="{DCF2F6A7-3A68-5880-3099-10CE5C0E9909}"/>
                </a:ext>
              </a:extLst>
            </p:cNvPr>
            <p:cNvSpPr/>
            <p:nvPr/>
          </p:nvSpPr>
          <p:spPr>
            <a:xfrm>
              <a:off x="2580398" y="2343180"/>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825" b="1" err="1">
                  <a:solidFill>
                    <a:prstClr val="black"/>
                  </a:solidFill>
                </a:rPr>
                <a:t>MLOps</a:t>
              </a:r>
              <a:r>
                <a:rPr lang="en-US" sz="825" b="1">
                  <a:solidFill>
                    <a:prstClr val="black"/>
                  </a:solidFill>
                </a:rPr>
                <a:t> and LLM Ops</a:t>
              </a:r>
            </a:p>
          </p:txBody>
        </p:sp>
        <p:sp>
          <p:nvSpPr>
            <p:cNvPr id="27" name="Rectangle 26">
              <a:extLst>
                <a:ext uri="{FF2B5EF4-FFF2-40B4-BE49-F238E27FC236}">
                  <a16:creationId xmlns:a16="http://schemas.microsoft.com/office/drawing/2014/main" id="{56BE0CD8-5B06-12E6-7C40-78EDCE822B9F}"/>
                </a:ext>
              </a:extLst>
            </p:cNvPr>
            <p:cNvSpPr/>
            <p:nvPr/>
          </p:nvSpPr>
          <p:spPr>
            <a:xfrm>
              <a:off x="4457420" y="2343180"/>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825" b="1">
                  <a:solidFill>
                    <a:prstClr val="black"/>
                  </a:solidFill>
                </a:rPr>
                <a:t>Graph AI</a:t>
              </a:r>
            </a:p>
          </p:txBody>
        </p:sp>
        <p:sp>
          <p:nvSpPr>
            <p:cNvPr id="28" name="Rectangle 27">
              <a:extLst>
                <a:ext uri="{FF2B5EF4-FFF2-40B4-BE49-F238E27FC236}">
                  <a16:creationId xmlns:a16="http://schemas.microsoft.com/office/drawing/2014/main" id="{B1C95DB5-1888-4642-99D0-B9C2A318E9A7}"/>
                </a:ext>
              </a:extLst>
            </p:cNvPr>
            <p:cNvSpPr/>
            <p:nvPr/>
          </p:nvSpPr>
          <p:spPr>
            <a:xfrm>
              <a:off x="6334441" y="2343180"/>
              <a:ext cx="1716117" cy="763001"/>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825" b="1">
                  <a:solidFill>
                    <a:prstClr val="black"/>
                  </a:solidFill>
                </a:rPr>
                <a:t>Speech &amp; Video AI</a:t>
              </a:r>
            </a:p>
          </p:txBody>
        </p:sp>
      </p:grpSp>
      <p:grpSp>
        <p:nvGrpSpPr>
          <p:cNvPr id="38" name="Group 37">
            <a:extLst>
              <a:ext uri="{FF2B5EF4-FFF2-40B4-BE49-F238E27FC236}">
                <a16:creationId xmlns:a16="http://schemas.microsoft.com/office/drawing/2014/main" id="{3C48E6DF-5F0B-5357-61B8-4B95AE425EEE}"/>
              </a:ext>
            </a:extLst>
          </p:cNvPr>
          <p:cNvGrpSpPr/>
          <p:nvPr/>
        </p:nvGrpSpPr>
        <p:grpSpPr>
          <a:xfrm>
            <a:off x="7123850" y="5521469"/>
            <a:ext cx="4692428" cy="738985"/>
            <a:chOff x="11714296" y="6135056"/>
            <a:chExt cx="4504142" cy="985313"/>
          </a:xfrm>
        </p:grpSpPr>
        <p:sp>
          <p:nvSpPr>
            <p:cNvPr id="39" name="Rectangle 38">
              <a:extLst>
                <a:ext uri="{FF2B5EF4-FFF2-40B4-BE49-F238E27FC236}">
                  <a16:creationId xmlns:a16="http://schemas.microsoft.com/office/drawing/2014/main" id="{FBE4B036-3763-6B10-2D1C-50C3D7F7C901}"/>
                </a:ext>
              </a:extLst>
            </p:cNvPr>
            <p:cNvSpPr/>
            <p:nvPr/>
          </p:nvSpPr>
          <p:spPr>
            <a:xfrm>
              <a:off x="11714296" y="6185542"/>
              <a:ext cx="1097280" cy="340067"/>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14350">
                <a:defRPr/>
              </a:pPr>
              <a:r>
                <a:rPr lang="en-US" sz="900" b="1">
                  <a:solidFill>
                    <a:schemeClr val="accent3">
                      <a:lumMod val="75000"/>
                    </a:schemeClr>
                  </a:solidFill>
                  <a:latin typeface="+mj-lt"/>
                </a:rPr>
                <a:t>US Large Bank</a:t>
              </a:r>
            </a:p>
          </p:txBody>
        </p:sp>
        <p:sp>
          <p:nvSpPr>
            <p:cNvPr id="40" name="TextBox 39">
              <a:extLst>
                <a:ext uri="{FF2B5EF4-FFF2-40B4-BE49-F238E27FC236}">
                  <a16:creationId xmlns:a16="http://schemas.microsoft.com/office/drawing/2014/main" id="{C9FF3D14-3882-3593-A0D1-2999513AE4EC}"/>
                </a:ext>
              </a:extLst>
            </p:cNvPr>
            <p:cNvSpPr txBox="1"/>
            <p:nvPr/>
          </p:nvSpPr>
          <p:spPr>
            <a:xfrm>
              <a:off x="12704650" y="6135056"/>
              <a:ext cx="3513788" cy="985313"/>
            </a:xfrm>
            <a:prstGeom prst="rect">
              <a:avLst/>
            </a:prstGeom>
            <a:noFill/>
            <a:effectLst/>
          </p:spPr>
          <p:txBody>
            <a:bodyPr wrap="square">
              <a:spAutoFit/>
            </a:bodyPr>
            <a:lstStyle/>
            <a:p>
              <a:pPr marL="96441" indent="-96441" defTabSz="514350">
                <a:lnSpc>
                  <a:spcPct val="115000"/>
                </a:lnSpc>
                <a:spcAft>
                  <a:spcPts val="169"/>
                </a:spcAft>
                <a:buFont typeface="Arial" panose="020B0604020202020204" pitchFamily="34" charset="0"/>
                <a:buChar char="•"/>
              </a:pPr>
              <a:r>
                <a:rPr lang="en-US" sz="900">
                  <a:solidFill>
                    <a:prstClr val="black"/>
                  </a:solidFill>
                  <a:latin typeface="+mj-lt"/>
                  <a:cs typeface="Poppins" panose="00000500000000000000" pitchFamily="2" charset="0"/>
                </a:rPr>
                <a:t>AI Solution to perform check fraud detection across multiple critical parameters in the check image</a:t>
              </a:r>
            </a:p>
            <a:p>
              <a:pPr marL="96441" indent="-96441" defTabSz="514350">
                <a:lnSpc>
                  <a:spcPct val="115000"/>
                </a:lnSpc>
                <a:spcAft>
                  <a:spcPts val="169"/>
                </a:spcAft>
                <a:buFont typeface="Arial" panose="020B0604020202020204" pitchFamily="34" charset="0"/>
                <a:buChar char="•"/>
              </a:pPr>
              <a:r>
                <a:rPr lang="en-US" sz="900">
                  <a:solidFill>
                    <a:prstClr val="black"/>
                  </a:solidFill>
                  <a:latin typeface="+mj-lt"/>
                  <a:cs typeface="Poppins" panose="00000500000000000000" pitchFamily="2" charset="0"/>
                </a:rPr>
                <a:t>Different kinds of verification including logo, signature, positioning of standard statements in check, check borders detection</a:t>
              </a:r>
            </a:p>
          </p:txBody>
        </p:sp>
      </p:grpSp>
    </p:spTree>
    <p:extLst>
      <p:ext uri="{BB962C8B-B14F-4D97-AF65-F5344CB8AC3E}">
        <p14:creationId xmlns:p14="http://schemas.microsoft.com/office/powerpoint/2010/main" val="3709885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E9459-8269-2E6B-A5E7-4411849B2E5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2B87112-A58E-3586-6F45-D51EC5A80357}"/>
              </a:ext>
            </a:extLst>
          </p:cNvPr>
          <p:cNvSpPr>
            <a:spLocks noGrp="1"/>
          </p:cNvSpPr>
          <p:nvPr>
            <p:ph type="title"/>
          </p:nvPr>
        </p:nvSpPr>
        <p:spPr/>
        <p:txBody>
          <a:bodyPr>
            <a:normAutofit/>
          </a:bodyPr>
          <a:lstStyle/>
          <a:p>
            <a:r>
              <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Agentic Frameworks &amp; Solutions: </a:t>
            </a:r>
            <a:r>
              <a:rPr lang="en-US"/>
              <a:t>Our approach to enable agentic AI on the </a:t>
            </a:r>
            <a:r>
              <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bedrock of predictive &amp; generative AI </a:t>
            </a:r>
            <a:r>
              <a:rPr lang="en-US"/>
              <a:t>foundation</a:t>
            </a:r>
            <a:endPar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AC49DC1F-E301-B2C4-D350-B8ABE0F6DE0B}"/>
              </a:ext>
            </a:extLst>
          </p:cNvPr>
          <p:cNvSpPr/>
          <p:nvPr/>
        </p:nvSpPr>
        <p:spPr>
          <a:xfrm>
            <a:off x="622417" y="7028651"/>
            <a:ext cx="2523642" cy="36101"/>
          </a:xfrm>
          <a:prstGeom prst="rect">
            <a:avLst/>
          </a:prstGeom>
          <a:solidFill>
            <a:srgbClr val="0F1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18">
              <a:latin typeface="+mj-lt"/>
            </a:endParaRPr>
          </a:p>
        </p:txBody>
      </p:sp>
      <p:grpSp>
        <p:nvGrpSpPr>
          <p:cNvPr id="64" name="Group 63">
            <a:extLst>
              <a:ext uri="{FF2B5EF4-FFF2-40B4-BE49-F238E27FC236}">
                <a16:creationId xmlns:a16="http://schemas.microsoft.com/office/drawing/2014/main" id="{E55DA63C-5F0F-02A8-A4A5-6FD5CD1EE16D}"/>
              </a:ext>
            </a:extLst>
          </p:cNvPr>
          <p:cNvGrpSpPr/>
          <p:nvPr/>
        </p:nvGrpSpPr>
        <p:grpSpPr>
          <a:xfrm>
            <a:off x="231160" y="1861457"/>
            <a:ext cx="7236441" cy="3549958"/>
            <a:chOff x="1451428" y="1973945"/>
            <a:chExt cx="13266057" cy="6293715"/>
          </a:xfrm>
        </p:grpSpPr>
        <p:grpSp>
          <p:nvGrpSpPr>
            <p:cNvPr id="2" name="Group 1">
              <a:extLst>
                <a:ext uri="{FF2B5EF4-FFF2-40B4-BE49-F238E27FC236}">
                  <a16:creationId xmlns:a16="http://schemas.microsoft.com/office/drawing/2014/main" id="{F5D86594-E8BC-9E7E-EA29-E63BA36290FB}"/>
                </a:ext>
              </a:extLst>
            </p:cNvPr>
            <p:cNvGrpSpPr/>
            <p:nvPr/>
          </p:nvGrpSpPr>
          <p:grpSpPr>
            <a:xfrm>
              <a:off x="1451428" y="1973945"/>
              <a:ext cx="13266057" cy="6293715"/>
              <a:chOff x="951725" y="1614469"/>
              <a:chExt cx="7754224" cy="3771808"/>
            </a:xfrm>
          </p:grpSpPr>
          <p:sp>
            <p:nvSpPr>
              <p:cNvPr id="3" name="Flowchart: Connector 2">
                <a:extLst>
                  <a:ext uri="{FF2B5EF4-FFF2-40B4-BE49-F238E27FC236}">
                    <a16:creationId xmlns:a16="http://schemas.microsoft.com/office/drawing/2014/main" id="{D8C9AD27-3AB4-620B-F3C5-891100CB3F4C}"/>
                  </a:ext>
                </a:extLst>
              </p:cNvPr>
              <p:cNvSpPr/>
              <p:nvPr/>
            </p:nvSpPr>
            <p:spPr>
              <a:xfrm>
                <a:off x="6332845" y="3830385"/>
                <a:ext cx="1413146" cy="1413146"/>
              </a:xfrm>
              <a:prstGeom prst="flowChartConnector">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6" name="Group 5">
                <a:extLst>
                  <a:ext uri="{FF2B5EF4-FFF2-40B4-BE49-F238E27FC236}">
                    <a16:creationId xmlns:a16="http://schemas.microsoft.com/office/drawing/2014/main" id="{98D5FB55-84E6-36EB-6F6E-A2ECAE6441B4}"/>
                  </a:ext>
                </a:extLst>
              </p:cNvPr>
              <p:cNvGrpSpPr/>
              <p:nvPr/>
            </p:nvGrpSpPr>
            <p:grpSpPr>
              <a:xfrm>
                <a:off x="951725" y="1614469"/>
                <a:ext cx="7754224" cy="3771808"/>
                <a:chOff x="951725" y="1420906"/>
                <a:chExt cx="7754224" cy="3771808"/>
              </a:xfrm>
            </p:grpSpPr>
            <p:grpSp>
              <p:nvGrpSpPr>
                <p:cNvPr id="7" name="Group 6">
                  <a:extLst>
                    <a:ext uri="{FF2B5EF4-FFF2-40B4-BE49-F238E27FC236}">
                      <a16:creationId xmlns:a16="http://schemas.microsoft.com/office/drawing/2014/main" id="{D8273F67-B729-8A8C-9224-679B07CBE0FD}"/>
                    </a:ext>
                  </a:extLst>
                </p:cNvPr>
                <p:cNvGrpSpPr/>
                <p:nvPr/>
              </p:nvGrpSpPr>
              <p:grpSpPr>
                <a:xfrm>
                  <a:off x="951725" y="1420906"/>
                  <a:ext cx="7754224" cy="3771808"/>
                  <a:chOff x="951725" y="1420906"/>
                  <a:chExt cx="7754224" cy="3771808"/>
                </a:xfrm>
              </p:grpSpPr>
              <p:grpSp>
                <p:nvGrpSpPr>
                  <p:cNvPr id="15" name="Group 14">
                    <a:extLst>
                      <a:ext uri="{FF2B5EF4-FFF2-40B4-BE49-F238E27FC236}">
                        <a16:creationId xmlns:a16="http://schemas.microsoft.com/office/drawing/2014/main" id="{B0A4C157-FCC4-1538-36F2-8A23545D9330}"/>
                      </a:ext>
                    </a:extLst>
                  </p:cNvPr>
                  <p:cNvGrpSpPr/>
                  <p:nvPr/>
                </p:nvGrpSpPr>
                <p:grpSpPr>
                  <a:xfrm>
                    <a:off x="951725" y="1420906"/>
                    <a:ext cx="7754224" cy="3771808"/>
                    <a:chOff x="1302388" y="1509116"/>
                    <a:chExt cx="7148112" cy="3476983"/>
                  </a:xfrm>
                </p:grpSpPr>
                <p:grpSp>
                  <p:nvGrpSpPr>
                    <p:cNvPr id="22" name="Group 21">
                      <a:extLst>
                        <a:ext uri="{FF2B5EF4-FFF2-40B4-BE49-F238E27FC236}">
                          <a16:creationId xmlns:a16="http://schemas.microsoft.com/office/drawing/2014/main" id="{2903C65F-9412-9DC5-AF81-FE8E370DE1FF}"/>
                        </a:ext>
                      </a:extLst>
                    </p:cNvPr>
                    <p:cNvGrpSpPr/>
                    <p:nvPr/>
                  </p:nvGrpSpPr>
                  <p:grpSpPr>
                    <a:xfrm>
                      <a:off x="1302388" y="1509116"/>
                      <a:ext cx="6870154" cy="3354086"/>
                      <a:chOff x="915418" y="1311294"/>
                      <a:chExt cx="6252195" cy="3052391"/>
                    </a:xfrm>
                  </p:grpSpPr>
                  <p:sp>
                    <p:nvSpPr>
                      <p:cNvPr id="40" name="Flowchart: Connector 39">
                        <a:extLst>
                          <a:ext uri="{FF2B5EF4-FFF2-40B4-BE49-F238E27FC236}">
                            <a16:creationId xmlns:a16="http://schemas.microsoft.com/office/drawing/2014/main" id="{FF65A8DB-8905-B39D-F9FF-26D60E93E106}"/>
                          </a:ext>
                        </a:extLst>
                      </p:cNvPr>
                      <p:cNvSpPr/>
                      <p:nvPr/>
                    </p:nvSpPr>
                    <p:spPr>
                      <a:xfrm>
                        <a:off x="1506917" y="1311294"/>
                        <a:ext cx="1807057" cy="1807058"/>
                      </a:xfrm>
                      <a:prstGeom prst="flowChartConnector">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1" name="Flowchart: Connector 40">
                        <a:extLst>
                          <a:ext uri="{FF2B5EF4-FFF2-40B4-BE49-F238E27FC236}">
                            <a16:creationId xmlns:a16="http://schemas.microsoft.com/office/drawing/2014/main" id="{C142783E-6B98-5C98-4BBC-837553CD8724}"/>
                          </a:ext>
                        </a:extLst>
                      </p:cNvPr>
                      <p:cNvSpPr/>
                      <p:nvPr/>
                    </p:nvSpPr>
                    <p:spPr>
                      <a:xfrm>
                        <a:off x="2645343" y="2199021"/>
                        <a:ext cx="1185512" cy="1185512"/>
                      </a:xfrm>
                      <a:prstGeom prst="flowChartConnector">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2" name="Flowchart: Connector 41">
                        <a:extLst>
                          <a:ext uri="{FF2B5EF4-FFF2-40B4-BE49-F238E27FC236}">
                            <a16:creationId xmlns:a16="http://schemas.microsoft.com/office/drawing/2014/main" id="{BFEFAD15-01BC-73D4-6FA0-CA534ECFC862}"/>
                          </a:ext>
                        </a:extLst>
                      </p:cNvPr>
                      <p:cNvSpPr/>
                      <p:nvPr/>
                    </p:nvSpPr>
                    <p:spPr>
                      <a:xfrm>
                        <a:off x="915418" y="2150893"/>
                        <a:ext cx="2212793" cy="2212792"/>
                      </a:xfrm>
                      <a:prstGeom prst="flowChartConnector">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3" name="Flowchart: Connector 42">
                        <a:extLst>
                          <a:ext uri="{FF2B5EF4-FFF2-40B4-BE49-F238E27FC236}">
                            <a16:creationId xmlns:a16="http://schemas.microsoft.com/office/drawing/2014/main" id="{B3BC91DD-D498-1073-FBA0-7A112D38504F}"/>
                          </a:ext>
                        </a:extLst>
                      </p:cNvPr>
                      <p:cNvSpPr/>
                      <p:nvPr/>
                    </p:nvSpPr>
                    <p:spPr>
                      <a:xfrm>
                        <a:off x="3463489" y="2787766"/>
                        <a:ext cx="1482291" cy="1482291"/>
                      </a:xfrm>
                      <a:prstGeom prst="flowChartConnector">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4" name="Flowchart: Connector 43">
                        <a:extLst>
                          <a:ext uri="{FF2B5EF4-FFF2-40B4-BE49-F238E27FC236}">
                            <a16:creationId xmlns:a16="http://schemas.microsoft.com/office/drawing/2014/main" id="{3BEB79D3-9047-2867-3940-80A410BC6F28}"/>
                          </a:ext>
                        </a:extLst>
                      </p:cNvPr>
                      <p:cNvSpPr/>
                      <p:nvPr/>
                    </p:nvSpPr>
                    <p:spPr>
                      <a:xfrm>
                        <a:off x="4203031" y="1688882"/>
                        <a:ext cx="1840029" cy="1840029"/>
                      </a:xfrm>
                      <a:prstGeom prst="flowChartConnector">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5" name="Flowchart: Connector 44">
                        <a:extLst>
                          <a:ext uri="{FF2B5EF4-FFF2-40B4-BE49-F238E27FC236}">
                            <a16:creationId xmlns:a16="http://schemas.microsoft.com/office/drawing/2014/main" id="{F7F2323E-20B5-7490-4EA7-4FDBBE8D301D}"/>
                          </a:ext>
                        </a:extLst>
                      </p:cNvPr>
                      <p:cNvSpPr/>
                      <p:nvPr/>
                    </p:nvSpPr>
                    <p:spPr>
                      <a:xfrm>
                        <a:off x="5401430" y="2403962"/>
                        <a:ext cx="1766183" cy="1766183"/>
                      </a:xfrm>
                      <a:prstGeom prst="flowChartConnector">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23" name="Flowchart: Connector 22">
                      <a:extLst>
                        <a:ext uri="{FF2B5EF4-FFF2-40B4-BE49-F238E27FC236}">
                          <a16:creationId xmlns:a16="http://schemas.microsoft.com/office/drawing/2014/main" id="{2455FF60-1918-9A2D-CE07-0AE3D19B7E51}"/>
                        </a:ext>
                      </a:extLst>
                    </p:cNvPr>
                    <p:cNvSpPr/>
                    <p:nvPr/>
                  </p:nvSpPr>
                  <p:spPr>
                    <a:xfrm>
                      <a:off x="1302388" y="1924024"/>
                      <a:ext cx="2768065" cy="2768065"/>
                    </a:xfrm>
                    <a:prstGeom prst="flowChartConnector">
                      <a:avLst/>
                    </a:prstGeom>
                    <a:solidFill>
                      <a:schemeClr val="tx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sz="900">
                        <a:solidFill>
                          <a:schemeClr val="bg1"/>
                        </a:solidFill>
                      </a:endParaRPr>
                    </a:p>
                  </p:txBody>
                </p:sp>
                <p:sp>
                  <p:nvSpPr>
                    <p:cNvPr id="24" name="Flowchart: Connector 23">
                      <a:extLst>
                        <a:ext uri="{FF2B5EF4-FFF2-40B4-BE49-F238E27FC236}">
                          <a16:creationId xmlns:a16="http://schemas.microsoft.com/office/drawing/2014/main" id="{1224D3E9-6D46-46CA-BFA7-AB35D572670B}"/>
                        </a:ext>
                      </a:extLst>
                    </p:cNvPr>
                    <p:cNvSpPr/>
                    <p:nvPr/>
                  </p:nvSpPr>
                  <p:spPr>
                    <a:xfrm>
                      <a:off x="1593108" y="1934536"/>
                      <a:ext cx="537194" cy="537194"/>
                    </a:xfrm>
                    <a:prstGeom prst="flowChartConnector">
                      <a:avLst/>
                    </a:pr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Flowchart: Connector 24">
                      <a:extLst>
                        <a:ext uri="{FF2B5EF4-FFF2-40B4-BE49-F238E27FC236}">
                          <a16:creationId xmlns:a16="http://schemas.microsoft.com/office/drawing/2014/main" id="{F4C35E55-B068-3F49-9589-432666A0BF16}"/>
                        </a:ext>
                      </a:extLst>
                    </p:cNvPr>
                    <p:cNvSpPr/>
                    <p:nvPr/>
                  </p:nvSpPr>
                  <p:spPr>
                    <a:xfrm>
                      <a:off x="1697382" y="4194437"/>
                      <a:ext cx="537194" cy="537194"/>
                    </a:xfrm>
                    <a:prstGeom prst="flowChartConnector">
                      <a:avLst/>
                    </a:pr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Flowchart: Connector 25">
                      <a:extLst>
                        <a:ext uri="{FF2B5EF4-FFF2-40B4-BE49-F238E27FC236}">
                          <a16:creationId xmlns:a16="http://schemas.microsoft.com/office/drawing/2014/main" id="{FFD7F93B-F3BF-9AC1-30B1-686C7F0DCC76}"/>
                        </a:ext>
                      </a:extLst>
                    </p:cNvPr>
                    <p:cNvSpPr/>
                    <p:nvPr/>
                  </p:nvSpPr>
                  <p:spPr>
                    <a:xfrm>
                      <a:off x="3243335" y="2690630"/>
                      <a:ext cx="1899820" cy="1881012"/>
                    </a:xfrm>
                    <a:prstGeom prst="flowChartConnector">
                      <a:avLst/>
                    </a:pr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sz="900">
                        <a:solidFill>
                          <a:schemeClr val="bg1"/>
                        </a:solidFill>
                      </a:endParaRPr>
                    </a:p>
                  </p:txBody>
                </p:sp>
                <p:sp>
                  <p:nvSpPr>
                    <p:cNvPr id="27" name="Flowchart: Connector 26">
                      <a:extLst>
                        <a:ext uri="{FF2B5EF4-FFF2-40B4-BE49-F238E27FC236}">
                          <a16:creationId xmlns:a16="http://schemas.microsoft.com/office/drawing/2014/main" id="{E8B41B21-E893-6A8A-D1C7-CAE796374DBA}"/>
                        </a:ext>
                      </a:extLst>
                    </p:cNvPr>
                    <p:cNvSpPr/>
                    <p:nvPr/>
                  </p:nvSpPr>
                  <p:spPr>
                    <a:xfrm>
                      <a:off x="4728420" y="2192494"/>
                      <a:ext cx="2431503" cy="2431503"/>
                    </a:xfrm>
                    <a:prstGeom prst="flowChartConnector">
                      <a:avLst/>
                    </a:prstGeom>
                    <a:solidFill>
                      <a:schemeClr val="accent5">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sz="900">
                        <a:solidFill>
                          <a:schemeClr val="bg1"/>
                        </a:solidFill>
                      </a:endParaRPr>
                    </a:p>
                  </p:txBody>
                </p:sp>
                <p:sp>
                  <p:nvSpPr>
                    <p:cNvPr id="30" name="Flowchart: Connector 29">
                      <a:extLst>
                        <a:ext uri="{FF2B5EF4-FFF2-40B4-BE49-F238E27FC236}">
                          <a16:creationId xmlns:a16="http://schemas.microsoft.com/office/drawing/2014/main" id="{82547463-7372-FD0C-84C2-106F1C4CB970}"/>
                        </a:ext>
                      </a:extLst>
                    </p:cNvPr>
                    <p:cNvSpPr/>
                    <p:nvPr/>
                  </p:nvSpPr>
                  <p:spPr>
                    <a:xfrm>
                      <a:off x="3283348" y="4161478"/>
                      <a:ext cx="418721" cy="418721"/>
                    </a:xfrm>
                    <a:prstGeom prst="flowChartConnector">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Flowchart: Connector 30">
                      <a:extLst>
                        <a:ext uri="{FF2B5EF4-FFF2-40B4-BE49-F238E27FC236}">
                          <a16:creationId xmlns:a16="http://schemas.microsoft.com/office/drawing/2014/main" id="{885122EB-127E-DE26-9EDD-712FA93A63A5}"/>
                        </a:ext>
                      </a:extLst>
                    </p:cNvPr>
                    <p:cNvSpPr/>
                    <p:nvPr/>
                  </p:nvSpPr>
                  <p:spPr>
                    <a:xfrm>
                      <a:off x="4551738" y="2673512"/>
                      <a:ext cx="418721" cy="418721"/>
                    </a:xfrm>
                    <a:prstGeom prst="flowChartConnector">
                      <a:avLst/>
                    </a:prstGeom>
                    <a:solidFill>
                      <a:schemeClr val="accent5">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2" name="Flowchart: Connector 31">
                      <a:extLst>
                        <a:ext uri="{FF2B5EF4-FFF2-40B4-BE49-F238E27FC236}">
                          <a16:creationId xmlns:a16="http://schemas.microsoft.com/office/drawing/2014/main" id="{37689243-FFB9-2D4C-054C-AA4C1A103C98}"/>
                        </a:ext>
                      </a:extLst>
                    </p:cNvPr>
                    <p:cNvSpPr/>
                    <p:nvPr/>
                  </p:nvSpPr>
                  <p:spPr>
                    <a:xfrm>
                      <a:off x="5357158" y="4180027"/>
                      <a:ext cx="561034" cy="561034"/>
                    </a:xfrm>
                    <a:prstGeom prst="flowChartConnector">
                      <a:avLst/>
                    </a:prstGeom>
                    <a:solidFill>
                      <a:schemeClr val="accent5">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 name="Flowchart: Connector 32">
                      <a:extLst>
                        <a:ext uri="{FF2B5EF4-FFF2-40B4-BE49-F238E27FC236}">
                          <a16:creationId xmlns:a16="http://schemas.microsoft.com/office/drawing/2014/main" id="{2008EF4A-C6FA-AB6F-F2FA-47E2E666C096}"/>
                        </a:ext>
                      </a:extLst>
                    </p:cNvPr>
                    <p:cNvSpPr/>
                    <p:nvPr/>
                  </p:nvSpPr>
                  <p:spPr>
                    <a:xfrm>
                      <a:off x="6687036" y="2478889"/>
                      <a:ext cx="506018" cy="506018"/>
                    </a:xfrm>
                    <a:prstGeom prst="flowChartConnector">
                      <a:avLst/>
                    </a:prstGeom>
                    <a:solidFill>
                      <a:schemeClr val="accent5">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Flowchart: Connector 33">
                      <a:extLst>
                        <a:ext uri="{FF2B5EF4-FFF2-40B4-BE49-F238E27FC236}">
                          <a16:creationId xmlns:a16="http://schemas.microsoft.com/office/drawing/2014/main" id="{B4395F7E-9436-058D-3897-3048FF30A484}"/>
                        </a:ext>
                      </a:extLst>
                    </p:cNvPr>
                    <p:cNvSpPr/>
                    <p:nvPr/>
                  </p:nvSpPr>
                  <p:spPr>
                    <a:xfrm>
                      <a:off x="6681262" y="4530723"/>
                      <a:ext cx="418721" cy="418721"/>
                    </a:xfrm>
                    <a:prstGeom prst="flowChartConnector">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5" name="Flowchart: Connector 34">
                      <a:extLst>
                        <a:ext uri="{FF2B5EF4-FFF2-40B4-BE49-F238E27FC236}">
                          <a16:creationId xmlns:a16="http://schemas.microsoft.com/office/drawing/2014/main" id="{7D358760-C04D-8AA3-4AF8-C545095BACF6}"/>
                        </a:ext>
                      </a:extLst>
                    </p:cNvPr>
                    <p:cNvSpPr/>
                    <p:nvPr/>
                  </p:nvSpPr>
                  <p:spPr>
                    <a:xfrm>
                      <a:off x="7875144" y="4093923"/>
                      <a:ext cx="575356" cy="575356"/>
                    </a:xfrm>
                    <a:prstGeom prst="flowChartConnector">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9" name="Flowchart: Connector 38">
                      <a:extLst>
                        <a:ext uri="{FF2B5EF4-FFF2-40B4-BE49-F238E27FC236}">
                          <a16:creationId xmlns:a16="http://schemas.microsoft.com/office/drawing/2014/main" id="{34E4F384-2F20-B2AF-6613-6664CD521F01}"/>
                        </a:ext>
                      </a:extLst>
                    </p:cNvPr>
                    <p:cNvSpPr/>
                    <p:nvPr/>
                  </p:nvSpPr>
                  <p:spPr>
                    <a:xfrm>
                      <a:off x="6442393" y="3118135"/>
                      <a:ext cx="1831159" cy="1867964"/>
                    </a:xfrm>
                    <a:prstGeom prst="flowChartConnector">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sz="900">
                        <a:solidFill>
                          <a:schemeClr val="bg1"/>
                        </a:solidFill>
                      </a:endParaRPr>
                    </a:p>
                  </p:txBody>
                </p:sp>
              </p:grpSp>
              <p:sp>
                <p:nvSpPr>
                  <p:cNvPr id="19" name="Shape">
                    <a:extLst>
                      <a:ext uri="{FF2B5EF4-FFF2-40B4-BE49-F238E27FC236}">
                        <a16:creationId xmlns:a16="http://schemas.microsoft.com/office/drawing/2014/main" id="{CEEC6664-983C-BF12-8267-BA616A48CBA2}"/>
                      </a:ext>
                    </a:extLst>
                  </p:cNvPr>
                  <p:cNvSpPr/>
                  <p:nvPr/>
                </p:nvSpPr>
                <p:spPr>
                  <a:xfrm>
                    <a:off x="5781034" y="2590893"/>
                    <a:ext cx="420852" cy="390624"/>
                  </a:xfrm>
                  <a:custGeom>
                    <a:avLst/>
                    <a:gdLst/>
                    <a:ahLst/>
                    <a:cxnLst>
                      <a:cxn ang="0">
                        <a:pos x="wd2" y="hd2"/>
                      </a:cxn>
                      <a:cxn ang="5400000">
                        <a:pos x="wd2" y="hd2"/>
                      </a:cxn>
                      <a:cxn ang="10800000">
                        <a:pos x="wd2" y="hd2"/>
                      </a:cxn>
                      <a:cxn ang="16200000">
                        <a:pos x="wd2" y="hd2"/>
                      </a:cxn>
                    </a:cxnLst>
                    <a:rect l="0" t="0" r="r" b="b"/>
                    <a:pathLst>
                      <a:path w="21600" h="21600" extrusionOk="0">
                        <a:moveTo>
                          <a:pt x="18593" y="0"/>
                        </a:moveTo>
                        <a:cubicBezTo>
                          <a:pt x="18259" y="0"/>
                          <a:pt x="17997" y="382"/>
                          <a:pt x="17997" y="816"/>
                        </a:cubicBezTo>
                        <a:cubicBezTo>
                          <a:pt x="17997" y="864"/>
                          <a:pt x="18003" y="969"/>
                          <a:pt x="18040" y="1065"/>
                        </a:cubicBezTo>
                        <a:cubicBezTo>
                          <a:pt x="18040" y="1065"/>
                          <a:pt x="18036" y="1064"/>
                          <a:pt x="13841" y="4442"/>
                        </a:cubicBezTo>
                        <a:cubicBezTo>
                          <a:pt x="13730" y="4249"/>
                          <a:pt x="13586" y="4148"/>
                          <a:pt x="13401" y="4148"/>
                        </a:cubicBezTo>
                        <a:cubicBezTo>
                          <a:pt x="13141" y="4148"/>
                          <a:pt x="12913" y="4391"/>
                          <a:pt x="12839" y="4680"/>
                        </a:cubicBezTo>
                        <a:cubicBezTo>
                          <a:pt x="12839" y="4680"/>
                          <a:pt x="12842" y="4677"/>
                          <a:pt x="8796" y="3615"/>
                        </a:cubicBezTo>
                        <a:cubicBezTo>
                          <a:pt x="8796" y="3181"/>
                          <a:pt x="8533" y="2799"/>
                          <a:pt x="8199" y="2799"/>
                        </a:cubicBezTo>
                        <a:cubicBezTo>
                          <a:pt x="7865" y="2799"/>
                          <a:pt x="7569" y="3181"/>
                          <a:pt x="7569" y="3615"/>
                        </a:cubicBezTo>
                        <a:cubicBezTo>
                          <a:pt x="7569" y="3663"/>
                          <a:pt x="7603" y="3711"/>
                          <a:pt x="7603" y="3808"/>
                        </a:cubicBezTo>
                        <a:cubicBezTo>
                          <a:pt x="7603" y="3808"/>
                          <a:pt x="7603" y="3814"/>
                          <a:pt x="3482" y="6131"/>
                        </a:cubicBezTo>
                        <a:cubicBezTo>
                          <a:pt x="3371" y="5890"/>
                          <a:pt x="3186" y="5746"/>
                          <a:pt x="2964" y="5746"/>
                        </a:cubicBezTo>
                        <a:cubicBezTo>
                          <a:pt x="2629" y="5746"/>
                          <a:pt x="2367" y="6127"/>
                          <a:pt x="2367" y="6562"/>
                        </a:cubicBezTo>
                        <a:cubicBezTo>
                          <a:pt x="2367" y="6996"/>
                          <a:pt x="2629" y="7332"/>
                          <a:pt x="2964" y="7332"/>
                        </a:cubicBezTo>
                        <a:cubicBezTo>
                          <a:pt x="3335" y="7332"/>
                          <a:pt x="3594" y="6996"/>
                          <a:pt x="3594" y="6562"/>
                        </a:cubicBezTo>
                        <a:cubicBezTo>
                          <a:pt x="3594" y="6465"/>
                          <a:pt x="3597" y="6465"/>
                          <a:pt x="3560" y="6369"/>
                        </a:cubicBezTo>
                        <a:cubicBezTo>
                          <a:pt x="3560" y="6369"/>
                          <a:pt x="3558" y="6374"/>
                          <a:pt x="7716" y="4057"/>
                        </a:cubicBezTo>
                        <a:cubicBezTo>
                          <a:pt x="7827" y="4250"/>
                          <a:pt x="7977" y="4397"/>
                          <a:pt x="8199" y="4397"/>
                        </a:cubicBezTo>
                        <a:cubicBezTo>
                          <a:pt x="8459" y="4397"/>
                          <a:pt x="8678" y="4199"/>
                          <a:pt x="8752" y="3910"/>
                        </a:cubicBezTo>
                        <a:cubicBezTo>
                          <a:pt x="8752" y="3910"/>
                          <a:pt x="8758" y="3913"/>
                          <a:pt x="12804" y="4975"/>
                        </a:cubicBezTo>
                        <a:cubicBezTo>
                          <a:pt x="12804" y="5409"/>
                          <a:pt x="13067" y="5746"/>
                          <a:pt x="13401" y="5746"/>
                        </a:cubicBezTo>
                        <a:cubicBezTo>
                          <a:pt x="13735" y="5746"/>
                          <a:pt x="13988" y="5409"/>
                          <a:pt x="13988" y="4975"/>
                        </a:cubicBezTo>
                        <a:cubicBezTo>
                          <a:pt x="13988" y="4879"/>
                          <a:pt x="13991" y="4777"/>
                          <a:pt x="13954" y="4680"/>
                        </a:cubicBezTo>
                        <a:cubicBezTo>
                          <a:pt x="13954" y="4680"/>
                          <a:pt x="13958" y="4681"/>
                          <a:pt x="18153" y="1303"/>
                        </a:cubicBezTo>
                        <a:cubicBezTo>
                          <a:pt x="18264" y="1496"/>
                          <a:pt x="18408" y="1598"/>
                          <a:pt x="18593" y="1598"/>
                        </a:cubicBezTo>
                        <a:cubicBezTo>
                          <a:pt x="18927" y="1598"/>
                          <a:pt x="19224" y="1250"/>
                          <a:pt x="19224" y="816"/>
                        </a:cubicBezTo>
                        <a:cubicBezTo>
                          <a:pt x="19224" y="382"/>
                          <a:pt x="18927" y="0"/>
                          <a:pt x="18593" y="0"/>
                        </a:cubicBezTo>
                        <a:close/>
                        <a:moveTo>
                          <a:pt x="17954" y="2618"/>
                        </a:moveTo>
                        <a:cubicBezTo>
                          <a:pt x="17285" y="2618"/>
                          <a:pt x="16770" y="3287"/>
                          <a:pt x="16770" y="4159"/>
                        </a:cubicBezTo>
                        <a:cubicBezTo>
                          <a:pt x="16770" y="20390"/>
                          <a:pt x="16770" y="20399"/>
                          <a:pt x="16770" y="20399"/>
                        </a:cubicBezTo>
                        <a:cubicBezTo>
                          <a:pt x="15246" y="20399"/>
                          <a:pt x="15241" y="20399"/>
                          <a:pt x="15241" y="20399"/>
                        </a:cubicBezTo>
                        <a:cubicBezTo>
                          <a:pt x="15241" y="8432"/>
                          <a:pt x="15241" y="8431"/>
                          <a:pt x="15241" y="8431"/>
                        </a:cubicBezTo>
                        <a:cubicBezTo>
                          <a:pt x="15241" y="7559"/>
                          <a:pt x="14724" y="6879"/>
                          <a:pt x="14092" y="6879"/>
                        </a:cubicBezTo>
                        <a:cubicBezTo>
                          <a:pt x="12753" y="6879"/>
                          <a:pt x="12753" y="6879"/>
                          <a:pt x="12753" y="6879"/>
                        </a:cubicBezTo>
                        <a:cubicBezTo>
                          <a:pt x="12083" y="6879"/>
                          <a:pt x="11560" y="7559"/>
                          <a:pt x="11560" y="8431"/>
                        </a:cubicBezTo>
                        <a:cubicBezTo>
                          <a:pt x="11560" y="20398"/>
                          <a:pt x="11560" y="20399"/>
                          <a:pt x="11560" y="20399"/>
                        </a:cubicBezTo>
                        <a:cubicBezTo>
                          <a:pt x="10036" y="20399"/>
                          <a:pt x="10040" y="20399"/>
                          <a:pt x="10040" y="20399"/>
                        </a:cubicBezTo>
                        <a:cubicBezTo>
                          <a:pt x="10040" y="7075"/>
                          <a:pt x="10040" y="7072"/>
                          <a:pt x="10040" y="7072"/>
                        </a:cubicBezTo>
                        <a:cubicBezTo>
                          <a:pt x="10040" y="6248"/>
                          <a:pt x="9514" y="5564"/>
                          <a:pt x="8882" y="5564"/>
                        </a:cubicBezTo>
                        <a:cubicBezTo>
                          <a:pt x="7543" y="5564"/>
                          <a:pt x="7543" y="5564"/>
                          <a:pt x="7543" y="5564"/>
                        </a:cubicBezTo>
                        <a:cubicBezTo>
                          <a:pt x="6911" y="5564"/>
                          <a:pt x="6359" y="6248"/>
                          <a:pt x="6359" y="7072"/>
                        </a:cubicBezTo>
                        <a:cubicBezTo>
                          <a:pt x="6359" y="20395"/>
                          <a:pt x="6359" y="20399"/>
                          <a:pt x="6359" y="20399"/>
                        </a:cubicBezTo>
                        <a:cubicBezTo>
                          <a:pt x="4872" y="20399"/>
                          <a:pt x="4864" y="20399"/>
                          <a:pt x="4864" y="20399"/>
                        </a:cubicBezTo>
                        <a:cubicBezTo>
                          <a:pt x="4864" y="10370"/>
                          <a:pt x="4864" y="10369"/>
                          <a:pt x="4864" y="10369"/>
                        </a:cubicBezTo>
                        <a:cubicBezTo>
                          <a:pt x="4864" y="9546"/>
                          <a:pt x="4350" y="8817"/>
                          <a:pt x="3681" y="8817"/>
                        </a:cubicBezTo>
                        <a:cubicBezTo>
                          <a:pt x="2342" y="8817"/>
                          <a:pt x="2341" y="8817"/>
                          <a:pt x="2341" y="8817"/>
                        </a:cubicBezTo>
                        <a:cubicBezTo>
                          <a:pt x="1709" y="8817"/>
                          <a:pt x="1184" y="9546"/>
                          <a:pt x="1184" y="10369"/>
                        </a:cubicBezTo>
                        <a:cubicBezTo>
                          <a:pt x="1184" y="20398"/>
                          <a:pt x="1184" y="20399"/>
                          <a:pt x="1184" y="20399"/>
                        </a:cubicBezTo>
                        <a:cubicBezTo>
                          <a:pt x="403" y="20399"/>
                          <a:pt x="406" y="20399"/>
                          <a:pt x="406" y="20399"/>
                        </a:cubicBezTo>
                        <a:cubicBezTo>
                          <a:pt x="146" y="20399"/>
                          <a:pt x="0" y="20641"/>
                          <a:pt x="0" y="20931"/>
                        </a:cubicBezTo>
                        <a:cubicBezTo>
                          <a:pt x="0" y="21077"/>
                          <a:pt x="0" y="21067"/>
                          <a:pt x="0" y="21067"/>
                        </a:cubicBezTo>
                        <a:cubicBezTo>
                          <a:pt x="0" y="21358"/>
                          <a:pt x="146" y="21600"/>
                          <a:pt x="406" y="21600"/>
                        </a:cubicBezTo>
                        <a:cubicBezTo>
                          <a:pt x="21118" y="21600"/>
                          <a:pt x="21116" y="21600"/>
                          <a:pt x="21116" y="21600"/>
                        </a:cubicBezTo>
                        <a:cubicBezTo>
                          <a:pt x="21376" y="21600"/>
                          <a:pt x="21600" y="21358"/>
                          <a:pt x="21600" y="21067"/>
                        </a:cubicBezTo>
                        <a:cubicBezTo>
                          <a:pt x="21600" y="20922"/>
                          <a:pt x="21600" y="20931"/>
                          <a:pt x="21600" y="20931"/>
                        </a:cubicBezTo>
                        <a:cubicBezTo>
                          <a:pt x="21600" y="20641"/>
                          <a:pt x="21376" y="20399"/>
                          <a:pt x="21116" y="20399"/>
                        </a:cubicBezTo>
                        <a:cubicBezTo>
                          <a:pt x="20447" y="20399"/>
                          <a:pt x="20451" y="20399"/>
                          <a:pt x="20451" y="20399"/>
                        </a:cubicBezTo>
                        <a:cubicBezTo>
                          <a:pt x="20451" y="4168"/>
                          <a:pt x="20451" y="4159"/>
                          <a:pt x="20451" y="4159"/>
                        </a:cubicBezTo>
                        <a:cubicBezTo>
                          <a:pt x="20451" y="3287"/>
                          <a:pt x="19928" y="2618"/>
                          <a:pt x="19259" y="2618"/>
                        </a:cubicBezTo>
                        <a:cubicBezTo>
                          <a:pt x="17957" y="2618"/>
                          <a:pt x="17954" y="2618"/>
                          <a:pt x="17954" y="2618"/>
                        </a:cubicBezTo>
                        <a:close/>
                      </a:path>
                    </a:pathLst>
                  </a:custGeom>
                  <a:solidFill>
                    <a:schemeClr val="bg1"/>
                  </a:solidFill>
                  <a:ln w="12700">
                    <a:miter lim="400000"/>
                  </a:ln>
                </p:spPr>
                <p:txBody>
                  <a:bodyPr lIns="34289" rIns="34289"/>
                  <a:lstStyle/>
                  <a:p>
                    <a:pPr defTabSz="685800">
                      <a:defRPr sz="1800" b="0">
                        <a:solidFill>
                          <a:srgbClr val="32363F"/>
                        </a:solidFill>
                        <a:latin typeface="Calibri"/>
                        <a:ea typeface="Calibri"/>
                        <a:cs typeface="Calibri"/>
                        <a:sym typeface="Calibri"/>
                      </a:defRPr>
                    </a:pPr>
                    <a:endParaRPr sz="1350"/>
                  </a:p>
                </p:txBody>
              </p:sp>
            </p:grpSp>
            <p:sp>
              <p:nvSpPr>
                <p:cNvPr id="8" name="TextBox 7">
                  <a:extLst>
                    <a:ext uri="{FF2B5EF4-FFF2-40B4-BE49-F238E27FC236}">
                      <a16:creationId xmlns:a16="http://schemas.microsoft.com/office/drawing/2014/main" id="{37F0572E-9D6B-5082-AD5B-FDB64BB02681}"/>
                    </a:ext>
                  </a:extLst>
                </p:cNvPr>
                <p:cNvSpPr txBox="1"/>
                <p:nvPr/>
              </p:nvSpPr>
              <p:spPr>
                <a:xfrm>
                  <a:off x="1177356" y="3518949"/>
                  <a:ext cx="2507540" cy="836534"/>
                </a:xfrm>
                <a:prstGeom prst="rect">
                  <a:avLst/>
                </a:prstGeom>
                <a:noFill/>
              </p:spPr>
              <p:txBody>
                <a:bodyPr wrap="square" rtlCol="0">
                  <a:spAutoFit/>
                </a:bodyPr>
                <a:lstStyle/>
                <a:p>
                  <a:pPr marL="128588" indent="-128588" defTabSz="513000" fontAlgn="base">
                    <a:lnSpc>
                      <a:spcPts val="1013"/>
                    </a:lnSpc>
                    <a:spcAft>
                      <a:spcPts val="450"/>
                    </a:spcAft>
                    <a:buFont typeface="Arial" panose="020B0604020202020204" pitchFamily="34" charset="0"/>
                    <a:buChar char="•"/>
                  </a:pPr>
                  <a:r>
                    <a:rPr lang="en-US" sz="825" b="1">
                      <a:solidFill>
                        <a:schemeClr val="bg1"/>
                      </a:solidFill>
                      <a:latin typeface="+mj-lt"/>
                    </a:rPr>
                    <a:t>Foundation Models &amp; Capabilities​</a:t>
                  </a:r>
                </a:p>
                <a:p>
                  <a:pPr marL="128588" indent="-128588" defTabSz="513000" fontAlgn="base">
                    <a:lnSpc>
                      <a:spcPts val="1013"/>
                    </a:lnSpc>
                    <a:spcAft>
                      <a:spcPts val="450"/>
                    </a:spcAft>
                    <a:buFont typeface="Arial" panose="020B0604020202020204" pitchFamily="34" charset="0"/>
                    <a:buChar char="•"/>
                  </a:pPr>
                  <a:r>
                    <a:rPr lang="en-US" sz="825" b="1">
                      <a:solidFill>
                        <a:schemeClr val="bg1"/>
                      </a:solidFill>
                      <a:latin typeface="+mj-lt"/>
                    </a:rPr>
                    <a:t>Agentic AI Framework​</a:t>
                  </a:r>
                </a:p>
                <a:p>
                  <a:pPr marL="128588" indent="-128588" defTabSz="513000" fontAlgn="base">
                    <a:lnSpc>
                      <a:spcPts val="1013"/>
                    </a:lnSpc>
                    <a:spcAft>
                      <a:spcPts val="450"/>
                    </a:spcAft>
                    <a:buFont typeface="Arial" panose="020B0604020202020204" pitchFamily="34" charset="0"/>
                    <a:buChar char="•"/>
                  </a:pPr>
                  <a:r>
                    <a:rPr lang="en-US" sz="825" b="1">
                      <a:solidFill>
                        <a:schemeClr val="bg1"/>
                      </a:solidFill>
                      <a:latin typeface="+mj-lt"/>
                    </a:rPr>
                    <a:t>Responsible Agentic AI</a:t>
                  </a:r>
                </a:p>
                <a:p>
                  <a:pPr marL="128588" indent="-128588" defTabSz="513000" fontAlgn="base">
                    <a:lnSpc>
                      <a:spcPts val="1013"/>
                    </a:lnSpc>
                    <a:spcAft>
                      <a:spcPts val="450"/>
                    </a:spcAft>
                    <a:buFont typeface="Arial" panose="020B0604020202020204" pitchFamily="34" charset="0"/>
                    <a:buChar char="•"/>
                  </a:pPr>
                  <a:r>
                    <a:rPr lang="en-US" sz="825" b="1">
                      <a:solidFill>
                        <a:schemeClr val="bg1"/>
                      </a:solidFill>
                      <a:latin typeface="+mj-lt"/>
                    </a:rPr>
                    <a:t>Build Architecture Components</a:t>
                  </a:r>
                </a:p>
              </p:txBody>
            </p:sp>
          </p:grpSp>
        </p:grpSp>
        <p:sp>
          <p:nvSpPr>
            <p:cNvPr id="49" name="TextBox 48">
              <a:extLst>
                <a:ext uri="{FF2B5EF4-FFF2-40B4-BE49-F238E27FC236}">
                  <a16:creationId xmlns:a16="http://schemas.microsoft.com/office/drawing/2014/main" id="{61F66147-CBE6-475C-4757-51AAEA72F401}"/>
                </a:ext>
              </a:extLst>
            </p:cNvPr>
            <p:cNvSpPr txBox="1"/>
            <p:nvPr/>
          </p:nvSpPr>
          <p:spPr>
            <a:xfrm>
              <a:off x="1882352" y="4616299"/>
              <a:ext cx="3916398" cy="736636"/>
            </a:xfrm>
            <a:prstGeom prst="rect">
              <a:avLst/>
            </a:prstGeom>
            <a:noFill/>
          </p:spPr>
          <p:txBody>
            <a:bodyPr wrap="square">
              <a:spAutoFit/>
            </a:bodyPr>
            <a:lstStyle/>
            <a:p>
              <a:r>
                <a:rPr lang="en-US" sz="1050" b="1">
                  <a:solidFill>
                    <a:schemeClr val="bg1"/>
                  </a:solidFill>
                  <a:latin typeface="+mj-lt"/>
                </a:rPr>
                <a:t>DESIGNING AGENTIC AI ARCHITECTURE</a:t>
              </a:r>
              <a:endParaRPr lang="en-IN" sz="1050" b="1">
                <a:solidFill>
                  <a:schemeClr val="bg1"/>
                </a:solidFill>
                <a:latin typeface="+mj-lt"/>
              </a:endParaRPr>
            </a:p>
          </p:txBody>
        </p:sp>
        <p:sp>
          <p:nvSpPr>
            <p:cNvPr id="52" name="TextBox 51">
              <a:extLst>
                <a:ext uri="{FF2B5EF4-FFF2-40B4-BE49-F238E27FC236}">
                  <a16:creationId xmlns:a16="http://schemas.microsoft.com/office/drawing/2014/main" id="{6542EBBB-CBD4-38AD-D271-FC72B224FC6E}"/>
                </a:ext>
              </a:extLst>
            </p:cNvPr>
            <p:cNvSpPr txBox="1"/>
            <p:nvPr/>
          </p:nvSpPr>
          <p:spPr>
            <a:xfrm>
              <a:off x="5268424" y="5511227"/>
              <a:ext cx="3239370" cy="1516470"/>
            </a:xfrm>
            <a:prstGeom prst="rect">
              <a:avLst/>
            </a:prstGeom>
            <a:noFill/>
          </p:spPr>
          <p:txBody>
            <a:bodyPr wrap="square" rtlCol="0">
              <a:spAutoFit/>
            </a:bodyPr>
            <a:lstStyle/>
            <a:p>
              <a:pPr marL="128588" indent="-128588" defTabSz="513000">
                <a:spcAft>
                  <a:spcPts val="450"/>
                </a:spcAft>
                <a:buFont typeface="Arial" panose="020B0604020202020204" pitchFamily="34" charset="0"/>
                <a:buChar char="•"/>
              </a:pPr>
              <a:r>
                <a:rPr lang="en-GB" sz="825" b="1">
                  <a:solidFill>
                    <a:schemeClr val="bg1"/>
                  </a:solidFill>
                  <a:latin typeface="+mj-lt"/>
                </a:rPr>
                <a:t>Identifying High-Impact Use Cases​</a:t>
              </a:r>
            </a:p>
            <a:p>
              <a:pPr marL="128588" indent="-128588" defTabSz="513000">
                <a:spcAft>
                  <a:spcPts val="450"/>
                </a:spcAft>
                <a:buFont typeface="Arial" panose="020B0604020202020204" pitchFamily="34" charset="0"/>
                <a:buChar char="•"/>
              </a:pPr>
              <a:r>
                <a:rPr lang="en-GB" sz="825" b="1">
                  <a:solidFill>
                    <a:schemeClr val="bg1"/>
                  </a:solidFill>
                  <a:latin typeface="+mj-lt"/>
                </a:rPr>
                <a:t>Apply MVP Design Principles​</a:t>
              </a:r>
            </a:p>
            <a:p>
              <a:pPr marL="128588" indent="-128588" defTabSz="513000">
                <a:spcAft>
                  <a:spcPts val="450"/>
                </a:spcAft>
                <a:buFont typeface="Arial" panose="020B0604020202020204" pitchFamily="34" charset="0"/>
                <a:buChar char="•"/>
              </a:pPr>
              <a:r>
                <a:rPr lang="en-GB" sz="825" b="1">
                  <a:solidFill>
                    <a:schemeClr val="bg1"/>
                  </a:solidFill>
                  <a:latin typeface="+mj-lt"/>
                </a:rPr>
                <a:t>Execute Agile Development</a:t>
              </a:r>
              <a:endParaRPr lang="en-US" sz="825" b="1">
                <a:solidFill>
                  <a:schemeClr val="bg1"/>
                </a:solidFill>
                <a:latin typeface="+mj-lt"/>
              </a:endParaRPr>
            </a:p>
          </p:txBody>
        </p:sp>
        <p:sp>
          <p:nvSpPr>
            <p:cNvPr id="53" name="TextBox 52">
              <a:extLst>
                <a:ext uri="{FF2B5EF4-FFF2-40B4-BE49-F238E27FC236}">
                  <a16:creationId xmlns:a16="http://schemas.microsoft.com/office/drawing/2014/main" id="{8F5576B8-3F0F-C171-F751-A64B52C13EE2}"/>
                </a:ext>
              </a:extLst>
            </p:cNvPr>
            <p:cNvSpPr txBox="1"/>
            <p:nvPr/>
          </p:nvSpPr>
          <p:spPr>
            <a:xfrm>
              <a:off x="5313161" y="5073496"/>
              <a:ext cx="3564852" cy="450167"/>
            </a:xfrm>
            <a:prstGeom prst="rect">
              <a:avLst/>
            </a:prstGeom>
            <a:noFill/>
          </p:spPr>
          <p:txBody>
            <a:bodyPr wrap="square">
              <a:spAutoFit/>
            </a:bodyPr>
            <a:lstStyle/>
            <a:p>
              <a:r>
                <a:rPr lang="en-US" sz="1050" b="1">
                  <a:solidFill>
                    <a:schemeClr val="bg1"/>
                  </a:solidFill>
                  <a:latin typeface="+mj-lt"/>
                </a:rPr>
                <a:t>BUILDING MVPS</a:t>
              </a:r>
              <a:endParaRPr lang="en-IN" sz="1050" b="1">
                <a:solidFill>
                  <a:schemeClr val="bg1"/>
                </a:solidFill>
                <a:latin typeface="+mj-lt"/>
              </a:endParaRPr>
            </a:p>
          </p:txBody>
        </p:sp>
        <p:sp>
          <p:nvSpPr>
            <p:cNvPr id="54" name="TextBox 53">
              <a:extLst>
                <a:ext uri="{FF2B5EF4-FFF2-40B4-BE49-F238E27FC236}">
                  <a16:creationId xmlns:a16="http://schemas.microsoft.com/office/drawing/2014/main" id="{0A277DAF-FD33-A9E4-F338-F943C58920ED}"/>
                </a:ext>
              </a:extLst>
            </p:cNvPr>
            <p:cNvSpPr txBox="1"/>
            <p:nvPr/>
          </p:nvSpPr>
          <p:spPr>
            <a:xfrm>
              <a:off x="8386585" y="4688868"/>
              <a:ext cx="3521726" cy="736636"/>
            </a:xfrm>
            <a:prstGeom prst="rect">
              <a:avLst/>
            </a:prstGeom>
            <a:noFill/>
          </p:spPr>
          <p:txBody>
            <a:bodyPr wrap="square">
              <a:spAutoFit/>
            </a:bodyPr>
            <a:lstStyle/>
            <a:p>
              <a:r>
                <a:rPr lang="en-US" sz="1050" b="1">
                  <a:solidFill>
                    <a:schemeClr val="bg1"/>
                  </a:solidFill>
                  <a:latin typeface="+mj-lt"/>
                </a:rPr>
                <a:t>MEASURING ROI OF MVPS</a:t>
              </a:r>
              <a:endParaRPr lang="en-IN" sz="1050" b="1">
                <a:solidFill>
                  <a:schemeClr val="bg1"/>
                </a:solidFill>
                <a:latin typeface="+mj-lt"/>
              </a:endParaRPr>
            </a:p>
          </p:txBody>
        </p:sp>
        <p:sp>
          <p:nvSpPr>
            <p:cNvPr id="55" name="TextBox 54">
              <a:extLst>
                <a:ext uri="{FF2B5EF4-FFF2-40B4-BE49-F238E27FC236}">
                  <a16:creationId xmlns:a16="http://schemas.microsoft.com/office/drawing/2014/main" id="{1931E56C-B899-B5CD-0009-EFF942697405}"/>
                </a:ext>
              </a:extLst>
            </p:cNvPr>
            <p:cNvSpPr txBox="1"/>
            <p:nvPr/>
          </p:nvSpPr>
          <p:spPr>
            <a:xfrm>
              <a:off x="8389004" y="5252281"/>
              <a:ext cx="2932854" cy="1177708"/>
            </a:xfrm>
            <a:prstGeom prst="rect">
              <a:avLst/>
            </a:prstGeom>
            <a:noFill/>
          </p:spPr>
          <p:txBody>
            <a:bodyPr wrap="square" rtlCol="0">
              <a:spAutoFit/>
            </a:bodyPr>
            <a:lstStyle/>
            <a:p>
              <a:pPr marL="128588" indent="-128588" defTabSz="513000">
                <a:spcAft>
                  <a:spcPts val="450"/>
                </a:spcAft>
                <a:buFont typeface="Arial" panose="020B0604020202020204" pitchFamily="34" charset="0"/>
                <a:buChar char="•"/>
              </a:pPr>
              <a:r>
                <a:rPr lang="en-GB" sz="825" b="1">
                  <a:solidFill>
                    <a:schemeClr val="bg1"/>
                  </a:solidFill>
                  <a:latin typeface="+mj-lt"/>
                </a:rPr>
                <a:t>Define &amp; Measure against Key Metrics​</a:t>
              </a:r>
            </a:p>
            <a:p>
              <a:pPr marL="128588" indent="-128588" defTabSz="513000">
                <a:spcAft>
                  <a:spcPts val="450"/>
                </a:spcAft>
                <a:buFont typeface="Arial" panose="020B0604020202020204" pitchFamily="34" charset="0"/>
                <a:buChar char="•"/>
              </a:pPr>
              <a:r>
                <a:rPr lang="en-GB" sz="825" b="1">
                  <a:solidFill>
                    <a:schemeClr val="bg1"/>
                  </a:solidFill>
                  <a:latin typeface="+mj-lt"/>
                </a:rPr>
                <a:t>Define Business Value Realization</a:t>
              </a:r>
              <a:endParaRPr lang="en-US" sz="825" b="1">
                <a:solidFill>
                  <a:schemeClr val="bg1"/>
                </a:solidFill>
                <a:latin typeface="+mj-lt"/>
              </a:endParaRPr>
            </a:p>
          </p:txBody>
        </p:sp>
        <p:sp>
          <p:nvSpPr>
            <p:cNvPr id="56" name="TextBox 55">
              <a:extLst>
                <a:ext uri="{FF2B5EF4-FFF2-40B4-BE49-F238E27FC236}">
                  <a16:creationId xmlns:a16="http://schemas.microsoft.com/office/drawing/2014/main" id="{63F85ADE-0EF4-F91E-B552-260F07685BCB}"/>
                </a:ext>
              </a:extLst>
            </p:cNvPr>
            <p:cNvSpPr txBox="1"/>
            <p:nvPr/>
          </p:nvSpPr>
          <p:spPr>
            <a:xfrm>
              <a:off x="11331160" y="5886294"/>
              <a:ext cx="3098794" cy="450167"/>
            </a:xfrm>
            <a:prstGeom prst="rect">
              <a:avLst/>
            </a:prstGeom>
            <a:noFill/>
          </p:spPr>
          <p:txBody>
            <a:bodyPr wrap="square">
              <a:spAutoFit/>
            </a:bodyPr>
            <a:lstStyle/>
            <a:p>
              <a:r>
                <a:rPr lang="en-US" sz="1050" b="1">
                  <a:solidFill>
                    <a:schemeClr val="bg1"/>
                  </a:solidFill>
                  <a:latin typeface="+mj-lt"/>
                </a:rPr>
                <a:t>SCALING THE MVP</a:t>
              </a:r>
              <a:endParaRPr lang="en-IN" sz="1050" b="1">
                <a:solidFill>
                  <a:schemeClr val="bg1"/>
                </a:solidFill>
                <a:latin typeface="+mj-lt"/>
              </a:endParaRPr>
            </a:p>
          </p:txBody>
        </p:sp>
        <p:sp>
          <p:nvSpPr>
            <p:cNvPr id="57" name="TextBox 56">
              <a:extLst>
                <a:ext uri="{FF2B5EF4-FFF2-40B4-BE49-F238E27FC236}">
                  <a16:creationId xmlns:a16="http://schemas.microsoft.com/office/drawing/2014/main" id="{860A3F5B-6211-4241-6102-507AE1BF97D6}"/>
                </a:ext>
              </a:extLst>
            </p:cNvPr>
            <p:cNvSpPr txBox="1"/>
            <p:nvPr/>
          </p:nvSpPr>
          <p:spPr>
            <a:xfrm>
              <a:off x="11299110" y="6251453"/>
              <a:ext cx="3017349" cy="1291388"/>
            </a:xfrm>
            <a:prstGeom prst="rect">
              <a:avLst/>
            </a:prstGeom>
            <a:noFill/>
          </p:spPr>
          <p:txBody>
            <a:bodyPr wrap="square" rtlCol="0">
              <a:spAutoFit/>
            </a:bodyPr>
            <a:lstStyle/>
            <a:p>
              <a:pPr marL="128588" indent="-128588" defTabSz="513000">
                <a:spcAft>
                  <a:spcPts val="450"/>
                </a:spcAft>
                <a:buFont typeface="Arial" panose="020B0604020202020204" pitchFamily="34" charset="0"/>
                <a:buChar char="•"/>
              </a:pPr>
              <a:r>
                <a:rPr lang="en-GB" sz="825" b="1">
                  <a:solidFill>
                    <a:schemeClr val="bg1"/>
                  </a:solidFill>
                  <a:latin typeface="+mj-lt"/>
                </a:rPr>
                <a:t>Scaling Framework​</a:t>
              </a:r>
            </a:p>
            <a:p>
              <a:pPr marL="128588" indent="-128588" defTabSz="513000">
                <a:spcAft>
                  <a:spcPts val="450"/>
                </a:spcAft>
                <a:buFont typeface="Arial" panose="020B0604020202020204" pitchFamily="34" charset="0"/>
                <a:buChar char="•"/>
              </a:pPr>
              <a:r>
                <a:rPr lang="en-GB" sz="825" b="1">
                  <a:solidFill>
                    <a:schemeClr val="bg1"/>
                  </a:solidFill>
                  <a:latin typeface="+mj-lt"/>
                </a:rPr>
                <a:t>Governance &amp; Compliance​</a:t>
              </a:r>
            </a:p>
            <a:p>
              <a:pPr marL="128588" indent="-128588" defTabSz="513000">
                <a:spcAft>
                  <a:spcPts val="450"/>
                </a:spcAft>
                <a:buFont typeface="Arial" panose="020B0604020202020204" pitchFamily="34" charset="0"/>
                <a:buChar char="•"/>
              </a:pPr>
              <a:r>
                <a:rPr lang="en-GB" sz="825" b="1">
                  <a:solidFill>
                    <a:schemeClr val="bg1"/>
                  </a:solidFill>
                  <a:latin typeface="+mj-lt"/>
                </a:rPr>
                <a:t>Continuous Optimization</a:t>
              </a:r>
              <a:endParaRPr lang="en-US" sz="825" b="1">
                <a:solidFill>
                  <a:schemeClr val="bg1"/>
                </a:solidFill>
                <a:latin typeface="+mj-lt"/>
              </a:endParaRPr>
            </a:p>
          </p:txBody>
        </p:sp>
        <p:pic>
          <p:nvPicPr>
            <p:cNvPr id="59" name="Graphic 58" descr="Layers Design with solid fill">
              <a:extLst>
                <a:ext uri="{FF2B5EF4-FFF2-40B4-BE49-F238E27FC236}">
                  <a16:creationId xmlns:a16="http://schemas.microsoft.com/office/drawing/2014/main" id="{48F16B69-E33F-BFE6-4FAC-64585B61C26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39988" y="3798152"/>
              <a:ext cx="720000" cy="720000"/>
            </a:xfrm>
            <a:prstGeom prst="rect">
              <a:avLst/>
            </a:prstGeom>
          </p:spPr>
        </p:pic>
        <p:pic>
          <p:nvPicPr>
            <p:cNvPr id="61" name="Graphic 60" descr="Saw blade with solid fill">
              <a:extLst>
                <a:ext uri="{FF2B5EF4-FFF2-40B4-BE49-F238E27FC236}">
                  <a16:creationId xmlns:a16="http://schemas.microsoft.com/office/drawing/2014/main" id="{3E32C9F3-6D5B-E809-675F-4EC88A31F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95210" y="4357611"/>
              <a:ext cx="648000" cy="648000"/>
            </a:xfrm>
            <a:prstGeom prst="rect">
              <a:avLst/>
            </a:prstGeom>
          </p:spPr>
        </p:pic>
        <p:pic>
          <p:nvPicPr>
            <p:cNvPr id="63" name="Graphic 62" descr="Business Growth with solid fill">
              <a:extLst>
                <a:ext uri="{FF2B5EF4-FFF2-40B4-BE49-F238E27FC236}">
                  <a16:creationId xmlns:a16="http://schemas.microsoft.com/office/drawing/2014/main" id="{E1FAA5CF-D2E8-100B-8A88-5F1A0342D5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285818" y="5147387"/>
              <a:ext cx="720000" cy="720000"/>
            </a:xfrm>
            <a:prstGeom prst="rect">
              <a:avLst/>
            </a:prstGeom>
          </p:spPr>
        </p:pic>
      </p:grpSp>
      <p:grpSp>
        <p:nvGrpSpPr>
          <p:cNvPr id="50" name="Group 49">
            <a:extLst>
              <a:ext uri="{FF2B5EF4-FFF2-40B4-BE49-F238E27FC236}">
                <a16:creationId xmlns:a16="http://schemas.microsoft.com/office/drawing/2014/main" id="{FFDC3444-D2E1-4DD4-8083-472856E2B694}"/>
              </a:ext>
            </a:extLst>
          </p:cNvPr>
          <p:cNvGrpSpPr/>
          <p:nvPr/>
        </p:nvGrpSpPr>
        <p:grpSpPr>
          <a:xfrm>
            <a:off x="8684805" y="1119183"/>
            <a:ext cx="3291840" cy="205740"/>
            <a:chOff x="1888842" y="1836371"/>
            <a:chExt cx="8242711" cy="274320"/>
          </a:xfrm>
          <a:solidFill>
            <a:schemeClr val="accent2"/>
          </a:solidFill>
        </p:grpSpPr>
        <p:sp>
          <p:nvSpPr>
            <p:cNvPr id="51" name="Rectangle: Rounded Corners 50">
              <a:extLst>
                <a:ext uri="{FF2B5EF4-FFF2-40B4-BE49-F238E27FC236}">
                  <a16:creationId xmlns:a16="http://schemas.microsoft.com/office/drawing/2014/main" id="{875E5881-6C92-1B5E-5D34-3B8EF23E750E}"/>
                </a:ext>
              </a:extLst>
            </p:cNvPr>
            <p:cNvSpPr/>
            <p:nvPr/>
          </p:nvSpPr>
          <p:spPr>
            <a:xfrm>
              <a:off x="1888842" y="1963807"/>
              <a:ext cx="8229600" cy="457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IN" sz="900">
                <a:solidFill>
                  <a:prstClr val="white"/>
                </a:solidFill>
                <a:latin typeface="Poppins"/>
              </a:endParaRPr>
            </a:p>
          </p:txBody>
        </p:sp>
        <p:sp>
          <p:nvSpPr>
            <p:cNvPr id="58" name="TextBox 57">
              <a:extLst>
                <a:ext uri="{FF2B5EF4-FFF2-40B4-BE49-F238E27FC236}">
                  <a16:creationId xmlns:a16="http://schemas.microsoft.com/office/drawing/2014/main" id="{CE33A318-6E12-0AD5-0228-B9F132AE9F3E}"/>
                </a:ext>
              </a:extLst>
            </p:cNvPr>
            <p:cNvSpPr txBox="1"/>
            <p:nvPr/>
          </p:nvSpPr>
          <p:spPr>
            <a:xfrm>
              <a:off x="4385579" y="1836371"/>
              <a:ext cx="3657600" cy="27432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defRPr/>
              </a:pPr>
              <a:r>
                <a:rPr lang="en-US" sz="1200">
                  <a:solidFill>
                    <a:prstClr val="white"/>
                  </a:solidFill>
                  <a:latin typeface="Poppins"/>
                </a:rPr>
                <a:t>ASSETS</a:t>
              </a:r>
              <a:endParaRPr lang="hi-IN" sz="1050">
                <a:solidFill>
                  <a:prstClr val="white"/>
                </a:solidFill>
                <a:latin typeface="Poppins"/>
              </a:endParaRPr>
            </a:p>
          </p:txBody>
        </p:sp>
        <p:grpSp>
          <p:nvGrpSpPr>
            <p:cNvPr id="60" name="Group 59">
              <a:extLst>
                <a:ext uri="{FF2B5EF4-FFF2-40B4-BE49-F238E27FC236}">
                  <a16:creationId xmlns:a16="http://schemas.microsoft.com/office/drawing/2014/main" id="{DB0E51BE-2C47-30C8-5238-9345DDAE3AB9}"/>
                </a:ext>
              </a:extLst>
            </p:cNvPr>
            <p:cNvGrpSpPr/>
            <p:nvPr/>
          </p:nvGrpSpPr>
          <p:grpSpPr>
            <a:xfrm>
              <a:off x="1888842" y="1887532"/>
              <a:ext cx="686778" cy="173384"/>
              <a:chOff x="10645552" y="925267"/>
              <a:chExt cx="686778" cy="173384"/>
            </a:xfrm>
            <a:grpFill/>
          </p:grpSpPr>
          <p:sp>
            <p:nvSpPr>
              <p:cNvPr id="74" name="Oval 73">
                <a:extLst>
                  <a:ext uri="{FF2B5EF4-FFF2-40B4-BE49-F238E27FC236}">
                    <a16:creationId xmlns:a16="http://schemas.microsoft.com/office/drawing/2014/main" id="{5E28C596-E2C7-E944-E040-656DAF1A5BDD}"/>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5" name="Oval 74">
                <a:extLst>
                  <a:ext uri="{FF2B5EF4-FFF2-40B4-BE49-F238E27FC236}">
                    <a16:creationId xmlns:a16="http://schemas.microsoft.com/office/drawing/2014/main" id="{C8A3C219-6E6B-2E36-19E6-9F8E3FDB5A82}"/>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6" name="Oval 75">
                <a:extLst>
                  <a:ext uri="{FF2B5EF4-FFF2-40B4-BE49-F238E27FC236}">
                    <a16:creationId xmlns:a16="http://schemas.microsoft.com/office/drawing/2014/main" id="{6972DD8D-09BA-F2D2-EB41-319772FBAAA8}"/>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66" name="Group 65">
              <a:extLst>
                <a:ext uri="{FF2B5EF4-FFF2-40B4-BE49-F238E27FC236}">
                  <a16:creationId xmlns:a16="http://schemas.microsoft.com/office/drawing/2014/main" id="{3DBD570B-7397-3151-02F8-BE2B72E9CC94}"/>
                </a:ext>
              </a:extLst>
            </p:cNvPr>
            <p:cNvGrpSpPr/>
            <p:nvPr/>
          </p:nvGrpSpPr>
          <p:grpSpPr>
            <a:xfrm>
              <a:off x="9444775" y="1898957"/>
              <a:ext cx="686778" cy="173384"/>
              <a:chOff x="10645552" y="925267"/>
              <a:chExt cx="686778" cy="173384"/>
            </a:xfrm>
            <a:grpFill/>
          </p:grpSpPr>
          <p:sp>
            <p:nvSpPr>
              <p:cNvPr id="68" name="Oval 67">
                <a:extLst>
                  <a:ext uri="{FF2B5EF4-FFF2-40B4-BE49-F238E27FC236}">
                    <a16:creationId xmlns:a16="http://schemas.microsoft.com/office/drawing/2014/main" id="{E6EE7DC6-C791-C893-710C-FC9C86B6A7DD}"/>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1" name="Oval 70">
                <a:extLst>
                  <a:ext uri="{FF2B5EF4-FFF2-40B4-BE49-F238E27FC236}">
                    <a16:creationId xmlns:a16="http://schemas.microsoft.com/office/drawing/2014/main" id="{B8E05078-2592-97F0-90DE-55BD9A5FF0B0}"/>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2" name="Oval 71">
                <a:extLst>
                  <a:ext uri="{FF2B5EF4-FFF2-40B4-BE49-F238E27FC236}">
                    <a16:creationId xmlns:a16="http://schemas.microsoft.com/office/drawing/2014/main" id="{7B32F961-6115-EE28-7A9E-9E7C917F8CD0}"/>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sp>
        <p:nvSpPr>
          <p:cNvPr id="78" name="Rectangle 77">
            <a:extLst>
              <a:ext uri="{FF2B5EF4-FFF2-40B4-BE49-F238E27FC236}">
                <a16:creationId xmlns:a16="http://schemas.microsoft.com/office/drawing/2014/main" id="{713D268F-A5BD-B87C-67CA-D0875F0DC65F}"/>
              </a:ext>
            </a:extLst>
          </p:cNvPr>
          <p:cNvSpPr/>
          <p:nvPr/>
        </p:nvSpPr>
        <p:spPr>
          <a:xfrm>
            <a:off x="8980198" y="1444200"/>
            <a:ext cx="1287088" cy="476876"/>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Responsible Agentic AI Framework</a:t>
            </a:r>
          </a:p>
        </p:txBody>
      </p:sp>
      <p:sp>
        <p:nvSpPr>
          <p:cNvPr id="79" name="Rectangle 78">
            <a:extLst>
              <a:ext uri="{FF2B5EF4-FFF2-40B4-BE49-F238E27FC236}">
                <a16:creationId xmlns:a16="http://schemas.microsoft.com/office/drawing/2014/main" id="{A75E850E-EAF5-37A9-2287-CAB1541E876B}"/>
              </a:ext>
            </a:extLst>
          </p:cNvPr>
          <p:cNvSpPr/>
          <p:nvPr/>
        </p:nvSpPr>
        <p:spPr>
          <a:xfrm>
            <a:off x="8980198" y="2026591"/>
            <a:ext cx="1287088" cy="476876"/>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Agentic AI Business Controls</a:t>
            </a:r>
          </a:p>
        </p:txBody>
      </p:sp>
      <p:sp>
        <p:nvSpPr>
          <p:cNvPr id="80" name="Rectangle 79">
            <a:extLst>
              <a:ext uri="{FF2B5EF4-FFF2-40B4-BE49-F238E27FC236}">
                <a16:creationId xmlns:a16="http://schemas.microsoft.com/office/drawing/2014/main" id="{FEBFEECE-AECB-9747-546F-E679516F8C9D}"/>
              </a:ext>
            </a:extLst>
          </p:cNvPr>
          <p:cNvSpPr/>
          <p:nvPr/>
        </p:nvSpPr>
        <p:spPr>
          <a:xfrm>
            <a:off x="10400166" y="1430440"/>
            <a:ext cx="1287088" cy="476876"/>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Agentic Mesh Architecture</a:t>
            </a:r>
          </a:p>
        </p:txBody>
      </p:sp>
      <p:sp>
        <p:nvSpPr>
          <p:cNvPr id="81" name="Rectangle 80">
            <a:extLst>
              <a:ext uri="{FF2B5EF4-FFF2-40B4-BE49-F238E27FC236}">
                <a16:creationId xmlns:a16="http://schemas.microsoft.com/office/drawing/2014/main" id="{6208506C-795F-F47B-EC98-CC45521D5D56}"/>
              </a:ext>
            </a:extLst>
          </p:cNvPr>
          <p:cNvSpPr/>
          <p:nvPr/>
        </p:nvSpPr>
        <p:spPr>
          <a:xfrm>
            <a:off x="10400166" y="2026591"/>
            <a:ext cx="1287088" cy="476876"/>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Multi-Agent Sales Agent Framework</a:t>
            </a:r>
          </a:p>
        </p:txBody>
      </p:sp>
      <p:sp>
        <p:nvSpPr>
          <p:cNvPr id="82" name="Rectangle 81">
            <a:extLst>
              <a:ext uri="{FF2B5EF4-FFF2-40B4-BE49-F238E27FC236}">
                <a16:creationId xmlns:a16="http://schemas.microsoft.com/office/drawing/2014/main" id="{77784A2D-B08B-2715-04BE-CB29466E710E}"/>
              </a:ext>
            </a:extLst>
          </p:cNvPr>
          <p:cNvSpPr/>
          <p:nvPr/>
        </p:nvSpPr>
        <p:spPr>
          <a:xfrm>
            <a:off x="8980198" y="2638339"/>
            <a:ext cx="1287088" cy="476876"/>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Optimus –Sales Agent for Airlines</a:t>
            </a:r>
          </a:p>
        </p:txBody>
      </p:sp>
      <p:sp>
        <p:nvSpPr>
          <p:cNvPr id="83" name="Rectangle 82">
            <a:extLst>
              <a:ext uri="{FF2B5EF4-FFF2-40B4-BE49-F238E27FC236}">
                <a16:creationId xmlns:a16="http://schemas.microsoft.com/office/drawing/2014/main" id="{1385CD7D-EBD0-1848-81D1-DFF7DCB64896}"/>
              </a:ext>
            </a:extLst>
          </p:cNvPr>
          <p:cNvSpPr/>
          <p:nvPr/>
        </p:nvSpPr>
        <p:spPr>
          <a:xfrm>
            <a:off x="10400166" y="2638339"/>
            <a:ext cx="1287088" cy="476876"/>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Agentic Employee Assist</a:t>
            </a:r>
            <a:endParaRPr lang="en-US" sz="900">
              <a:solidFill>
                <a:prstClr val="black"/>
              </a:solidFill>
              <a:latin typeface="+mj-lt"/>
            </a:endParaRPr>
          </a:p>
        </p:txBody>
      </p:sp>
      <p:grpSp>
        <p:nvGrpSpPr>
          <p:cNvPr id="65" name="Group 64">
            <a:extLst>
              <a:ext uri="{FF2B5EF4-FFF2-40B4-BE49-F238E27FC236}">
                <a16:creationId xmlns:a16="http://schemas.microsoft.com/office/drawing/2014/main" id="{225AE46B-8C96-A9F9-48E8-485A5D3B3F0B}"/>
              </a:ext>
            </a:extLst>
          </p:cNvPr>
          <p:cNvGrpSpPr/>
          <p:nvPr/>
        </p:nvGrpSpPr>
        <p:grpSpPr>
          <a:xfrm>
            <a:off x="7655476" y="3453324"/>
            <a:ext cx="4457700" cy="2561382"/>
            <a:chOff x="10207301" y="4604431"/>
            <a:chExt cx="5893236" cy="3415176"/>
          </a:xfrm>
        </p:grpSpPr>
        <p:grpSp>
          <p:nvGrpSpPr>
            <p:cNvPr id="5" name="Group 4">
              <a:extLst>
                <a:ext uri="{FF2B5EF4-FFF2-40B4-BE49-F238E27FC236}">
                  <a16:creationId xmlns:a16="http://schemas.microsoft.com/office/drawing/2014/main" id="{44FB4884-0E4D-973A-E1E3-09ADA9D95BEE}"/>
                </a:ext>
              </a:extLst>
            </p:cNvPr>
            <p:cNvGrpSpPr/>
            <p:nvPr/>
          </p:nvGrpSpPr>
          <p:grpSpPr>
            <a:xfrm>
              <a:off x="10270136" y="4977335"/>
              <a:ext cx="5747212" cy="1114835"/>
              <a:chOff x="11724639" y="6135056"/>
              <a:chExt cx="4493799" cy="1114835"/>
            </a:xfrm>
          </p:grpSpPr>
          <p:sp>
            <p:nvSpPr>
              <p:cNvPr id="9" name="Rectangle 8">
                <a:extLst>
                  <a:ext uri="{FF2B5EF4-FFF2-40B4-BE49-F238E27FC236}">
                    <a16:creationId xmlns:a16="http://schemas.microsoft.com/office/drawing/2014/main" id="{83BA1532-F08B-DC7A-9E19-EBA9A60D12A5}"/>
                  </a:ext>
                </a:extLst>
              </p:cNvPr>
              <p:cNvSpPr/>
              <p:nvPr/>
            </p:nvSpPr>
            <p:spPr>
              <a:xfrm>
                <a:off x="11724639" y="6185856"/>
                <a:ext cx="1097280" cy="340067"/>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14350">
                  <a:defRPr/>
                </a:pPr>
                <a:r>
                  <a:rPr lang="en-US" sz="900" b="1">
                    <a:solidFill>
                      <a:schemeClr val="accent3">
                        <a:lumMod val="75000"/>
                      </a:schemeClr>
                    </a:solidFill>
                    <a:latin typeface="+mj-lt"/>
                  </a:rPr>
                  <a:t>UK Publishing Organization</a:t>
                </a:r>
              </a:p>
              <a:p>
                <a:pPr algn="ctr" defTabSz="514350">
                  <a:defRPr/>
                </a:pPr>
                <a:r>
                  <a:rPr lang="en-US" sz="900" b="1">
                    <a:solidFill>
                      <a:schemeClr val="accent3">
                        <a:lumMod val="75000"/>
                      </a:schemeClr>
                    </a:solidFill>
                    <a:latin typeface="+mj-lt"/>
                  </a:rPr>
                  <a:t>(BMJ)</a:t>
                </a:r>
              </a:p>
            </p:txBody>
          </p:sp>
          <p:sp>
            <p:nvSpPr>
              <p:cNvPr id="10" name="TextBox 9">
                <a:extLst>
                  <a:ext uri="{FF2B5EF4-FFF2-40B4-BE49-F238E27FC236}">
                    <a16:creationId xmlns:a16="http://schemas.microsoft.com/office/drawing/2014/main" id="{6C36825F-E961-9DC7-6642-64EE6FBD8E28}"/>
                  </a:ext>
                </a:extLst>
              </p:cNvPr>
              <p:cNvSpPr txBox="1"/>
              <p:nvPr/>
            </p:nvSpPr>
            <p:spPr>
              <a:xfrm>
                <a:off x="12704650" y="6135056"/>
                <a:ext cx="3513788" cy="1114835"/>
              </a:xfrm>
              <a:prstGeom prst="rect">
                <a:avLst/>
              </a:prstGeom>
              <a:noFill/>
              <a:effectLst/>
            </p:spPr>
            <p:txBody>
              <a:bodyPr wrap="square">
                <a:spAutoFit/>
              </a:bodyPr>
              <a:lstStyle/>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Built a research workflow using AI agents for a medical research topic. </a:t>
                </a:r>
              </a:p>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Delivered efficiency with minimal human interventions, higher coverage and optimal accuracy. </a:t>
                </a:r>
              </a:p>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Helped cut down the GTM cycle by 25%</a:t>
                </a:r>
              </a:p>
            </p:txBody>
          </p:sp>
        </p:grpSp>
        <p:grpSp>
          <p:nvGrpSpPr>
            <p:cNvPr id="11" name="Group 10">
              <a:extLst>
                <a:ext uri="{FF2B5EF4-FFF2-40B4-BE49-F238E27FC236}">
                  <a16:creationId xmlns:a16="http://schemas.microsoft.com/office/drawing/2014/main" id="{8709B829-BE7D-843C-0528-C0B7E5D90052}"/>
                </a:ext>
              </a:extLst>
            </p:cNvPr>
            <p:cNvGrpSpPr/>
            <p:nvPr/>
          </p:nvGrpSpPr>
          <p:grpSpPr>
            <a:xfrm>
              <a:off x="10207301" y="4604431"/>
              <a:ext cx="5893236" cy="274320"/>
              <a:chOff x="1888842" y="1836371"/>
              <a:chExt cx="8242711" cy="274320"/>
            </a:xfrm>
            <a:solidFill>
              <a:schemeClr val="accent3">
                <a:lumMod val="75000"/>
              </a:schemeClr>
            </a:solidFill>
          </p:grpSpPr>
          <p:sp>
            <p:nvSpPr>
              <p:cNvPr id="13" name="Rectangle: Rounded Corners 12">
                <a:extLst>
                  <a:ext uri="{FF2B5EF4-FFF2-40B4-BE49-F238E27FC236}">
                    <a16:creationId xmlns:a16="http://schemas.microsoft.com/office/drawing/2014/main" id="{03B1A82D-7F54-4B63-78B7-88E80579A594}"/>
                  </a:ext>
                </a:extLst>
              </p:cNvPr>
              <p:cNvSpPr/>
              <p:nvPr/>
            </p:nvSpPr>
            <p:spPr>
              <a:xfrm>
                <a:off x="1888842" y="1963807"/>
                <a:ext cx="8229600" cy="457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IN" sz="900">
                  <a:solidFill>
                    <a:prstClr val="white"/>
                  </a:solidFill>
                  <a:latin typeface="Poppins"/>
                </a:endParaRPr>
              </a:p>
            </p:txBody>
          </p:sp>
          <p:sp>
            <p:nvSpPr>
              <p:cNvPr id="14" name="TextBox 13">
                <a:extLst>
                  <a:ext uri="{FF2B5EF4-FFF2-40B4-BE49-F238E27FC236}">
                    <a16:creationId xmlns:a16="http://schemas.microsoft.com/office/drawing/2014/main" id="{FE32758C-6AFB-0214-8FDC-5D4D81BEA5E2}"/>
                  </a:ext>
                </a:extLst>
              </p:cNvPr>
              <p:cNvSpPr txBox="1"/>
              <p:nvPr/>
            </p:nvSpPr>
            <p:spPr>
              <a:xfrm>
                <a:off x="4385579" y="1836371"/>
                <a:ext cx="3657600" cy="27432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defRPr/>
                </a:pPr>
                <a:r>
                  <a:rPr lang="en-US" sz="1050">
                    <a:solidFill>
                      <a:prstClr val="white"/>
                    </a:solidFill>
                    <a:latin typeface="Poppins"/>
                  </a:rPr>
                  <a:t>EXPERIENCE</a:t>
                </a:r>
                <a:endParaRPr lang="hi-IN" sz="1050">
                  <a:solidFill>
                    <a:prstClr val="white"/>
                  </a:solidFill>
                  <a:latin typeface="Poppins"/>
                </a:endParaRPr>
              </a:p>
            </p:txBody>
          </p:sp>
          <p:grpSp>
            <p:nvGrpSpPr>
              <p:cNvPr id="16" name="Group 15">
                <a:extLst>
                  <a:ext uri="{FF2B5EF4-FFF2-40B4-BE49-F238E27FC236}">
                    <a16:creationId xmlns:a16="http://schemas.microsoft.com/office/drawing/2014/main" id="{6ABF4BE0-0D6B-0898-2492-354A59F24664}"/>
                  </a:ext>
                </a:extLst>
              </p:cNvPr>
              <p:cNvGrpSpPr/>
              <p:nvPr/>
            </p:nvGrpSpPr>
            <p:grpSpPr>
              <a:xfrm>
                <a:off x="1888842" y="1887532"/>
                <a:ext cx="686778" cy="173384"/>
                <a:chOff x="10645552" y="925267"/>
                <a:chExt cx="686778" cy="173384"/>
              </a:xfrm>
              <a:grpFill/>
            </p:grpSpPr>
            <p:sp>
              <p:nvSpPr>
                <p:cNvPr id="28" name="Oval 27">
                  <a:extLst>
                    <a:ext uri="{FF2B5EF4-FFF2-40B4-BE49-F238E27FC236}">
                      <a16:creationId xmlns:a16="http://schemas.microsoft.com/office/drawing/2014/main" id="{615F4145-F50E-7A82-3609-F8E96B921995}"/>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9" name="Oval 28">
                  <a:extLst>
                    <a:ext uri="{FF2B5EF4-FFF2-40B4-BE49-F238E27FC236}">
                      <a16:creationId xmlns:a16="http://schemas.microsoft.com/office/drawing/2014/main" id="{9DE4F984-3C88-C9F1-F533-20D74BDD9807}"/>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6" name="Oval 35">
                  <a:extLst>
                    <a:ext uri="{FF2B5EF4-FFF2-40B4-BE49-F238E27FC236}">
                      <a16:creationId xmlns:a16="http://schemas.microsoft.com/office/drawing/2014/main" id="{BDB7B7C4-E5D2-A1A8-534E-6CBBB3E6D569}"/>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17" name="Group 16">
                <a:extLst>
                  <a:ext uri="{FF2B5EF4-FFF2-40B4-BE49-F238E27FC236}">
                    <a16:creationId xmlns:a16="http://schemas.microsoft.com/office/drawing/2014/main" id="{5013D5F3-B669-C0D1-DF68-92A43051CCAE}"/>
                  </a:ext>
                </a:extLst>
              </p:cNvPr>
              <p:cNvGrpSpPr/>
              <p:nvPr/>
            </p:nvGrpSpPr>
            <p:grpSpPr>
              <a:xfrm>
                <a:off x="9444775" y="1898957"/>
                <a:ext cx="686778" cy="173384"/>
                <a:chOff x="10645552" y="925267"/>
                <a:chExt cx="686778" cy="173384"/>
              </a:xfrm>
              <a:grpFill/>
            </p:grpSpPr>
            <p:sp>
              <p:nvSpPr>
                <p:cNvPr id="18" name="Oval 17">
                  <a:extLst>
                    <a:ext uri="{FF2B5EF4-FFF2-40B4-BE49-F238E27FC236}">
                      <a16:creationId xmlns:a16="http://schemas.microsoft.com/office/drawing/2014/main" id="{498084C2-68EC-5911-30EE-127473370D43}"/>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0" name="Oval 19">
                  <a:extLst>
                    <a:ext uri="{FF2B5EF4-FFF2-40B4-BE49-F238E27FC236}">
                      <a16:creationId xmlns:a16="http://schemas.microsoft.com/office/drawing/2014/main" id="{E1626CBA-D89F-08D9-5D28-3B1ABF4E2655}"/>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1" name="Oval 20">
                  <a:extLst>
                    <a:ext uri="{FF2B5EF4-FFF2-40B4-BE49-F238E27FC236}">
                      <a16:creationId xmlns:a16="http://schemas.microsoft.com/office/drawing/2014/main" id="{91283DDD-4ABE-94DD-B0F0-F3E6B225F9BC}"/>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grpSp>
          <p:nvGrpSpPr>
            <p:cNvPr id="37" name="Group 36">
              <a:extLst>
                <a:ext uri="{FF2B5EF4-FFF2-40B4-BE49-F238E27FC236}">
                  <a16:creationId xmlns:a16="http://schemas.microsoft.com/office/drawing/2014/main" id="{EDA18447-35A7-7580-669E-FE3CB77F4E95}"/>
                </a:ext>
              </a:extLst>
            </p:cNvPr>
            <p:cNvGrpSpPr/>
            <p:nvPr/>
          </p:nvGrpSpPr>
          <p:grpSpPr>
            <a:xfrm>
              <a:off x="10257434" y="6094935"/>
              <a:ext cx="5747213" cy="895972"/>
              <a:chOff x="11724638" y="6135056"/>
              <a:chExt cx="4493800" cy="895972"/>
            </a:xfrm>
          </p:grpSpPr>
          <p:sp>
            <p:nvSpPr>
              <p:cNvPr id="38" name="Rectangle 37">
                <a:extLst>
                  <a:ext uri="{FF2B5EF4-FFF2-40B4-BE49-F238E27FC236}">
                    <a16:creationId xmlns:a16="http://schemas.microsoft.com/office/drawing/2014/main" id="{0712DA41-A827-4B8F-DF59-964B8315E268}"/>
                  </a:ext>
                </a:extLst>
              </p:cNvPr>
              <p:cNvSpPr/>
              <p:nvPr/>
            </p:nvSpPr>
            <p:spPr>
              <a:xfrm>
                <a:off x="11724638" y="6378896"/>
                <a:ext cx="1097280" cy="340067"/>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14350">
                  <a:defRPr/>
                </a:pPr>
                <a:r>
                  <a:rPr lang="en-US" sz="900" b="1">
                    <a:solidFill>
                      <a:schemeClr val="accent3">
                        <a:lumMod val="75000"/>
                      </a:schemeClr>
                    </a:solidFill>
                    <a:latin typeface="+mj-lt"/>
                  </a:rPr>
                  <a:t>US Investment Management Organization</a:t>
                </a:r>
              </a:p>
              <a:p>
                <a:pPr algn="ctr" defTabSz="514350">
                  <a:defRPr/>
                </a:pPr>
                <a:r>
                  <a:rPr lang="en-US" sz="900" b="1">
                    <a:solidFill>
                      <a:schemeClr val="accent3">
                        <a:lumMod val="75000"/>
                      </a:schemeClr>
                    </a:solidFill>
                    <a:latin typeface="+mj-lt"/>
                  </a:rPr>
                  <a:t>(SEI)</a:t>
                </a:r>
              </a:p>
            </p:txBody>
          </p:sp>
          <p:sp>
            <p:nvSpPr>
              <p:cNvPr id="46" name="TextBox 45">
                <a:extLst>
                  <a:ext uri="{FF2B5EF4-FFF2-40B4-BE49-F238E27FC236}">
                    <a16:creationId xmlns:a16="http://schemas.microsoft.com/office/drawing/2014/main" id="{5F21859A-4B18-7FB4-8282-C3500B45FBEB}"/>
                  </a:ext>
                </a:extLst>
              </p:cNvPr>
              <p:cNvSpPr txBox="1"/>
              <p:nvPr/>
            </p:nvSpPr>
            <p:spPr>
              <a:xfrm>
                <a:off x="12704650" y="6135056"/>
                <a:ext cx="3513788" cy="895972"/>
              </a:xfrm>
              <a:prstGeom prst="rect">
                <a:avLst/>
              </a:prstGeom>
              <a:noFill/>
              <a:effectLst/>
            </p:spPr>
            <p:txBody>
              <a:bodyPr wrap="square">
                <a:spAutoFit/>
              </a:bodyPr>
              <a:lstStyle/>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Automated recruitment process with AI agents for mapping,  matching and scoring JDs vis-à-vis candidates</a:t>
                </a:r>
              </a:p>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Helped in improving closure of processes by reducing cycle time by ~30% without dropping on overall volume</a:t>
                </a:r>
              </a:p>
            </p:txBody>
          </p:sp>
        </p:grpSp>
        <p:grpSp>
          <p:nvGrpSpPr>
            <p:cNvPr id="47" name="Group 46">
              <a:extLst>
                <a:ext uri="{FF2B5EF4-FFF2-40B4-BE49-F238E27FC236}">
                  <a16:creationId xmlns:a16="http://schemas.microsoft.com/office/drawing/2014/main" id="{213B78B3-4861-8A06-5F57-EA51BF680A71}"/>
                </a:ext>
              </a:extLst>
            </p:cNvPr>
            <p:cNvGrpSpPr/>
            <p:nvPr/>
          </p:nvGrpSpPr>
          <p:grpSpPr>
            <a:xfrm>
              <a:off x="10270136" y="7123635"/>
              <a:ext cx="5747212" cy="895972"/>
              <a:chOff x="11724639" y="6135056"/>
              <a:chExt cx="4493799" cy="895972"/>
            </a:xfrm>
          </p:grpSpPr>
          <p:sp>
            <p:nvSpPr>
              <p:cNvPr id="48" name="Rectangle 47">
                <a:extLst>
                  <a:ext uri="{FF2B5EF4-FFF2-40B4-BE49-F238E27FC236}">
                    <a16:creationId xmlns:a16="http://schemas.microsoft.com/office/drawing/2014/main" id="{2F0ED623-7157-5E81-F737-1B04A42CD446}"/>
                  </a:ext>
                </a:extLst>
              </p:cNvPr>
              <p:cNvSpPr/>
              <p:nvPr/>
            </p:nvSpPr>
            <p:spPr>
              <a:xfrm>
                <a:off x="11724639" y="6262056"/>
                <a:ext cx="1097280" cy="340067"/>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14350">
                  <a:defRPr/>
                </a:pPr>
                <a:r>
                  <a:rPr lang="en-US" sz="900" b="1">
                    <a:solidFill>
                      <a:schemeClr val="accent3">
                        <a:lumMod val="75000"/>
                      </a:schemeClr>
                    </a:solidFill>
                    <a:latin typeface="+mj-lt"/>
                  </a:rPr>
                  <a:t>US Manufacturing Organization</a:t>
                </a:r>
              </a:p>
              <a:p>
                <a:pPr algn="ctr" defTabSz="514350">
                  <a:defRPr/>
                </a:pPr>
                <a:r>
                  <a:rPr lang="en-US" sz="900" b="1">
                    <a:solidFill>
                      <a:schemeClr val="accent3">
                        <a:lumMod val="75000"/>
                      </a:schemeClr>
                    </a:solidFill>
                    <a:latin typeface="+mj-lt"/>
                  </a:rPr>
                  <a:t>(Beacon)</a:t>
                </a:r>
              </a:p>
            </p:txBody>
          </p:sp>
          <p:sp>
            <p:nvSpPr>
              <p:cNvPr id="62" name="TextBox 61">
                <a:extLst>
                  <a:ext uri="{FF2B5EF4-FFF2-40B4-BE49-F238E27FC236}">
                    <a16:creationId xmlns:a16="http://schemas.microsoft.com/office/drawing/2014/main" id="{0E9CF0F2-5A4B-251F-EE3D-27B844F3DB7D}"/>
                  </a:ext>
                </a:extLst>
              </p:cNvPr>
              <p:cNvSpPr txBox="1"/>
              <p:nvPr/>
            </p:nvSpPr>
            <p:spPr>
              <a:xfrm>
                <a:off x="12704650" y="6135056"/>
                <a:ext cx="3513788" cy="895972"/>
              </a:xfrm>
              <a:prstGeom prst="rect">
                <a:avLst/>
              </a:prstGeom>
              <a:noFill/>
              <a:effectLst/>
            </p:spPr>
            <p:txBody>
              <a:bodyPr wrap="square">
                <a:spAutoFit/>
              </a:bodyPr>
              <a:lstStyle/>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Developed knowledge management AI Agents with RAG for products search on website to improve customer experience. </a:t>
                </a:r>
              </a:p>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Handled large products catalog (33K products across categories) with 100% accuracy</a:t>
                </a:r>
              </a:p>
            </p:txBody>
          </p:sp>
        </p:grpSp>
      </p:grpSp>
    </p:spTree>
    <p:extLst>
      <p:ext uri="{BB962C8B-B14F-4D97-AF65-F5344CB8AC3E}">
        <p14:creationId xmlns:p14="http://schemas.microsoft.com/office/powerpoint/2010/main" val="879612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4F684-D78F-5350-55C3-49B625D5CB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AFC5EB6-278D-B7C5-5D7F-1C8C8F7EF825}"/>
              </a:ext>
            </a:extLst>
          </p:cNvPr>
          <p:cNvSpPr>
            <a:spLocks noGrp="1"/>
          </p:cNvSpPr>
          <p:nvPr>
            <p:ph type="title"/>
          </p:nvPr>
        </p:nvSpPr>
        <p:spPr>
          <a:xfrm>
            <a:off x="428376" y="192333"/>
            <a:ext cx="11335249" cy="945514"/>
          </a:xfrm>
        </p:spPr>
        <p:txBody>
          <a:bodyPr>
            <a:noAutofit/>
          </a:bodyPr>
          <a:lstStyle/>
          <a:p>
            <a:r>
              <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Model Lifecycle as a Service (MLaaS): </a:t>
            </a:r>
            <a:r>
              <a:rPr lang="en-US"/>
              <a:t>Our AI model management services handles </a:t>
            </a:r>
            <a:r>
              <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lifecycle of AI/ML models </a:t>
            </a:r>
            <a:r>
              <a:rPr lang="en-US"/>
              <a:t>helping scale efficiently and at lower cost of operations</a:t>
            </a:r>
            <a:endPar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542DD236-7D11-27E9-1513-17AD6C2F3F42}"/>
              </a:ext>
            </a:extLst>
          </p:cNvPr>
          <p:cNvSpPr/>
          <p:nvPr/>
        </p:nvSpPr>
        <p:spPr>
          <a:xfrm>
            <a:off x="622417" y="7028651"/>
            <a:ext cx="2523642" cy="36101"/>
          </a:xfrm>
          <a:prstGeom prst="rect">
            <a:avLst/>
          </a:prstGeom>
          <a:solidFill>
            <a:srgbClr val="0F1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18">
              <a:latin typeface="+mj-lt"/>
            </a:endParaRPr>
          </a:p>
        </p:txBody>
      </p:sp>
      <p:grpSp>
        <p:nvGrpSpPr>
          <p:cNvPr id="3" name="Group 2">
            <a:extLst>
              <a:ext uri="{FF2B5EF4-FFF2-40B4-BE49-F238E27FC236}">
                <a16:creationId xmlns:a16="http://schemas.microsoft.com/office/drawing/2014/main" id="{4384261D-0F69-41EA-FB9B-A87487198A9A}"/>
              </a:ext>
            </a:extLst>
          </p:cNvPr>
          <p:cNvGrpSpPr/>
          <p:nvPr/>
        </p:nvGrpSpPr>
        <p:grpSpPr>
          <a:xfrm>
            <a:off x="74230" y="1293800"/>
            <a:ext cx="8664014" cy="4907489"/>
            <a:chOff x="98973" y="1743551"/>
            <a:chExt cx="12871404" cy="7204802"/>
          </a:xfrm>
        </p:grpSpPr>
        <p:graphicFrame>
          <p:nvGraphicFramePr>
            <p:cNvPr id="6" name="Diagram 5">
              <a:extLst>
                <a:ext uri="{FF2B5EF4-FFF2-40B4-BE49-F238E27FC236}">
                  <a16:creationId xmlns:a16="http://schemas.microsoft.com/office/drawing/2014/main" id="{CB3F93E8-0938-954A-7595-54D4351DE39F}"/>
                </a:ext>
              </a:extLst>
            </p:cNvPr>
            <p:cNvGraphicFramePr/>
            <p:nvPr>
              <p:extLst>
                <p:ext uri="{D42A27DB-BD31-4B8C-83A1-F6EECF244321}">
                  <p14:modId xmlns:p14="http://schemas.microsoft.com/office/powerpoint/2010/main" val="3355450706"/>
                </p:ext>
              </p:extLst>
            </p:nvPr>
          </p:nvGraphicFramePr>
          <p:xfrm>
            <a:off x="1887050" y="2079591"/>
            <a:ext cx="9543627" cy="61776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ounded Rectangle 13">
              <a:extLst>
                <a:ext uri="{FF2B5EF4-FFF2-40B4-BE49-F238E27FC236}">
                  <a16:creationId xmlns:a16="http://schemas.microsoft.com/office/drawing/2014/main" id="{A78A0761-3387-444B-AD63-38BE0A662A5E}"/>
                </a:ext>
              </a:extLst>
            </p:cNvPr>
            <p:cNvSpPr/>
            <p:nvPr/>
          </p:nvSpPr>
          <p:spPr>
            <a:xfrm>
              <a:off x="98973" y="4462338"/>
              <a:ext cx="2011680" cy="1097280"/>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t>Model Strategy and Design </a:t>
              </a:r>
              <a:endParaRPr lang="en-US" sz="825"/>
            </a:p>
          </p:txBody>
        </p:sp>
        <p:sp>
          <p:nvSpPr>
            <p:cNvPr id="9" name="Arrow: Right 8">
              <a:extLst>
                <a:ext uri="{FF2B5EF4-FFF2-40B4-BE49-F238E27FC236}">
                  <a16:creationId xmlns:a16="http://schemas.microsoft.com/office/drawing/2014/main" id="{AB4AF71F-603F-A843-D91B-474A0C1E8B87}"/>
                </a:ext>
              </a:extLst>
            </p:cNvPr>
            <p:cNvSpPr/>
            <p:nvPr/>
          </p:nvSpPr>
          <p:spPr>
            <a:xfrm>
              <a:off x="2384973" y="4736658"/>
              <a:ext cx="457200" cy="548640"/>
            </a:xfrm>
            <a:prstGeom prst="rightArrow">
              <a:avLst/>
            </a:prstGeom>
            <a:solidFill>
              <a:schemeClr val="tx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Rounded Rectangle 13">
              <a:extLst>
                <a:ext uri="{FF2B5EF4-FFF2-40B4-BE49-F238E27FC236}">
                  <a16:creationId xmlns:a16="http://schemas.microsoft.com/office/drawing/2014/main" id="{551D2557-B17D-FB64-6B43-987D4C64A385}"/>
                </a:ext>
              </a:extLst>
            </p:cNvPr>
            <p:cNvSpPr/>
            <p:nvPr/>
          </p:nvSpPr>
          <p:spPr>
            <a:xfrm>
              <a:off x="5638630" y="4565384"/>
              <a:ext cx="2040465" cy="91440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t>Model Lifecycle as a Service (</a:t>
              </a:r>
              <a:r>
                <a:rPr lang="en-US" sz="1000" b="1" err="1"/>
                <a:t>MLaaS</a:t>
              </a:r>
              <a:r>
                <a:rPr lang="en-US" sz="1000" b="1"/>
                <a:t>)</a:t>
              </a:r>
              <a:endParaRPr lang="en-US" sz="800"/>
            </a:p>
          </p:txBody>
        </p:sp>
        <p:sp>
          <p:nvSpPr>
            <p:cNvPr id="2" name="TextBox 170">
              <a:extLst>
                <a:ext uri="{FF2B5EF4-FFF2-40B4-BE49-F238E27FC236}">
                  <a16:creationId xmlns:a16="http://schemas.microsoft.com/office/drawing/2014/main" id="{79EE37FE-A517-325A-8867-E8C8478038DF}"/>
                </a:ext>
              </a:extLst>
            </p:cNvPr>
            <p:cNvSpPr txBox="1"/>
            <p:nvPr/>
          </p:nvSpPr>
          <p:spPr>
            <a:xfrm>
              <a:off x="98973" y="5613234"/>
              <a:ext cx="2286000" cy="2288453"/>
            </a:xfrm>
            <a:prstGeom prst="rect">
              <a:avLst/>
            </a:prstGeom>
            <a:noFill/>
          </p:spPr>
          <p:txBody>
            <a:bodyPr wrap="square" rtlCol="0">
              <a:spAutoFit/>
            </a:bodyPr>
            <a:lstStyle>
              <a:defPPr>
                <a:defRPr lang="en-US"/>
              </a:defPPr>
              <a:lvl1pPr marL="171450" marR="0" lvl="0" indent="-171450" fontAlgn="base">
                <a:lnSpc>
                  <a:spcPts val="1350"/>
                </a:lnSpc>
                <a:spcBef>
                  <a:spcPts val="0"/>
                </a:spcBef>
                <a:spcAft>
                  <a:spcPts val="600"/>
                </a:spcAft>
                <a:buClrTx/>
                <a:buSzTx/>
                <a:buFont typeface="Arial" panose="020B0604020202020204" pitchFamily="34" charset="0"/>
                <a:buChar char="•"/>
                <a:tabLst/>
                <a:defRPr kumimoji="0" sz="1200" b="0" i="0" u="none" strike="noStrike" kern="0" cap="none" spc="0" normalizeH="0" baseline="0">
                  <a:ln>
                    <a:noFill/>
                  </a:ln>
                  <a:solidFill>
                    <a:prstClr val="white"/>
                  </a:solidFill>
                  <a:effectLst/>
                  <a:uLnTx/>
                  <a:uFillTx/>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a:solidFill>
                    <a:schemeClr val="tx2"/>
                  </a:solidFill>
                </a:rPr>
                <a:t>Use Case Identification</a:t>
              </a:r>
            </a:p>
            <a:p>
              <a:r>
                <a:rPr lang="en-US" sz="900">
                  <a:solidFill>
                    <a:schemeClr val="tx2"/>
                  </a:solidFill>
                </a:rPr>
                <a:t>Value and ROI Definition</a:t>
              </a:r>
            </a:p>
            <a:p>
              <a:r>
                <a:rPr lang="en-US" sz="900">
                  <a:solidFill>
                    <a:schemeClr val="tx2"/>
                  </a:solidFill>
                </a:rPr>
                <a:t>Solution Architecture</a:t>
              </a:r>
            </a:p>
            <a:p>
              <a:r>
                <a:rPr lang="en-US" sz="900">
                  <a:solidFill>
                    <a:schemeClr val="tx2"/>
                  </a:solidFill>
                </a:rPr>
                <a:t>Technology Stack, Framework &amp; Infrastructure Selection</a:t>
              </a:r>
            </a:p>
          </p:txBody>
        </p:sp>
        <p:sp>
          <p:nvSpPr>
            <p:cNvPr id="14" name="TextBox 170">
              <a:extLst>
                <a:ext uri="{FF2B5EF4-FFF2-40B4-BE49-F238E27FC236}">
                  <a16:creationId xmlns:a16="http://schemas.microsoft.com/office/drawing/2014/main" id="{6F346C75-A08A-AAD5-C50B-E95C78664DB4}"/>
                </a:ext>
              </a:extLst>
            </p:cNvPr>
            <p:cNvSpPr txBox="1"/>
            <p:nvPr/>
          </p:nvSpPr>
          <p:spPr>
            <a:xfrm>
              <a:off x="7481228" y="1743551"/>
              <a:ext cx="3464042" cy="1497708"/>
            </a:xfrm>
            <a:prstGeom prst="rect">
              <a:avLst/>
            </a:prstGeom>
            <a:noFill/>
          </p:spPr>
          <p:txBody>
            <a:bodyPr wrap="square" rtlCol="0">
              <a:spAutoFit/>
            </a:bodyPr>
            <a:lstStyle>
              <a:defPPr>
                <a:defRPr lang="en-US"/>
              </a:defPPr>
              <a:lvl1pPr marL="171450" marR="0" lvl="0" indent="-171450" fontAlgn="base">
                <a:lnSpc>
                  <a:spcPts val="1350"/>
                </a:lnSpc>
                <a:spcBef>
                  <a:spcPts val="0"/>
                </a:spcBef>
                <a:spcAft>
                  <a:spcPts val="600"/>
                </a:spcAft>
                <a:buClrTx/>
                <a:buSzTx/>
                <a:buFont typeface="Arial" panose="020B0604020202020204" pitchFamily="34" charset="0"/>
                <a:buChar char="•"/>
                <a:tabLst/>
                <a:defRPr kumimoji="0" sz="1200" b="0" i="0" u="none" strike="noStrike" kern="0" cap="none" spc="0" normalizeH="0" baseline="0">
                  <a:ln>
                    <a:noFill/>
                  </a:ln>
                  <a:solidFill>
                    <a:prstClr val="white"/>
                  </a:solidFill>
                  <a:effectLst/>
                  <a:uLnTx/>
                  <a:uFillTx/>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a:solidFill>
                    <a:schemeClr val="tx2"/>
                  </a:solidFill>
                </a:rPr>
                <a:t>Data Acquisition from Multiple Sources</a:t>
              </a:r>
            </a:p>
            <a:p>
              <a:r>
                <a:rPr lang="en-US" sz="900">
                  <a:solidFill>
                    <a:schemeClr val="tx2"/>
                  </a:solidFill>
                </a:rPr>
                <a:t>Data Cleaning and Transformation</a:t>
              </a:r>
            </a:p>
            <a:p>
              <a:r>
                <a:rPr lang="en-US" sz="900">
                  <a:solidFill>
                    <a:schemeClr val="tx2"/>
                  </a:solidFill>
                </a:rPr>
                <a:t>Feature Engineering</a:t>
              </a:r>
            </a:p>
            <a:p>
              <a:r>
                <a:rPr lang="en-US" sz="900">
                  <a:solidFill>
                    <a:schemeClr val="tx2"/>
                  </a:solidFill>
                </a:rPr>
                <a:t>Vectorization</a:t>
              </a:r>
            </a:p>
          </p:txBody>
        </p:sp>
        <p:sp>
          <p:nvSpPr>
            <p:cNvPr id="15" name="TextBox 170">
              <a:extLst>
                <a:ext uri="{FF2B5EF4-FFF2-40B4-BE49-F238E27FC236}">
                  <a16:creationId xmlns:a16="http://schemas.microsoft.com/office/drawing/2014/main" id="{4B3FCE20-5080-6F73-2EBB-68E14383B8E0}"/>
                </a:ext>
              </a:extLst>
            </p:cNvPr>
            <p:cNvSpPr txBox="1"/>
            <p:nvPr/>
          </p:nvSpPr>
          <p:spPr>
            <a:xfrm>
              <a:off x="9710102" y="3125311"/>
              <a:ext cx="3260275" cy="2024872"/>
            </a:xfrm>
            <a:prstGeom prst="rect">
              <a:avLst/>
            </a:prstGeom>
            <a:noFill/>
          </p:spPr>
          <p:txBody>
            <a:bodyPr wrap="square" rtlCol="0">
              <a:spAutoFit/>
            </a:bodyPr>
            <a:lstStyle>
              <a:defPPr>
                <a:defRPr lang="en-US"/>
              </a:defPPr>
              <a:lvl1pPr marL="171450" marR="0" lvl="0" indent="-171450" fontAlgn="base">
                <a:lnSpc>
                  <a:spcPts val="1350"/>
                </a:lnSpc>
                <a:spcBef>
                  <a:spcPts val="0"/>
                </a:spcBef>
                <a:spcAft>
                  <a:spcPts val="600"/>
                </a:spcAft>
                <a:buClrTx/>
                <a:buSzTx/>
                <a:buFont typeface="Arial" panose="020B0604020202020204" pitchFamily="34" charset="0"/>
                <a:buChar char="•"/>
                <a:tabLst/>
                <a:defRPr kumimoji="0" sz="1200" b="0" i="0" u="none" strike="noStrike" kern="0" cap="none" spc="0" normalizeH="0" baseline="0">
                  <a:ln>
                    <a:noFill/>
                  </a:ln>
                  <a:solidFill>
                    <a:prstClr val="white"/>
                  </a:solidFill>
                  <a:effectLst/>
                  <a:uLnTx/>
                  <a:uFillTx/>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a:solidFill>
                    <a:schemeClr val="tx2"/>
                  </a:solidFill>
                </a:rPr>
                <a:t>Algorithm &amp; Best-fit Models Selection</a:t>
              </a:r>
            </a:p>
            <a:p>
              <a:r>
                <a:rPr lang="en-US" sz="900">
                  <a:solidFill>
                    <a:schemeClr val="tx2"/>
                  </a:solidFill>
                </a:rPr>
                <a:t>Model Training with Distributed Training</a:t>
              </a:r>
            </a:p>
            <a:p>
              <a:r>
                <a:rPr lang="en-US" sz="900">
                  <a:solidFill>
                    <a:schemeClr val="tx2"/>
                  </a:solidFill>
                </a:rPr>
                <a:t>Hyperparameter Tuning</a:t>
              </a:r>
            </a:p>
            <a:p>
              <a:r>
                <a:rPr lang="en-US" sz="900">
                  <a:solidFill>
                    <a:schemeClr val="tx2"/>
                  </a:solidFill>
                </a:rPr>
                <a:t>Model Explainability</a:t>
              </a:r>
            </a:p>
          </p:txBody>
        </p:sp>
        <p:sp>
          <p:nvSpPr>
            <p:cNvPr id="16" name="TextBox 170">
              <a:extLst>
                <a:ext uri="{FF2B5EF4-FFF2-40B4-BE49-F238E27FC236}">
                  <a16:creationId xmlns:a16="http://schemas.microsoft.com/office/drawing/2014/main" id="{E5EDA2A0-C991-2FFA-5852-648390BF6059}"/>
                </a:ext>
              </a:extLst>
            </p:cNvPr>
            <p:cNvSpPr txBox="1"/>
            <p:nvPr/>
          </p:nvSpPr>
          <p:spPr>
            <a:xfrm>
              <a:off x="9701300" y="5675338"/>
              <a:ext cx="2852741" cy="2288453"/>
            </a:xfrm>
            <a:prstGeom prst="rect">
              <a:avLst/>
            </a:prstGeom>
            <a:noFill/>
          </p:spPr>
          <p:txBody>
            <a:bodyPr wrap="square" rtlCol="0">
              <a:spAutoFit/>
            </a:bodyPr>
            <a:lstStyle>
              <a:defPPr>
                <a:defRPr lang="en-US"/>
              </a:defPPr>
              <a:lvl1pPr marL="171450" marR="0" lvl="0" indent="-171450" fontAlgn="base">
                <a:lnSpc>
                  <a:spcPts val="1350"/>
                </a:lnSpc>
                <a:spcBef>
                  <a:spcPts val="0"/>
                </a:spcBef>
                <a:spcAft>
                  <a:spcPts val="600"/>
                </a:spcAft>
                <a:buClrTx/>
                <a:buSzTx/>
                <a:buFont typeface="Arial" panose="020B0604020202020204" pitchFamily="34" charset="0"/>
                <a:buChar char="•"/>
                <a:tabLst/>
                <a:defRPr kumimoji="0" sz="1200" b="0" i="0" u="none" strike="noStrike" kern="0" cap="none" spc="0" normalizeH="0" baseline="0">
                  <a:ln>
                    <a:noFill/>
                  </a:ln>
                  <a:solidFill>
                    <a:prstClr val="white"/>
                  </a:solidFill>
                  <a:effectLst/>
                  <a:uLnTx/>
                  <a:uFillTx/>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a:solidFill>
                    <a:schemeClr val="tx2"/>
                  </a:solidFill>
                </a:rPr>
                <a:t>Cross-Validation through Robust Training-validation Splits</a:t>
              </a:r>
            </a:p>
            <a:p>
              <a:r>
                <a:rPr lang="en-US" sz="900">
                  <a:solidFill>
                    <a:schemeClr val="tx2"/>
                  </a:solidFill>
                </a:rPr>
                <a:t>Bias and Fairness Testing</a:t>
              </a:r>
            </a:p>
            <a:p>
              <a:r>
                <a:rPr lang="en-US" sz="900">
                  <a:solidFill>
                    <a:schemeClr val="tx2"/>
                  </a:solidFill>
                </a:rPr>
                <a:t>Tracking Performance &amp; Accuracy Metrics</a:t>
              </a:r>
            </a:p>
            <a:p>
              <a:r>
                <a:rPr lang="en-US" sz="900">
                  <a:solidFill>
                    <a:schemeClr val="tx2"/>
                  </a:solidFill>
                </a:rPr>
                <a:t>Stress Testing</a:t>
              </a:r>
            </a:p>
          </p:txBody>
        </p:sp>
        <p:sp>
          <p:nvSpPr>
            <p:cNvPr id="17" name="TextBox 170">
              <a:extLst>
                <a:ext uri="{FF2B5EF4-FFF2-40B4-BE49-F238E27FC236}">
                  <a16:creationId xmlns:a16="http://schemas.microsoft.com/office/drawing/2014/main" id="{28659BE4-3E0E-9936-D451-095C171FE1EA}"/>
                </a:ext>
              </a:extLst>
            </p:cNvPr>
            <p:cNvSpPr txBox="1"/>
            <p:nvPr/>
          </p:nvSpPr>
          <p:spPr>
            <a:xfrm>
              <a:off x="7470472" y="7563608"/>
              <a:ext cx="3333075" cy="1384745"/>
            </a:xfrm>
            <a:prstGeom prst="rect">
              <a:avLst/>
            </a:prstGeom>
            <a:noFill/>
          </p:spPr>
          <p:txBody>
            <a:bodyPr wrap="square" rtlCol="0">
              <a:spAutoFit/>
            </a:bodyPr>
            <a:lstStyle>
              <a:defPPr>
                <a:defRPr lang="en-US"/>
              </a:defPPr>
              <a:lvl1pPr marL="171450" marR="0" lvl="0" indent="-171450" fontAlgn="base">
                <a:lnSpc>
                  <a:spcPts val="1350"/>
                </a:lnSpc>
                <a:spcBef>
                  <a:spcPts val="0"/>
                </a:spcBef>
                <a:spcAft>
                  <a:spcPts val="600"/>
                </a:spcAft>
                <a:buClrTx/>
                <a:buSzTx/>
                <a:buFont typeface="Arial" panose="020B0604020202020204" pitchFamily="34" charset="0"/>
                <a:buChar char="•"/>
                <a:tabLst/>
                <a:defRPr kumimoji="0" sz="1200" b="0" i="0" u="none" strike="noStrike" kern="0" cap="none" spc="0" normalizeH="0" baseline="0">
                  <a:ln>
                    <a:noFill/>
                  </a:ln>
                  <a:solidFill>
                    <a:prstClr val="white"/>
                  </a:solidFill>
                  <a:effectLst/>
                  <a:uLnTx/>
                  <a:uFillTx/>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a:solidFill>
                    <a:schemeClr val="tx2"/>
                  </a:solidFill>
                </a:rPr>
                <a:t>Model Packaging &amp; Containerization </a:t>
              </a:r>
            </a:p>
            <a:p>
              <a:r>
                <a:rPr lang="en-US" sz="900">
                  <a:solidFill>
                    <a:schemeClr val="tx2"/>
                  </a:solidFill>
                </a:rPr>
                <a:t>Cloud-Native Deployment &amp; Hosting</a:t>
              </a:r>
            </a:p>
            <a:p>
              <a:r>
                <a:rPr lang="en-US" sz="900" err="1">
                  <a:solidFill>
                    <a:schemeClr val="tx2"/>
                  </a:solidFill>
                </a:rPr>
                <a:t>MLOps</a:t>
              </a:r>
              <a:r>
                <a:rPr lang="en-US" sz="900">
                  <a:solidFill>
                    <a:schemeClr val="tx2"/>
                  </a:solidFill>
                </a:rPr>
                <a:t> Pipelines with Versioning, Deployment, and Rollback</a:t>
              </a:r>
            </a:p>
          </p:txBody>
        </p:sp>
        <p:sp>
          <p:nvSpPr>
            <p:cNvPr id="18" name="TextBox 170">
              <a:extLst>
                <a:ext uri="{FF2B5EF4-FFF2-40B4-BE49-F238E27FC236}">
                  <a16:creationId xmlns:a16="http://schemas.microsoft.com/office/drawing/2014/main" id="{9CCC64ED-0769-E7A4-6186-AE8AF769E41E}"/>
                </a:ext>
              </a:extLst>
            </p:cNvPr>
            <p:cNvSpPr txBox="1"/>
            <p:nvPr/>
          </p:nvSpPr>
          <p:spPr>
            <a:xfrm>
              <a:off x="2534401" y="6975492"/>
              <a:ext cx="2343323" cy="1497708"/>
            </a:xfrm>
            <a:prstGeom prst="rect">
              <a:avLst/>
            </a:prstGeom>
            <a:noFill/>
          </p:spPr>
          <p:txBody>
            <a:bodyPr wrap="square" rtlCol="0">
              <a:spAutoFit/>
            </a:bodyPr>
            <a:lstStyle>
              <a:defPPr>
                <a:defRPr lang="en-US"/>
              </a:defPPr>
              <a:lvl1pPr marL="171450" marR="0" lvl="0" indent="-171450" fontAlgn="base">
                <a:lnSpc>
                  <a:spcPts val="1350"/>
                </a:lnSpc>
                <a:spcBef>
                  <a:spcPts val="0"/>
                </a:spcBef>
                <a:spcAft>
                  <a:spcPts val="600"/>
                </a:spcAft>
                <a:buClrTx/>
                <a:buSzTx/>
                <a:buFont typeface="Arial" panose="020B0604020202020204" pitchFamily="34" charset="0"/>
                <a:buChar char="•"/>
                <a:tabLst/>
                <a:defRPr kumimoji="0" sz="1200" b="0" i="0" u="none" strike="noStrike" kern="0" cap="none" spc="0" normalizeH="0" baseline="0">
                  <a:ln>
                    <a:noFill/>
                  </a:ln>
                  <a:solidFill>
                    <a:prstClr val="white"/>
                  </a:solidFill>
                  <a:effectLst/>
                  <a:uLnTx/>
                  <a:uFillTx/>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a:solidFill>
                    <a:schemeClr val="tx2"/>
                  </a:solidFill>
                </a:rPr>
                <a:t>Performance Tracking</a:t>
              </a:r>
            </a:p>
            <a:p>
              <a:r>
                <a:rPr lang="en-US" sz="900">
                  <a:solidFill>
                    <a:schemeClr val="tx2"/>
                  </a:solidFill>
                </a:rPr>
                <a:t>Drift Detection</a:t>
              </a:r>
            </a:p>
            <a:p>
              <a:r>
                <a:rPr lang="en-US" sz="900">
                  <a:solidFill>
                    <a:schemeClr val="tx2"/>
                  </a:solidFill>
                </a:rPr>
                <a:t>Retraining Pipelines</a:t>
              </a:r>
            </a:p>
            <a:p>
              <a:r>
                <a:rPr lang="en-US" sz="900">
                  <a:solidFill>
                    <a:schemeClr val="tx2"/>
                  </a:solidFill>
                </a:rPr>
                <a:t>Cost Optimization</a:t>
              </a:r>
            </a:p>
          </p:txBody>
        </p:sp>
        <p:sp>
          <p:nvSpPr>
            <p:cNvPr id="19" name="TextBox 170">
              <a:extLst>
                <a:ext uri="{FF2B5EF4-FFF2-40B4-BE49-F238E27FC236}">
                  <a16:creationId xmlns:a16="http://schemas.microsoft.com/office/drawing/2014/main" id="{0469A719-E990-F089-55A0-1AB9F1136918}"/>
                </a:ext>
              </a:extLst>
            </p:cNvPr>
            <p:cNvSpPr txBox="1"/>
            <p:nvPr/>
          </p:nvSpPr>
          <p:spPr>
            <a:xfrm>
              <a:off x="1592709" y="2569217"/>
              <a:ext cx="3056508" cy="1497708"/>
            </a:xfrm>
            <a:prstGeom prst="rect">
              <a:avLst/>
            </a:prstGeom>
            <a:noFill/>
          </p:spPr>
          <p:txBody>
            <a:bodyPr wrap="square" rtlCol="0">
              <a:spAutoFit/>
            </a:bodyPr>
            <a:lstStyle>
              <a:defPPr>
                <a:defRPr lang="en-US"/>
              </a:defPPr>
              <a:lvl1pPr marL="171450" marR="0" lvl="0" indent="-171450" fontAlgn="base">
                <a:lnSpc>
                  <a:spcPts val="1350"/>
                </a:lnSpc>
                <a:spcBef>
                  <a:spcPts val="0"/>
                </a:spcBef>
                <a:spcAft>
                  <a:spcPts val="600"/>
                </a:spcAft>
                <a:buClrTx/>
                <a:buSzTx/>
                <a:buFont typeface="Arial" panose="020B0604020202020204" pitchFamily="34" charset="0"/>
                <a:buChar char="•"/>
                <a:tabLst/>
                <a:defRPr kumimoji="0" sz="1200" b="0" i="0" u="none" strike="noStrike" kern="0" cap="none" spc="0" normalizeH="0" baseline="0">
                  <a:ln>
                    <a:noFill/>
                  </a:ln>
                  <a:solidFill>
                    <a:prstClr val="white"/>
                  </a:solidFill>
                  <a:effectLst/>
                  <a:uLnTx/>
                  <a:uFillTx/>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a:solidFill>
                    <a:schemeClr val="tx2"/>
                  </a:solidFill>
                </a:rPr>
                <a:t>Version Control</a:t>
              </a:r>
            </a:p>
            <a:p>
              <a:r>
                <a:rPr lang="en-US" sz="900">
                  <a:solidFill>
                    <a:schemeClr val="tx2"/>
                  </a:solidFill>
                </a:rPr>
                <a:t>Access Management</a:t>
              </a:r>
            </a:p>
            <a:p>
              <a:r>
                <a:rPr lang="en-US" sz="900">
                  <a:solidFill>
                    <a:schemeClr val="tx2"/>
                  </a:solidFill>
                </a:rPr>
                <a:t>Regulatory Compliance</a:t>
              </a:r>
            </a:p>
            <a:p>
              <a:r>
                <a:rPr lang="en-US" sz="900">
                  <a:solidFill>
                    <a:schemeClr val="tx2"/>
                  </a:solidFill>
                </a:rPr>
                <a:t>Ethical AI Practices</a:t>
              </a:r>
            </a:p>
          </p:txBody>
        </p:sp>
      </p:grpSp>
      <p:grpSp>
        <p:nvGrpSpPr>
          <p:cNvPr id="22" name="Group 21">
            <a:extLst>
              <a:ext uri="{FF2B5EF4-FFF2-40B4-BE49-F238E27FC236}">
                <a16:creationId xmlns:a16="http://schemas.microsoft.com/office/drawing/2014/main" id="{532F4757-43C2-0DF3-5F28-1FD55E5B728A}"/>
              </a:ext>
            </a:extLst>
          </p:cNvPr>
          <p:cNvGrpSpPr/>
          <p:nvPr/>
        </p:nvGrpSpPr>
        <p:grpSpPr>
          <a:xfrm>
            <a:off x="8441572" y="1060613"/>
            <a:ext cx="3566160" cy="205740"/>
            <a:chOff x="1888842" y="1836371"/>
            <a:chExt cx="8242711" cy="274320"/>
          </a:xfrm>
          <a:solidFill>
            <a:schemeClr val="accent2"/>
          </a:solidFill>
        </p:grpSpPr>
        <p:sp>
          <p:nvSpPr>
            <p:cNvPr id="23" name="Rectangle: Rounded Corners 22">
              <a:extLst>
                <a:ext uri="{FF2B5EF4-FFF2-40B4-BE49-F238E27FC236}">
                  <a16:creationId xmlns:a16="http://schemas.microsoft.com/office/drawing/2014/main" id="{79E4A7BC-36EB-6143-ACB2-92BB1BD31FE4}"/>
                </a:ext>
              </a:extLst>
            </p:cNvPr>
            <p:cNvSpPr/>
            <p:nvPr/>
          </p:nvSpPr>
          <p:spPr>
            <a:xfrm>
              <a:off x="1888842" y="1963807"/>
              <a:ext cx="8229600" cy="457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IN" sz="900">
                <a:solidFill>
                  <a:prstClr val="white"/>
                </a:solidFill>
                <a:latin typeface="Poppins"/>
              </a:endParaRPr>
            </a:p>
          </p:txBody>
        </p:sp>
        <p:sp>
          <p:nvSpPr>
            <p:cNvPr id="24" name="TextBox 23">
              <a:extLst>
                <a:ext uri="{FF2B5EF4-FFF2-40B4-BE49-F238E27FC236}">
                  <a16:creationId xmlns:a16="http://schemas.microsoft.com/office/drawing/2014/main" id="{312BA1AC-39B6-DF06-ADA5-F52D944EC8B3}"/>
                </a:ext>
              </a:extLst>
            </p:cNvPr>
            <p:cNvSpPr txBox="1"/>
            <p:nvPr/>
          </p:nvSpPr>
          <p:spPr>
            <a:xfrm>
              <a:off x="4385579" y="1836371"/>
              <a:ext cx="3657600" cy="27432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defRPr/>
              </a:pPr>
              <a:r>
                <a:rPr lang="en-US" sz="1050">
                  <a:solidFill>
                    <a:prstClr val="white"/>
                  </a:solidFill>
                  <a:latin typeface="Poppins"/>
                </a:rPr>
                <a:t>ASSETS</a:t>
              </a:r>
              <a:endParaRPr lang="hi-IN" sz="1050">
                <a:solidFill>
                  <a:prstClr val="white"/>
                </a:solidFill>
                <a:latin typeface="Poppins"/>
              </a:endParaRPr>
            </a:p>
          </p:txBody>
        </p:sp>
        <p:grpSp>
          <p:nvGrpSpPr>
            <p:cNvPr id="25" name="Group 24">
              <a:extLst>
                <a:ext uri="{FF2B5EF4-FFF2-40B4-BE49-F238E27FC236}">
                  <a16:creationId xmlns:a16="http://schemas.microsoft.com/office/drawing/2014/main" id="{4D1D5225-A7BC-3F75-9C7D-B4E55E344E59}"/>
                </a:ext>
              </a:extLst>
            </p:cNvPr>
            <p:cNvGrpSpPr/>
            <p:nvPr/>
          </p:nvGrpSpPr>
          <p:grpSpPr>
            <a:xfrm>
              <a:off x="1888842" y="1887532"/>
              <a:ext cx="686778" cy="173384"/>
              <a:chOff x="10645552" y="925267"/>
              <a:chExt cx="686778" cy="173384"/>
            </a:xfrm>
            <a:grpFill/>
          </p:grpSpPr>
          <p:sp>
            <p:nvSpPr>
              <p:cNvPr id="30" name="Oval 29">
                <a:extLst>
                  <a:ext uri="{FF2B5EF4-FFF2-40B4-BE49-F238E27FC236}">
                    <a16:creationId xmlns:a16="http://schemas.microsoft.com/office/drawing/2014/main" id="{BD342A1B-A1AB-D3FD-84AB-95D91D4FFE71}"/>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1" name="Oval 30">
                <a:extLst>
                  <a:ext uri="{FF2B5EF4-FFF2-40B4-BE49-F238E27FC236}">
                    <a16:creationId xmlns:a16="http://schemas.microsoft.com/office/drawing/2014/main" id="{1BD5E484-30F9-5942-EB59-204A6CB38D51}"/>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2" name="Oval 31">
                <a:extLst>
                  <a:ext uri="{FF2B5EF4-FFF2-40B4-BE49-F238E27FC236}">
                    <a16:creationId xmlns:a16="http://schemas.microsoft.com/office/drawing/2014/main" id="{BAA79EAE-10F7-A6DE-92BA-D7F0AD07BE61}"/>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6" name="Group 25">
              <a:extLst>
                <a:ext uri="{FF2B5EF4-FFF2-40B4-BE49-F238E27FC236}">
                  <a16:creationId xmlns:a16="http://schemas.microsoft.com/office/drawing/2014/main" id="{DB62A9BE-5875-5752-BC8C-9001F2229689}"/>
                </a:ext>
              </a:extLst>
            </p:cNvPr>
            <p:cNvGrpSpPr/>
            <p:nvPr/>
          </p:nvGrpSpPr>
          <p:grpSpPr>
            <a:xfrm>
              <a:off x="9444775" y="1898957"/>
              <a:ext cx="686778" cy="173384"/>
              <a:chOff x="10645552" y="925267"/>
              <a:chExt cx="686778" cy="173384"/>
            </a:xfrm>
            <a:grpFill/>
          </p:grpSpPr>
          <p:sp>
            <p:nvSpPr>
              <p:cNvPr id="27" name="Oval 26">
                <a:extLst>
                  <a:ext uri="{FF2B5EF4-FFF2-40B4-BE49-F238E27FC236}">
                    <a16:creationId xmlns:a16="http://schemas.microsoft.com/office/drawing/2014/main" id="{4005F564-E016-EED8-5FFA-BA3E379125BB}"/>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8" name="Oval 27">
                <a:extLst>
                  <a:ext uri="{FF2B5EF4-FFF2-40B4-BE49-F238E27FC236}">
                    <a16:creationId xmlns:a16="http://schemas.microsoft.com/office/drawing/2014/main" id="{CAE10AB0-6104-ED34-DFE7-1427D640FF80}"/>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9" name="Oval 28">
                <a:extLst>
                  <a:ext uri="{FF2B5EF4-FFF2-40B4-BE49-F238E27FC236}">
                    <a16:creationId xmlns:a16="http://schemas.microsoft.com/office/drawing/2014/main" id="{8A798720-D724-FA70-B741-A4AF3EE0A72C}"/>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sp>
        <p:nvSpPr>
          <p:cNvPr id="34" name="Rectangle 33">
            <a:extLst>
              <a:ext uri="{FF2B5EF4-FFF2-40B4-BE49-F238E27FC236}">
                <a16:creationId xmlns:a16="http://schemas.microsoft.com/office/drawing/2014/main" id="{126ED893-3450-6EC8-F6A6-AFBA9A03ABA3}"/>
              </a:ext>
            </a:extLst>
          </p:cNvPr>
          <p:cNvSpPr/>
          <p:nvPr/>
        </p:nvSpPr>
        <p:spPr>
          <a:xfrm>
            <a:off x="8892485" y="1338489"/>
            <a:ext cx="1371600" cy="3429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Domain-Specific Models</a:t>
            </a:r>
          </a:p>
        </p:txBody>
      </p:sp>
      <p:sp>
        <p:nvSpPr>
          <p:cNvPr id="42" name="Rectangle 41">
            <a:extLst>
              <a:ext uri="{FF2B5EF4-FFF2-40B4-BE49-F238E27FC236}">
                <a16:creationId xmlns:a16="http://schemas.microsoft.com/office/drawing/2014/main" id="{99BC74D5-C93B-6FB9-2B39-60AEC5AE3688}"/>
              </a:ext>
            </a:extLst>
          </p:cNvPr>
          <p:cNvSpPr/>
          <p:nvPr/>
        </p:nvSpPr>
        <p:spPr>
          <a:xfrm>
            <a:off x="10413179" y="1338489"/>
            <a:ext cx="1371600" cy="3429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Pre-trained LLM-Based Solutions</a:t>
            </a:r>
          </a:p>
        </p:txBody>
      </p:sp>
      <p:sp>
        <p:nvSpPr>
          <p:cNvPr id="43" name="Rectangle 42">
            <a:extLst>
              <a:ext uri="{FF2B5EF4-FFF2-40B4-BE49-F238E27FC236}">
                <a16:creationId xmlns:a16="http://schemas.microsoft.com/office/drawing/2014/main" id="{2BBBF6CE-B3AD-1FF5-20EB-4AAE79FA9538}"/>
              </a:ext>
            </a:extLst>
          </p:cNvPr>
          <p:cNvSpPr/>
          <p:nvPr/>
        </p:nvSpPr>
        <p:spPr>
          <a:xfrm>
            <a:off x="8894051" y="1750495"/>
            <a:ext cx="1371600" cy="3429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Reusable Feature Stores</a:t>
            </a:r>
          </a:p>
        </p:txBody>
      </p:sp>
      <p:sp>
        <p:nvSpPr>
          <p:cNvPr id="44" name="Rectangle 43">
            <a:extLst>
              <a:ext uri="{FF2B5EF4-FFF2-40B4-BE49-F238E27FC236}">
                <a16:creationId xmlns:a16="http://schemas.microsoft.com/office/drawing/2014/main" id="{81858756-EA27-F365-F21B-BF06A457B9D5}"/>
              </a:ext>
            </a:extLst>
          </p:cNvPr>
          <p:cNvSpPr/>
          <p:nvPr/>
        </p:nvSpPr>
        <p:spPr>
          <a:xfrm>
            <a:off x="10414745" y="1750495"/>
            <a:ext cx="1371600" cy="3429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Model Libraries for Common ML Tasks</a:t>
            </a:r>
          </a:p>
        </p:txBody>
      </p:sp>
      <p:sp>
        <p:nvSpPr>
          <p:cNvPr id="45" name="Rectangle 44">
            <a:extLst>
              <a:ext uri="{FF2B5EF4-FFF2-40B4-BE49-F238E27FC236}">
                <a16:creationId xmlns:a16="http://schemas.microsoft.com/office/drawing/2014/main" id="{D9137CB8-0BD3-AADA-C56A-CCCAFE3542D6}"/>
              </a:ext>
            </a:extLst>
          </p:cNvPr>
          <p:cNvSpPr/>
          <p:nvPr/>
        </p:nvSpPr>
        <p:spPr>
          <a:xfrm>
            <a:off x="8890919" y="2178029"/>
            <a:ext cx="1371600" cy="3429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fr-FR" sz="900" b="1">
                <a:solidFill>
                  <a:prstClr val="black"/>
                </a:solidFill>
                <a:latin typeface="+mj-lt"/>
              </a:rPr>
              <a:t>Model Template</a:t>
            </a:r>
            <a:endParaRPr lang="en-US" sz="900" b="1">
              <a:solidFill>
                <a:prstClr val="black"/>
              </a:solidFill>
              <a:latin typeface="+mj-lt"/>
            </a:endParaRPr>
          </a:p>
        </p:txBody>
      </p:sp>
      <p:sp>
        <p:nvSpPr>
          <p:cNvPr id="46" name="Rectangle 45">
            <a:extLst>
              <a:ext uri="{FF2B5EF4-FFF2-40B4-BE49-F238E27FC236}">
                <a16:creationId xmlns:a16="http://schemas.microsoft.com/office/drawing/2014/main" id="{1317EF40-6D33-0014-436F-E91A0E526D5E}"/>
              </a:ext>
            </a:extLst>
          </p:cNvPr>
          <p:cNvSpPr/>
          <p:nvPr/>
        </p:nvSpPr>
        <p:spPr>
          <a:xfrm>
            <a:off x="10411613" y="2178029"/>
            <a:ext cx="1371600" cy="3429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Synthetic Data Generators</a:t>
            </a:r>
          </a:p>
        </p:txBody>
      </p:sp>
      <p:sp>
        <p:nvSpPr>
          <p:cNvPr id="47" name="Rectangle 46">
            <a:extLst>
              <a:ext uri="{FF2B5EF4-FFF2-40B4-BE49-F238E27FC236}">
                <a16:creationId xmlns:a16="http://schemas.microsoft.com/office/drawing/2014/main" id="{06939AF2-BFF4-129C-02DE-FAAAB637ED0D}"/>
              </a:ext>
            </a:extLst>
          </p:cNvPr>
          <p:cNvSpPr/>
          <p:nvPr/>
        </p:nvSpPr>
        <p:spPr>
          <a:xfrm>
            <a:off x="8892485" y="2595225"/>
            <a:ext cx="1371600" cy="3429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CI/CD Pipeline for ML</a:t>
            </a:r>
          </a:p>
        </p:txBody>
      </p:sp>
      <p:sp>
        <p:nvSpPr>
          <p:cNvPr id="48" name="Rectangle 47">
            <a:extLst>
              <a:ext uri="{FF2B5EF4-FFF2-40B4-BE49-F238E27FC236}">
                <a16:creationId xmlns:a16="http://schemas.microsoft.com/office/drawing/2014/main" id="{0445B306-17E0-C1F6-70D2-93EB02BBCFF4}"/>
              </a:ext>
            </a:extLst>
          </p:cNvPr>
          <p:cNvSpPr/>
          <p:nvPr/>
        </p:nvSpPr>
        <p:spPr>
          <a:xfrm>
            <a:off x="10413179" y="2595225"/>
            <a:ext cx="1371600" cy="3429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ML Sandbox Environments</a:t>
            </a:r>
          </a:p>
        </p:txBody>
      </p:sp>
      <p:sp>
        <p:nvSpPr>
          <p:cNvPr id="49" name="Rectangle 48">
            <a:extLst>
              <a:ext uri="{FF2B5EF4-FFF2-40B4-BE49-F238E27FC236}">
                <a16:creationId xmlns:a16="http://schemas.microsoft.com/office/drawing/2014/main" id="{0C83DBE9-3DC7-4EC5-83D2-45CD913D6D27}"/>
              </a:ext>
            </a:extLst>
          </p:cNvPr>
          <p:cNvSpPr/>
          <p:nvPr/>
        </p:nvSpPr>
        <p:spPr>
          <a:xfrm>
            <a:off x="8894051" y="3025118"/>
            <a:ext cx="1371600" cy="3429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Containerized Model Serving</a:t>
            </a:r>
          </a:p>
        </p:txBody>
      </p:sp>
      <p:sp>
        <p:nvSpPr>
          <p:cNvPr id="50" name="Rectangle 49">
            <a:extLst>
              <a:ext uri="{FF2B5EF4-FFF2-40B4-BE49-F238E27FC236}">
                <a16:creationId xmlns:a16="http://schemas.microsoft.com/office/drawing/2014/main" id="{B540C294-AE9A-5D64-D466-D0D37C407797}"/>
              </a:ext>
            </a:extLst>
          </p:cNvPr>
          <p:cNvSpPr/>
          <p:nvPr/>
        </p:nvSpPr>
        <p:spPr>
          <a:xfrm>
            <a:off x="10414745" y="3025118"/>
            <a:ext cx="1371600" cy="3429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Drift Detection Modules</a:t>
            </a:r>
          </a:p>
        </p:txBody>
      </p:sp>
      <p:sp>
        <p:nvSpPr>
          <p:cNvPr id="51" name="Rectangle 50">
            <a:extLst>
              <a:ext uri="{FF2B5EF4-FFF2-40B4-BE49-F238E27FC236}">
                <a16:creationId xmlns:a16="http://schemas.microsoft.com/office/drawing/2014/main" id="{3FE01155-159E-CF2F-8959-EEE8E1BDD169}"/>
              </a:ext>
            </a:extLst>
          </p:cNvPr>
          <p:cNvSpPr/>
          <p:nvPr/>
        </p:nvSpPr>
        <p:spPr>
          <a:xfrm>
            <a:off x="8894051" y="3456356"/>
            <a:ext cx="1371600" cy="3429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Model Registry and Marketplace</a:t>
            </a:r>
          </a:p>
        </p:txBody>
      </p:sp>
      <p:sp>
        <p:nvSpPr>
          <p:cNvPr id="52" name="Rectangle 51">
            <a:extLst>
              <a:ext uri="{FF2B5EF4-FFF2-40B4-BE49-F238E27FC236}">
                <a16:creationId xmlns:a16="http://schemas.microsoft.com/office/drawing/2014/main" id="{E9241CCC-B471-F9DB-D802-1318847D1756}"/>
              </a:ext>
            </a:extLst>
          </p:cNvPr>
          <p:cNvSpPr/>
          <p:nvPr/>
        </p:nvSpPr>
        <p:spPr>
          <a:xfrm>
            <a:off x="10414745" y="3456356"/>
            <a:ext cx="1371600" cy="342900"/>
          </a:xfrm>
          <a:prstGeom prst="rect">
            <a:avLst/>
          </a:prstGeom>
          <a:noFill/>
          <a:ln w="28575">
            <a:solidFill>
              <a:srgbClr val="FE5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900" b="1">
                <a:solidFill>
                  <a:prstClr val="black"/>
                </a:solidFill>
                <a:latin typeface="+mj-lt"/>
              </a:rPr>
              <a:t>Automated Model Retraining Pipelines</a:t>
            </a:r>
          </a:p>
        </p:txBody>
      </p:sp>
      <p:grpSp>
        <p:nvGrpSpPr>
          <p:cNvPr id="5" name="Group 4">
            <a:extLst>
              <a:ext uri="{FF2B5EF4-FFF2-40B4-BE49-F238E27FC236}">
                <a16:creationId xmlns:a16="http://schemas.microsoft.com/office/drawing/2014/main" id="{738C3D28-A4C3-019B-35DC-3DEAC84564E4}"/>
              </a:ext>
            </a:extLst>
          </p:cNvPr>
          <p:cNvGrpSpPr/>
          <p:nvPr/>
        </p:nvGrpSpPr>
        <p:grpSpPr>
          <a:xfrm>
            <a:off x="8467527" y="4141439"/>
            <a:ext cx="3566161" cy="646331"/>
            <a:chOff x="11724639" y="6135056"/>
            <a:chExt cx="4493799" cy="861775"/>
          </a:xfrm>
        </p:grpSpPr>
        <p:sp>
          <p:nvSpPr>
            <p:cNvPr id="10" name="Rectangle 9">
              <a:extLst>
                <a:ext uri="{FF2B5EF4-FFF2-40B4-BE49-F238E27FC236}">
                  <a16:creationId xmlns:a16="http://schemas.microsoft.com/office/drawing/2014/main" id="{63D78438-53F9-939F-DBCD-873A9D5F83A4}"/>
                </a:ext>
              </a:extLst>
            </p:cNvPr>
            <p:cNvSpPr/>
            <p:nvPr/>
          </p:nvSpPr>
          <p:spPr>
            <a:xfrm>
              <a:off x="11724639" y="6282110"/>
              <a:ext cx="1097280" cy="340067"/>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14350">
                <a:defRPr/>
              </a:pPr>
              <a:r>
                <a:rPr lang="en-US" sz="900" b="1">
                  <a:solidFill>
                    <a:schemeClr val="accent3">
                      <a:lumMod val="75000"/>
                    </a:schemeClr>
                  </a:solidFill>
                  <a:latin typeface="+mj-lt"/>
                </a:rPr>
                <a:t>Airline Software Provider</a:t>
              </a:r>
            </a:p>
            <a:p>
              <a:pPr algn="ctr" defTabSz="514350">
                <a:defRPr/>
              </a:pPr>
              <a:r>
                <a:rPr lang="en-US" sz="900" b="1">
                  <a:solidFill>
                    <a:schemeClr val="accent3">
                      <a:lumMod val="75000"/>
                    </a:schemeClr>
                  </a:solidFill>
                  <a:latin typeface="+mj-lt"/>
                </a:rPr>
                <a:t>(</a:t>
              </a:r>
              <a:r>
                <a:rPr lang="en-US" sz="900" b="1" err="1">
                  <a:solidFill>
                    <a:schemeClr val="accent3">
                      <a:lumMod val="75000"/>
                    </a:schemeClr>
                  </a:solidFill>
                  <a:latin typeface="+mj-lt"/>
                </a:rPr>
                <a:t>FlyDubai</a:t>
              </a:r>
              <a:r>
                <a:rPr lang="en-US" sz="900" b="1">
                  <a:solidFill>
                    <a:schemeClr val="accent3">
                      <a:lumMod val="75000"/>
                    </a:schemeClr>
                  </a:solidFill>
                  <a:latin typeface="+mj-lt"/>
                </a:rPr>
                <a:t>)</a:t>
              </a:r>
            </a:p>
          </p:txBody>
        </p:sp>
        <p:sp>
          <p:nvSpPr>
            <p:cNvPr id="11" name="TextBox 10">
              <a:extLst>
                <a:ext uri="{FF2B5EF4-FFF2-40B4-BE49-F238E27FC236}">
                  <a16:creationId xmlns:a16="http://schemas.microsoft.com/office/drawing/2014/main" id="{8DCFB60E-49E4-C991-5F82-6CB3BCE72BB7}"/>
                </a:ext>
              </a:extLst>
            </p:cNvPr>
            <p:cNvSpPr txBox="1"/>
            <p:nvPr/>
          </p:nvSpPr>
          <p:spPr>
            <a:xfrm>
              <a:off x="12704650" y="6135056"/>
              <a:ext cx="3513788" cy="861775"/>
            </a:xfrm>
            <a:prstGeom prst="rect">
              <a:avLst/>
            </a:prstGeom>
            <a:noFill/>
            <a:effectLst/>
          </p:spPr>
          <p:txBody>
            <a:bodyPr wrap="square">
              <a:spAutoFit/>
            </a:bodyPr>
            <a:lstStyle/>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Created MLOPS as a Service platform for consuming and engineering AI and ML models. Reduced the overall model cycle time by ~25% along with deployment automation.</a:t>
              </a:r>
            </a:p>
          </p:txBody>
        </p:sp>
      </p:grpSp>
      <p:grpSp>
        <p:nvGrpSpPr>
          <p:cNvPr id="13" name="Group 12">
            <a:extLst>
              <a:ext uri="{FF2B5EF4-FFF2-40B4-BE49-F238E27FC236}">
                <a16:creationId xmlns:a16="http://schemas.microsoft.com/office/drawing/2014/main" id="{786ECAF0-C2B1-4697-3748-3101919F9D1F}"/>
              </a:ext>
            </a:extLst>
          </p:cNvPr>
          <p:cNvGrpSpPr/>
          <p:nvPr/>
        </p:nvGrpSpPr>
        <p:grpSpPr>
          <a:xfrm>
            <a:off x="8442437" y="3909608"/>
            <a:ext cx="3566160" cy="205740"/>
            <a:chOff x="1888842" y="1836371"/>
            <a:chExt cx="8242711" cy="274320"/>
          </a:xfrm>
          <a:solidFill>
            <a:schemeClr val="accent3">
              <a:lumMod val="75000"/>
            </a:schemeClr>
          </a:solidFill>
        </p:grpSpPr>
        <p:sp>
          <p:nvSpPr>
            <p:cNvPr id="20" name="Rectangle: Rounded Corners 19">
              <a:extLst>
                <a:ext uri="{FF2B5EF4-FFF2-40B4-BE49-F238E27FC236}">
                  <a16:creationId xmlns:a16="http://schemas.microsoft.com/office/drawing/2014/main" id="{84FDBD0A-C769-290D-4EB2-8F89467E0261}"/>
                </a:ext>
              </a:extLst>
            </p:cNvPr>
            <p:cNvSpPr/>
            <p:nvPr/>
          </p:nvSpPr>
          <p:spPr>
            <a:xfrm>
              <a:off x="1888842" y="1963807"/>
              <a:ext cx="8229600" cy="457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IN" sz="900">
                <a:solidFill>
                  <a:prstClr val="white"/>
                </a:solidFill>
                <a:latin typeface="Poppins"/>
              </a:endParaRPr>
            </a:p>
          </p:txBody>
        </p:sp>
        <p:sp>
          <p:nvSpPr>
            <p:cNvPr id="21" name="TextBox 20">
              <a:extLst>
                <a:ext uri="{FF2B5EF4-FFF2-40B4-BE49-F238E27FC236}">
                  <a16:creationId xmlns:a16="http://schemas.microsoft.com/office/drawing/2014/main" id="{1EFF670F-418F-E6BE-2F19-0BCF6AE35A1E}"/>
                </a:ext>
              </a:extLst>
            </p:cNvPr>
            <p:cNvSpPr txBox="1"/>
            <p:nvPr/>
          </p:nvSpPr>
          <p:spPr>
            <a:xfrm>
              <a:off x="4385579" y="1836371"/>
              <a:ext cx="3657600" cy="27432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defRPr/>
              </a:pPr>
              <a:r>
                <a:rPr lang="en-US" sz="1050">
                  <a:solidFill>
                    <a:prstClr val="white"/>
                  </a:solidFill>
                  <a:latin typeface="Poppins"/>
                </a:rPr>
                <a:t>EXPERIENCE</a:t>
              </a:r>
              <a:endParaRPr lang="hi-IN" sz="1050">
                <a:solidFill>
                  <a:prstClr val="white"/>
                </a:solidFill>
                <a:latin typeface="Poppins"/>
              </a:endParaRPr>
            </a:p>
          </p:txBody>
        </p:sp>
        <p:grpSp>
          <p:nvGrpSpPr>
            <p:cNvPr id="33" name="Group 32">
              <a:extLst>
                <a:ext uri="{FF2B5EF4-FFF2-40B4-BE49-F238E27FC236}">
                  <a16:creationId xmlns:a16="http://schemas.microsoft.com/office/drawing/2014/main" id="{6522916D-9F5B-8B5E-A2BA-772E59C9A402}"/>
                </a:ext>
              </a:extLst>
            </p:cNvPr>
            <p:cNvGrpSpPr/>
            <p:nvPr/>
          </p:nvGrpSpPr>
          <p:grpSpPr>
            <a:xfrm>
              <a:off x="1888842" y="1887532"/>
              <a:ext cx="686778" cy="173384"/>
              <a:chOff x="10645552" y="925267"/>
              <a:chExt cx="686778" cy="173384"/>
            </a:xfrm>
            <a:grpFill/>
          </p:grpSpPr>
          <p:sp>
            <p:nvSpPr>
              <p:cNvPr id="39" name="Oval 38">
                <a:extLst>
                  <a:ext uri="{FF2B5EF4-FFF2-40B4-BE49-F238E27FC236}">
                    <a16:creationId xmlns:a16="http://schemas.microsoft.com/office/drawing/2014/main" id="{385B2BF4-9683-FD18-21FD-4FF7456D2FB7}"/>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0" name="Oval 39">
                <a:extLst>
                  <a:ext uri="{FF2B5EF4-FFF2-40B4-BE49-F238E27FC236}">
                    <a16:creationId xmlns:a16="http://schemas.microsoft.com/office/drawing/2014/main" id="{5938C659-86BC-B61A-DB74-606EA1C6A05A}"/>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5" name="Oval 64">
                <a:extLst>
                  <a:ext uri="{FF2B5EF4-FFF2-40B4-BE49-F238E27FC236}">
                    <a16:creationId xmlns:a16="http://schemas.microsoft.com/office/drawing/2014/main" id="{BC69DE5F-BAEA-6659-F8C9-BB3BE8664458}"/>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35" name="Group 34">
              <a:extLst>
                <a:ext uri="{FF2B5EF4-FFF2-40B4-BE49-F238E27FC236}">
                  <a16:creationId xmlns:a16="http://schemas.microsoft.com/office/drawing/2014/main" id="{34E5D322-FA27-AA45-C6CA-0CD9B463E5CD}"/>
                </a:ext>
              </a:extLst>
            </p:cNvPr>
            <p:cNvGrpSpPr/>
            <p:nvPr/>
          </p:nvGrpSpPr>
          <p:grpSpPr>
            <a:xfrm>
              <a:off x="9444775" y="1898957"/>
              <a:ext cx="686778" cy="173384"/>
              <a:chOff x="10645552" y="925267"/>
              <a:chExt cx="686778" cy="173384"/>
            </a:xfrm>
            <a:grpFill/>
          </p:grpSpPr>
          <p:sp>
            <p:nvSpPr>
              <p:cNvPr id="36" name="Oval 35">
                <a:extLst>
                  <a:ext uri="{FF2B5EF4-FFF2-40B4-BE49-F238E27FC236}">
                    <a16:creationId xmlns:a16="http://schemas.microsoft.com/office/drawing/2014/main" id="{5BF6B0C6-E2AA-33CA-3DF4-61601C3A237C}"/>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7" name="Oval 36">
                <a:extLst>
                  <a:ext uri="{FF2B5EF4-FFF2-40B4-BE49-F238E27FC236}">
                    <a16:creationId xmlns:a16="http://schemas.microsoft.com/office/drawing/2014/main" id="{A697FED9-8151-82FE-296A-50469F525652}"/>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8" name="Oval 37">
                <a:extLst>
                  <a:ext uri="{FF2B5EF4-FFF2-40B4-BE49-F238E27FC236}">
                    <a16:creationId xmlns:a16="http://schemas.microsoft.com/office/drawing/2014/main" id="{A758F6E7-D4BF-D01B-88BA-E84F31956390}"/>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grpSp>
        <p:nvGrpSpPr>
          <p:cNvPr id="66" name="Group 65">
            <a:extLst>
              <a:ext uri="{FF2B5EF4-FFF2-40B4-BE49-F238E27FC236}">
                <a16:creationId xmlns:a16="http://schemas.microsoft.com/office/drawing/2014/main" id="{D7E6454E-731C-83B6-54C5-282D2E6E2E8C}"/>
              </a:ext>
            </a:extLst>
          </p:cNvPr>
          <p:cNvGrpSpPr/>
          <p:nvPr/>
        </p:nvGrpSpPr>
        <p:grpSpPr>
          <a:xfrm>
            <a:off x="8458002" y="4781112"/>
            <a:ext cx="3566161" cy="948978"/>
            <a:chOff x="11724639" y="6135056"/>
            <a:chExt cx="4493799" cy="1265303"/>
          </a:xfrm>
        </p:grpSpPr>
        <p:sp>
          <p:nvSpPr>
            <p:cNvPr id="67" name="Rectangle 66">
              <a:extLst>
                <a:ext uri="{FF2B5EF4-FFF2-40B4-BE49-F238E27FC236}">
                  <a16:creationId xmlns:a16="http://schemas.microsoft.com/office/drawing/2014/main" id="{51E1E446-C3CD-4A41-E030-449C396E4FE6}"/>
                </a:ext>
              </a:extLst>
            </p:cNvPr>
            <p:cNvSpPr/>
            <p:nvPr/>
          </p:nvSpPr>
          <p:spPr>
            <a:xfrm>
              <a:off x="11724639" y="6227296"/>
              <a:ext cx="1097280" cy="340067"/>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14350">
                <a:defRPr/>
              </a:pPr>
              <a:r>
                <a:rPr lang="en-US" sz="900" b="1">
                  <a:solidFill>
                    <a:schemeClr val="accent3">
                      <a:lumMod val="75000"/>
                    </a:schemeClr>
                  </a:solidFill>
                  <a:latin typeface="+mj-lt"/>
                </a:rPr>
                <a:t>EU Asset Mgmt. Org.</a:t>
              </a:r>
            </a:p>
            <a:p>
              <a:pPr algn="ctr" defTabSz="514350">
                <a:defRPr/>
              </a:pPr>
              <a:r>
                <a:rPr lang="en-US" sz="900" b="1">
                  <a:solidFill>
                    <a:schemeClr val="accent3">
                      <a:lumMod val="75000"/>
                    </a:schemeClr>
                  </a:solidFill>
                  <a:latin typeface="+mj-lt"/>
                </a:rPr>
                <a:t>(NNIP)</a:t>
              </a:r>
            </a:p>
          </p:txBody>
        </p:sp>
        <p:sp>
          <p:nvSpPr>
            <p:cNvPr id="68" name="TextBox 67">
              <a:extLst>
                <a:ext uri="{FF2B5EF4-FFF2-40B4-BE49-F238E27FC236}">
                  <a16:creationId xmlns:a16="http://schemas.microsoft.com/office/drawing/2014/main" id="{83917D79-832D-DDBB-FE8C-4E7BCA08EE6A}"/>
                </a:ext>
              </a:extLst>
            </p:cNvPr>
            <p:cNvSpPr txBox="1"/>
            <p:nvPr/>
          </p:nvSpPr>
          <p:spPr>
            <a:xfrm>
              <a:off x="12704650" y="6135056"/>
              <a:ext cx="3513788" cy="1265303"/>
            </a:xfrm>
            <a:prstGeom prst="rect">
              <a:avLst/>
            </a:prstGeom>
            <a:noFill/>
            <a:effectLst/>
          </p:spPr>
          <p:txBody>
            <a:bodyPr wrap="square">
              <a:spAutoFit/>
            </a:bodyPr>
            <a:lstStyle/>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Created </a:t>
              </a:r>
              <a:r>
                <a:rPr lang="en-US" sz="900" err="1">
                  <a:solidFill>
                    <a:prstClr val="black"/>
                  </a:solidFill>
                  <a:latin typeface="+mj-lt"/>
                  <a:cs typeface="Poppins" panose="00000500000000000000" pitchFamily="2" charset="0"/>
                </a:rPr>
                <a:t>MLOps</a:t>
              </a:r>
              <a:r>
                <a:rPr lang="en-US" sz="900">
                  <a:solidFill>
                    <a:prstClr val="black"/>
                  </a:solidFill>
                  <a:latin typeface="+mj-lt"/>
                  <a:cs typeface="Poppins" panose="00000500000000000000" pitchFamily="2" charset="0"/>
                </a:rPr>
                <a:t> using AWS from data consumption, data wrangling, data processing, NLP models for context search engine on ~35 years of research data set</a:t>
              </a:r>
            </a:p>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Achieved a response time of &lt; 1s for any query along with ~99% correct match in the 1</a:t>
              </a:r>
              <a:r>
                <a:rPr lang="en-US" sz="900" baseline="30000">
                  <a:solidFill>
                    <a:prstClr val="black"/>
                  </a:solidFill>
                  <a:latin typeface="+mj-lt"/>
                  <a:cs typeface="Poppins" panose="00000500000000000000" pitchFamily="2" charset="0"/>
                </a:rPr>
                <a:t>st </a:t>
              </a:r>
              <a:r>
                <a:rPr lang="en-US" sz="900">
                  <a:solidFill>
                    <a:prstClr val="black"/>
                  </a:solidFill>
                  <a:latin typeface="+mj-lt"/>
                  <a:cs typeface="Poppins" panose="00000500000000000000" pitchFamily="2" charset="0"/>
                </a:rPr>
                <a:t>attempt</a:t>
              </a:r>
            </a:p>
          </p:txBody>
        </p:sp>
      </p:grpSp>
      <p:grpSp>
        <p:nvGrpSpPr>
          <p:cNvPr id="69" name="Group 68">
            <a:extLst>
              <a:ext uri="{FF2B5EF4-FFF2-40B4-BE49-F238E27FC236}">
                <a16:creationId xmlns:a16="http://schemas.microsoft.com/office/drawing/2014/main" id="{BAA6CDC0-C618-3E56-1ACD-717D493DF2E0}"/>
              </a:ext>
            </a:extLst>
          </p:cNvPr>
          <p:cNvGrpSpPr/>
          <p:nvPr/>
        </p:nvGrpSpPr>
        <p:grpSpPr>
          <a:xfrm>
            <a:off x="8467521" y="5751165"/>
            <a:ext cx="3539249" cy="671979"/>
            <a:chOff x="11724639" y="6135056"/>
            <a:chExt cx="4619736" cy="895972"/>
          </a:xfrm>
        </p:grpSpPr>
        <p:sp>
          <p:nvSpPr>
            <p:cNvPr id="77" name="Rectangle 76">
              <a:extLst>
                <a:ext uri="{FF2B5EF4-FFF2-40B4-BE49-F238E27FC236}">
                  <a16:creationId xmlns:a16="http://schemas.microsoft.com/office/drawing/2014/main" id="{1973EFCE-1383-639D-67E9-74534BA6B36C}"/>
                </a:ext>
              </a:extLst>
            </p:cNvPr>
            <p:cNvSpPr/>
            <p:nvPr/>
          </p:nvSpPr>
          <p:spPr>
            <a:xfrm>
              <a:off x="11724639" y="6262056"/>
              <a:ext cx="1097280" cy="340067"/>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14350">
                <a:defRPr/>
              </a:pPr>
              <a:r>
                <a:rPr lang="en-US" sz="900" b="1">
                  <a:solidFill>
                    <a:schemeClr val="accent3">
                      <a:lumMod val="75000"/>
                    </a:schemeClr>
                  </a:solidFill>
                  <a:latin typeface="+mj-lt"/>
                </a:rPr>
                <a:t>US Financial Services</a:t>
              </a:r>
            </a:p>
            <a:p>
              <a:pPr algn="ctr" defTabSz="514350">
                <a:defRPr/>
              </a:pPr>
              <a:r>
                <a:rPr lang="en-US" sz="900" b="1">
                  <a:solidFill>
                    <a:schemeClr val="accent3">
                      <a:lumMod val="75000"/>
                    </a:schemeClr>
                  </a:solidFill>
                  <a:latin typeface="+mj-lt"/>
                </a:rPr>
                <a:t>(SBI)</a:t>
              </a:r>
            </a:p>
          </p:txBody>
        </p:sp>
        <p:sp>
          <p:nvSpPr>
            <p:cNvPr id="78" name="TextBox 77">
              <a:extLst>
                <a:ext uri="{FF2B5EF4-FFF2-40B4-BE49-F238E27FC236}">
                  <a16:creationId xmlns:a16="http://schemas.microsoft.com/office/drawing/2014/main" id="{5069ADC2-531E-0434-518C-E6513E1B020F}"/>
                </a:ext>
              </a:extLst>
            </p:cNvPr>
            <p:cNvSpPr txBox="1"/>
            <p:nvPr/>
          </p:nvSpPr>
          <p:spPr>
            <a:xfrm>
              <a:off x="12704650" y="6135056"/>
              <a:ext cx="3639725" cy="895972"/>
            </a:xfrm>
            <a:prstGeom prst="rect">
              <a:avLst/>
            </a:prstGeom>
            <a:noFill/>
            <a:effectLst/>
          </p:spPr>
          <p:txBody>
            <a:bodyPr wrap="square">
              <a:spAutoFit/>
            </a:bodyPr>
            <a:lstStyle/>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Created ML pipelines for reducing false positive alerts in AML transaction analysis. </a:t>
              </a:r>
            </a:p>
            <a:p>
              <a:pPr marL="96441" indent="-96441" defTabSz="514350">
                <a:spcAft>
                  <a:spcPts val="169"/>
                </a:spcAft>
                <a:buFont typeface="Arial" panose="020B0604020202020204" pitchFamily="34" charset="0"/>
                <a:buChar char="•"/>
                <a:defRPr/>
              </a:pPr>
              <a:r>
                <a:rPr lang="en-US" sz="900">
                  <a:solidFill>
                    <a:prstClr val="black"/>
                  </a:solidFill>
                  <a:latin typeface="+mj-lt"/>
                  <a:cs typeface="Poppins" panose="00000500000000000000" pitchFamily="2" charset="0"/>
                </a:rPr>
                <a:t>Achieved overall identification and reduction of 72% false positive alerts</a:t>
              </a:r>
            </a:p>
          </p:txBody>
        </p:sp>
      </p:grpSp>
    </p:spTree>
    <p:extLst>
      <p:ext uri="{BB962C8B-B14F-4D97-AF65-F5344CB8AC3E}">
        <p14:creationId xmlns:p14="http://schemas.microsoft.com/office/powerpoint/2010/main" val="2963449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A3F0B-FEAD-5DA9-A3B5-B7177035C1A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6AD2259-9229-EE15-3C6D-8D419E16BF19}"/>
              </a:ext>
            </a:extLst>
          </p:cNvPr>
          <p:cNvSpPr>
            <a:spLocks noGrp="1"/>
          </p:cNvSpPr>
          <p:nvPr>
            <p:ph type="title"/>
          </p:nvPr>
        </p:nvSpPr>
        <p:spPr/>
        <p:txBody>
          <a:bodyPr>
            <a:normAutofit/>
          </a:bodyPr>
          <a:lstStyle/>
          <a:p>
            <a:r>
              <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Inference Acceleration: </a:t>
            </a:r>
            <a:r>
              <a:rPr lang="en-US"/>
              <a:t>Optimizing and </a:t>
            </a:r>
            <a:r>
              <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speeding up the execution of AI models</a:t>
            </a:r>
            <a:r>
              <a:rPr lang="en-US"/>
              <a:t> to scale AI solutions  </a:t>
            </a:r>
            <a:endPar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AE00A730-F84A-E67D-0A8A-B426F10C9682}"/>
              </a:ext>
            </a:extLst>
          </p:cNvPr>
          <p:cNvSpPr/>
          <p:nvPr/>
        </p:nvSpPr>
        <p:spPr>
          <a:xfrm>
            <a:off x="622417" y="7028651"/>
            <a:ext cx="2523642" cy="36101"/>
          </a:xfrm>
          <a:prstGeom prst="rect">
            <a:avLst/>
          </a:prstGeom>
          <a:solidFill>
            <a:srgbClr val="0F1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18">
              <a:latin typeface="+mj-lt"/>
            </a:endParaRPr>
          </a:p>
        </p:txBody>
      </p:sp>
      <p:grpSp>
        <p:nvGrpSpPr>
          <p:cNvPr id="2" name="Group 1">
            <a:extLst>
              <a:ext uri="{FF2B5EF4-FFF2-40B4-BE49-F238E27FC236}">
                <a16:creationId xmlns:a16="http://schemas.microsoft.com/office/drawing/2014/main" id="{5534E1CD-87C4-44DF-38DD-7DA528835370}"/>
              </a:ext>
            </a:extLst>
          </p:cNvPr>
          <p:cNvGrpSpPr/>
          <p:nvPr/>
        </p:nvGrpSpPr>
        <p:grpSpPr>
          <a:xfrm>
            <a:off x="1884238" y="1180214"/>
            <a:ext cx="7856677" cy="4846214"/>
            <a:chOff x="2330568" y="1655439"/>
            <a:chExt cx="10710123" cy="6811717"/>
          </a:xfrm>
        </p:grpSpPr>
        <p:grpSp>
          <p:nvGrpSpPr>
            <p:cNvPr id="5" name="Group 4">
              <a:extLst>
                <a:ext uri="{FF2B5EF4-FFF2-40B4-BE49-F238E27FC236}">
                  <a16:creationId xmlns:a16="http://schemas.microsoft.com/office/drawing/2014/main" id="{0C82E7F4-16DB-A6D6-99CA-100DBE95F7A8}"/>
                </a:ext>
              </a:extLst>
            </p:cNvPr>
            <p:cNvGrpSpPr/>
            <p:nvPr/>
          </p:nvGrpSpPr>
          <p:grpSpPr>
            <a:xfrm>
              <a:off x="2330568" y="1655439"/>
              <a:ext cx="10710123" cy="6811717"/>
              <a:chOff x="443071" y="1754896"/>
              <a:chExt cx="8287530" cy="5634207"/>
            </a:xfrm>
          </p:grpSpPr>
          <p:sp>
            <p:nvSpPr>
              <p:cNvPr id="6" name="Freeform: Shape 5">
                <a:extLst>
                  <a:ext uri="{FF2B5EF4-FFF2-40B4-BE49-F238E27FC236}">
                    <a16:creationId xmlns:a16="http://schemas.microsoft.com/office/drawing/2014/main" id="{050329BF-27DB-CCC7-AE10-57D5A3AD7565}"/>
                  </a:ext>
                </a:extLst>
              </p:cNvPr>
              <p:cNvSpPr/>
              <p:nvPr/>
            </p:nvSpPr>
            <p:spPr>
              <a:xfrm>
                <a:off x="5951671" y="5586157"/>
                <a:ext cx="2778930" cy="1802946"/>
              </a:xfrm>
              <a:custGeom>
                <a:avLst/>
                <a:gdLst>
                  <a:gd name="connsiteX0" fmla="*/ 0 w 2783298"/>
                  <a:gd name="connsiteY0" fmla="*/ 180295 h 1802946"/>
                  <a:gd name="connsiteX1" fmla="*/ 180295 w 2783298"/>
                  <a:gd name="connsiteY1" fmla="*/ 0 h 1802946"/>
                  <a:gd name="connsiteX2" fmla="*/ 2603003 w 2783298"/>
                  <a:gd name="connsiteY2" fmla="*/ 0 h 1802946"/>
                  <a:gd name="connsiteX3" fmla="*/ 2783298 w 2783298"/>
                  <a:gd name="connsiteY3" fmla="*/ 180295 h 1802946"/>
                  <a:gd name="connsiteX4" fmla="*/ 2783298 w 2783298"/>
                  <a:gd name="connsiteY4" fmla="*/ 1622651 h 1802946"/>
                  <a:gd name="connsiteX5" fmla="*/ 2603003 w 2783298"/>
                  <a:gd name="connsiteY5" fmla="*/ 1802946 h 1802946"/>
                  <a:gd name="connsiteX6" fmla="*/ 180295 w 2783298"/>
                  <a:gd name="connsiteY6" fmla="*/ 1802946 h 1802946"/>
                  <a:gd name="connsiteX7" fmla="*/ 0 w 2783298"/>
                  <a:gd name="connsiteY7" fmla="*/ 1622651 h 1802946"/>
                  <a:gd name="connsiteX8" fmla="*/ 0 w 2783298"/>
                  <a:gd name="connsiteY8" fmla="*/ 180295 h 1802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3298" h="1802946">
                    <a:moveTo>
                      <a:pt x="0" y="180295"/>
                    </a:moveTo>
                    <a:cubicBezTo>
                      <a:pt x="0" y="80721"/>
                      <a:pt x="80721" y="0"/>
                      <a:pt x="180295" y="0"/>
                    </a:cubicBezTo>
                    <a:lnTo>
                      <a:pt x="2603003" y="0"/>
                    </a:lnTo>
                    <a:cubicBezTo>
                      <a:pt x="2702577" y="0"/>
                      <a:pt x="2783298" y="80721"/>
                      <a:pt x="2783298" y="180295"/>
                    </a:cubicBezTo>
                    <a:lnTo>
                      <a:pt x="2783298" y="1622651"/>
                    </a:lnTo>
                    <a:cubicBezTo>
                      <a:pt x="2783298" y="1722225"/>
                      <a:pt x="2702577" y="1802946"/>
                      <a:pt x="2603003" y="1802946"/>
                    </a:cubicBezTo>
                    <a:lnTo>
                      <a:pt x="180295" y="1802946"/>
                    </a:lnTo>
                    <a:cubicBezTo>
                      <a:pt x="80721" y="1802946"/>
                      <a:pt x="0" y="1722225"/>
                      <a:pt x="0" y="1622651"/>
                    </a:cubicBezTo>
                    <a:lnTo>
                      <a:pt x="0" y="180295"/>
                    </a:lnTo>
                    <a:close/>
                  </a:path>
                </a:pathLst>
              </a:custGeom>
              <a:ln w="19050"/>
            </p:spPr>
            <p:style>
              <a:lnRef idx="1">
                <a:schemeClr val="accent1">
                  <a:shade val="50000"/>
                  <a:hueOff val="590809"/>
                  <a:satOff val="-80208"/>
                  <a:lumOff val="61658"/>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01666" tIns="413477" rIns="75423" bIns="75424" numCol="1" spcCol="1270" anchor="t" anchorCtr="0">
                <a:noAutofit/>
              </a:bodyPr>
              <a:lstStyle/>
              <a:p>
                <a:pPr marL="128588" lvl="1" indent="-128588" defTabSz="533400">
                  <a:lnSpc>
                    <a:spcPct val="90000"/>
                  </a:lnSpc>
                  <a:spcBef>
                    <a:spcPct val="0"/>
                  </a:spcBef>
                  <a:spcAft>
                    <a:spcPts val="450"/>
                  </a:spcAft>
                  <a:buChar char="•"/>
                </a:pPr>
                <a:r>
                  <a:rPr lang="en-US" sz="1050" b="1"/>
                  <a:t>Model Quantization</a:t>
                </a:r>
              </a:p>
              <a:p>
                <a:pPr marL="128588" lvl="1" indent="-128588" defTabSz="533400">
                  <a:lnSpc>
                    <a:spcPct val="90000"/>
                  </a:lnSpc>
                  <a:spcBef>
                    <a:spcPct val="0"/>
                  </a:spcBef>
                  <a:spcAft>
                    <a:spcPts val="450"/>
                  </a:spcAft>
                  <a:buChar char="•"/>
                </a:pPr>
                <a:r>
                  <a:rPr lang="en-US" sz="1050" b="1"/>
                  <a:t>Model Pruning</a:t>
                </a:r>
              </a:p>
              <a:p>
                <a:pPr marL="128588" lvl="1" indent="-128588" defTabSz="533400">
                  <a:lnSpc>
                    <a:spcPct val="90000"/>
                  </a:lnSpc>
                  <a:spcBef>
                    <a:spcPct val="0"/>
                  </a:spcBef>
                  <a:spcAft>
                    <a:spcPts val="450"/>
                  </a:spcAft>
                  <a:buChar char="•"/>
                </a:pPr>
                <a:r>
                  <a:rPr lang="en-US" sz="1050" b="1"/>
                  <a:t>Knowledge Distillation</a:t>
                </a:r>
              </a:p>
              <a:p>
                <a:pPr marL="128588" lvl="1" indent="-128588" defTabSz="533400">
                  <a:lnSpc>
                    <a:spcPct val="90000"/>
                  </a:lnSpc>
                  <a:spcBef>
                    <a:spcPct val="0"/>
                  </a:spcBef>
                  <a:spcAft>
                    <a:spcPts val="450"/>
                  </a:spcAft>
                  <a:buChar char="•"/>
                </a:pPr>
                <a:r>
                  <a:rPr lang="en-US" sz="1050" b="1"/>
                  <a:t>Model Compilation &amp; Graph Optimization</a:t>
                </a:r>
              </a:p>
            </p:txBody>
          </p:sp>
          <p:sp>
            <p:nvSpPr>
              <p:cNvPr id="7" name="Freeform: Shape 6">
                <a:extLst>
                  <a:ext uri="{FF2B5EF4-FFF2-40B4-BE49-F238E27FC236}">
                    <a16:creationId xmlns:a16="http://schemas.microsoft.com/office/drawing/2014/main" id="{CF98B585-5C4D-8F44-1DF8-D5FAA88810B8}"/>
                  </a:ext>
                </a:extLst>
              </p:cNvPr>
              <p:cNvSpPr/>
              <p:nvPr/>
            </p:nvSpPr>
            <p:spPr>
              <a:xfrm>
                <a:off x="443071" y="5586157"/>
                <a:ext cx="2778930" cy="1802946"/>
              </a:xfrm>
              <a:custGeom>
                <a:avLst/>
                <a:gdLst>
                  <a:gd name="connsiteX0" fmla="*/ 0 w 2783298"/>
                  <a:gd name="connsiteY0" fmla="*/ 180295 h 1802946"/>
                  <a:gd name="connsiteX1" fmla="*/ 180295 w 2783298"/>
                  <a:gd name="connsiteY1" fmla="*/ 0 h 1802946"/>
                  <a:gd name="connsiteX2" fmla="*/ 2603003 w 2783298"/>
                  <a:gd name="connsiteY2" fmla="*/ 0 h 1802946"/>
                  <a:gd name="connsiteX3" fmla="*/ 2783298 w 2783298"/>
                  <a:gd name="connsiteY3" fmla="*/ 180295 h 1802946"/>
                  <a:gd name="connsiteX4" fmla="*/ 2783298 w 2783298"/>
                  <a:gd name="connsiteY4" fmla="*/ 1622651 h 1802946"/>
                  <a:gd name="connsiteX5" fmla="*/ 2603003 w 2783298"/>
                  <a:gd name="connsiteY5" fmla="*/ 1802946 h 1802946"/>
                  <a:gd name="connsiteX6" fmla="*/ 180295 w 2783298"/>
                  <a:gd name="connsiteY6" fmla="*/ 1802946 h 1802946"/>
                  <a:gd name="connsiteX7" fmla="*/ 0 w 2783298"/>
                  <a:gd name="connsiteY7" fmla="*/ 1622651 h 1802946"/>
                  <a:gd name="connsiteX8" fmla="*/ 0 w 2783298"/>
                  <a:gd name="connsiteY8" fmla="*/ 180295 h 1802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3298" h="1802946">
                    <a:moveTo>
                      <a:pt x="0" y="180295"/>
                    </a:moveTo>
                    <a:cubicBezTo>
                      <a:pt x="0" y="80721"/>
                      <a:pt x="80721" y="0"/>
                      <a:pt x="180295" y="0"/>
                    </a:cubicBezTo>
                    <a:lnTo>
                      <a:pt x="2603003" y="0"/>
                    </a:lnTo>
                    <a:cubicBezTo>
                      <a:pt x="2702577" y="0"/>
                      <a:pt x="2783298" y="80721"/>
                      <a:pt x="2783298" y="180295"/>
                    </a:cubicBezTo>
                    <a:lnTo>
                      <a:pt x="2783298" y="1622651"/>
                    </a:lnTo>
                    <a:cubicBezTo>
                      <a:pt x="2783298" y="1722225"/>
                      <a:pt x="2702577" y="1802946"/>
                      <a:pt x="2603003" y="1802946"/>
                    </a:cubicBezTo>
                    <a:lnTo>
                      <a:pt x="180295" y="1802946"/>
                    </a:lnTo>
                    <a:cubicBezTo>
                      <a:pt x="80721" y="1802946"/>
                      <a:pt x="0" y="1722225"/>
                      <a:pt x="0" y="1622651"/>
                    </a:cubicBezTo>
                    <a:lnTo>
                      <a:pt x="0" y="180295"/>
                    </a:lnTo>
                    <a:close/>
                  </a:path>
                </a:pathLst>
              </a:custGeom>
              <a:ln w="19050"/>
            </p:spPr>
            <p:style>
              <a:lnRef idx="1">
                <a:schemeClr val="accent1">
                  <a:shade val="50000"/>
                  <a:hueOff val="295405"/>
                  <a:satOff val="-40104"/>
                  <a:lumOff val="30829"/>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5424" tIns="413477" rIns="701666" bIns="75424" numCol="1" spcCol="1270" anchor="t" anchorCtr="0">
                <a:noAutofit/>
              </a:bodyPr>
              <a:lstStyle/>
              <a:p>
                <a:pPr marL="128588" lvl="1" indent="-128588" defTabSz="533400">
                  <a:lnSpc>
                    <a:spcPct val="90000"/>
                  </a:lnSpc>
                  <a:spcBef>
                    <a:spcPct val="0"/>
                  </a:spcBef>
                  <a:spcAft>
                    <a:spcPts val="450"/>
                  </a:spcAft>
                  <a:buChar char="•"/>
                </a:pPr>
                <a:r>
                  <a:rPr lang="en-US" sz="1050" b="1"/>
                  <a:t>Serving Frameworks and Server Selection</a:t>
                </a:r>
              </a:p>
              <a:p>
                <a:pPr marL="128588" lvl="1" indent="-128588" defTabSz="533400">
                  <a:lnSpc>
                    <a:spcPct val="90000"/>
                  </a:lnSpc>
                  <a:spcBef>
                    <a:spcPct val="0"/>
                  </a:spcBef>
                  <a:spcAft>
                    <a:spcPts val="450"/>
                  </a:spcAft>
                  <a:buChar char="•"/>
                </a:pPr>
                <a:r>
                  <a:rPr lang="en-US" sz="1050" b="1"/>
                  <a:t>Processing Selection (Batch vs. Streaming)</a:t>
                </a:r>
              </a:p>
            </p:txBody>
          </p:sp>
          <p:sp>
            <p:nvSpPr>
              <p:cNvPr id="8" name="Freeform: Shape 7">
                <a:extLst>
                  <a:ext uri="{FF2B5EF4-FFF2-40B4-BE49-F238E27FC236}">
                    <a16:creationId xmlns:a16="http://schemas.microsoft.com/office/drawing/2014/main" id="{05919E78-09A4-534F-33A3-9FD067AF77B0}"/>
                  </a:ext>
                </a:extLst>
              </p:cNvPr>
              <p:cNvSpPr/>
              <p:nvPr/>
            </p:nvSpPr>
            <p:spPr>
              <a:xfrm>
                <a:off x="5401345" y="1754896"/>
                <a:ext cx="2778930" cy="1802946"/>
              </a:xfrm>
              <a:custGeom>
                <a:avLst/>
                <a:gdLst>
                  <a:gd name="connsiteX0" fmla="*/ 0 w 2783298"/>
                  <a:gd name="connsiteY0" fmla="*/ 180295 h 1802946"/>
                  <a:gd name="connsiteX1" fmla="*/ 180295 w 2783298"/>
                  <a:gd name="connsiteY1" fmla="*/ 0 h 1802946"/>
                  <a:gd name="connsiteX2" fmla="*/ 2603003 w 2783298"/>
                  <a:gd name="connsiteY2" fmla="*/ 0 h 1802946"/>
                  <a:gd name="connsiteX3" fmla="*/ 2783298 w 2783298"/>
                  <a:gd name="connsiteY3" fmla="*/ 180295 h 1802946"/>
                  <a:gd name="connsiteX4" fmla="*/ 2783298 w 2783298"/>
                  <a:gd name="connsiteY4" fmla="*/ 1622651 h 1802946"/>
                  <a:gd name="connsiteX5" fmla="*/ 2603003 w 2783298"/>
                  <a:gd name="connsiteY5" fmla="*/ 1802946 h 1802946"/>
                  <a:gd name="connsiteX6" fmla="*/ 180295 w 2783298"/>
                  <a:gd name="connsiteY6" fmla="*/ 1802946 h 1802946"/>
                  <a:gd name="connsiteX7" fmla="*/ 0 w 2783298"/>
                  <a:gd name="connsiteY7" fmla="*/ 1622651 h 1802946"/>
                  <a:gd name="connsiteX8" fmla="*/ 0 w 2783298"/>
                  <a:gd name="connsiteY8" fmla="*/ 180295 h 1802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3298" h="1802946">
                    <a:moveTo>
                      <a:pt x="0" y="180295"/>
                    </a:moveTo>
                    <a:cubicBezTo>
                      <a:pt x="0" y="80721"/>
                      <a:pt x="80721" y="0"/>
                      <a:pt x="180295" y="0"/>
                    </a:cubicBezTo>
                    <a:lnTo>
                      <a:pt x="2603003" y="0"/>
                    </a:lnTo>
                    <a:cubicBezTo>
                      <a:pt x="2702577" y="0"/>
                      <a:pt x="2783298" y="80721"/>
                      <a:pt x="2783298" y="180295"/>
                    </a:cubicBezTo>
                    <a:lnTo>
                      <a:pt x="2783298" y="1622651"/>
                    </a:lnTo>
                    <a:cubicBezTo>
                      <a:pt x="2783298" y="1722225"/>
                      <a:pt x="2702577" y="1802946"/>
                      <a:pt x="2603003" y="1802946"/>
                    </a:cubicBezTo>
                    <a:lnTo>
                      <a:pt x="180295" y="1802946"/>
                    </a:lnTo>
                    <a:cubicBezTo>
                      <a:pt x="80721" y="1802946"/>
                      <a:pt x="0" y="1722225"/>
                      <a:pt x="0" y="1622651"/>
                    </a:cubicBezTo>
                    <a:lnTo>
                      <a:pt x="0" y="180295"/>
                    </a:lnTo>
                    <a:close/>
                  </a:path>
                </a:pathLst>
              </a:custGeom>
              <a:ln w="19050"/>
            </p:spPr>
            <p:style>
              <a:lnRef idx="1">
                <a:schemeClr val="accent1">
                  <a:shade val="50000"/>
                  <a:hueOff val="295405"/>
                  <a:satOff val="-40104"/>
                  <a:lumOff val="30829"/>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01666" tIns="75424" rIns="75423" bIns="413477" numCol="1" spcCol="1270" anchor="t" anchorCtr="0">
                <a:noAutofit/>
              </a:bodyPr>
              <a:lstStyle/>
              <a:p>
                <a:pPr marL="128588" lvl="1" indent="-128588" defTabSz="533400">
                  <a:lnSpc>
                    <a:spcPct val="90000"/>
                  </a:lnSpc>
                  <a:spcBef>
                    <a:spcPct val="0"/>
                  </a:spcBef>
                  <a:spcAft>
                    <a:spcPts val="450"/>
                  </a:spcAft>
                  <a:buChar char="•"/>
                </a:pPr>
                <a:r>
                  <a:rPr lang="en-US" sz="1050" b="1"/>
                  <a:t>Hardware Selection for Acceleration</a:t>
                </a:r>
              </a:p>
              <a:p>
                <a:pPr marL="128588" lvl="1" indent="-128588" defTabSz="533400">
                  <a:lnSpc>
                    <a:spcPct val="90000"/>
                  </a:lnSpc>
                  <a:spcBef>
                    <a:spcPct val="0"/>
                  </a:spcBef>
                  <a:spcAft>
                    <a:spcPts val="450"/>
                  </a:spcAft>
                  <a:buChar char="•"/>
                </a:pPr>
                <a:r>
                  <a:rPr lang="en-US" sz="1050" b="1"/>
                  <a:t>Hardware Implementation</a:t>
                </a:r>
              </a:p>
            </p:txBody>
          </p:sp>
          <p:sp>
            <p:nvSpPr>
              <p:cNvPr id="9" name="Freeform: Shape 8">
                <a:extLst>
                  <a:ext uri="{FF2B5EF4-FFF2-40B4-BE49-F238E27FC236}">
                    <a16:creationId xmlns:a16="http://schemas.microsoft.com/office/drawing/2014/main" id="{E2A478CE-E1F2-D8C7-9DBE-34CF8A77EF69}"/>
                  </a:ext>
                </a:extLst>
              </p:cNvPr>
              <p:cNvSpPr/>
              <p:nvPr/>
            </p:nvSpPr>
            <p:spPr>
              <a:xfrm>
                <a:off x="443071" y="1754896"/>
                <a:ext cx="2778930" cy="1802946"/>
              </a:xfrm>
              <a:custGeom>
                <a:avLst/>
                <a:gdLst>
                  <a:gd name="connsiteX0" fmla="*/ 0 w 2783298"/>
                  <a:gd name="connsiteY0" fmla="*/ 180295 h 1802946"/>
                  <a:gd name="connsiteX1" fmla="*/ 180295 w 2783298"/>
                  <a:gd name="connsiteY1" fmla="*/ 0 h 1802946"/>
                  <a:gd name="connsiteX2" fmla="*/ 2603003 w 2783298"/>
                  <a:gd name="connsiteY2" fmla="*/ 0 h 1802946"/>
                  <a:gd name="connsiteX3" fmla="*/ 2783298 w 2783298"/>
                  <a:gd name="connsiteY3" fmla="*/ 180295 h 1802946"/>
                  <a:gd name="connsiteX4" fmla="*/ 2783298 w 2783298"/>
                  <a:gd name="connsiteY4" fmla="*/ 1622651 h 1802946"/>
                  <a:gd name="connsiteX5" fmla="*/ 2603003 w 2783298"/>
                  <a:gd name="connsiteY5" fmla="*/ 1802946 h 1802946"/>
                  <a:gd name="connsiteX6" fmla="*/ 180295 w 2783298"/>
                  <a:gd name="connsiteY6" fmla="*/ 1802946 h 1802946"/>
                  <a:gd name="connsiteX7" fmla="*/ 0 w 2783298"/>
                  <a:gd name="connsiteY7" fmla="*/ 1622651 h 1802946"/>
                  <a:gd name="connsiteX8" fmla="*/ 0 w 2783298"/>
                  <a:gd name="connsiteY8" fmla="*/ 180295 h 1802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3298" h="1802946">
                    <a:moveTo>
                      <a:pt x="0" y="180295"/>
                    </a:moveTo>
                    <a:cubicBezTo>
                      <a:pt x="0" y="80721"/>
                      <a:pt x="80721" y="0"/>
                      <a:pt x="180295" y="0"/>
                    </a:cubicBezTo>
                    <a:lnTo>
                      <a:pt x="2603003" y="0"/>
                    </a:lnTo>
                    <a:cubicBezTo>
                      <a:pt x="2702577" y="0"/>
                      <a:pt x="2783298" y="80721"/>
                      <a:pt x="2783298" y="180295"/>
                    </a:cubicBezTo>
                    <a:lnTo>
                      <a:pt x="2783298" y="1622651"/>
                    </a:lnTo>
                    <a:cubicBezTo>
                      <a:pt x="2783298" y="1722225"/>
                      <a:pt x="2702577" y="1802946"/>
                      <a:pt x="2603003" y="1802946"/>
                    </a:cubicBezTo>
                    <a:lnTo>
                      <a:pt x="180295" y="1802946"/>
                    </a:lnTo>
                    <a:cubicBezTo>
                      <a:pt x="80721" y="1802946"/>
                      <a:pt x="0" y="1722225"/>
                      <a:pt x="0" y="1622651"/>
                    </a:cubicBezTo>
                    <a:lnTo>
                      <a:pt x="0" y="180295"/>
                    </a:lnTo>
                    <a:close/>
                  </a:path>
                </a:pathLst>
              </a:custGeom>
              <a:ln w="19050"/>
            </p:spPr>
            <p:style>
              <a:lnRef idx="1">
                <a:schemeClr val="accent1">
                  <a:shade val="50000"/>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5424" tIns="75424" rIns="701666" bIns="413477" numCol="1" spcCol="1270" anchor="t" anchorCtr="0">
                <a:noAutofit/>
              </a:bodyPr>
              <a:lstStyle/>
              <a:p>
                <a:pPr marL="128588" lvl="1" indent="-128588" defTabSz="533400">
                  <a:lnSpc>
                    <a:spcPct val="90000"/>
                  </a:lnSpc>
                  <a:spcBef>
                    <a:spcPct val="0"/>
                  </a:spcBef>
                  <a:spcAft>
                    <a:spcPts val="450"/>
                  </a:spcAft>
                  <a:buChar char="•"/>
                </a:pPr>
                <a:r>
                  <a:rPr lang="en-US" sz="1050" b="1"/>
                  <a:t>Multi-GPU &amp; Multi-Node Inference</a:t>
                </a:r>
              </a:p>
              <a:p>
                <a:pPr marL="128588" lvl="1" indent="-128588" defTabSz="533400">
                  <a:lnSpc>
                    <a:spcPct val="90000"/>
                  </a:lnSpc>
                  <a:spcBef>
                    <a:spcPct val="0"/>
                  </a:spcBef>
                  <a:spcAft>
                    <a:spcPts val="450"/>
                  </a:spcAft>
                  <a:buChar char="•"/>
                </a:pPr>
                <a:r>
                  <a:rPr lang="en-US" sz="1050" b="1"/>
                  <a:t>Edge-Cloud Hybrid Inference</a:t>
                </a:r>
              </a:p>
              <a:p>
                <a:pPr marL="128588" lvl="1" indent="-128588" defTabSz="533400">
                  <a:lnSpc>
                    <a:spcPct val="90000"/>
                  </a:lnSpc>
                  <a:spcBef>
                    <a:spcPct val="0"/>
                  </a:spcBef>
                  <a:spcAft>
                    <a:spcPts val="450"/>
                  </a:spcAft>
                  <a:buChar char="•"/>
                </a:pPr>
                <a:r>
                  <a:rPr lang="en-US" sz="1050" b="1"/>
                  <a:t>Serverless Inference</a:t>
                </a:r>
              </a:p>
            </p:txBody>
          </p:sp>
          <p:sp>
            <p:nvSpPr>
              <p:cNvPr id="10" name="Freeform: Shape 9">
                <a:extLst>
                  <a:ext uri="{FF2B5EF4-FFF2-40B4-BE49-F238E27FC236}">
                    <a16:creationId xmlns:a16="http://schemas.microsoft.com/office/drawing/2014/main" id="{145D7FD1-5768-2F9B-3E9A-A6AE6EB7D09A}"/>
                  </a:ext>
                </a:extLst>
              </p:cNvPr>
              <p:cNvSpPr/>
              <p:nvPr/>
            </p:nvSpPr>
            <p:spPr>
              <a:xfrm>
                <a:off x="2026454" y="2076045"/>
                <a:ext cx="2439612" cy="2439612"/>
              </a:xfrm>
              <a:custGeom>
                <a:avLst/>
                <a:gdLst>
                  <a:gd name="connsiteX0" fmla="*/ 0 w 2439612"/>
                  <a:gd name="connsiteY0" fmla="*/ 2439612 h 2439612"/>
                  <a:gd name="connsiteX1" fmla="*/ 2439612 w 2439612"/>
                  <a:gd name="connsiteY1" fmla="*/ 0 h 2439612"/>
                  <a:gd name="connsiteX2" fmla="*/ 2439612 w 2439612"/>
                  <a:gd name="connsiteY2" fmla="*/ 2439612 h 2439612"/>
                  <a:gd name="connsiteX3" fmla="*/ 0 w 2439612"/>
                  <a:gd name="connsiteY3" fmla="*/ 2439612 h 2439612"/>
                </a:gdLst>
                <a:ahLst/>
                <a:cxnLst>
                  <a:cxn ang="0">
                    <a:pos x="connsiteX0" y="connsiteY0"/>
                  </a:cxn>
                  <a:cxn ang="0">
                    <a:pos x="connsiteX1" y="connsiteY1"/>
                  </a:cxn>
                  <a:cxn ang="0">
                    <a:pos x="connsiteX2" y="connsiteY2"/>
                  </a:cxn>
                  <a:cxn ang="0">
                    <a:pos x="connsiteX3" y="connsiteY3"/>
                  </a:cxn>
                </a:cxnLst>
                <a:rect l="l" t="t" r="r" b="b"/>
                <a:pathLst>
                  <a:path w="2439612" h="2439612">
                    <a:moveTo>
                      <a:pt x="0" y="2439612"/>
                    </a:moveTo>
                    <a:cubicBezTo>
                      <a:pt x="0" y="1092251"/>
                      <a:pt x="1092251" y="0"/>
                      <a:pt x="2439612" y="0"/>
                    </a:cubicBezTo>
                    <a:lnTo>
                      <a:pt x="2439612" y="2439612"/>
                    </a:lnTo>
                    <a:lnTo>
                      <a:pt x="0" y="2439612"/>
                    </a:lnTo>
                    <a:close/>
                  </a:path>
                </a:pathLst>
              </a:custGeom>
              <a:solidFill>
                <a:schemeClr val="accent1">
                  <a:lumMod val="90000"/>
                  <a:lumOff val="10000"/>
                </a:schemeClr>
              </a:solidFill>
            </p:spPr>
            <p:style>
              <a:lnRef idx="0">
                <a:schemeClr val="lt1">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spcFirstLastPara="0" vert="horz" wrap="square" lIns="631922" tIns="631922" rIns="96012" bIns="96012" numCol="1" spcCol="1270" anchor="ctr" anchorCtr="0">
                <a:noAutofit/>
              </a:bodyPr>
              <a:lstStyle/>
              <a:p>
                <a:pPr algn="ctr" defTabSz="600075">
                  <a:lnSpc>
                    <a:spcPct val="90000"/>
                  </a:lnSpc>
                  <a:spcBef>
                    <a:spcPct val="0"/>
                  </a:spcBef>
                  <a:spcAft>
                    <a:spcPct val="35000"/>
                  </a:spcAft>
                </a:pPr>
                <a:r>
                  <a:rPr lang="en-US" sz="1200" b="1">
                    <a:solidFill>
                      <a:schemeClr val="bg1"/>
                    </a:solidFill>
                  </a:rPr>
                  <a:t>Define Inference Strategies</a:t>
                </a:r>
                <a:endParaRPr lang="en-US" sz="1200">
                  <a:solidFill>
                    <a:schemeClr val="bg1"/>
                  </a:solidFill>
                </a:endParaRPr>
              </a:p>
            </p:txBody>
          </p:sp>
          <p:sp>
            <p:nvSpPr>
              <p:cNvPr id="11" name="Freeform: Shape 10">
                <a:extLst>
                  <a:ext uri="{FF2B5EF4-FFF2-40B4-BE49-F238E27FC236}">
                    <a16:creationId xmlns:a16="http://schemas.microsoft.com/office/drawing/2014/main" id="{3DBA8C36-B7CF-D25C-BEEE-FFB57AF8CE57}"/>
                  </a:ext>
                </a:extLst>
              </p:cNvPr>
              <p:cNvSpPr/>
              <p:nvPr/>
            </p:nvSpPr>
            <p:spPr>
              <a:xfrm>
                <a:off x="4578751" y="2076045"/>
                <a:ext cx="2439612" cy="2439612"/>
              </a:xfrm>
              <a:custGeom>
                <a:avLst/>
                <a:gdLst>
                  <a:gd name="connsiteX0" fmla="*/ 0 w 2439612"/>
                  <a:gd name="connsiteY0" fmla="*/ 2439612 h 2439612"/>
                  <a:gd name="connsiteX1" fmla="*/ 2439612 w 2439612"/>
                  <a:gd name="connsiteY1" fmla="*/ 0 h 2439612"/>
                  <a:gd name="connsiteX2" fmla="*/ 2439612 w 2439612"/>
                  <a:gd name="connsiteY2" fmla="*/ 2439612 h 2439612"/>
                  <a:gd name="connsiteX3" fmla="*/ 0 w 2439612"/>
                  <a:gd name="connsiteY3" fmla="*/ 2439612 h 2439612"/>
                </a:gdLst>
                <a:ahLst/>
                <a:cxnLst>
                  <a:cxn ang="0">
                    <a:pos x="connsiteX0" y="connsiteY0"/>
                  </a:cxn>
                  <a:cxn ang="0">
                    <a:pos x="connsiteX1" y="connsiteY1"/>
                  </a:cxn>
                  <a:cxn ang="0">
                    <a:pos x="connsiteX2" y="connsiteY2"/>
                  </a:cxn>
                  <a:cxn ang="0">
                    <a:pos x="connsiteX3" y="connsiteY3"/>
                  </a:cxn>
                </a:cxnLst>
                <a:rect l="l" t="t" r="r" b="b"/>
                <a:pathLst>
                  <a:path w="2439612" h="2439612">
                    <a:moveTo>
                      <a:pt x="0" y="0"/>
                    </a:moveTo>
                    <a:cubicBezTo>
                      <a:pt x="1347361" y="0"/>
                      <a:pt x="2439612" y="1092251"/>
                      <a:pt x="2439612" y="2439612"/>
                    </a:cubicBezTo>
                    <a:lnTo>
                      <a:pt x="0" y="2439612"/>
                    </a:lnTo>
                    <a:lnTo>
                      <a:pt x="0" y="0"/>
                    </a:lnTo>
                    <a:close/>
                  </a:path>
                </a:pathLst>
              </a:custGeom>
              <a:solidFill>
                <a:schemeClr val="accent1">
                  <a:lumMod val="75000"/>
                  <a:lumOff val="25000"/>
                </a:schemeClr>
              </a:solidFill>
            </p:spPr>
            <p:style>
              <a:lnRef idx="0">
                <a:schemeClr val="lt1">
                  <a:hueOff val="0"/>
                  <a:satOff val="0"/>
                  <a:lumOff val="0"/>
                  <a:alphaOff val="0"/>
                </a:schemeClr>
              </a:lnRef>
              <a:fillRef idx="3">
                <a:schemeClr val="accent1">
                  <a:shade val="50000"/>
                  <a:hueOff val="295405"/>
                  <a:satOff val="-40104"/>
                  <a:lumOff val="30829"/>
                  <a:alphaOff val="0"/>
                </a:schemeClr>
              </a:fillRef>
              <a:effectRef idx="3">
                <a:schemeClr val="accent1">
                  <a:shade val="50000"/>
                  <a:hueOff val="295405"/>
                  <a:satOff val="-40104"/>
                  <a:lumOff val="30829"/>
                  <a:alphaOff val="0"/>
                </a:schemeClr>
              </a:effectRef>
              <a:fontRef idx="minor">
                <a:schemeClr val="lt1"/>
              </a:fontRef>
            </p:style>
            <p:txBody>
              <a:bodyPr spcFirstLastPara="0" vert="horz" wrap="square" lIns="96012" tIns="631922" rIns="631922" bIns="96012" numCol="1" spcCol="1270" anchor="ctr" anchorCtr="0">
                <a:noAutofit/>
              </a:bodyPr>
              <a:lstStyle/>
              <a:p>
                <a:pPr algn="ctr" defTabSz="600075">
                  <a:lnSpc>
                    <a:spcPct val="90000"/>
                  </a:lnSpc>
                  <a:spcBef>
                    <a:spcPct val="0"/>
                  </a:spcBef>
                  <a:spcAft>
                    <a:spcPct val="35000"/>
                  </a:spcAft>
                </a:pPr>
                <a:r>
                  <a:rPr lang="en-US" sz="1200" b="1">
                    <a:solidFill>
                      <a:schemeClr val="bg1"/>
                    </a:solidFill>
                  </a:rPr>
                  <a:t>Hardware Selection</a:t>
                </a:r>
                <a:endParaRPr lang="en-US" sz="1200">
                  <a:solidFill>
                    <a:schemeClr val="bg1"/>
                  </a:solidFill>
                </a:endParaRPr>
              </a:p>
            </p:txBody>
          </p:sp>
          <p:sp>
            <p:nvSpPr>
              <p:cNvPr id="13" name="Freeform: Shape 12">
                <a:extLst>
                  <a:ext uri="{FF2B5EF4-FFF2-40B4-BE49-F238E27FC236}">
                    <a16:creationId xmlns:a16="http://schemas.microsoft.com/office/drawing/2014/main" id="{64A3BD8B-24C3-3A2C-A08D-803D30C3AB27}"/>
                  </a:ext>
                </a:extLst>
              </p:cNvPr>
              <p:cNvSpPr/>
              <p:nvPr/>
            </p:nvSpPr>
            <p:spPr>
              <a:xfrm rot="21600000">
                <a:off x="4578751" y="4628342"/>
                <a:ext cx="2439613" cy="2439612"/>
              </a:xfrm>
              <a:custGeom>
                <a:avLst/>
                <a:gdLst>
                  <a:gd name="connsiteX0" fmla="*/ 0 w 2439612"/>
                  <a:gd name="connsiteY0" fmla="*/ 2439612 h 2439612"/>
                  <a:gd name="connsiteX1" fmla="*/ 2439612 w 2439612"/>
                  <a:gd name="connsiteY1" fmla="*/ 0 h 2439612"/>
                  <a:gd name="connsiteX2" fmla="*/ 2439612 w 2439612"/>
                  <a:gd name="connsiteY2" fmla="*/ 2439612 h 2439612"/>
                  <a:gd name="connsiteX3" fmla="*/ 0 w 2439612"/>
                  <a:gd name="connsiteY3" fmla="*/ 2439612 h 2439612"/>
                </a:gdLst>
                <a:ahLst/>
                <a:cxnLst>
                  <a:cxn ang="0">
                    <a:pos x="connsiteX0" y="connsiteY0"/>
                  </a:cxn>
                  <a:cxn ang="0">
                    <a:pos x="connsiteX1" y="connsiteY1"/>
                  </a:cxn>
                  <a:cxn ang="0">
                    <a:pos x="connsiteX2" y="connsiteY2"/>
                  </a:cxn>
                  <a:cxn ang="0">
                    <a:pos x="connsiteX3" y="connsiteY3"/>
                  </a:cxn>
                </a:cxnLst>
                <a:rect l="l" t="t" r="r" b="b"/>
                <a:pathLst>
                  <a:path w="2439612" h="2439612">
                    <a:moveTo>
                      <a:pt x="2439612" y="0"/>
                    </a:moveTo>
                    <a:cubicBezTo>
                      <a:pt x="2439612" y="1347361"/>
                      <a:pt x="1347361" y="2439612"/>
                      <a:pt x="0" y="2439612"/>
                    </a:cubicBezTo>
                    <a:lnTo>
                      <a:pt x="0" y="0"/>
                    </a:lnTo>
                    <a:lnTo>
                      <a:pt x="2439612" y="0"/>
                    </a:lnTo>
                    <a:close/>
                  </a:path>
                </a:pathLst>
              </a:custGeom>
              <a:solidFill>
                <a:schemeClr val="accent1">
                  <a:lumMod val="50000"/>
                  <a:lumOff val="50000"/>
                </a:schemeClr>
              </a:solidFill>
            </p:spPr>
            <p:style>
              <a:lnRef idx="0">
                <a:schemeClr val="lt1">
                  <a:hueOff val="0"/>
                  <a:satOff val="0"/>
                  <a:lumOff val="0"/>
                  <a:alphaOff val="0"/>
                </a:schemeClr>
              </a:lnRef>
              <a:fillRef idx="3">
                <a:schemeClr val="accent1">
                  <a:shade val="50000"/>
                  <a:hueOff val="590809"/>
                  <a:satOff val="-80208"/>
                  <a:lumOff val="61658"/>
                  <a:alphaOff val="0"/>
                </a:schemeClr>
              </a:fillRef>
              <a:effectRef idx="3">
                <a:schemeClr val="accent1">
                  <a:shade val="50000"/>
                  <a:hueOff val="590809"/>
                  <a:satOff val="-80208"/>
                  <a:lumOff val="61658"/>
                  <a:alphaOff val="0"/>
                </a:schemeClr>
              </a:effectRef>
              <a:fontRef idx="minor">
                <a:schemeClr val="lt1"/>
              </a:fontRef>
            </p:style>
            <p:txBody>
              <a:bodyPr spcFirstLastPara="0" vert="horz" wrap="square" lIns="96012" tIns="96012" rIns="631922" bIns="631922" numCol="1" spcCol="1270" anchor="ctr" anchorCtr="0">
                <a:noAutofit/>
              </a:bodyPr>
              <a:lstStyle/>
              <a:p>
                <a:pPr algn="ctr" defTabSz="600075">
                  <a:lnSpc>
                    <a:spcPct val="90000"/>
                  </a:lnSpc>
                  <a:spcBef>
                    <a:spcPct val="0"/>
                  </a:spcBef>
                  <a:spcAft>
                    <a:spcPct val="35000"/>
                  </a:spcAft>
                </a:pPr>
                <a:endParaRPr lang="en-US" sz="1200" b="1">
                  <a:solidFill>
                    <a:schemeClr val="bg1"/>
                  </a:solidFill>
                </a:endParaRPr>
              </a:p>
              <a:p>
                <a:pPr algn="ctr" defTabSz="600075">
                  <a:lnSpc>
                    <a:spcPct val="90000"/>
                  </a:lnSpc>
                  <a:spcBef>
                    <a:spcPct val="0"/>
                  </a:spcBef>
                  <a:spcAft>
                    <a:spcPct val="35000"/>
                  </a:spcAft>
                </a:pPr>
                <a:endParaRPr lang="en-US" sz="1200" b="1">
                  <a:solidFill>
                    <a:schemeClr val="bg1"/>
                  </a:solidFill>
                </a:endParaRPr>
              </a:p>
              <a:p>
                <a:pPr algn="ctr" defTabSz="600075">
                  <a:lnSpc>
                    <a:spcPct val="90000"/>
                  </a:lnSpc>
                  <a:spcBef>
                    <a:spcPct val="0"/>
                  </a:spcBef>
                  <a:spcAft>
                    <a:spcPct val="35000"/>
                  </a:spcAft>
                </a:pPr>
                <a:r>
                  <a:rPr lang="en-US" sz="1200" b="1">
                    <a:solidFill>
                      <a:schemeClr val="bg1"/>
                    </a:solidFill>
                  </a:rPr>
                  <a:t>Execute Model Optimization</a:t>
                </a:r>
                <a:endParaRPr lang="en-US" sz="1200">
                  <a:solidFill>
                    <a:schemeClr val="bg1"/>
                  </a:solidFill>
                </a:endParaRPr>
              </a:p>
            </p:txBody>
          </p:sp>
          <p:sp>
            <p:nvSpPr>
              <p:cNvPr id="14" name="Freeform: Shape 13">
                <a:extLst>
                  <a:ext uri="{FF2B5EF4-FFF2-40B4-BE49-F238E27FC236}">
                    <a16:creationId xmlns:a16="http://schemas.microsoft.com/office/drawing/2014/main" id="{72677CFB-0F1E-BEAA-952D-4352706C25BB}"/>
                  </a:ext>
                </a:extLst>
              </p:cNvPr>
              <p:cNvSpPr/>
              <p:nvPr/>
            </p:nvSpPr>
            <p:spPr>
              <a:xfrm rot="21600000">
                <a:off x="2026453" y="4628342"/>
                <a:ext cx="2439613" cy="2439612"/>
              </a:xfrm>
              <a:custGeom>
                <a:avLst/>
                <a:gdLst>
                  <a:gd name="connsiteX0" fmla="*/ 0 w 2439612"/>
                  <a:gd name="connsiteY0" fmla="*/ 2439612 h 2439612"/>
                  <a:gd name="connsiteX1" fmla="*/ 2439612 w 2439612"/>
                  <a:gd name="connsiteY1" fmla="*/ 0 h 2439612"/>
                  <a:gd name="connsiteX2" fmla="*/ 2439612 w 2439612"/>
                  <a:gd name="connsiteY2" fmla="*/ 2439612 h 2439612"/>
                  <a:gd name="connsiteX3" fmla="*/ 0 w 2439612"/>
                  <a:gd name="connsiteY3" fmla="*/ 2439612 h 2439612"/>
                </a:gdLst>
                <a:ahLst/>
                <a:cxnLst>
                  <a:cxn ang="0">
                    <a:pos x="connsiteX0" y="connsiteY0"/>
                  </a:cxn>
                  <a:cxn ang="0">
                    <a:pos x="connsiteX1" y="connsiteY1"/>
                  </a:cxn>
                  <a:cxn ang="0">
                    <a:pos x="connsiteX2" y="connsiteY2"/>
                  </a:cxn>
                  <a:cxn ang="0">
                    <a:pos x="connsiteX3" y="connsiteY3"/>
                  </a:cxn>
                </a:cxnLst>
                <a:rect l="l" t="t" r="r" b="b"/>
                <a:pathLst>
                  <a:path w="2439612" h="2439612">
                    <a:moveTo>
                      <a:pt x="2439612" y="2439612"/>
                    </a:moveTo>
                    <a:cubicBezTo>
                      <a:pt x="1092251" y="2439612"/>
                      <a:pt x="0" y="1347361"/>
                      <a:pt x="0" y="0"/>
                    </a:cubicBezTo>
                    <a:lnTo>
                      <a:pt x="2439612" y="0"/>
                    </a:lnTo>
                    <a:lnTo>
                      <a:pt x="2439612" y="2439612"/>
                    </a:lnTo>
                    <a:close/>
                  </a:path>
                </a:pathLst>
              </a:custGeom>
              <a:solidFill>
                <a:srgbClr val="9DC3E6"/>
              </a:solidFill>
            </p:spPr>
            <p:style>
              <a:lnRef idx="0">
                <a:schemeClr val="lt1">
                  <a:hueOff val="0"/>
                  <a:satOff val="0"/>
                  <a:lumOff val="0"/>
                  <a:alphaOff val="0"/>
                </a:schemeClr>
              </a:lnRef>
              <a:fillRef idx="3">
                <a:schemeClr val="accent1">
                  <a:shade val="50000"/>
                  <a:hueOff val="295405"/>
                  <a:satOff val="-40104"/>
                  <a:lumOff val="30829"/>
                  <a:alphaOff val="0"/>
                </a:schemeClr>
              </a:fillRef>
              <a:effectRef idx="3">
                <a:schemeClr val="accent1">
                  <a:shade val="50000"/>
                  <a:hueOff val="295405"/>
                  <a:satOff val="-40104"/>
                  <a:lumOff val="30829"/>
                  <a:alphaOff val="0"/>
                </a:schemeClr>
              </a:effectRef>
              <a:fontRef idx="minor">
                <a:schemeClr val="lt1"/>
              </a:fontRef>
            </p:style>
            <p:txBody>
              <a:bodyPr spcFirstLastPara="0" vert="horz" wrap="square" lIns="631922" tIns="96012" rIns="96012" bIns="631922" numCol="1" spcCol="1270" anchor="ctr" anchorCtr="0">
                <a:noAutofit/>
              </a:bodyPr>
              <a:lstStyle/>
              <a:p>
                <a:pPr algn="ctr" defTabSz="600075">
                  <a:lnSpc>
                    <a:spcPct val="90000"/>
                  </a:lnSpc>
                  <a:spcBef>
                    <a:spcPct val="0"/>
                  </a:spcBef>
                  <a:spcAft>
                    <a:spcPct val="35000"/>
                  </a:spcAft>
                </a:pPr>
                <a:endParaRPr lang="en-US" sz="1200" b="1">
                  <a:solidFill>
                    <a:schemeClr val="bg1"/>
                  </a:solidFill>
                </a:endParaRPr>
              </a:p>
              <a:p>
                <a:pPr algn="ctr" defTabSz="600075">
                  <a:lnSpc>
                    <a:spcPct val="90000"/>
                  </a:lnSpc>
                  <a:spcBef>
                    <a:spcPct val="0"/>
                  </a:spcBef>
                  <a:spcAft>
                    <a:spcPct val="35000"/>
                  </a:spcAft>
                </a:pPr>
                <a:endParaRPr lang="en-US" sz="1200" b="1">
                  <a:solidFill>
                    <a:schemeClr val="bg1"/>
                  </a:solidFill>
                </a:endParaRPr>
              </a:p>
              <a:p>
                <a:pPr algn="ctr" defTabSz="600075">
                  <a:lnSpc>
                    <a:spcPct val="90000"/>
                  </a:lnSpc>
                  <a:spcBef>
                    <a:spcPct val="0"/>
                  </a:spcBef>
                  <a:spcAft>
                    <a:spcPct val="35000"/>
                  </a:spcAft>
                </a:pPr>
                <a:r>
                  <a:rPr lang="en-US" sz="1200" b="1">
                    <a:solidFill>
                      <a:schemeClr val="bg1"/>
                    </a:solidFill>
                  </a:rPr>
                  <a:t>Design Serving Architecture</a:t>
                </a:r>
                <a:endParaRPr lang="en-US" sz="1200">
                  <a:solidFill>
                    <a:schemeClr val="bg1"/>
                  </a:solidFill>
                </a:endParaRPr>
              </a:p>
            </p:txBody>
          </p:sp>
          <p:sp>
            <p:nvSpPr>
              <p:cNvPr id="15" name="Arrow: Circular 14">
                <a:extLst>
                  <a:ext uri="{FF2B5EF4-FFF2-40B4-BE49-F238E27FC236}">
                    <a16:creationId xmlns:a16="http://schemas.microsoft.com/office/drawing/2014/main" id="{FDE63F7A-73CB-641E-10AA-D5B2D25AB8EB}"/>
                  </a:ext>
                </a:extLst>
              </p:cNvPr>
              <p:cNvSpPr/>
              <p:nvPr/>
            </p:nvSpPr>
            <p:spPr>
              <a:xfrm>
                <a:off x="4101251" y="4064921"/>
                <a:ext cx="842314" cy="732447"/>
              </a:xfrm>
              <a:prstGeom prst="circularArrow">
                <a:avLst/>
              </a:prstGeom>
              <a:solidFill>
                <a:schemeClr val="tx1"/>
              </a:solidFill>
            </p:spPr>
            <p:style>
              <a:lnRef idx="0">
                <a:schemeClr val="lt1">
                  <a:hueOff val="0"/>
                  <a:satOff val="0"/>
                  <a:lumOff val="0"/>
                  <a:alphaOff val="0"/>
                </a:schemeClr>
              </a:lnRef>
              <a:fillRef idx="3">
                <a:schemeClr val="accent1">
                  <a:tint val="55000"/>
                  <a:hueOff val="0"/>
                  <a:satOff val="0"/>
                  <a:lumOff val="0"/>
                  <a:alphaOff val="0"/>
                </a:schemeClr>
              </a:fillRef>
              <a:effectRef idx="3">
                <a:schemeClr val="accent1">
                  <a:tint val="55000"/>
                  <a:hueOff val="0"/>
                  <a:satOff val="0"/>
                  <a:lumOff val="0"/>
                  <a:alphaOff val="0"/>
                </a:schemeClr>
              </a:effectRef>
              <a:fontRef idx="minor">
                <a:schemeClr val="dk1">
                  <a:hueOff val="0"/>
                  <a:satOff val="0"/>
                  <a:lumOff val="0"/>
                  <a:alphaOff val="0"/>
                </a:schemeClr>
              </a:fontRef>
            </p:style>
            <p:txBody>
              <a:bodyPr/>
              <a:lstStyle/>
              <a:p>
                <a:endParaRPr lang="en-US" sz="1350"/>
              </a:p>
            </p:txBody>
          </p:sp>
          <p:sp>
            <p:nvSpPr>
              <p:cNvPr id="16" name="Arrow: Circular 15">
                <a:extLst>
                  <a:ext uri="{FF2B5EF4-FFF2-40B4-BE49-F238E27FC236}">
                    <a16:creationId xmlns:a16="http://schemas.microsoft.com/office/drawing/2014/main" id="{E6DED4A2-02DA-60A6-0DF6-E8F5883272CF}"/>
                  </a:ext>
                </a:extLst>
              </p:cNvPr>
              <p:cNvSpPr/>
              <p:nvPr/>
            </p:nvSpPr>
            <p:spPr>
              <a:xfrm rot="10800000">
                <a:off x="4101251" y="4346631"/>
                <a:ext cx="842314" cy="732447"/>
              </a:xfrm>
              <a:prstGeom prst="circularArrow">
                <a:avLst/>
              </a:prstGeom>
              <a:solidFill>
                <a:schemeClr val="tx1"/>
              </a:solidFill>
            </p:spPr>
            <p:style>
              <a:lnRef idx="0">
                <a:schemeClr val="lt1">
                  <a:hueOff val="0"/>
                  <a:satOff val="0"/>
                  <a:lumOff val="0"/>
                  <a:alphaOff val="0"/>
                </a:schemeClr>
              </a:lnRef>
              <a:fillRef idx="3">
                <a:schemeClr val="accent1">
                  <a:tint val="55000"/>
                  <a:hueOff val="0"/>
                  <a:satOff val="0"/>
                  <a:lumOff val="0"/>
                  <a:alphaOff val="0"/>
                </a:schemeClr>
              </a:fillRef>
              <a:effectRef idx="3">
                <a:schemeClr val="accent1">
                  <a:tint val="55000"/>
                  <a:hueOff val="0"/>
                  <a:satOff val="0"/>
                  <a:lumOff val="0"/>
                  <a:alphaOff val="0"/>
                </a:schemeClr>
              </a:effectRef>
              <a:fontRef idx="minor">
                <a:schemeClr val="dk1">
                  <a:hueOff val="0"/>
                  <a:satOff val="0"/>
                  <a:lumOff val="0"/>
                  <a:alphaOff val="0"/>
                </a:schemeClr>
              </a:fontRef>
            </p:style>
            <p:txBody>
              <a:bodyPr/>
              <a:lstStyle/>
              <a:p>
                <a:endParaRPr lang="en-US" sz="1350"/>
              </a:p>
            </p:txBody>
          </p:sp>
        </p:grpSp>
        <p:pic>
          <p:nvPicPr>
            <p:cNvPr id="18" name="Picture 17">
              <a:extLst>
                <a:ext uri="{FF2B5EF4-FFF2-40B4-BE49-F238E27FC236}">
                  <a16:creationId xmlns:a16="http://schemas.microsoft.com/office/drawing/2014/main" id="{7CAFC7FD-CAE2-BE5E-DEF9-DEE406058FED}"/>
                </a:ext>
              </a:extLst>
            </p:cNvPr>
            <p:cNvPicPr>
              <a:picLocks noChangeAspect="1"/>
            </p:cNvPicPr>
            <p:nvPr/>
          </p:nvPicPr>
          <p:blipFill>
            <a:blip r:embed="rId2">
              <a:lum bright="70000" contrast="-70000"/>
            </a:blip>
            <a:stretch>
              <a:fillRect/>
            </a:stretch>
          </p:blipFill>
          <p:spPr>
            <a:xfrm>
              <a:off x="6067454" y="2701559"/>
              <a:ext cx="720000" cy="720000"/>
            </a:xfrm>
            <a:prstGeom prst="rect">
              <a:avLst/>
            </a:prstGeom>
          </p:spPr>
        </p:pic>
        <p:pic>
          <p:nvPicPr>
            <p:cNvPr id="20" name="Picture 19">
              <a:extLst>
                <a:ext uri="{FF2B5EF4-FFF2-40B4-BE49-F238E27FC236}">
                  <a16:creationId xmlns:a16="http://schemas.microsoft.com/office/drawing/2014/main" id="{5089E36B-F6A9-9920-54B9-41C62EEA0310}"/>
                </a:ext>
              </a:extLst>
            </p:cNvPr>
            <p:cNvPicPr>
              <a:picLocks noChangeAspect="1"/>
            </p:cNvPicPr>
            <p:nvPr/>
          </p:nvPicPr>
          <p:blipFill>
            <a:blip r:embed="rId3">
              <a:lum bright="70000" contrast="-70000"/>
            </a:blip>
            <a:stretch>
              <a:fillRect/>
            </a:stretch>
          </p:blipFill>
          <p:spPr>
            <a:xfrm>
              <a:off x="8526326" y="2701559"/>
              <a:ext cx="720000" cy="720000"/>
            </a:xfrm>
            <a:prstGeom prst="rect">
              <a:avLst/>
            </a:prstGeom>
          </p:spPr>
        </p:pic>
        <p:pic>
          <p:nvPicPr>
            <p:cNvPr id="22" name="Picture 21">
              <a:extLst>
                <a:ext uri="{FF2B5EF4-FFF2-40B4-BE49-F238E27FC236}">
                  <a16:creationId xmlns:a16="http://schemas.microsoft.com/office/drawing/2014/main" id="{8AD8EE2C-D670-95C1-0A05-A8676C8D4620}"/>
                </a:ext>
              </a:extLst>
            </p:cNvPr>
            <p:cNvPicPr>
              <a:picLocks noChangeAspect="1"/>
            </p:cNvPicPr>
            <p:nvPr/>
          </p:nvPicPr>
          <p:blipFill>
            <a:blip r:embed="rId3">
              <a:lum bright="70000" contrast="-70000"/>
            </a:blip>
            <a:stretch>
              <a:fillRect/>
            </a:stretch>
          </p:blipFill>
          <p:spPr>
            <a:xfrm>
              <a:off x="5905286" y="5499290"/>
              <a:ext cx="720000" cy="720000"/>
            </a:xfrm>
            <a:prstGeom prst="rect">
              <a:avLst/>
            </a:prstGeom>
          </p:spPr>
        </p:pic>
        <p:pic>
          <p:nvPicPr>
            <p:cNvPr id="24" name="Picture 23">
              <a:extLst>
                <a:ext uri="{FF2B5EF4-FFF2-40B4-BE49-F238E27FC236}">
                  <a16:creationId xmlns:a16="http://schemas.microsoft.com/office/drawing/2014/main" id="{94A25E00-B87F-8C2E-0BA9-56FAE6E5C915}"/>
                </a:ext>
              </a:extLst>
            </p:cNvPr>
            <p:cNvPicPr>
              <a:picLocks noChangeAspect="1"/>
            </p:cNvPicPr>
            <p:nvPr/>
          </p:nvPicPr>
          <p:blipFill>
            <a:blip r:embed="rId4">
              <a:lum bright="70000" contrast="-70000"/>
            </a:blip>
            <a:stretch>
              <a:fillRect/>
            </a:stretch>
          </p:blipFill>
          <p:spPr>
            <a:xfrm>
              <a:off x="8555837" y="5495585"/>
              <a:ext cx="720000" cy="720000"/>
            </a:xfrm>
            <a:prstGeom prst="rect">
              <a:avLst/>
            </a:prstGeom>
          </p:spPr>
        </p:pic>
      </p:grpSp>
    </p:spTree>
    <p:extLst>
      <p:ext uri="{BB962C8B-B14F-4D97-AF65-F5344CB8AC3E}">
        <p14:creationId xmlns:p14="http://schemas.microsoft.com/office/powerpoint/2010/main" val="3835893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FFC89-3BF2-4E10-D4B2-C9543797ED0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EFEEE1A-C5D3-E81C-81E5-A04A1BD8D78E}"/>
              </a:ext>
            </a:extLst>
          </p:cNvPr>
          <p:cNvSpPr>
            <a:spLocks noGrp="1"/>
          </p:cNvSpPr>
          <p:nvPr>
            <p:ph type="title"/>
          </p:nvPr>
        </p:nvSpPr>
        <p:spPr>
          <a:xfrm>
            <a:off x="245444" y="145264"/>
            <a:ext cx="11533686" cy="945514"/>
          </a:xfrm>
        </p:spPr>
        <p:txBody>
          <a:bodyPr>
            <a:noAutofit/>
          </a:bodyPr>
          <a:lstStyle/>
          <a:p>
            <a:r>
              <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Responsible AI (RAI): </a:t>
            </a:r>
            <a:r>
              <a:rPr lang="en-US"/>
              <a:t>Our framework establishes </a:t>
            </a:r>
            <a:r>
              <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AI guardrails that evolves with industry-specific regulatory requirements</a:t>
            </a:r>
            <a:r>
              <a:rPr lang="en-US"/>
              <a:t>, ensuring ethical, secure, and compliant Data &amp; AI solutions</a:t>
            </a:r>
            <a:endPar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p:txBody>
      </p:sp>
      <p:grpSp>
        <p:nvGrpSpPr>
          <p:cNvPr id="91" name="Group 90">
            <a:extLst>
              <a:ext uri="{FF2B5EF4-FFF2-40B4-BE49-F238E27FC236}">
                <a16:creationId xmlns:a16="http://schemas.microsoft.com/office/drawing/2014/main" id="{11DD21F8-BCC1-DAB1-6B39-B05D385C8F25}"/>
              </a:ext>
            </a:extLst>
          </p:cNvPr>
          <p:cNvGrpSpPr/>
          <p:nvPr/>
        </p:nvGrpSpPr>
        <p:grpSpPr>
          <a:xfrm>
            <a:off x="223608" y="781362"/>
            <a:ext cx="11864334" cy="5512419"/>
            <a:chOff x="-287281" y="759498"/>
            <a:chExt cx="10347874" cy="5263316"/>
          </a:xfrm>
        </p:grpSpPr>
        <p:sp>
          <p:nvSpPr>
            <p:cNvPr id="50" name="Shape">
              <a:extLst>
                <a:ext uri="{FF2B5EF4-FFF2-40B4-BE49-F238E27FC236}">
                  <a16:creationId xmlns:a16="http://schemas.microsoft.com/office/drawing/2014/main" id="{77FF6D12-2E91-38BB-1A51-6239402BA213}"/>
                </a:ext>
              </a:extLst>
            </p:cNvPr>
            <p:cNvSpPr/>
            <p:nvPr/>
          </p:nvSpPr>
          <p:spPr>
            <a:xfrm>
              <a:off x="3455516" y="3081612"/>
              <a:ext cx="3063136" cy="2600385"/>
            </a:xfrm>
            <a:custGeom>
              <a:avLst/>
              <a:gdLst/>
              <a:ahLst/>
              <a:cxnLst>
                <a:cxn ang="0">
                  <a:pos x="wd2" y="hd2"/>
                </a:cxn>
                <a:cxn ang="5400000">
                  <a:pos x="wd2" y="hd2"/>
                </a:cxn>
                <a:cxn ang="10800000">
                  <a:pos x="wd2" y="hd2"/>
                </a:cxn>
                <a:cxn ang="16200000">
                  <a:pos x="wd2" y="hd2"/>
                </a:cxn>
              </a:cxnLst>
              <a:rect l="0" t="0" r="r" b="b"/>
              <a:pathLst>
                <a:path w="21051" h="20809" extrusionOk="0">
                  <a:moveTo>
                    <a:pt x="20907" y="13303"/>
                  </a:moveTo>
                  <a:lnTo>
                    <a:pt x="19369" y="12263"/>
                  </a:lnTo>
                  <a:cubicBezTo>
                    <a:pt x="18239" y="13471"/>
                    <a:pt x="16874" y="14422"/>
                    <a:pt x="15319" y="15003"/>
                  </a:cubicBezTo>
                  <a:cubicBezTo>
                    <a:pt x="12107" y="16203"/>
                    <a:pt x="8769" y="15581"/>
                    <a:pt x="6126" y="13633"/>
                  </a:cubicBezTo>
                  <a:cubicBezTo>
                    <a:pt x="4249" y="12248"/>
                    <a:pt x="2721" y="10195"/>
                    <a:pt x="1840" y="7647"/>
                  </a:cubicBezTo>
                  <a:cubicBezTo>
                    <a:pt x="1729" y="7366"/>
                    <a:pt x="1630" y="7076"/>
                    <a:pt x="1547" y="6774"/>
                  </a:cubicBezTo>
                  <a:cubicBezTo>
                    <a:pt x="1464" y="6472"/>
                    <a:pt x="1400" y="6169"/>
                    <a:pt x="1350" y="5865"/>
                  </a:cubicBezTo>
                  <a:cubicBezTo>
                    <a:pt x="1382" y="6021"/>
                    <a:pt x="1418" y="6177"/>
                    <a:pt x="1455" y="6332"/>
                  </a:cubicBezTo>
                  <a:cubicBezTo>
                    <a:pt x="1363" y="5913"/>
                    <a:pt x="1301" y="5479"/>
                    <a:pt x="1271" y="5035"/>
                  </a:cubicBezTo>
                  <a:cubicBezTo>
                    <a:pt x="1258" y="4838"/>
                    <a:pt x="1250" y="4640"/>
                    <a:pt x="1250" y="4439"/>
                  </a:cubicBezTo>
                  <a:cubicBezTo>
                    <a:pt x="1250" y="2782"/>
                    <a:pt x="1706" y="1249"/>
                    <a:pt x="2479" y="0"/>
                  </a:cubicBezTo>
                  <a:cubicBezTo>
                    <a:pt x="1395" y="1535"/>
                    <a:pt x="667" y="3297"/>
                    <a:pt x="294" y="5136"/>
                  </a:cubicBezTo>
                  <a:cubicBezTo>
                    <a:pt x="-549" y="9290"/>
                    <a:pt x="420" y="13840"/>
                    <a:pt x="3201" y="17080"/>
                  </a:cubicBezTo>
                  <a:cubicBezTo>
                    <a:pt x="3800" y="17777"/>
                    <a:pt x="4451" y="18376"/>
                    <a:pt x="5138" y="18877"/>
                  </a:cubicBezTo>
                  <a:cubicBezTo>
                    <a:pt x="8874" y="21600"/>
                    <a:pt x="13714" y="21445"/>
                    <a:pt x="17324" y="18411"/>
                  </a:cubicBezTo>
                  <a:cubicBezTo>
                    <a:pt x="17794" y="18016"/>
                    <a:pt x="18243" y="17573"/>
                    <a:pt x="18666" y="17080"/>
                  </a:cubicBezTo>
                  <a:cubicBezTo>
                    <a:pt x="19089" y="16587"/>
                    <a:pt x="19470" y="16064"/>
                    <a:pt x="19809" y="15517"/>
                  </a:cubicBezTo>
                  <a:cubicBezTo>
                    <a:pt x="20271" y="14840"/>
                    <a:pt x="20686" y="14133"/>
                    <a:pt x="21051" y="13401"/>
                  </a:cubicBezTo>
                  <a:lnTo>
                    <a:pt x="20907" y="13303"/>
                  </a:lnTo>
                  <a:close/>
                </a:path>
              </a:pathLst>
            </a:custGeom>
            <a:solidFill>
              <a:schemeClr val="accent1">
                <a:lumMod val="50000"/>
                <a:lumOff val="50000"/>
              </a:schemeClr>
            </a:solidFill>
            <a:ln w="12700">
              <a:miter lim="400000"/>
            </a:ln>
          </p:spPr>
          <p:txBody>
            <a:bodyPr lIns="28575" tIns="28575" rIns="28575" bIns="28575" anchor="ctr"/>
            <a:lstStyle/>
            <a:p>
              <a:pPr>
                <a:defRPr sz="3000">
                  <a:solidFill>
                    <a:srgbClr val="FFFFFF"/>
                  </a:solidFill>
                </a:defRPr>
              </a:pPr>
              <a:endParaRPr sz="2250"/>
            </a:p>
          </p:txBody>
        </p:sp>
        <p:sp>
          <p:nvSpPr>
            <p:cNvPr id="51" name="Shape">
              <a:extLst>
                <a:ext uri="{FF2B5EF4-FFF2-40B4-BE49-F238E27FC236}">
                  <a16:creationId xmlns:a16="http://schemas.microsoft.com/office/drawing/2014/main" id="{CEEF34EA-D21A-5C81-DD91-9AD1E7E482E8}"/>
                </a:ext>
              </a:extLst>
            </p:cNvPr>
            <p:cNvSpPr/>
            <p:nvPr/>
          </p:nvSpPr>
          <p:spPr>
            <a:xfrm>
              <a:off x="3705399" y="2453055"/>
              <a:ext cx="3063136" cy="2596472"/>
            </a:xfrm>
            <a:custGeom>
              <a:avLst/>
              <a:gdLst/>
              <a:ahLst/>
              <a:cxnLst>
                <a:cxn ang="0">
                  <a:pos x="wd2" y="hd2"/>
                </a:cxn>
                <a:cxn ang="5400000">
                  <a:pos x="wd2" y="hd2"/>
                </a:cxn>
                <a:cxn ang="10800000">
                  <a:pos x="wd2" y="hd2"/>
                </a:cxn>
                <a:cxn ang="16200000">
                  <a:pos x="wd2" y="hd2"/>
                </a:cxn>
              </a:cxnLst>
              <a:rect l="0" t="0" r="r" b="b"/>
              <a:pathLst>
                <a:path w="21169" h="21006" extrusionOk="0">
                  <a:moveTo>
                    <a:pt x="21046" y="6219"/>
                  </a:moveTo>
                  <a:cubicBezTo>
                    <a:pt x="20959" y="5544"/>
                    <a:pt x="20826" y="4869"/>
                    <a:pt x="20642" y="4198"/>
                  </a:cubicBezTo>
                  <a:cubicBezTo>
                    <a:pt x="20458" y="3528"/>
                    <a:pt x="20232" y="2887"/>
                    <a:pt x="19968" y="2279"/>
                  </a:cubicBezTo>
                  <a:cubicBezTo>
                    <a:pt x="19660" y="1481"/>
                    <a:pt x="19308" y="721"/>
                    <a:pt x="18915" y="0"/>
                  </a:cubicBezTo>
                  <a:lnTo>
                    <a:pt x="18774" y="105"/>
                  </a:lnTo>
                  <a:lnTo>
                    <a:pt x="16673" y="1683"/>
                  </a:lnTo>
                  <a:cubicBezTo>
                    <a:pt x="16845" y="2586"/>
                    <a:pt x="16935" y="3525"/>
                    <a:pt x="16935" y="4489"/>
                  </a:cubicBezTo>
                  <a:cubicBezTo>
                    <a:pt x="16935" y="8494"/>
                    <a:pt x="15374" y="12071"/>
                    <a:pt x="12927" y="14433"/>
                  </a:cubicBezTo>
                  <a:cubicBezTo>
                    <a:pt x="11313" y="15990"/>
                    <a:pt x="9314" y="17018"/>
                    <a:pt x="7122" y="17290"/>
                  </a:cubicBezTo>
                  <a:cubicBezTo>
                    <a:pt x="7089" y="17293"/>
                    <a:pt x="7056" y="17298"/>
                    <a:pt x="7024" y="17303"/>
                  </a:cubicBezTo>
                  <a:cubicBezTo>
                    <a:pt x="6950" y="17317"/>
                    <a:pt x="6874" y="17329"/>
                    <a:pt x="6800" y="17339"/>
                  </a:cubicBezTo>
                  <a:cubicBezTo>
                    <a:pt x="6793" y="17341"/>
                    <a:pt x="6786" y="17342"/>
                    <a:pt x="6779" y="17343"/>
                  </a:cubicBezTo>
                  <a:cubicBezTo>
                    <a:pt x="6776" y="17343"/>
                    <a:pt x="6773" y="17343"/>
                    <a:pt x="6770" y="17343"/>
                  </a:cubicBezTo>
                  <a:cubicBezTo>
                    <a:pt x="6671" y="17351"/>
                    <a:pt x="6572" y="17357"/>
                    <a:pt x="6472" y="17362"/>
                  </a:cubicBezTo>
                  <a:cubicBezTo>
                    <a:pt x="6306" y="17371"/>
                    <a:pt x="6140" y="17377"/>
                    <a:pt x="5972" y="17377"/>
                  </a:cubicBezTo>
                  <a:cubicBezTo>
                    <a:pt x="5764" y="17377"/>
                    <a:pt x="5557" y="17368"/>
                    <a:pt x="5351" y="17355"/>
                  </a:cubicBezTo>
                  <a:cubicBezTo>
                    <a:pt x="5319" y="17352"/>
                    <a:pt x="5287" y="17351"/>
                    <a:pt x="5255" y="17349"/>
                  </a:cubicBezTo>
                  <a:cubicBezTo>
                    <a:pt x="5225" y="17346"/>
                    <a:pt x="5195" y="17345"/>
                    <a:pt x="5165" y="17343"/>
                  </a:cubicBezTo>
                  <a:cubicBezTo>
                    <a:pt x="4986" y="17317"/>
                    <a:pt x="4809" y="17282"/>
                    <a:pt x="4635" y="17239"/>
                  </a:cubicBezTo>
                  <a:lnTo>
                    <a:pt x="4632" y="17255"/>
                  </a:lnTo>
                  <a:cubicBezTo>
                    <a:pt x="2640" y="16770"/>
                    <a:pt x="891" y="15213"/>
                    <a:pt x="0" y="12950"/>
                  </a:cubicBezTo>
                  <a:cubicBezTo>
                    <a:pt x="885" y="15526"/>
                    <a:pt x="2418" y="17603"/>
                    <a:pt x="4304" y="19002"/>
                  </a:cubicBezTo>
                  <a:cubicBezTo>
                    <a:pt x="6959" y="20972"/>
                    <a:pt x="10311" y="21600"/>
                    <a:pt x="13536" y="20388"/>
                  </a:cubicBezTo>
                  <a:cubicBezTo>
                    <a:pt x="15099" y="19800"/>
                    <a:pt x="16470" y="18839"/>
                    <a:pt x="17603" y="17617"/>
                  </a:cubicBezTo>
                  <a:cubicBezTo>
                    <a:pt x="20249" y="14774"/>
                    <a:pt x="21600" y="10513"/>
                    <a:pt x="21046" y="6219"/>
                  </a:cubicBezTo>
                  <a:close/>
                </a:path>
              </a:pathLst>
            </a:custGeom>
            <a:solidFill>
              <a:schemeClr val="accent1">
                <a:lumMod val="75000"/>
                <a:lumOff val="25000"/>
              </a:schemeClr>
            </a:solidFill>
            <a:ln w="12700">
              <a:miter lim="400000"/>
            </a:ln>
          </p:spPr>
          <p:txBody>
            <a:bodyPr lIns="28575" tIns="28575" rIns="28575" bIns="28575" anchor="ctr"/>
            <a:lstStyle/>
            <a:p>
              <a:pPr>
                <a:defRPr sz="3000">
                  <a:solidFill>
                    <a:srgbClr val="FFFFFF"/>
                  </a:solidFill>
                </a:defRPr>
              </a:pPr>
              <a:endParaRPr sz="2250"/>
            </a:p>
          </p:txBody>
        </p:sp>
        <p:sp>
          <p:nvSpPr>
            <p:cNvPr id="52" name="Shape">
              <a:extLst>
                <a:ext uri="{FF2B5EF4-FFF2-40B4-BE49-F238E27FC236}">
                  <a16:creationId xmlns:a16="http://schemas.microsoft.com/office/drawing/2014/main" id="{8BB3365D-A7DA-A4EC-5B5B-1D3F424B4199}"/>
                </a:ext>
              </a:extLst>
            </p:cNvPr>
            <p:cNvSpPr/>
            <p:nvPr/>
          </p:nvSpPr>
          <p:spPr>
            <a:xfrm>
              <a:off x="2725011" y="2627827"/>
              <a:ext cx="2213880" cy="3196465"/>
            </a:xfrm>
            <a:custGeom>
              <a:avLst/>
              <a:gdLst/>
              <a:ahLst/>
              <a:cxnLst>
                <a:cxn ang="0">
                  <a:pos x="wd2" y="hd2"/>
                </a:cxn>
                <a:cxn ang="5400000">
                  <a:pos x="wd2" y="hd2"/>
                </a:cxn>
                <a:cxn ang="10800000">
                  <a:pos x="wd2" y="hd2"/>
                </a:cxn>
                <a:cxn ang="16200000">
                  <a:pos x="wd2" y="hd2"/>
                </a:cxn>
              </a:cxnLst>
              <a:rect l="0" t="0" r="r" b="b"/>
              <a:pathLst>
                <a:path w="20517" h="21574" extrusionOk="0">
                  <a:moveTo>
                    <a:pt x="19314" y="528"/>
                  </a:moveTo>
                  <a:cubicBezTo>
                    <a:pt x="17850" y="179"/>
                    <a:pt x="16348" y="7"/>
                    <a:pt x="14859" y="1"/>
                  </a:cubicBezTo>
                  <a:cubicBezTo>
                    <a:pt x="9475" y="-26"/>
                    <a:pt x="4266" y="2103"/>
                    <a:pt x="1635" y="5829"/>
                  </a:cubicBezTo>
                  <a:cubicBezTo>
                    <a:pt x="1159" y="6502"/>
                    <a:pt x="792" y="7196"/>
                    <a:pt x="526" y="7898"/>
                  </a:cubicBezTo>
                  <a:cubicBezTo>
                    <a:pt x="-1083" y="12150"/>
                    <a:pt x="1073" y="16742"/>
                    <a:pt x="5983" y="19378"/>
                  </a:cubicBezTo>
                  <a:cubicBezTo>
                    <a:pt x="6612" y="19716"/>
                    <a:pt x="7285" y="20022"/>
                    <a:pt x="8004" y="20291"/>
                  </a:cubicBezTo>
                  <a:cubicBezTo>
                    <a:pt x="8722" y="20561"/>
                    <a:pt x="9454" y="20781"/>
                    <a:pt x="10198" y="20958"/>
                  </a:cubicBezTo>
                  <a:cubicBezTo>
                    <a:pt x="11136" y="21215"/>
                    <a:pt x="12086" y="21421"/>
                    <a:pt x="13043" y="21574"/>
                  </a:cubicBezTo>
                  <a:lnTo>
                    <a:pt x="13091" y="21415"/>
                  </a:lnTo>
                  <a:lnTo>
                    <a:pt x="13803" y="19048"/>
                  </a:lnTo>
                  <a:cubicBezTo>
                    <a:pt x="12876" y="18625"/>
                    <a:pt x="11997" y="18120"/>
                    <a:pt x="11192" y="17532"/>
                  </a:cubicBezTo>
                  <a:cubicBezTo>
                    <a:pt x="7439" y="14799"/>
                    <a:pt x="6133" y="10962"/>
                    <a:pt x="7271" y="7458"/>
                  </a:cubicBezTo>
                  <a:cubicBezTo>
                    <a:pt x="7774" y="5907"/>
                    <a:pt x="8755" y="4422"/>
                    <a:pt x="10217" y="3126"/>
                  </a:cubicBezTo>
                  <a:cubicBezTo>
                    <a:pt x="10294" y="3049"/>
                    <a:pt x="10374" y="2971"/>
                    <a:pt x="10456" y="2895"/>
                  </a:cubicBezTo>
                  <a:cubicBezTo>
                    <a:pt x="11404" y="2023"/>
                    <a:pt x="12653" y="1333"/>
                    <a:pt x="14094" y="913"/>
                  </a:cubicBezTo>
                  <a:cubicBezTo>
                    <a:pt x="15109" y="616"/>
                    <a:pt x="16215" y="451"/>
                    <a:pt x="17376" y="451"/>
                  </a:cubicBezTo>
                  <a:cubicBezTo>
                    <a:pt x="17751" y="451"/>
                    <a:pt x="18120" y="469"/>
                    <a:pt x="18483" y="503"/>
                  </a:cubicBezTo>
                  <a:cubicBezTo>
                    <a:pt x="18541" y="508"/>
                    <a:pt x="18599" y="514"/>
                    <a:pt x="18657" y="519"/>
                  </a:cubicBezTo>
                  <a:cubicBezTo>
                    <a:pt x="18691" y="523"/>
                    <a:pt x="18723" y="525"/>
                    <a:pt x="18757" y="529"/>
                  </a:cubicBezTo>
                  <a:cubicBezTo>
                    <a:pt x="18951" y="550"/>
                    <a:pt x="19146" y="575"/>
                    <a:pt x="19340" y="605"/>
                  </a:cubicBezTo>
                  <a:cubicBezTo>
                    <a:pt x="19348" y="606"/>
                    <a:pt x="19358" y="608"/>
                    <a:pt x="19366" y="609"/>
                  </a:cubicBezTo>
                  <a:cubicBezTo>
                    <a:pt x="19445" y="622"/>
                    <a:pt x="19525" y="637"/>
                    <a:pt x="19605" y="651"/>
                  </a:cubicBezTo>
                  <a:cubicBezTo>
                    <a:pt x="19911" y="707"/>
                    <a:pt x="20216" y="773"/>
                    <a:pt x="20517" y="855"/>
                  </a:cubicBezTo>
                  <a:cubicBezTo>
                    <a:pt x="20116" y="733"/>
                    <a:pt x="19717" y="624"/>
                    <a:pt x="19314" y="528"/>
                  </a:cubicBezTo>
                  <a:close/>
                </a:path>
              </a:pathLst>
            </a:custGeom>
            <a:solidFill>
              <a:schemeClr val="accent1">
                <a:lumMod val="25000"/>
                <a:lumOff val="75000"/>
              </a:schemeClr>
            </a:solidFill>
            <a:ln w="12700">
              <a:miter lim="400000"/>
            </a:ln>
          </p:spPr>
          <p:txBody>
            <a:bodyPr lIns="28575" tIns="28575" rIns="28575" bIns="28575" anchor="ctr"/>
            <a:lstStyle/>
            <a:p>
              <a:pPr>
                <a:defRPr sz="3000">
                  <a:solidFill>
                    <a:srgbClr val="FFFFFF"/>
                  </a:solidFill>
                </a:defRPr>
              </a:pPr>
              <a:endParaRPr sz="2250"/>
            </a:p>
          </p:txBody>
        </p:sp>
        <p:sp>
          <p:nvSpPr>
            <p:cNvPr id="53" name="Shape">
              <a:extLst>
                <a:ext uri="{FF2B5EF4-FFF2-40B4-BE49-F238E27FC236}">
                  <a16:creationId xmlns:a16="http://schemas.microsoft.com/office/drawing/2014/main" id="{20C41480-4C36-62A7-9FAF-FE31C00E8C1B}"/>
                </a:ext>
              </a:extLst>
            </p:cNvPr>
            <p:cNvSpPr/>
            <p:nvPr/>
          </p:nvSpPr>
          <p:spPr>
            <a:xfrm>
              <a:off x="4002822" y="1437402"/>
              <a:ext cx="2161634" cy="3173417"/>
            </a:xfrm>
            <a:custGeom>
              <a:avLst/>
              <a:gdLst/>
              <a:ahLst/>
              <a:cxnLst>
                <a:cxn ang="0">
                  <a:pos x="wd2" y="hd2"/>
                </a:cxn>
                <a:cxn ang="5400000">
                  <a:pos x="wd2" y="hd2"/>
                </a:cxn>
                <a:cxn ang="10800000">
                  <a:pos x="wd2" y="hd2"/>
                </a:cxn>
                <a:cxn ang="16200000">
                  <a:pos x="wd2" y="hd2"/>
                </a:cxn>
              </a:cxnLst>
              <a:rect l="0" t="0" r="r" b="b"/>
              <a:pathLst>
                <a:path w="21599" h="21600" extrusionOk="0">
                  <a:moveTo>
                    <a:pt x="21220" y="8470"/>
                  </a:moveTo>
                  <a:cubicBezTo>
                    <a:pt x="19820" y="4179"/>
                    <a:pt x="14683" y="848"/>
                    <a:pt x="8256" y="140"/>
                  </a:cubicBezTo>
                  <a:cubicBezTo>
                    <a:pt x="7423" y="49"/>
                    <a:pt x="6570" y="0"/>
                    <a:pt x="5700" y="0"/>
                  </a:cubicBezTo>
                  <a:cubicBezTo>
                    <a:pt x="4830" y="0"/>
                    <a:pt x="3977" y="49"/>
                    <a:pt x="3145" y="140"/>
                  </a:cubicBezTo>
                  <a:cubicBezTo>
                    <a:pt x="2071" y="223"/>
                    <a:pt x="1022" y="359"/>
                    <a:pt x="0" y="543"/>
                  </a:cubicBezTo>
                  <a:lnTo>
                    <a:pt x="61" y="702"/>
                  </a:lnTo>
                  <a:lnTo>
                    <a:pt x="1206" y="3644"/>
                  </a:lnTo>
                  <a:cubicBezTo>
                    <a:pt x="1525" y="3668"/>
                    <a:pt x="1845" y="3698"/>
                    <a:pt x="2165" y="3735"/>
                  </a:cubicBezTo>
                  <a:cubicBezTo>
                    <a:pt x="8318" y="4455"/>
                    <a:pt x="13032" y="7493"/>
                    <a:pt x="14710" y="11308"/>
                  </a:cubicBezTo>
                  <a:cubicBezTo>
                    <a:pt x="15286" y="12620"/>
                    <a:pt x="15506" y="14022"/>
                    <a:pt x="15299" y="15454"/>
                  </a:cubicBezTo>
                  <a:cubicBezTo>
                    <a:pt x="15299" y="15454"/>
                    <a:pt x="15178" y="16373"/>
                    <a:pt x="14884" y="16955"/>
                  </a:cubicBezTo>
                  <a:cubicBezTo>
                    <a:pt x="14883" y="16957"/>
                    <a:pt x="14883" y="16958"/>
                    <a:pt x="14881" y="16959"/>
                  </a:cubicBezTo>
                  <a:cubicBezTo>
                    <a:pt x="14330" y="18310"/>
                    <a:pt x="13151" y="19483"/>
                    <a:pt x="11572" y="20322"/>
                  </a:cubicBezTo>
                  <a:cubicBezTo>
                    <a:pt x="11504" y="20359"/>
                    <a:pt x="11432" y="20394"/>
                    <a:pt x="11362" y="20429"/>
                  </a:cubicBezTo>
                  <a:cubicBezTo>
                    <a:pt x="11320" y="20450"/>
                    <a:pt x="11279" y="20472"/>
                    <a:pt x="11236" y="20493"/>
                  </a:cubicBezTo>
                  <a:cubicBezTo>
                    <a:pt x="11144" y="20537"/>
                    <a:pt x="11051" y="20580"/>
                    <a:pt x="10956" y="20623"/>
                  </a:cubicBezTo>
                  <a:cubicBezTo>
                    <a:pt x="10933" y="20632"/>
                    <a:pt x="10911" y="20643"/>
                    <a:pt x="10888" y="20653"/>
                  </a:cubicBezTo>
                  <a:cubicBezTo>
                    <a:pt x="10783" y="20700"/>
                    <a:pt x="10677" y="20744"/>
                    <a:pt x="10571" y="20787"/>
                  </a:cubicBezTo>
                  <a:cubicBezTo>
                    <a:pt x="10558" y="20792"/>
                    <a:pt x="10546" y="20797"/>
                    <a:pt x="10533" y="20803"/>
                  </a:cubicBezTo>
                  <a:cubicBezTo>
                    <a:pt x="10418" y="20850"/>
                    <a:pt x="10300" y="20894"/>
                    <a:pt x="10181" y="20937"/>
                  </a:cubicBezTo>
                  <a:cubicBezTo>
                    <a:pt x="10178" y="20938"/>
                    <a:pt x="10176" y="20939"/>
                    <a:pt x="10173" y="20940"/>
                  </a:cubicBezTo>
                  <a:cubicBezTo>
                    <a:pt x="9682" y="21118"/>
                    <a:pt x="9162" y="21271"/>
                    <a:pt x="8613" y="21391"/>
                  </a:cubicBezTo>
                  <a:cubicBezTo>
                    <a:pt x="8611" y="21392"/>
                    <a:pt x="8608" y="21392"/>
                    <a:pt x="8606" y="21393"/>
                  </a:cubicBezTo>
                  <a:cubicBezTo>
                    <a:pt x="8603" y="21394"/>
                    <a:pt x="8600" y="21394"/>
                    <a:pt x="8599" y="21395"/>
                  </a:cubicBezTo>
                  <a:cubicBezTo>
                    <a:pt x="8506" y="21415"/>
                    <a:pt x="8413" y="21433"/>
                    <a:pt x="8318" y="21451"/>
                  </a:cubicBezTo>
                  <a:cubicBezTo>
                    <a:pt x="8221" y="21470"/>
                    <a:pt x="8123" y="21488"/>
                    <a:pt x="8026" y="21505"/>
                  </a:cubicBezTo>
                  <a:cubicBezTo>
                    <a:pt x="8023" y="21506"/>
                    <a:pt x="8020" y="21506"/>
                    <a:pt x="8017" y="21507"/>
                  </a:cubicBezTo>
                  <a:cubicBezTo>
                    <a:pt x="7809" y="21543"/>
                    <a:pt x="7601" y="21574"/>
                    <a:pt x="7391" y="21600"/>
                  </a:cubicBezTo>
                  <a:cubicBezTo>
                    <a:pt x="10565" y="21371"/>
                    <a:pt x="13461" y="20507"/>
                    <a:pt x="15797" y="19196"/>
                  </a:cubicBezTo>
                  <a:cubicBezTo>
                    <a:pt x="19339" y="17209"/>
                    <a:pt x="21599" y="14200"/>
                    <a:pt x="21599" y="10830"/>
                  </a:cubicBezTo>
                  <a:cubicBezTo>
                    <a:pt x="21600" y="10019"/>
                    <a:pt x="21468" y="9230"/>
                    <a:pt x="21220" y="8470"/>
                  </a:cubicBezTo>
                  <a:close/>
                </a:path>
              </a:pathLst>
            </a:custGeom>
            <a:solidFill>
              <a:schemeClr val="accent1">
                <a:lumMod val="90000"/>
                <a:lumOff val="10000"/>
              </a:schemeClr>
            </a:solidFill>
            <a:ln w="12700">
              <a:miter lim="400000"/>
            </a:ln>
          </p:spPr>
          <p:txBody>
            <a:bodyPr lIns="28575" tIns="28575" rIns="28575" bIns="28575" anchor="ctr"/>
            <a:lstStyle/>
            <a:p>
              <a:pPr>
                <a:defRPr sz="3000">
                  <a:solidFill>
                    <a:srgbClr val="FFFFFF"/>
                  </a:solidFill>
                </a:defRPr>
              </a:pPr>
              <a:endParaRPr sz="2250"/>
            </a:p>
          </p:txBody>
        </p:sp>
        <p:sp>
          <p:nvSpPr>
            <p:cNvPr id="54" name="Shape">
              <a:extLst>
                <a:ext uri="{FF2B5EF4-FFF2-40B4-BE49-F238E27FC236}">
                  <a16:creationId xmlns:a16="http://schemas.microsoft.com/office/drawing/2014/main" id="{71419B18-CC91-AE18-D30E-BCF2774F216A}"/>
                </a:ext>
              </a:extLst>
            </p:cNvPr>
            <p:cNvSpPr/>
            <p:nvPr/>
          </p:nvSpPr>
          <p:spPr>
            <a:xfrm>
              <a:off x="2375466" y="1943305"/>
              <a:ext cx="3186198" cy="1965805"/>
            </a:xfrm>
            <a:custGeom>
              <a:avLst/>
              <a:gdLst/>
              <a:ahLst/>
              <a:cxnLst>
                <a:cxn ang="0">
                  <a:pos x="wd2" y="hd2"/>
                </a:cxn>
                <a:cxn ang="5400000">
                  <a:pos x="wd2" y="hd2"/>
                </a:cxn>
                <a:cxn ang="10800000">
                  <a:pos x="wd2" y="hd2"/>
                </a:cxn>
                <a:cxn ang="16200000">
                  <a:pos x="wd2" y="hd2"/>
                </a:cxn>
              </a:cxnLst>
              <a:rect l="0" t="0" r="r" b="b"/>
              <a:pathLst>
                <a:path w="21495" h="20831" extrusionOk="0">
                  <a:moveTo>
                    <a:pt x="21046" y="12034"/>
                  </a:moveTo>
                  <a:cubicBezTo>
                    <a:pt x="19913" y="6096"/>
                    <a:pt x="16730" y="1365"/>
                    <a:pt x="12576" y="245"/>
                  </a:cubicBezTo>
                  <a:cubicBezTo>
                    <a:pt x="12360" y="186"/>
                    <a:pt x="12144" y="140"/>
                    <a:pt x="11929" y="103"/>
                  </a:cubicBezTo>
                  <a:cubicBezTo>
                    <a:pt x="6905" y="-769"/>
                    <a:pt x="2217" y="4003"/>
                    <a:pt x="608" y="11375"/>
                  </a:cubicBezTo>
                  <a:cubicBezTo>
                    <a:pt x="423" y="12221"/>
                    <a:pt x="279" y="13099"/>
                    <a:pt x="180" y="14010"/>
                  </a:cubicBezTo>
                  <a:cubicBezTo>
                    <a:pt x="80" y="14919"/>
                    <a:pt x="30" y="15823"/>
                    <a:pt x="24" y="16717"/>
                  </a:cubicBezTo>
                  <a:cubicBezTo>
                    <a:pt x="-17" y="17860"/>
                    <a:pt x="-4" y="18994"/>
                    <a:pt x="59" y="20110"/>
                  </a:cubicBezTo>
                  <a:lnTo>
                    <a:pt x="221" y="20087"/>
                  </a:lnTo>
                  <a:lnTo>
                    <a:pt x="2716" y="19737"/>
                  </a:lnTo>
                  <a:cubicBezTo>
                    <a:pt x="2910" y="18633"/>
                    <a:pt x="3178" y="17545"/>
                    <a:pt x="3524" y="16488"/>
                  </a:cubicBezTo>
                  <a:cubicBezTo>
                    <a:pt x="5439" y="10639"/>
                    <a:pt x="9231" y="7296"/>
                    <a:pt x="13150" y="7338"/>
                  </a:cubicBezTo>
                  <a:cubicBezTo>
                    <a:pt x="14234" y="7349"/>
                    <a:pt x="15327" y="7620"/>
                    <a:pt x="16393" y="8167"/>
                  </a:cubicBezTo>
                  <a:cubicBezTo>
                    <a:pt x="16686" y="8318"/>
                    <a:pt x="16978" y="8488"/>
                    <a:pt x="17266" y="8681"/>
                  </a:cubicBezTo>
                  <a:cubicBezTo>
                    <a:pt x="17047" y="8554"/>
                    <a:pt x="16825" y="8449"/>
                    <a:pt x="16602" y="8361"/>
                  </a:cubicBezTo>
                  <a:cubicBezTo>
                    <a:pt x="16986" y="8520"/>
                    <a:pt x="17355" y="8733"/>
                    <a:pt x="17708" y="8995"/>
                  </a:cubicBezTo>
                  <a:cubicBezTo>
                    <a:pt x="17742" y="9022"/>
                    <a:pt x="17777" y="9048"/>
                    <a:pt x="17810" y="9074"/>
                  </a:cubicBezTo>
                  <a:cubicBezTo>
                    <a:pt x="17980" y="9207"/>
                    <a:pt x="18145" y="9349"/>
                    <a:pt x="18306" y="9503"/>
                  </a:cubicBezTo>
                  <a:cubicBezTo>
                    <a:pt x="19145" y="10304"/>
                    <a:pt x="19857" y="11400"/>
                    <a:pt x="20385" y="12696"/>
                  </a:cubicBezTo>
                  <a:cubicBezTo>
                    <a:pt x="21024" y="14263"/>
                    <a:pt x="21396" y="16124"/>
                    <a:pt x="21396" y="18124"/>
                  </a:cubicBezTo>
                  <a:cubicBezTo>
                    <a:pt x="21396" y="18155"/>
                    <a:pt x="21395" y="18186"/>
                    <a:pt x="21395" y="18217"/>
                  </a:cubicBezTo>
                  <a:cubicBezTo>
                    <a:pt x="21390" y="19121"/>
                    <a:pt x="21309" y="19998"/>
                    <a:pt x="21162" y="20831"/>
                  </a:cubicBezTo>
                  <a:cubicBezTo>
                    <a:pt x="21162" y="20828"/>
                    <a:pt x="21162" y="20826"/>
                    <a:pt x="21164" y="20825"/>
                  </a:cubicBezTo>
                  <a:cubicBezTo>
                    <a:pt x="21362" y="19919"/>
                    <a:pt x="21444" y="18488"/>
                    <a:pt x="21444" y="18488"/>
                  </a:cubicBezTo>
                  <a:cubicBezTo>
                    <a:pt x="21583" y="16258"/>
                    <a:pt x="21436" y="14074"/>
                    <a:pt x="21046" y="12034"/>
                  </a:cubicBezTo>
                  <a:close/>
                </a:path>
              </a:pathLst>
            </a:custGeom>
            <a:solidFill>
              <a:schemeClr val="accent1">
                <a:lumMod val="10000"/>
                <a:lumOff val="90000"/>
              </a:schemeClr>
            </a:solidFill>
            <a:ln w="12700">
              <a:miter lim="400000"/>
            </a:ln>
          </p:spPr>
          <p:txBody>
            <a:bodyPr lIns="28575" tIns="28575" rIns="28575" bIns="28575" anchor="ctr"/>
            <a:lstStyle/>
            <a:p>
              <a:pPr>
                <a:defRPr sz="3000">
                  <a:solidFill>
                    <a:srgbClr val="FFFFFF"/>
                  </a:solidFill>
                </a:defRPr>
              </a:pPr>
              <a:endParaRPr sz="2250"/>
            </a:p>
          </p:txBody>
        </p:sp>
        <p:sp>
          <p:nvSpPr>
            <p:cNvPr id="55" name="Circle">
              <a:extLst>
                <a:ext uri="{FF2B5EF4-FFF2-40B4-BE49-F238E27FC236}">
                  <a16:creationId xmlns:a16="http://schemas.microsoft.com/office/drawing/2014/main" id="{A28A9ED7-2CD2-38E9-32E0-80D4E8724F1E}"/>
                </a:ext>
              </a:extLst>
            </p:cNvPr>
            <p:cNvSpPr/>
            <p:nvPr/>
          </p:nvSpPr>
          <p:spPr>
            <a:xfrm>
              <a:off x="3607701" y="2663951"/>
              <a:ext cx="1946400" cy="1967193"/>
            </a:xfrm>
            <a:prstGeom prst="ellipse">
              <a:avLst/>
            </a:prstGeom>
            <a:solidFill>
              <a:schemeClr val="bg1"/>
            </a:solidFill>
            <a:ln/>
          </p:spPr>
          <p:style>
            <a:lnRef idx="0">
              <a:schemeClr val="dk1"/>
            </a:lnRef>
            <a:fillRef idx="3">
              <a:schemeClr val="dk1"/>
            </a:fillRef>
            <a:effectRef idx="3">
              <a:schemeClr val="dk1"/>
            </a:effectRef>
            <a:fontRef idx="minor">
              <a:schemeClr val="lt1"/>
            </a:fontRef>
          </p:style>
          <p:txBody>
            <a:bodyPr lIns="21431" tIns="21431" rIns="21431" bIns="21431" anchor="ctr"/>
            <a:lstStyle/>
            <a:p>
              <a:pPr algn="ctr"/>
              <a:r>
                <a:rPr lang="en-US" sz="1500" b="1">
                  <a:solidFill>
                    <a:schemeClr val="tx1"/>
                  </a:solidFill>
                </a:rPr>
                <a:t>Responsible AI Solution Framework</a:t>
              </a:r>
            </a:p>
          </p:txBody>
        </p:sp>
        <p:grpSp>
          <p:nvGrpSpPr>
            <p:cNvPr id="56" name="Group 55">
              <a:extLst>
                <a:ext uri="{FF2B5EF4-FFF2-40B4-BE49-F238E27FC236}">
                  <a16:creationId xmlns:a16="http://schemas.microsoft.com/office/drawing/2014/main" id="{B12C457C-C80F-B7BB-E439-162BFFD30892}"/>
                </a:ext>
              </a:extLst>
            </p:cNvPr>
            <p:cNvGrpSpPr/>
            <p:nvPr/>
          </p:nvGrpSpPr>
          <p:grpSpPr>
            <a:xfrm>
              <a:off x="6454793" y="4664758"/>
              <a:ext cx="3063136" cy="1072487"/>
              <a:chOff x="7934813" y="1234357"/>
              <a:chExt cx="4806649" cy="1429985"/>
            </a:xfrm>
          </p:grpSpPr>
          <p:sp>
            <p:nvSpPr>
              <p:cNvPr id="57" name="TextBox 56">
                <a:extLst>
                  <a:ext uri="{FF2B5EF4-FFF2-40B4-BE49-F238E27FC236}">
                    <a16:creationId xmlns:a16="http://schemas.microsoft.com/office/drawing/2014/main" id="{ABD1525D-9634-F9B7-824A-20089BC205F9}"/>
                  </a:ext>
                </a:extLst>
              </p:cNvPr>
              <p:cNvSpPr txBox="1"/>
              <p:nvPr/>
            </p:nvSpPr>
            <p:spPr>
              <a:xfrm>
                <a:off x="8143388" y="1234357"/>
                <a:ext cx="4191586" cy="352643"/>
              </a:xfrm>
              <a:prstGeom prst="rect">
                <a:avLst/>
              </a:prstGeom>
              <a:noFill/>
            </p:spPr>
            <p:txBody>
              <a:bodyPr wrap="square" lIns="0" rIns="0" rtlCol="0" anchor="b">
                <a:spAutoFit/>
              </a:bodyPr>
              <a:lstStyle/>
              <a:p>
                <a:r>
                  <a:rPr lang="en-US" sz="1200" b="1"/>
                  <a:t>ESTABLISH MATURITY ROADMAP</a:t>
                </a:r>
              </a:p>
            </p:txBody>
          </p:sp>
          <p:sp>
            <p:nvSpPr>
              <p:cNvPr id="58" name="TextBox 57">
                <a:extLst>
                  <a:ext uri="{FF2B5EF4-FFF2-40B4-BE49-F238E27FC236}">
                    <a16:creationId xmlns:a16="http://schemas.microsoft.com/office/drawing/2014/main" id="{BC44DFEC-1FC4-936B-9BE7-E69EB69ABB19}"/>
                  </a:ext>
                </a:extLst>
              </p:cNvPr>
              <p:cNvSpPr txBox="1"/>
              <p:nvPr/>
            </p:nvSpPr>
            <p:spPr>
              <a:xfrm>
                <a:off x="7934813" y="1596619"/>
                <a:ext cx="4806649" cy="1067723"/>
              </a:xfrm>
              <a:prstGeom prst="rect">
                <a:avLst/>
              </a:prstGeom>
              <a:noFill/>
            </p:spPr>
            <p:txBody>
              <a:bodyPr wrap="square" lIns="0" rIns="0" rtlCol="0" anchor="t">
                <a:spAutoFit/>
              </a:bodyPr>
              <a:lstStyle/>
              <a:p>
                <a:pPr marL="128588" indent="-128588" algn="just">
                  <a:spcAft>
                    <a:spcPts val="450"/>
                  </a:spcAft>
                  <a:buFont typeface="Arial" panose="020B0604020202020204" pitchFamily="34" charset="0"/>
                  <a:buChar char="•"/>
                </a:pPr>
                <a:r>
                  <a:rPr lang="en-GB" sz="900" noProof="1">
                    <a:solidFill>
                      <a:schemeClr val="tx2"/>
                    </a:solidFill>
                  </a:rPr>
                  <a:t>Baseline compliance, data security, and model quality checks​</a:t>
                </a:r>
              </a:p>
              <a:p>
                <a:pPr marL="128588" indent="-128588" algn="just">
                  <a:spcAft>
                    <a:spcPts val="450"/>
                  </a:spcAft>
                  <a:buFont typeface="Arial" panose="020B0604020202020204" pitchFamily="34" charset="0"/>
                  <a:buChar char="•"/>
                </a:pPr>
                <a:r>
                  <a:rPr lang="en-GB" sz="900" noProof="1">
                    <a:solidFill>
                      <a:schemeClr val="tx2"/>
                    </a:solidFill>
                  </a:rPr>
                  <a:t>Scale governance frameworks and automate validation ​</a:t>
                </a:r>
              </a:p>
              <a:p>
                <a:pPr marL="128588" indent="-128588" algn="just">
                  <a:spcAft>
                    <a:spcPts val="450"/>
                  </a:spcAft>
                  <a:buFont typeface="Arial" panose="020B0604020202020204" pitchFamily="34" charset="0"/>
                  <a:buChar char="•"/>
                </a:pPr>
                <a:r>
                  <a:rPr lang="en-GB" sz="900" noProof="1">
                    <a:solidFill>
                      <a:schemeClr val="tx2"/>
                    </a:solidFill>
                  </a:rPr>
                  <a:t>Advance to continuous compliance with evolving regulations </a:t>
                </a:r>
              </a:p>
              <a:p>
                <a:pPr marL="128588" indent="-128588" algn="just">
                  <a:spcAft>
                    <a:spcPts val="450"/>
                  </a:spcAft>
                  <a:buFont typeface="Arial" panose="020B0604020202020204" pitchFamily="34" charset="0"/>
                  <a:buChar char="•"/>
                </a:pPr>
                <a:r>
                  <a:rPr lang="en-GB" sz="900" noProof="1">
                    <a:solidFill>
                      <a:schemeClr val="tx2"/>
                    </a:solidFill>
                  </a:rPr>
                  <a:t>Apply automated governance and proactive risk management.​</a:t>
                </a:r>
                <a:endParaRPr lang="en-US" sz="900" noProof="1">
                  <a:solidFill>
                    <a:schemeClr val="tx2"/>
                  </a:solidFill>
                </a:endParaRPr>
              </a:p>
            </p:txBody>
          </p:sp>
        </p:grpSp>
        <p:grpSp>
          <p:nvGrpSpPr>
            <p:cNvPr id="59" name="Group 58">
              <a:extLst>
                <a:ext uri="{FF2B5EF4-FFF2-40B4-BE49-F238E27FC236}">
                  <a16:creationId xmlns:a16="http://schemas.microsoft.com/office/drawing/2014/main" id="{252B5B59-A3CC-F785-4ECC-9C66F48072DF}"/>
                </a:ext>
              </a:extLst>
            </p:cNvPr>
            <p:cNvGrpSpPr/>
            <p:nvPr/>
          </p:nvGrpSpPr>
          <p:grpSpPr>
            <a:xfrm rot="10800000">
              <a:off x="6012343" y="4059296"/>
              <a:ext cx="358885" cy="1210981"/>
              <a:chOff x="3716351" y="2031419"/>
              <a:chExt cx="478513" cy="1210981"/>
            </a:xfrm>
          </p:grpSpPr>
          <p:cxnSp>
            <p:nvCxnSpPr>
              <p:cNvPr id="60" name="Straight Arrow Connector 59">
                <a:extLst>
                  <a:ext uri="{FF2B5EF4-FFF2-40B4-BE49-F238E27FC236}">
                    <a16:creationId xmlns:a16="http://schemas.microsoft.com/office/drawing/2014/main" id="{03DF5EBE-EE9C-512F-4E8C-95DA6A21A09D}"/>
                  </a:ext>
                </a:extLst>
              </p:cNvPr>
              <p:cNvCxnSpPr>
                <a:cxnSpLocks/>
              </p:cNvCxnSpPr>
              <p:nvPr/>
            </p:nvCxnSpPr>
            <p:spPr>
              <a:xfrm rot="10800000" flipH="1">
                <a:off x="3716351" y="2031419"/>
                <a:ext cx="478513" cy="0"/>
              </a:xfrm>
              <a:prstGeom prst="straightConnector1">
                <a:avLst/>
              </a:prstGeom>
              <a:ln>
                <a:solidFill>
                  <a:schemeClr val="tx2"/>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5E5E3397-9E40-328E-FAE7-F23F2A061B8F}"/>
                  </a:ext>
                </a:extLst>
              </p:cNvPr>
              <p:cNvSpPr/>
              <p:nvPr/>
            </p:nvSpPr>
            <p:spPr>
              <a:xfrm>
                <a:off x="3876365" y="3150325"/>
                <a:ext cx="92075" cy="92075"/>
              </a:xfrm>
              <a:prstGeom prst="ellipse">
                <a:avLst/>
              </a:prstGeom>
              <a:no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en-US" sz="1013"/>
              </a:p>
            </p:txBody>
          </p:sp>
        </p:grpSp>
        <p:grpSp>
          <p:nvGrpSpPr>
            <p:cNvPr id="62" name="Group 61">
              <a:extLst>
                <a:ext uri="{FF2B5EF4-FFF2-40B4-BE49-F238E27FC236}">
                  <a16:creationId xmlns:a16="http://schemas.microsoft.com/office/drawing/2014/main" id="{F57247BB-C9B6-4B0C-D464-A4646208D8B8}"/>
                </a:ext>
              </a:extLst>
            </p:cNvPr>
            <p:cNvGrpSpPr/>
            <p:nvPr/>
          </p:nvGrpSpPr>
          <p:grpSpPr>
            <a:xfrm>
              <a:off x="7101033" y="3016715"/>
              <a:ext cx="2959560" cy="1385254"/>
              <a:chOff x="8130342" y="1293035"/>
              <a:chExt cx="4644120" cy="1847005"/>
            </a:xfrm>
          </p:grpSpPr>
          <p:sp>
            <p:nvSpPr>
              <p:cNvPr id="63" name="TextBox 62">
                <a:extLst>
                  <a:ext uri="{FF2B5EF4-FFF2-40B4-BE49-F238E27FC236}">
                    <a16:creationId xmlns:a16="http://schemas.microsoft.com/office/drawing/2014/main" id="{B393F520-E5F3-0F5A-9EFB-C93B8F300862}"/>
                  </a:ext>
                </a:extLst>
              </p:cNvPr>
              <p:cNvSpPr txBox="1"/>
              <p:nvPr/>
            </p:nvSpPr>
            <p:spPr>
              <a:xfrm>
                <a:off x="8254196" y="1293035"/>
                <a:ext cx="4520266" cy="352642"/>
              </a:xfrm>
              <a:prstGeom prst="rect">
                <a:avLst/>
              </a:prstGeom>
              <a:noFill/>
            </p:spPr>
            <p:txBody>
              <a:bodyPr wrap="square" lIns="0" rIns="0" rtlCol="0" anchor="b">
                <a:spAutoFit/>
              </a:bodyPr>
              <a:lstStyle/>
              <a:p>
                <a:r>
                  <a:rPr lang="en-US" sz="1200" b="1"/>
                  <a:t>DESIGN TECHNOLOGY FRAMEWORK</a:t>
                </a:r>
              </a:p>
            </p:txBody>
          </p:sp>
          <p:sp>
            <p:nvSpPr>
              <p:cNvPr id="64" name="TextBox 63">
                <a:extLst>
                  <a:ext uri="{FF2B5EF4-FFF2-40B4-BE49-F238E27FC236}">
                    <a16:creationId xmlns:a16="http://schemas.microsoft.com/office/drawing/2014/main" id="{804ED349-0098-B802-6368-324F0650C46C}"/>
                  </a:ext>
                </a:extLst>
              </p:cNvPr>
              <p:cNvSpPr txBox="1"/>
              <p:nvPr/>
            </p:nvSpPr>
            <p:spPr>
              <a:xfrm>
                <a:off x="8130342" y="1624987"/>
                <a:ext cx="4450612" cy="1515053"/>
              </a:xfrm>
              <a:prstGeom prst="rect">
                <a:avLst/>
              </a:prstGeom>
              <a:noFill/>
            </p:spPr>
            <p:txBody>
              <a:bodyPr wrap="square" lIns="0" rIns="0" rtlCol="0" anchor="t">
                <a:spAutoFit/>
              </a:bodyPr>
              <a:lstStyle/>
              <a:p>
                <a:pPr marL="128588" indent="-128588" algn="just">
                  <a:spcAft>
                    <a:spcPts val="450"/>
                  </a:spcAft>
                  <a:buFont typeface="Arial" panose="020B0604020202020204" pitchFamily="34" charset="0"/>
                  <a:buChar char="•"/>
                </a:pPr>
                <a:r>
                  <a:rPr lang="en-GB" sz="900" noProof="1">
                    <a:solidFill>
                      <a:schemeClr val="tx2"/>
                    </a:solidFill>
                  </a:rPr>
                  <a:t>Design architecture and technology components - Anomaly detection across guardrails, encryption and access control, real-time monitoring &amp; feedback loop, and human oversight mechanisms</a:t>
                </a:r>
              </a:p>
              <a:p>
                <a:pPr marL="128588" indent="-128588" algn="just">
                  <a:spcAft>
                    <a:spcPts val="450"/>
                  </a:spcAft>
                  <a:buFont typeface="Arial" panose="020B0604020202020204" pitchFamily="34" charset="0"/>
                  <a:buChar char="•"/>
                </a:pPr>
                <a:r>
                  <a:rPr lang="en-GB" sz="900" noProof="1">
                    <a:solidFill>
                      <a:schemeClr val="tx2"/>
                    </a:solidFill>
                  </a:rPr>
                  <a:t>Design automated validation, testing mechanisms</a:t>
                </a:r>
              </a:p>
              <a:p>
                <a:pPr marL="128588" indent="-128588" algn="just">
                  <a:spcAft>
                    <a:spcPts val="450"/>
                  </a:spcAft>
                  <a:buFont typeface="Arial" panose="020B0604020202020204" pitchFamily="34" charset="0"/>
                  <a:buChar char="•"/>
                </a:pPr>
                <a:r>
                  <a:rPr lang="en-GB" sz="900" noProof="1">
                    <a:solidFill>
                      <a:schemeClr val="tx2"/>
                    </a:solidFill>
                  </a:rPr>
                  <a:t>Design a modular architecture that can adapt to new AI use cases and technologies​​</a:t>
                </a:r>
                <a:endParaRPr lang="en-US" sz="900" noProof="1">
                  <a:solidFill>
                    <a:schemeClr val="tx2"/>
                  </a:solidFill>
                </a:endParaRPr>
              </a:p>
            </p:txBody>
          </p:sp>
        </p:grpSp>
        <p:cxnSp>
          <p:nvCxnSpPr>
            <p:cNvPr id="66" name="Straight Arrow Connector 65">
              <a:extLst>
                <a:ext uri="{FF2B5EF4-FFF2-40B4-BE49-F238E27FC236}">
                  <a16:creationId xmlns:a16="http://schemas.microsoft.com/office/drawing/2014/main" id="{BF77D1D2-C219-16CB-6CFB-41D440E2A34A}"/>
                </a:ext>
              </a:extLst>
            </p:cNvPr>
            <p:cNvCxnSpPr>
              <a:cxnSpLocks/>
            </p:cNvCxnSpPr>
            <p:nvPr/>
          </p:nvCxnSpPr>
          <p:spPr>
            <a:xfrm flipH="1">
              <a:off x="6503284" y="3176002"/>
              <a:ext cx="565174" cy="0"/>
            </a:xfrm>
            <a:prstGeom prst="straightConnector1">
              <a:avLst/>
            </a:prstGeom>
            <a:ln>
              <a:solidFill>
                <a:schemeClr val="tx2"/>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0B98B2F0-D3D6-C4A0-499E-5C0D0DFFE5A3}"/>
                </a:ext>
              </a:extLst>
            </p:cNvPr>
            <p:cNvGrpSpPr/>
            <p:nvPr/>
          </p:nvGrpSpPr>
          <p:grpSpPr>
            <a:xfrm>
              <a:off x="6719130" y="1138699"/>
              <a:ext cx="3031902" cy="1636435"/>
              <a:chOff x="8039100" y="1081273"/>
              <a:chExt cx="4757635" cy="2181913"/>
            </a:xfrm>
          </p:grpSpPr>
          <p:sp>
            <p:nvSpPr>
              <p:cNvPr id="69" name="TextBox 68">
                <a:extLst>
                  <a:ext uri="{FF2B5EF4-FFF2-40B4-BE49-F238E27FC236}">
                    <a16:creationId xmlns:a16="http://schemas.microsoft.com/office/drawing/2014/main" id="{2A8DAF9D-7494-834D-9D7D-16C8D2FBC1A2}"/>
                  </a:ext>
                </a:extLst>
              </p:cNvPr>
              <p:cNvSpPr txBox="1"/>
              <p:nvPr/>
            </p:nvSpPr>
            <p:spPr>
              <a:xfrm>
                <a:off x="8173187" y="1081273"/>
                <a:ext cx="4623548" cy="587737"/>
              </a:xfrm>
              <a:prstGeom prst="rect">
                <a:avLst/>
              </a:prstGeom>
              <a:noFill/>
            </p:spPr>
            <p:txBody>
              <a:bodyPr wrap="square" lIns="0" rIns="0" rtlCol="0" anchor="b">
                <a:spAutoFit/>
              </a:bodyPr>
              <a:lstStyle/>
              <a:p>
                <a:r>
                  <a:rPr lang="en-US" sz="1200" b="1"/>
                  <a:t>IMPLEMENT STANDARD &amp; ADVANCED GUARDRAILS</a:t>
                </a:r>
              </a:p>
            </p:txBody>
          </p:sp>
          <p:sp>
            <p:nvSpPr>
              <p:cNvPr id="70" name="TextBox 69">
                <a:extLst>
                  <a:ext uri="{FF2B5EF4-FFF2-40B4-BE49-F238E27FC236}">
                    <a16:creationId xmlns:a16="http://schemas.microsoft.com/office/drawing/2014/main" id="{A2BC9F7E-B1DB-BDCD-8357-A0374F625174}"/>
                  </a:ext>
                </a:extLst>
              </p:cNvPr>
              <p:cNvSpPr txBox="1"/>
              <p:nvPr/>
            </p:nvSpPr>
            <p:spPr>
              <a:xfrm>
                <a:off x="8039100" y="1666502"/>
                <a:ext cx="3985361" cy="1596684"/>
              </a:xfrm>
              <a:prstGeom prst="rect">
                <a:avLst/>
              </a:prstGeom>
              <a:noFill/>
            </p:spPr>
            <p:txBody>
              <a:bodyPr wrap="square" lIns="0" rIns="0" rtlCol="0" anchor="t">
                <a:spAutoFit/>
              </a:bodyPr>
              <a:lstStyle/>
              <a:p>
                <a:pPr marL="128588" indent="-128588" algn="just">
                  <a:spcAft>
                    <a:spcPts val="450"/>
                  </a:spcAft>
                  <a:buFont typeface="Arial" panose="020B0604020202020204" pitchFamily="34" charset="0"/>
                  <a:buChar char="•"/>
                </a:pPr>
                <a:r>
                  <a:rPr lang="en-US" sz="900" noProof="1">
                    <a:solidFill>
                      <a:schemeClr val="tx2"/>
                    </a:solidFill>
                  </a:rPr>
                  <a:t>Standard Guardrails: Ethical Guardrails, Technical Guardrails, Security Guardrails, Compliance Measures​</a:t>
                </a:r>
              </a:p>
              <a:p>
                <a:pPr marL="128588" indent="-128588" algn="just">
                  <a:spcAft>
                    <a:spcPts val="450"/>
                  </a:spcAft>
                  <a:buFont typeface="Arial" panose="020B0604020202020204" pitchFamily="34" charset="0"/>
                  <a:buChar char="•"/>
                </a:pPr>
                <a:r>
                  <a:rPr lang="en-US" sz="900" noProof="1">
                    <a:solidFill>
                      <a:schemeClr val="tx2"/>
                    </a:solidFill>
                  </a:rPr>
                  <a:t>Advanced AI guardrails: AI Agents, Generative AI Guardrails, Real-Time Monitoring Tools, Customizable Frameworks​</a:t>
                </a:r>
              </a:p>
              <a:p>
                <a:pPr marL="128588" indent="-128588" algn="just">
                  <a:spcAft>
                    <a:spcPts val="450"/>
                  </a:spcAft>
                  <a:buFont typeface="Arial" panose="020B0604020202020204" pitchFamily="34" charset="0"/>
                  <a:buChar char="•"/>
                </a:pPr>
                <a:r>
                  <a:rPr lang="en-US" sz="900" noProof="1">
                    <a:solidFill>
                      <a:schemeClr val="tx2"/>
                    </a:solidFill>
                  </a:rPr>
                  <a:t>Build custom-made​</a:t>
                </a:r>
              </a:p>
              <a:p>
                <a:pPr marL="128588" indent="-128588" algn="just">
                  <a:spcAft>
                    <a:spcPts val="450"/>
                  </a:spcAft>
                  <a:buFont typeface="Arial" panose="020B0604020202020204" pitchFamily="34" charset="0"/>
                  <a:buChar char="•"/>
                </a:pPr>
                <a:r>
                  <a:rPr lang="en-US" sz="900" noProof="1">
                    <a:solidFill>
                      <a:schemeClr val="tx2"/>
                    </a:solidFill>
                  </a:rPr>
                  <a:t>Calibrate and integrate  3rd party solutions</a:t>
                </a:r>
              </a:p>
            </p:txBody>
          </p:sp>
        </p:grpSp>
        <p:grpSp>
          <p:nvGrpSpPr>
            <p:cNvPr id="71" name="Group 70">
              <a:extLst>
                <a:ext uri="{FF2B5EF4-FFF2-40B4-BE49-F238E27FC236}">
                  <a16:creationId xmlns:a16="http://schemas.microsoft.com/office/drawing/2014/main" id="{55621896-76F3-0DD4-3E58-06B7089C574F}"/>
                </a:ext>
              </a:extLst>
            </p:cNvPr>
            <p:cNvGrpSpPr/>
            <p:nvPr/>
          </p:nvGrpSpPr>
          <p:grpSpPr>
            <a:xfrm rot="10800000">
              <a:off x="4897000" y="759498"/>
              <a:ext cx="1717592" cy="913638"/>
              <a:chOff x="2784174" y="2217316"/>
              <a:chExt cx="2290119" cy="913638"/>
            </a:xfrm>
          </p:grpSpPr>
          <p:cxnSp>
            <p:nvCxnSpPr>
              <p:cNvPr id="72" name="Straight Arrow Connector 71">
                <a:extLst>
                  <a:ext uri="{FF2B5EF4-FFF2-40B4-BE49-F238E27FC236}">
                    <a16:creationId xmlns:a16="http://schemas.microsoft.com/office/drawing/2014/main" id="{593619E2-E528-CDE2-514C-69374E014194}"/>
                  </a:ext>
                </a:extLst>
              </p:cNvPr>
              <p:cNvCxnSpPr>
                <a:cxnSpLocks/>
              </p:cNvCxnSpPr>
              <p:nvPr/>
            </p:nvCxnSpPr>
            <p:spPr>
              <a:xfrm rot="10800000" flipH="1">
                <a:off x="2784174" y="2217316"/>
                <a:ext cx="1754552" cy="0"/>
              </a:xfrm>
              <a:prstGeom prst="straightConnector1">
                <a:avLst/>
              </a:prstGeom>
              <a:ln>
                <a:solidFill>
                  <a:schemeClr val="bg1">
                    <a:lumMod val="50000"/>
                  </a:schemeClr>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7ACB7EDA-BBBC-1FE4-B798-72105F3BA382}"/>
                  </a:ext>
                </a:extLst>
              </p:cNvPr>
              <p:cNvSpPr/>
              <p:nvPr/>
            </p:nvSpPr>
            <p:spPr>
              <a:xfrm>
                <a:off x="4982218" y="3038879"/>
                <a:ext cx="92075" cy="92075"/>
              </a:xfrm>
              <a:prstGeom prst="ellipse">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en-US" sz="1013"/>
              </a:p>
            </p:txBody>
          </p:sp>
        </p:grpSp>
        <p:grpSp>
          <p:nvGrpSpPr>
            <p:cNvPr id="74" name="Group 73">
              <a:extLst>
                <a:ext uri="{FF2B5EF4-FFF2-40B4-BE49-F238E27FC236}">
                  <a16:creationId xmlns:a16="http://schemas.microsoft.com/office/drawing/2014/main" id="{9707388E-4375-E1D7-88C6-4851F77F6B6F}"/>
                </a:ext>
              </a:extLst>
            </p:cNvPr>
            <p:cNvGrpSpPr/>
            <p:nvPr/>
          </p:nvGrpSpPr>
          <p:grpSpPr>
            <a:xfrm>
              <a:off x="-268236" y="2190875"/>
              <a:ext cx="2260871" cy="1768676"/>
              <a:chOff x="-229164" y="2605020"/>
              <a:chExt cx="3493684" cy="2358234"/>
            </a:xfrm>
          </p:grpSpPr>
          <p:sp>
            <p:nvSpPr>
              <p:cNvPr id="75" name="TextBox 74">
                <a:extLst>
                  <a:ext uri="{FF2B5EF4-FFF2-40B4-BE49-F238E27FC236}">
                    <a16:creationId xmlns:a16="http://schemas.microsoft.com/office/drawing/2014/main" id="{53D2CF56-DCB5-ED55-BC45-3F52ED0257EE}"/>
                  </a:ext>
                </a:extLst>
              </p:cNvPr>
              <p:cNvSpPr txBox="1"/>
              <p:nvPr/>
            </p:nvSpPr>
            <p:spPr>
              <a:xfrm>
                <a:off x="160015" y="2605020"/>
                <a:ext cx="3104505" cy="587737"/>
              </a:xfrm>
              <a:prstGeom prst="rect">
                <a:avLst/>
              </a:prstGeom>
              <a:noFill/>
            </p:spPr>
            <p:txBody>
              <a:bodyPr wrap="square" lIns="0" rIns="0" rtlCol="0" anchor="b">
                <a:spAutoFit/>
              </a:bodyPr>
              <a:lstStyle/>
              <a:p>
                <a:pPr algn="r"/>
                <a:r>
                  <a:rPr lang="en-US" sz="1200" b="1"/>
                  <a:t>DEFINE STANDARD AI CONTROLS</a:t>
                </a:r>
              </a:p>
            </p:txBody>
          </p:sp>
          <p:sp>
            <p:nvSpPr>
              <p:cNvPr id="76" name="TextBox 75">
                <a:extLst>
                  <a:ext uri="{FF2B5EF4-FFF2-40B4-BE49-F238E27FC236}">
                    <a16:creationId xmlns:a16="http://schemas.microsoft.com/office/drawing/2014/main" id="{E0E1CD0B-57E8-74FE-B5A0-777DC740F7E5}"/>
                  </a:ext>
                </a:extLst>
              </p:cNvPr>
              <p:cNvSpPr txBox="1"/>
              <p:nvPr/>
            </p:nvSpPr>
            <p:spPr>
              <a:xfrm>
                <a:off x="-229164" y="3190249"/>
                <a:ext cx="3493684" cy="1773005"/>
              </a:xfrm>
              <a:prstGeom prst="rect">
                <a:avLst/>
              </a:prstGeom>
              <a:noFill/>
            </p:spPr>
            <p:txBody>
              <a:bodyPr wrap="square" lIns="0" rIns="0" rtlCol="0" anchor="t">
                <a:spAutoFit/>
              </a:bodyPr>
              <a:lstStyle/>
              <a:p>
                <a:pPr marL="128588" indent="-128588" algn="just">
                  <a:spcAft>
                    <a:spcPts val="450"/>
                  </a:spcAft>
                  <a:buFont typeface="Arial" panose="020B0604020202020204" pitchFamily="34" charset="0"/>
                  <a:buChar char="•"/>
                </a:pPr>
                <a:r>
                  <a:rPr lang="en-GB" sz="900">
                    <a:solidFill>
                      <a:schemeClr val="tx2"/>
                    </a:solidFill>
                  </a:rPr>
                  <a:t>Identify business impact, ethical standards, and regulatory requirements​</a:t>
                </a:r>
              </a:p>
              <a:p>
                <a:pPr marL="128588" indent="-128588" algn="just">
                  <a:spcAft>
                    <a:spcPts val="450"/>
                  </a:spcAft>
                  <a:buFont typeface="Arial" panose="020B0604020202020204" pitchFamily="34" charset="0"/>
                  <a:buChar char="•"/>
                </a:pPr>
                <a:r>
                  <a:rPr lang="en-GB" sz="900">
                    <a:solidFill>
                      <a:schemeClr val="tx2"/>
                    </a:solidFill>
                  </a:rPr>
                  <a:t>Define ethical AI principles by ensuring fairness, accountability, and transparency​</a:t>
                </a:r>
              </a:p>
              <a:p>
                <a:pPr marL="128588" indent="-128588" algn="just">
                  <a:spcAft>
                    <a:spcPts val="450"/>
                  </a:spcAft>
                  <a:buFont typeface="Arial" panose="020B0604020202020204" pitchFamily="34" charset="0"/>
                  <a:buChar char="•"/>
                </a:pPr>
                <a:r>
                  <a:rPr lang="en-GB" sz="900">
                    <a:solidFill>
                      <a:schemeClr val="tx2"/>
                    </a:solidFill>
                  </a:rPr>
                  <a:t>Define bias mitigation, enhance model explainability with clear audit trails​</a:t>
                </a:r>
              </a:p>
              <a:p>
                <a:pPr marL="128588" indent="-128588" algn="just">
                  <a:spcAft>
                    <a:spcPts val="450"/>
                  </a:spcAft>
                  <a:buFont typeface="Arial" panose="020B0604020202020204" pitchFamily="34" charset="0"/>
                  <a:buChar char="•"/>
                </a:pPr>
                <a:r>
                  <a:rPr lang="en-GB" sz="900">
                    <a:solidFill>
                      <a:schemeClr val="tx2"/>
                    </a:solidFill>
                  </a:rPr>
                  <a:t>Establish data privacy through encryption, anonymization, and access controls​</a:t>
                </a:r>
                <a:endParaRPr lang="en-US" sz="900">
                  <a:solidFill>
                    <a:schemeClr val="tx2"/>
                  </a:solidFill>
                </a:endParaRPr>
              </a:p>
            </p:txBody>
          </p:sp>
        </p:grpSp>
        <p:grpSp>
          <p:nvGrpSpPr>
            <p:cNvPr id="77" name="Group 76">
              <a:extLst>
                <a:ext uri="{FF2B5EF4-FFF2-40B4-BE49-F238E27FC236}">
                  <a16:creationId xmlns:a16="http://schemas.microsoft.com/office/drawing/2014/main" id="{BCE44956-4F8D-7127-35FC-3576556B8310}"/>
                </a:ext>
              </a:extLst>
            </p:cNvPr>
            <p:cNvGrpSpPr/>
            <p:nvPr/>
          </p:nvGrpSpPr>
          <p:grpSpPr>
            <a:xfrm>
              <a:off x="2149602" y="2545302"/>
              <a:ext cx="1075283" cy="92075"/>
              <a:chOff x="3777120" y="2915886"/>
              <a:chExt cx="1136571" cy="92075"/>
            </a:xfrm>
          </p:grpSpPr>
          <p:cxnSp>
            <p:nvCxnSpPr>
              <p:cNvPr id="78" name="Straight Arrow Connector 77">
                <a:extLst>
                  <a:ext uri="{FF2B5EF4-FFF2-40B4-BE49-F238E27FC236}">
                    <a16:creationId xmlns:a16="http://schemas.microsoft.com/office/drawing/2014/main" id="{D1B9A88B-B2EA-E058-55E0-B8A37547A0E8}"/>
                  </a:ext>
                </a:extLst>
              </p:cNvPr>
              <p:cNvCxnSpPr>
                <a:cxnSpLocks/>
                <a:endCxn id="79" idx="2"/>
              </p:cNvCxnSpPr>
              <p:nvPr/>
            </p:nvCxnSpPr>
            <p:spPr>
              <a:xfrm>
                <a:off x="3777120" y="2961928"/>
                <a:ext cx="1044495" cy="0"/>
              </a:xfrm>
              <a:prstGeom prst="straightConnector1">
                <a:avLst/>
              </a:prstGeom>
              <a:ln>
                <a:solidFill>
                  <a:schemeClr val="tx2"/>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842FAB3A-B2B7-FC07-AAE2-1EAB10098D37}"/>
                  </a:ext>
                </a:extLst>
              </p:cNvPr>
              <p:cNvSpPr/>
              <p:nvPr/>
            </p:nvSpPr>
            <p:spPr>
              <a:xfrm>
                <a:off x="4821616" y="2915886"/>
                <a:ext cx="92075" cy="92075"/>
              </a:xfrm>
              <a:prstGeom prst="ellipse">
                <a:avLst/>
              </a:prstGeom>
              <a:solidFill>
                <a:schemeClr val="accent6">
                  <a:lumMod val="20000"/>
                  <a:lumOff val="80000"/>
                </a:schemeClr>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en-US" sz="1013"/>
              </a:p>
            </p:txBody>
          </p:sp>
        </p:grpSp>
        <p:grpSp>
          <p:nvGrpSpPr>
            <p:cNvPr id="80" name="Group 79">
              <a:extLst>
                <a:ext uri="{FF2B5EF4-FFF2-40B4-BE49-F238E27FC236}">
                  <a16:creationId xmlns:a16="http://schemas.microsoft.com/office/drawing/2014/main" id="{135B7106-B348-3DAF-362A-062B5F511FC9}"/>
                </a:ext>
              </a:extLst>
            </p:cNvPr>
            <p:cNvGrpSpPr/>
            <p:nvPr/>
          </p:nvGrpSpPr>
          <p:grpSpPr>
            <a:xfrm>
              <a:off x="-287281" y="4579842"/>
              <a:ext cx="2460018" cy="1442972"/>
              <a:chOff x="-564617" y="2419102"/>
              <a:chExt cx="3801422" cy="1923965"/>
            </a:xfrm>
          </p:grpSpPr>
          <p:sp>
            <p:nvSpPr>
              <p:cNvPr id="81" name="TextBox 80">
                <a:extLst>
                  <a:ext uri="{FF2B5EF4-FFF2-40B4-BE49-F238E27FC236}">
                    <a16:creationId xmlns:a16="http://schemas.microsoft.com/office/drawing/2014/main" id="{69AE89BC-1FE3-B45E-D0FF-0A24A1857440}"/>
                  </a:ext>
                </a:extLst>
              </p:cNvPr>
              <p:cNvSpPr txBox="1"/>
              <p:nvPr/>
            </p:nvSpPr>
            <p:spPr>
              <a:xfrm>
                <a:off x="308161" y="2419102"/>
                <a:ext cx="2926080" cy="587737"/>
              </a:xfrm>
              <a:prstGeom prst="rect">
                <a:avLst/>
              </a:prstGeom>
              <a:noFill/>
            </p:spPr>
            <p:txBody>
              <a:bodyPr wrap="square" lIns="0" rIns="0" rtlCol="0" anchor="b">
                <a:spAutoFit/>
              </a:bodyPr>
              <a:lstStyle/>
              <a:p>
                <a:pPr algn="r"/>
                <a:r>
                  <a:rPr lang="en-US" sz="1200" b="1"/>
                  <a:t>DEFINE ADVANCED AI CONTROLS</a:t>
                </a:r>
              </a:p>
            </p:txBody>
          </p:sp>
          <p:sp>
            <p:nvSpPr>
              <p:cNvPr id="82" name="TextBox 81">
                <a:extLst>
                  <a:ext uri="{FF2B5EF4-FFF2-40B4-BE49-F238E27FC236}">
                    <a16:creationId xmlns:a16="http://schemas.microsoft.com/office/drawing/2014/main" id="{E5F07FD5-2081-2C28-1757-B810B2E42B66}"/>
                  </a:ext>
                </a:extLst>
              </p:cNvPr>
              <p:cNvSpPr txBox="1"/>
              <p:nvPr/>
            </p:nvSpPr>
            <p:spPr>
              <a:xfrm>
                <a:off x="-564617" y="3004332"/>
                <a:ext cx="3801422" cy="1338735"/>
              </a:xfrm>
              <a:prstGeom prst="rect">
                <a:avLst/>
              </a:prstGeom>
              <a:noFill/>
            </p:spPr>
            <p:txBody>
              <a:bodyPr wrap="square" lIns="0" rIns="0" rtlCol="0" anchor="t">
                <a:spAutoFit/>
              </a:bodyPr>
              <a:lstStyle/>
              <a:p>
                <a:pPr marL="128588" indent="-128588" algn="just">
                  <a:spcAft>
                    <a:spcPts val="450"/>
                  </a:spcAft>
                  <a:buFont typeface="Arial" panose="020B0604020202020204" pitchFamily="34" charset="0"/>
                  <a:buChar char="•"/>
                </a:pPr>
                <a:r>
                  <a:rPr lang="en-US" sz="900">
                    <a:solidFill>
                      <a:schemeClr val="tx2"/>
                    </a:solidFill>
                  </a:rPr>
                  <a:t>In alignment with industry-specific controls with frameworks like GDPR, HIPAA, and BFSI​</a:t>
                </a:r>
              </a:p>
              <a:p>
                <a:pPr marL="128588" indent="-128588" algn="just">
                  <a:spcAft>
                    <a:spcPts val="450"/>
                  </a:spcAft>
                  <a:buFont typeface="Arial" panose="020B0604020202020204" pitchFamily="34" charset="0"/>
                  <a:buChar char="•"/>
                </a:pPr>
                <a:r>
                  <a:rPr lang="en-US" sz="900">
                    <a:solidFill>
                      <a:schemeClr val="tx2"/>
                    </a:solidFill>
                  </a:rPr>
                  <a:t>Establish AI risks points from model drift, security vulnerabilities​</a:t>
                </a:r>
              </a:p>
              <a:p>
                <a:pPr marL="128588" indent="-128588" algn="just">
                  <a:spcAft>
                    <a:spcPts val="450"/>
                  </a:spcAft>
                  <a:buFont typeface="Arial" panose="020B0604020202020204" pitchFamily="34" charset="0"/>
                  <a:buChar char="•"/>
                </a:pPr>
                <a:r>
                  <a:rPr lang="en-US" sz="900">
                    <a:solidFill>
                      <a:schemeClr val="tx2"/>
                    </a:solidFill>
                  </a:rPr>
                  <a:t>Define monitoring and maintain human oversight for critical decision-making​</a:t>
                </a:r>
              </a:p>
            </p:txBody>
          </p:sp>
        </p:grpSp>
        <p:grpSp>
          <p:nvGrpSpPr>
            <p:cNvPr id="83" name="Group 82">
              <a:extLst>
                <a:ext uri="{FF2B5EF4-FFF2-40B4-BE49-F238E27FC236}">
                  <a16:creationId xmlns:a16="http://schemas.microsoft.com/office/drawing/2014/main" id="{D565D8DA-7C58-0368-1041-AF6DA4BA25AE}"/>
                </a:ext>
              </a:extLst>
            </p:cNvPr>
            <p:cNvGrpSpPr/>
            <p:nvPr/>
          </p:nvGrpSpPr>
          <p:grpSpPr>
            <a:xfrm>
              <a:off x="2331687" y="5056248"/>
              <a:ext cx="1075283" cy="92075"/>
              <a:chOff x="3760260" y="2898424"/>
              <a:chExt cx="1136571" cy="92075"/>
            </a:xfrm>
          </p:grpSpPr>
          <p:cxnSp>
            <p:nvCxnSpPr>
              <p:cNvPr id="84" name="Straight Arrow Connector 83">
                <a:extLst>
                  <a:ext uri="{FF2B5EF4-FFF2-40B4-BE49-F238E27FC236}">
                    <a16:creationId xmlns:a16="http://schemas.microsoft.com/office/drawing/2014/main" id="{03A88F8C-63C1-859E-6980-997E1864864A}"/>
                  </a:ext>
                </a:extLst>
              </p:cNvPr>
              <p:cNvCxnSpPr>
                <a:cxnSpLocks/>
                <a:endCxn id="85" idx="2"/>
              </p:cNvCxnSpPr>
              <p:nvPr/>
            </p:nvCxnSpPr>
            <p:spPr>
              <a:xfrm>
                <a:off x="3760260" y="2944465"/>
                <a:ext cx="1044495" cy="0"/>
              </a:xfrm>
              <a:prstGeom prst="straightConnector1">
                <a:avLst/>
              </a:prstGeom>
              <a:ln>
                <a:solidFill>
                  <a:schemeClr val="tx2"/>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1AA214AC-CC4E-5B95-BD35-D446BE2376C9}"/>
                  </a:ext>
                </a:extLst>
              </p:cNvPr>
              <p:cNvSpPr/>
              <p:nvPr/>
            </p:nvSpPr>
            <p:spPr>
              <a:xfrm>
                <a:off x="4804756" y="2898424"/>
                <a:ext cx="92075" cy="92075"/>
              </a:xfrm>
              <a:prstGeom prst="ellipse">
                <a:avLst/>
              </a:prstGeom>
              <a:solidFill>
                <a:schemeClr val="accent6">
                  <a:lumMod val="20000"/>
                  <a:lumOff val="80000"/>
                </a:schemeClr>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en-US" sz="1013"/>
              </a:p>
            </p:txBody>
          </p:sp>
        </p:grpSp>
        <p:sp>
          <p:nvSpPr>
            <p:cNvPr id="87" name="Freeform: Shape 86">
              <a:extLst>
                <a:ext uri="{FF2B5EF4-FFF2-40B4-BE49-F238E27FC236}">
                  <a16:creationId xmlns:a16="http://schemas.microsoft.com/office/drawing/2014/main" id="{1C0D9537-C129-8831-3F4E-60522E52DA08}"/>
                </a:ext>
              </a:extLst>
            </p:cNvPr>
            <p:cNvSpPr/>
            <p:nvPr/>
          </p:nvSpPr>
          <p:spPr>
            <a:xfrm>
              <a:off x="3514864" y="2194423"/>
              <a:ext cx="424312" cy="424312"/>
            </a:xfrm>
            <a:custGeom>
              <a:avLst/>
              <a:gdLst>
                <a:gd name="connsiteX0" fmla="*/ 361950 w 752475"/>
                <a:gd name="connsiteY0" fmla="*/ 161925 h 752475"/>
                <a:gd name="connsiteX1" fmla="*/ 469583 w 752475"/>
                <a:gd name="connsiteY1" fmla="*/ 188595 h 752475"/>
                <a:gd name="connsiteX2" fmla="*/ 426720 w 752475"/>
                <a:gd name="connsiteY2" fmla="*/ 231457 h 752475"/>
                <a:gd name="connsiteX3" fmla="*/ 361950 w 752475"/>
                <a:gd name="connsiteY3" fmla="*/ 219075 h 752475"/>
                <a:gd name="connsiteX4" fmla="*/ 190500 w 752475"/>
                <a:gd name="connsiteY4" fmla="*/ 390525 h 752475"/>
                <a:gd name="connsiteX5" fmla="*/ 361950 w 752475"/>
                <a:gd name="connsiteY5" fmla="*/ 561975 h 752475"/>
                <a:gd name="connsiteX6" fmla="*/ 533400 w 752475"/>
                <a:gd name="connsiteY6" fmla="*/ 390525 h 752475"/>
                <a:gd name="connsiteX7" fmla="*/ 521018 w 752475"/>
                <a:gd name="connsiteY7" fmla="*/ 325755 h 752475"/>
                <a:gd name="connsiteX8" fmla="*/ 563880 w 752475"/>
                <a:gd name="connsiteY8" fmla="*/ 282893 h 752475"/>
                <a:gd name="connsiteX9" fmla="*/ 590550 w 752475"/>
                <a:gd name="connsiteY9" fmla="*/ 390525 h 752475"/>
                <a:gd name="connsiteX10" fmla="*/ 361950 w 752475"/>
                <a:gd name="connsiteY10" fmla="*/ 619125 h 752475"/>
                <a:gd name="connsiteX11" fmla="*/ 133350 w 752475"/>
                <a:gd name="connsiteY11" fmla="*/ 390525 h 752475"/>
                <a:gd name="connsiteX12" fmla="*/ 361950 w 752475"/>
                <a:gd name="connsiteY12" fmla="*/ 161925 h 752475"/>
                <a:gd name="connsiteX13" fmla="*/ 361950 w 752475"/>
                <a:gd name="connsiteY13" fmla="*/ 28575 h 752475"/>
                <a:gd name="connsiteX14" fmla="*/ 532448 w 752475"/>
                <a:gd name="connsiteY14" fmla="*/ 70485 h 752475"/>
                <a:gd name="connsiteX15" fmla="*/ 525780 w 752475"/>
                <a:gd name="connsiteY15" fmla="*/ 77153 h 752475"/>
                <a:gd name="connsiteX16" fmla="*/ 512445 w 752475"/>
                <a:gd name="connsiteY16" fmla="*/ 90488 h 752475"/>
                <a:gd name="connsiteX17" fmla="*/ 515303 w 752475"/>
                <a:gd name="connsiteY17" fmla="*/ 109538 h 752475"/>
                <a:gd name="connsiteX18" fmla="*/ 517208 w 752475"/>
                <a:gd name="connsiteY18" fmla="*/ 128588 h 752475"/>
                <a:gd name="connsiteX19" fmla="*/ 361950 w 752475"/>
                <a:gd name="connsiteY19" fmla="*/ 85725 h 752475"/>
                <a:gd name="connsiteX20" fmla="*/ 57150 w 752475"/>
                <a:gd name="connsiteY20" fmla="*/ 390525 h 752475"/>
                <a:gd name="connsiteX21" fmla="*/ 361950 w 752475"/>
                <a:gd name="connsiteY21" fmla="*/ 695325 h 752475"/>
                <a:gd name="connsiteX22" fmla="*/ 666750 w 752475"/>
                <a:gd name="connsiteY22" fmla="*/ 390525 h 752475"/>
                <a:gd name="connsiteX23" fmla="*/ 623888 w 752475"/>
                <a:gd name="connsiteY23" fmla="*/ 235268 h 752475"/>
                <a:gd name="connsiteX24" fmla="*/ 643890 w 752475"/>
                <a:gd name="connsiteY24" fmla="*/ 238125 h 752475"/>
                <a:gd name="connsiteX25" fmla="*/ 661988 w 752475"/>
                <a:gd name="connsiteY25" fmla="*/ 240030 h 752475"/>
                <a:gd name="connsiteX26" fmla="*/ 674370 w 752475"/>
                <a:gd name="connsiteY26" fmla="*/ 226695 h 752475"/>
                <a:gd name="connsiteX27" fmla="*/ 681038 w 752475"/>
                <a:gd name="connsiteY27" fmla="*/ 220980 h 752475"/>
                <a:gd name="connsiteX28" fmla="*/ 723900 w 752475"/>
                <a:gd name="connsiteY28" fmla="*/ 390525 h 752475"/>
                <a:gd name="connsiteX29" fmla="*/ 361950 w 752475"/>
                <a:gd name="connsiteY29" fmla="*/ 752475 h 752475"/>
                <a:gd name="connsiteX30" fmla="*/ 0 w 752475"/>
                <a:gd name="connsiteY30" fmla="*/ 390525 h 752475"/>
                <a:gd name="connsiteX31" fmla="*/ 361950 w 752475"/>
                <a:gd name="connsiteY31" fmla="*/ 28575 h 752475"/>
                <a:gd name="connsiteX32" fmla="*/ 657225 w 752475"/>
                <a:gd name="connsiteY32" fmla="*/ 0 h 752475"/>
                <a:gd name="connsiteX33" fmla="*/ 666750 w 752475"/>
                <a:gd name="connsiteY33" fmla="*/ 85725 h 752475"/>
                <a:gd name="connsiteX34" fmla="*/ 752475 w 752475"/>
                <a:gd name="connsiteY34" fmla="*/ 95250 h 752475"/>
                <a:gd name="connsiteX35" fmla="*/ 647700 w 752475"/>
                <a:gd name="connsiteY35" fmla="*/ 200025 h 752475"/>
                <a:gd name="connsiteX36" fmla="*/ 598170 w 752475"/>
                <a:gd name="connsiteY36" fmla="*/ 194310 h 752475"/>
                <a:gd name="connsiteX37" fmla="*/ 445769 w 752475"/>
                <a:gd name="connsiteY37" fmla="*/ 346710 h 752475"/>
                <a:gd name="connsiteX38" fmla="*/ 456247 w 752475"/>
                <a:gd name="connsiteY38" fmla="*/ 390525 h 752475"/>
                <a:gd name="connsiteX39" fmla="*/ 360997 w 752475"/>
                <a:gd name="connsiteY39" fmla="*/ 485775 h 752475"/>
                <a:gd name="connsiteX40" fmla="*/ 265747 w 752475"/>
                <a:gd name="connsiteY40" fmla="*/ 390525 h 752475"/>
                <a:gd name="connsiteX41" fmla="*/ 360997 w 752475"/>
                <a:gd name="connsiteY41" fmla="*/ 295275 h 752475"/>
                <a:gd name="connsiteX42" fmla="*/ 405764 w 752475"/>
                <a:gd name="connsiteY42" fmla="*/ 306705 h 752475"/>
                <a:gd name="connsiteX43" fmla="*/ 558164 w 752475"/>
                <a:gd name="connsiteY43" fmla="*/ 154305 h 752475"/>
                <a:gd name="connsiteX44" fmla="*/ 552450 w 752475"/>
                <a:gd name="connsiteY44" fmla="*/ 104775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52475" h="752475">
                  <a:moveTo>
                    <a:pt x="361950" y="161925"/>
                  </a:moveTo>
                  <a:cubicBezTo>
                    <a:pt x="401003" y="161925"/>
                    <a:pt x="437198" y="171450"/>
                    <a:pt x="469583" y="188595"/>
                  </a:cubicBezTo>
                  <a:lnTo>
                    <a:pt x="426720" y="231457"/>
                  </a:lnTo>
                  <a:cubicBezTo>
                    <a:pt x="406718" y="223838"/>
                    <a:pt x="384810" y="219075"/>
                    <a:pt x="361950" y="219075"/>
                  </a:cubicBezTo>
                  <a:cubicBezTo>
                    <a:pt x="267652" y="219075"/>
                    <a:pt x="190500" y="296227"/>
                    <a:pt x="190500" y="390525"/>
                  </a:cubicBezTo>
                  <a:cubicBezTo>
                    <a:pt x="190500" y="484823"/>
                    <a:pt x="267652" y="561975"/>
                    <a:pt x="361950" y="561975"/>
                  </a:cubicBezTo>
                  <a:cubicBezTo>
                    <a:pt x="456248" y="561975"/>
                    <a:pt x="533400" y="484823"/>
                    <a:pt x="533400" y="390525"/>
                  </a:cubicBezTo>
                  <a:cubicBezTo>
                    <a:pt x="533400" y="367665"/>
                    <a:pt x="529590" y="345758"/>
                    <a:pt x="521018" y="325755"/>
                  </a:cubicBezTo>
                  <a:lnTo>
                    <a:pt x="563880" y="282893"/>
                  </a:lnTo>
                  <a:cubicBezTo>
                    <a:pt x="581025" y="315277"/>
                    <a:pt x="590550" y="351473"/>
                    <a:pt x="590550" y="390525"/>
                  </a:cubicBezTo>
                  <a:cubicBezTo>
                    <a:pt x="590550" y="516255"/>
                    <a:pt x="487680" y="619125"/>
                    <a:pt x="361950" y="619125"/>
                  </a:cubicBezTo>
                  <a:cubicBezTo>
                    <a:pt x="236220" y="619125"/>
                    <a:pt x="133350" y="516255"/>
                    <a:pt x="133350" y="390525"/>
                  </a:cubicBezTo>
                  <a:cubicBezTo>
                    <a:pt x="133350" y="264795"/>
                    <a:pt x="236220" y="161925"/>
                    <a:pt x="361950" y="161925"/>
                  </a:cubicBezTo>
                  <a:close/>
                  <a:moveTo>
                    <a:pt x="361950" y="28575"/>
                  </a:moveTo>
                  <a:cubicBezTo>
                    <a:pt x="423863" y="28575"/>
                    <a:pt x="481013" y="43815"/>
                    <a:pt x="532448" y="70485"/>
                  </a:cubicBezTo>
                  <a:lnTo>
                    <a:pt x="525780" y="77153"/>
                  </a:lnTo>
                  <a:lnTo>
                    <a:pt x="512445" y="90488"/>
                  </a:lnTo>
                  <a:lnTo>
                    <a:pt x="515303" y="109538"/>
                  </a:lnTo>
                  <a:lnTo>
                    <a:pt x="517208" y="128588"/>
                  </a:lnTo>
                  <a:cubicBezTo>
                    <a:pt x="471488" y="100965"/>
                    <a:pt x="418148" y="85725"/>
                    <a:pt x="361950" y="85725"/>
                  </a:cubicBezTo>
                  <a:cubicBezTo>
                    <a:pt x="194310" y="85725"/>
                    <a:pt x="57150" y="222885"/>
                    <a:pt x="57150" y="390525"/>
                  </a:cubicBezTo>
                  <a:cubicBezTo>
                    <a:pt x="57150" y="558165"/>
                    <a:pt x="194310" y="695325"/>
                    <a:pt x="361950" y="695325"/>
                  </a:cubicBezTo>
                  <a:cubicBezTo>
                    <a:pt x="529590" y="695325"/>
                    <a:pt x="666750" y="558165"/>
                    <a:pt x="666750" y="390525"/>
                  </a:cubicBezTo>
                  <a:cubicBezTo>
                    <a:pt x="666750" y="333375"/>
                    <a:pt x="650558" y="280988"/>
                    <a:pt x="623888" y="235268"/>
                  </a:cubicBezTo>
                  <a:lnTo>
                    <a:pt x="643890" y="238125"/>
                  </a:lnTo>
                  <a:lnTo>
                    <a:pt x="661988" y="240030"/>
                  </a:lnTo>
                  <a:lnTo>
                    <a:pt x="674370" y="226695"/>
                  </a:lnTo>
                  <a:lnTo>
                    <a:pt x="681038" y="220980"/>
                  </a:lnTo>
                  <a:cubicBezTo>
                    <a:pt x="708660" y="271463"/>
                    <a:pt x="723900" y="328613"/>
                    <a:pt x="723900" y="390525"/>
                  </a:cubicBezTo>
                  <a:cubicBezTo>
                    <a:pt x="723900" y="590550"/>
                    <a:pt x="561975" y="752475"/>
                    <a:pt x="361950" y="752475"/>
                  </a:cubicBezTo>
                  <a:cubicBezTo>
                    <a:pt x="161925" y="752475"/>
                    <a:pt x="0" y="590550"/>
                    <a:pt x="0" y="390525"/>
                  </a:cubicBezTo>
                  <a:cubicBezTo>
                    <a:pt x="0" y="190500"/>
                    <a:pt x="161925" y="28575"/>
                    <a:pt x="361950" y="28575"/>
                  </a:cubicBezTo>
                  <a:close/>
                  <a:moveTo>
                    <a:pt x="657225" y="0"/>
                  </a:moveTo>
                  <a:lnTo>
                    <a:pt x="666750" y="85725"/>
                  </a:lnTo>
                  <a:lnTo>
                    <a:pt x="752475" y="95250"/>
                  </a:lnTo>
                  <a:lnTo>
                    <a:pt x="647700" y="200025"/>
                  </a:lnTo>
                  <a:lnTo>
                    <a:pt x="598170" y="194310"/>
                  </a:lnTo>
                  <a:lnTo>
                    <a:pt x="445769" y="346710"/>
                  </a:lnTo>
                  <a:cubicBezTo>
                    <a:pt x="452437" y="360045"/>
                    <a:pt x="456247" y="374333"/>
                    <a:pt x="456247" y="390525"/>
                  </a:cubicBezTo>
                  <a:cubicBezTo>
                    <a:pt x="456247" y="442913"/>
                    <a:pt x="413385" y="485775"/>
                    <a:pt x="360997" y="485775"/>
                  </a:cubicBezTo>
                  <a:cubicBezTo>
                    <a:pt x="308610" y="485775"/>
                    <a:pt x="265747" y="442913"/>
                    <a:pt x="265747" y="390525"/>
                  </a:cubicBezTo>
                  <a:cubicBezTo>
                    <a:pt x="265747" y="338138"/>
                    <a:pt x="308610" y="295275"/>
                    <a:pt x="360997" y="295275"/>
                  </a:cubicBezTo>
                  <a:cubicBezTo>
                    <a:pt x="377189" y="295275"/>
                    <a:pt x="392429" y="300038"/>
                    <a:pt x="405764" y="306705"/>
                  </a:cubicBezTo>
                  <a:lnTo>
                    <a:pt x="558164" y="154305"/>
                  </a:lnTo>
                  <a:lnTo>
                    <a:pt x="552450" y="104775"/>
                  </a:lnTo>
                  <a:close/>
                </a:path>
              </a:pathLst>
            </a:custGeom>
            <a:solidFill>
              <a:schemeClr val="bg1"/>
            </a:solidFill>
            <a:ln w="9525" cap="flat">
              <a:noFill/>
              <a:prstDash val="solid"/>
              <a:miter/>
            </a:ln>
          </p:spPr>
          <p:txBody>
            <a:bodyPr rtlCol="0" anchor="ctr"/>
            <a:lstStyle/>
            <a:p>
              <a:endParaRPr lang="en-US" sz="1350"/>
            </a:p>
          </p:txBody>
        </p:sp>
        <p:sp>
          <p:nvSpPr>
            <p:cNvPr id="88" name="Freeform: Shape 87">
              <a:extLst>
                <a:ext uri="{FF2B5EF4-FFF2-40B4-BE49-F238E27FC236}">
                  <a16:creationId xmlns:a16="http://schemas.microsoft.com/office/drawing/2014/main" id="{0DB10894-CA96-D213-489D-92F9FAD7C62C}"/>
                </a:ext>
              </a:extLst>
            </p:cNvPr>
            <p:cNvSpPr/>
            <p:nvPr/>
          </p:nvSpPr>
          <p:spPr>
            <a:xfrm>
              <a:off x="6075511" y="3596492"/>
              <a:ext cx="427774" cy="517659"/>
            </a:xfrm>
            <a:custGeom>
              <a:avLst/>
              <a:gdLst>
                <a:gd name="connsiteX0" fmla="*/ 202883 w 621030"/>
                <a:gd name="connsiteY0" fmla="*/ 478155 h 751523"/>
                <a:gd name="connsiteX1" fmla="*/ 131445 w 621030"/>
                <a:gd name="connsiteY1" fmla="*/ 549592 h 751523"/>
                <a:gd name="connsiteX2" fmla="*/ 202883 w 621030"/>
                <a:gd name="connsiteY2" fmla="*/ 621030 h 751523"/>
                <a:gd name="connsiteX3" fmla="*/ 274320 w 621030"/>
                <a:gd name="connsiteY3" fmla="*/ 549592 h 751523"/>
                <a:gd name="connsiteX4" fmla="*/ 202883 w 621030"/>
                <a:gd name="connsiteY4" fmla="*/ 478155 h 751523"/>
                <a:gd name="connsiteX5" fmla="*/ 179070 w 621030"/>
                <a:gd name="connsiteY5" fmla="*/ 346710 h 751523"/>
                <a:gd name="connsiteX6" fmla="*/ 226695 w 621030"/>
                <a:gd name="connsiteY6" fmla="*/ 346710 h 751523"/>
                <a:gd name="connsiteX7" fmla="*/ 247650 w 621030"/>
                <a:gd name="connsiteY7" fmla="*/ 388620 h 751523"/>
                <a:gd name="connsiteX8" fmla="*/ 284798 w 621030"/>
                <a:gd name="connsiteY8" fmla="*/ 403860 h 751523"/>
                <a:gd name="connsiteX9" fmla="*/ 329565 w 621030"/>
                <a:gd name="connsiteY9" fmla="*/ 388620 h 751523"/>
                <a:gd name="connsiteX10" fmla="*/ 363855 w 621030"/>
                <a:gd name="connsiteY10" fmla="*/ 422910 h 751523"/>
                <a:gd name="connsiteX11" fmla="*/ 348615 w 621030"/>
                <a:gd name="connsiteY11" fmla="*/ 467677 h 751523"/>
                <a:gd name="connsiteX12" fmla="*/ 363855 w 621030"/>
                <a:gd name="connsiteY12" fmla="*/ 504825 h 751523"/>
                <a:gd name="connsiteX13" fmla="*/ 405765 w 621030"/>
                <a:gd name="connsiteY13" fmla="*/ 525780 h 751523"/>
                <a:gd name="connsiteX14" fmla="*/ 405765 w 621030"/>
                <a:gd name="connsiteY14" fmla="*/ 573405 h 751523"/>
                <a:gd name="connsiteX15" fmla="*/ 363855 w 621030"/>
                <a:gd name="connsiteY15" fmla="*/ 594360 h 751523"/>
                <a:gd name="connsiteX16" fmla="*/ 348615 w 621030"/>
                <a:gd name="connsiteY16" fmla="*/ 631508 h 751523"/>
                <a:gd name="connsiteX17" fmla="*/ 362903 w 621030"/>
                <a:gd name="connsiteY17" fmla="*/ 675323 h 751523"/>
                <a:gd name="connsiteX18" fmla="*/ 329565 w 621030"/>
                <a:gd name="connsiteY18" fmla="*/ 709613 h 751523"/>
                <a:gd name="connsiteX19" fmla="*/ 284798 w 621030"/>
                <a:gd name="connsiteY19" fmla="*/ 694373 h 751523"/>
                <a:gd name="connsiteX20" fmla="*/ 247650 w 621030"/>
                <a:gd name="connsiteY20" fmla="*/ 709613 h 751523"/>
                <a:gd name="connsiteX21" fmla="*/ 226695 w 621030"/>
                <a:gd name="connsiteY21" fmla="*/ 751523 h 751523"/>
                <a:gd name="connsiteX22" fmla="*/ 179070 w 621030"/>
                <a:gd name="connsiteY22" fmla="*/ 751523 h 751523"/>
                <a:gd name="connsiteX23" fmla="*/ 158115 w 621030"/>
                <a:gd name="connsiteY23" fmla="*/ 709613 h 751523"/>
                <a:gd name="connsiteX24" fmla="*/ 120968 w 621030"/>
                <a:gd name="connsiteY24" fmla="*/ 694373 h 751523"/>
                <a:gd name="connsiteX25" fmla="*/ 76200 w 621030"/>
                <a:gd name="connsiteY25" fmla="*/ 708660 h 751523"/>
                <a:gd name="connsiteX26" fmla="*/ 42863 w 621030"/>
                <a:gd name="connsiteY26" fmla="*/ 675323 h 751523"/>
                <a:gd name="connsiteX27" fmla="*/ 57150 w 621030"/>
                <a:gd name="connsiteY27" fmla="*/ 630555 h 751523"/>
                <a:gd name="connsiteX28" fmla="*/ 41910 w 621030"/>
                <a:gd name="connsiteY28" fmla="*/ 593408 h 751523"/>
                <a:gd name="connsiteX29" fmla="*/ 0 w 621030"/>
                <a:gd name="connsiteY29" fmla="*/ 572452 h 751523"/>
                <a:gd name="connsiteX30" fmla="*/ 0 w 621030"/>
                <a:gd name="connsiteY30" fmla="*/ 524827 h 751523"/>
                <a:gd name="connsiteX31" fmla="*/ 41910 w 621030"/>
                <a:gd name="connsiteY31" fmla="*/ 503873 h 751523"/>
                <a:gd name="connsiteX32" fmla="*/ 57150 w 621030"/>
                <a:gd name="connsiteY32" fmla="*/ 466725 h 751523"/>
                <a:gd name="connsiteX33" fmla="*/ 42863 w 621030"/>
                <a:gd name="connsiteY33" fmla="*/ 421957 h 751523"/>
                <a:gd name="connsiteX34" fmla="*/ 76200 w 621030"/>
                <a:gd name="connsiteY34" fmla="*/ 388620 h 751523"/>
                <a:gd name="connsiteX35" fmla="*/ 120968 w 621030"/>
                <a:gd name="connsiteY35" fmla="*/ 403860 h 751523"/>
                <a:gd name="connsiteX36" fmla="*/ 158115 w 621030"/>
                <a:gd name="connsiteY36" fmla="*/ 388620 h 751523"/>
                <a:gd name="connsiteX37" fmla="*/ 418148 w 621030"/>
                <a:gd name="connsiteY37" fmla="*/ 131445 h 751523"/>
                <a:gd name="connsiteX38" fmla="*/ 346710 w 621030"/>
                <a:gd name="connsiteY38" fmla="*/ 202883 h 751523"/>
                <a:gd name="connsiteX39" fmla="*/ 418148 w 621030"/>
                <a:gd name="connsiteY39" fmla="*/ 274320 h 751523"/>
                <a:gd name="connsiteX40" fmla="*/ 489585 w 621030"/>
                <a:gd name="connsiteY40" fmla="*/ 202883 h 751523"/>
                <a:gd name="connsiteX41" fmla="*/ 418148 w 621030"/>
                <a:gd name="connsiteY41" fmla="*/ 131445 h 751523"/>
                <a:gd name="connsiteX42" fmla="*/ 394335 w 621030"/>
                <a:gd name="connsiteY42" fmla="*/ 0 h 751523"/>
                <a:gd name="connsiteX43" fmla="*/ 441960 w 621030"/>
                <a:gd name="connsiteY43" fmla="*/ 0 h 751523"/>
                <a:gd name="connsiteX44" fmla="*/ 462915 w 621030"/>
                <a:gd name="connsiteY44" fmla="*/ 41910 h 751523"/>
                <a:gd name="connsiteX45" fmla="*/ 500063 w 621030"/>
                <a:gd name="connsiteY45" fmla="*/ 57150 h 751523"/>
                <a:gd name="connsiteX46" fmla="*/ 544830 w 621030"/>
                <a:gd name="connsiteY46" fmla="*/ 41910 h 751523"/>
                <a:gd name="connsiteX47" fmla="*/ 579120 w 621030"/>
                <a:gd name="connsiteY47" fmla="*/ 76200 h 751523"/>
                <a:gd name="connsiteX48" fmla="*/ 563880 w 621030"/>
                <a:gd name="connsiteY48" fmla="*/ 120968 h 751523"/>
                <a:gd name="connsiteX49" fmla="*/ 579120 w 621030"/>
                <a:gd name="connsiteY49" fmla="*/ 158115 h 751523"/>
                <a:gd name="connsiteX50" fmla="*/ 621030 w 621030"/>
                <a:gd name="connsiteY50" fmla="*/ 179070 h 751523"/>
                <a:gd name="connsiteX51" fmla="*/ 621030 w 621030"/>
                <a:gd name="connsiteY51" fmla="*/ 226695 h 751523"/>
                <a:gd name="connsiteX52" fmla="*/ 579120 w 621030"/>
                <a:gd name="connsiteY52" fmla="*/ 247650 h 751523"/>
                <a:gd name="connsiteX53" fmla="*/ 562928 w 621030"/>
                <a:gd name="connsiteY53" fmla="*/ 284798 h 751523"/>
                <a:gd name="connsiteX54" fmla="*/ 578168 w 621030"/>
                <a:gd name="connsiteY54" fmla="*/ 329565 h 751523"/>
                <a:gd name="connsiteX55" fmla="*/ 543878 w 621030"/>
                <a:gd name="connsiteY55" fmla="*/ 362903 h 751523"/>
                <a:gd name="connsiteX56" fmla="*/ 499110 w 621030"/>
                <a:gd name="connsiteY56" fmla="*/ 347663 h 751523"/>
                <a:gd name="connsiteX57" fmla="*/ 461963 w 621030"/>
                <a:gd name="connsiteY57" fmla="*/ 362903 h 751523"/>
                <a:gd name="connsiteX58" fmla="*/ 441008 w 621030"/>
                <a:gd name="connsiteY58" fmla="*/ 404813 h 751523"/>
                <a:gd name="connsiteX59" fmla="*/ 393383 w 621030"/>
                <a:gd name="connsiteY59" fmla="*/ 404813 h 751523"/>
                <a:gd name="connsiteX60" fmla="*/ 372428 w 621030"/>
                <a:gd name="connsiteY60" fmla="*/ 362903 h 751523"/>
                <a:gd name="connsiteX61" fmla="*/ 335280 w 621030"/>
                <a:gd name="connsiteY61" fmla="*/ 347663 h 751523"/>
                <a:gd name="connsiteX62" fmla="*/ 290513 w 621030"/>
                <a:gd name="connsiteY62" fmla="*/ 362903 h 751523"/>
                <a:gd name="connsiteX63" fmla="*/ 257175 w 621030"/>
                <a:gd name="connsiteY63" fmla="*/ 329565 h 751523"/>
                <a:gd name="connsiteX64" fmla="*/ 272415 w 621030"/>
                <a:gd name="connsiteY64" fmla="*/ 284798 h 751523"/>
                <a:gd name="connsiteX65" fmla="*/ 257175 w 621030"/>
                <a:gd name="connsiteY65" fmla="*/ 247650 h 751523"/>
                <a:gd name="connsiteX66" fmla="*/ 215265 w 621030"/>
                <a:gd name="connsiteY66" fmla="*/ 226695 h 751523"/>
                <a:gd name="connsiteX67" fmla="*/ 215265 w 621030"/>
                <a:gd name="connsiteY67" fmla="*/ 179070 h 751523"/>
                <a:gd name="connsiteX68" fmla="*/ 257175 w 621030"/>
                <a:gd name="connsiteY68" fmla="*/ 158115 h 751523"/>
                <a:gd name="connsiteX69" fmla="*/ 272415 w 621030"/>
                <a:gd name="connsiteY69" fmla="*/ 120968 h 751523"/>
                <a:gd name="connsiteX70" fmla="*/ 257175 w 621030"/>
                <a:gd name="connsiteY70" fmla="*/ 76200 h 751523"/>
                <a:gd name="connsiteX71" fmla="*/ 291465 w 621030"/>
                <a:gd name="connsiteY71" fmla="*/ 41910 h 751523"/>
                <a:gd name="connsiteX72" fmla="*/ 336233 w 621030"/>
                <a:gd name="connsiteY72" fmla="*/ 57150 h 751523"/>
                <a:gd name="connsiteX73" fmla="*/ 373380 w 621030"/>
                <a:gd name="connsiteY73" fmla="*/ 41910 h 751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621030" h="751523">
                  <a:moveTo>
                    <a:pt x="202883" y="478155"/>
                  </a:moveTo>
                  <a:cubicBezTo>
                    <a:pt x="163830" y="478155"/>
                    <a:pt x="131445" y="509587"/>
                    <a:pt x="131445" y="549592"/>
                  </a:cubicBezTo>
                  <a:cubicBezTo>
                    <a:pt x="131445" y="588645"/>
                    <a:pt x="162878" y="621030"/>
                    <a:pt x="202883" y="621030"/>
                  </a:cubicBezTo>
                  <a:cubicBezTo>
                    <a:pt x="242888" y="621030"/>
                    <a:pt x="274320" y="588645"/>
                    <a:pt x="274320" y="549592"/>
                  </a:cubicBezTo>
                  <a:cubicBezTo>
                    <a:pt x="274320" y="510540"/>
                    <a:pt x="242888" y="478155"/>
                    <a:pt x="202883" y="478155"/>
                  </a:cubicBezTo>
                  <a:close/>
                  <a:moveTo>
                    <a:pt x="179070" y="346710"/>
                  </a:moveTo>
                  <a:lnTo>
                    <a:pt x="226695" y="346710"/>
                  </a:lnTo>
                  <a:lnTo>
                    <a:pt x="247650" y="388620"/>
                  </a:lnTo>
                  <a:cubicBezTo>
                    <a:pt x="260033" y="392430"/>
                    <a:pt x="273368" y="397192"/>
                    <a:pt x="284798" y="403860"/>
                  </a:cubicBezTo>
                  <a:lnTo>
                    <a:pt x="329565" y="388620"/>
                  </a:lnTo>
                  <a:lnTo>
                    <a:pt x="363855" y="422910"/>
                  </a:lnTo>
                  <a:lnTo>
                    <a:pt x="348615" y="467677"/>
                  </a:lnTo>
                  <a:cubicBezTo>
                    <a:pt x="355283" y="479107"/>
                    <a:pt x="360045" y="491490"/>
                    <a:pt x="363855" y="504825"/>
                  </a:cubicBezTo>
                  <a:lnTo>
                    <a:pt x="405765" y="525780"/>
                  </a:lnTo>
                  <a:lnTo>
                    <a:pt x="405765" y="573405"/>
                  </a:lnTo>
                  <a:lnTo>
                    <a:pt x="363855" y="594360"/>
                  </a:lnTo>
                  <a:cubicBezTo>
                    <a:pt x="360045" y="607695"/>
                    <a:pt x="355283" y="620077"/>
                    <a:pt x="348615" y="631508"/>
                  </a:cubicBezTo>
                  <a:lnTo>
                    <a:pt x="362903" y="675323"/>
                  </a:lnTo>
                  <a:lnTo>
                    <a:pt x="329565" y="709613"/>
                  </a:lnTo>
                  <a:lnTo>
                    <a:pt x="284798" y="694373"/>
                  </a:lnTo>
                  <a:cubicBezTo>
                    <a:pt x="273368" y="701040"/>
                    <a:pt x="260985" y="705802"/>
                    <a:pt x="247650" y="709613"/>
                  </a:cubicBezTo>
                  <a:lnTo>
                    <a:pt x="226695" y="751523"/>
                  </a:lnTo>
                  <a:lnTo>
                    <a:pt x="179070" y="751523"/>
                  </a:lnTo>
                  <a:lnTo>
                    <a:pt x="158115" y="709613"/>
                  </a:lnTo>
                  <a:cubicBezTo>
                    <a:pt x="144780" y="705802"/>
                    <a:pt x="132398" y="701040"/>
                    <a:pt x="120968" y="694373"/>
                  </a:cubicBezTo>
                  <a:lnTo>
                    <a:pt x="76200" y="708660"/>
                  </a:lnTo>
                  <a:lnTo>
                    <a:pt x="42863" y="675323"/>
                  </a:lnTo>
                  <a:lnTo>
                    <a:pt x="57150" y="630555"/>
                  </a:lnTo>
                  <a:cubicBezTo>
                    <a:pt x="50483" y="619125"/>
                    <a:pt x="45720" y="606742"/>
                    <a:pt x="41910" y="593408"/>
                  </a:cubicBezTo>
                  <a:lnTo>
                    <a:pt x="0" y="572452"/>
                  </a:lnTo>
                  <a:lnTo>
                    <a:pt x="0" y="524827"/>
                  </a:lnTo>
                  <a:lnTo>
                    <a:pt x="41910" y="503873"/>
                  </a:lnTo>
                  <a:cubicBezTo>
                    <a:pt x="45720" y="491490"/>
                    <a:pt x="50483" y="478155"/>
                    <a:pt x="57150" y="466725"/>
                  </a:cubicBezTo>
                  <a:lnTo>
                    <a:pt x="42863" y="421957"/>
                  </a:lnTo>
                  <a:lnTo>
                    <a:pt x="76200" y="388620"/>
                  </a:lnTo>
                  <a:lnTo>
                    <a:pt x="120968" y="403860"/>
                  </a:lnTo>
                  <a:cubicBezTo>
                    <a:pt x="132398" y="397192"/>
                    <a:pt x="144780" y="392430"/>
                    <a:pt x="158115" y="388620"/>
                  </a:cubicBezTo>
                  <a:close/>
                  <a:moveTo>
                    <a:pt x="418148" y="131445"/>
                  </a:moveTo>
                  <a:cubicBezTo>
                    <a:pt x="379095" y="131445"/>
                    <a:pt x="346710" y="163830"/>
                    <a:pt x="346710" y="202883"/>
                  </a:cubicBezTo>
                  <a:cubicBezTo>
                    <a:pt x="346710" y="241935"/>
                    <a:pt x="378142" y="274320"/>
                    <a:pt x="418148" y="274320"/>
                  </a:cubicBezTo>
                  <a:cubicBezTo>
                    <a:pt x="457200" y="274320"/>
                    <a:pt x="489585" y="241935"/>
                    <a:pt x="489585" y="202883"/>
                  </a:cubicBezTo>
                  <a:cubicBezTo>
                    <a:pt x="489585" y="163830"/>
                    <a:pt x="458153" y="131445"/>
                    <a:pt x="418148" y="131445"/>
                  </a:cubicBezTo>
                  <a:close/>
                  <a:moveTo>
                    <a:pt x="394335" y="0"/>
                  </a:moveTo>
                  <a:lnTo>
                    <a:pt x="441960" y="0"/>
                  </a:lnTo>
                  <a:lnTo>
                    <a:pt x="462915" y="41910"/>
                  </a:lnTo>
                  <a:cubicBezTo>
                    <a:pt x="476250" y="45720"/>
                    <a:pt x="488632" y="50483"/>
                    <a:pt x="500063" y="57150"/>
                  </a:cubicBezTo>
                  <a:lnTo>
                    <a:pt x="544830" y="41910"/>
                  </a:lnTo>
                  <a:lnTo>
                    <a:pt x="579120" y="76200"/>
                  </a:lnTo>
                  <a:lnTo>
                    <a:pt x="563880" y="120968"/>
                  </a:lnTo>
                  <a:cubicBezTo>
                    <a:pt x="570548" y="132398"/>
                    <a:pt x="575310" y="144780"/>
                    <a:pt x="579120" y="158115"/>
                  </a:cubicBezTo>
                  <a:lnTo>
                    <a:pt x="621030" y="179070"/>
                  </a:lnTo>
                  <a:lnTo>
                    <a:pt x="621030" y="226695"/>
                  </a:lnTo>
                  <a:lnTo>
                    <a:pt x="579120" y="247650"/>
                  </a:lnTo>
                  <a:cubicBezTo>
                    <a:pt x="575310" y="260033"/>
                    <a:pt x="569595" y="273368"/>
                    <a:pt x="562928" y="284798"/>
                  </a:cubicBezTo>
                  <a:lnTo>
                    <a:pt x="578168" y="329565"/>
                  </a:lnTo>
                  <a:lnTo>
                    <a:pt x="543878" y="362903"/>
                  </a:lnTo>
                  <a:lnTo>
                    <a:pt x="499110" y="347663"/>
                  </a:lnTo>
                  <a:cubicBezTo>
                    <a:pt x="487680" y="354330"/>
                    <a:pt x="475298" y="359093"/>
                    <a:pt x="461963" y="362903"/>
                  </a:cubicBezTo>
                  <a:lnTo>
                    <a:pt x="441008" y="404813"/>
                  </a:lnTo>
                  <a:lnTo>
                    <a:pt x="393383" y="404813"/>
                  </a:lnTo>
                  <a:lnTo>
                    <a:pt x="372428" y="362903"/>
                  </a:lnTo>
                  <a:cubicBezTo>
                    <a:pt x="359092" y="359093"/>
                    <a:pt x="346710" y="354330"/>
                    <a:pt x="335280" y="347663"/>
                  </a:cubicBezTo>
                  <a:lnTo>
                    <a:pt x="290513" y="362903"/>
                  </a:lnTo>
                  <a:lnTo>
                    <a:pt x="257175" y="329565"/>
                  </a:lnTo>
                  <a:lnTo>
                    <a:pt x="272415" y="284798"/>
                  </a:lnTo>
                  <a:cubicBezTo>
                    <a:pt x="265747" y="273368"/>
                    <a:pt x="260985" y="260985"/>
                    <a:pt x="257175" y="247650"/>
                  </a:cubicBezTo>
                  <a:lnTo>
                    <a:pt x="215265" y="226695"/>
                  </a:lnTo>
                  <a:lnTo>
                    <a:pt x="215265" y="179070"/>
                  </a:lnTo>
                  <a:lnTo>
                    <a:pt x="257175" y="158115"/>
                  </a:lnTo>
                  <a:cubicBezTo>
                    <a:pt x="260985" y="144780"/>
                    <a:pt x="265747" y="132398"/>
                    <a:pt x="272415" y="120968"/>
                  </a:cubicBezTo>
                  <a:lnTo>
                    <a:pt x="257175" y="76200"/>
                  </a:lnTo>
                  <a:lnTo>
                    <a:pt x="291465" y="41910"/>
                  </a:lnTo>
                  <a:lnTo>
                    <a:pt x="336233" y="57150"/>
                  </a:lnTo>
                  <a:cubicBezTo>
                    <a:pt x="347663" y="50483"/>
                    <a:pt x="360045" y="45720"/>
                    <a:pt x="373380" y="41910"/>
                  </a:cubicBezTo>
                  <a:close/>
                </a:path>
              </a:pathLst>
            </a:custGeom>
            <a:solidFill>
              <a:schemeClr val="bg1"/>
            </a:solidFill>
            <a:ln w="9525" cap="flat">
              <a:noFill/>
              <a:prstDash val="solid"/>
              <a:miter/>
            </a:ln>
          </p:spPr>
          <p:txBody>
            <a:bodyPr rtlCol="0" anchor="ctr"/>
            <a:lstStyle/>
            <a:p>
              <a:endParaRPr lang="en-US" sz="1350"/>
            </a:p>
          </p:txBody>
        </p:sp>
        <p:sp>
          <p:nvSpPr>
            <p:cNvPr id="89" name="Freeform: Shape 88">
              <a:extLst>
                <a:ext uri="{FF2B5EF4-FFF2-40B4-BE49-F238E27FC236}">
                  <a16:creationId xmlns:a16="http://schemas.microsoft.com/office/drawing/2014/main" id="{7BCE125E-C6FD-3D44-A4B2-B92FE36931CE}"/>
                </a:ext>
              </a:extLst>
            </p:cNvPr>
            <p:cNvSpPr/>
            <p:nvPr/>
          </p:nvSpPr>
          <p:spPr>
            <a:xfrm>
              <a:off x="5191449" y="1882007"/>
              <a:ext cx="279294" cy="451167"/>
            </a:xfrm>
            <a:custGeom>
              <a:avLst/>
              <a:gdLst>
                <a:gd name="connsiteX0" fmla="*/ 185738 w 495300"/>
                <a:gd name="connsiteY0" fmla="*/ 742950 h 800100"/>
                <a:gd name="connsiteX1" fmla="*/ 309563 w 495300"/>
                <a:gd name="connsiteY1" fmla="*/ 742950 h 800100"/>
                <a:gd name="connsiteX2" fmla="*/ 247651 w 495300"/>
                <a:gd name="connsiteY2" fmla="*/ 800100 h 800100"/>
                <a:gd name="connsiteX3" fmla="*/ 185738 w 495300"/>
                <a:gd name="connsiteY3" fmla="*/ 742950 h 800100"/>
                <a:gd name="connsiteX4" fmla="*/ 152400 w 495300"/>
                <a:gd name="connsiteY4" fmla="*/ 647700 h 800100"/>
                <a:gd name="connsiteX5" fmla="*/ 342900 w 495300"/>
                <a:gd name="connsiteY5" fmla="*/ 647700 h 800100"/>
                <a:gd name="connsiteX6" fmla="*/ 371475 w 495300"/>
                <a:gd name="connsiteY6" fmla="*/ 676275 h 800100"/>
                <a:gd name="connsiteX7" fmla="*/ 342900 w 495300"/>
                <a:gd name="connsiteY7" fmla="*/ 704850 h 800100"/>
                <a:gd name="connsiteX8" fmla="*/ 152400 w 495300"/>
                <a:gd name="connsiteY8" fmla="*/ 704850 h 800100"/>
                <a:gd name="connsiteX9" fmla="*/ 123825 w 495300"/>
                <a:gd name="connsiteY9" fmla="*/ 676275 h 800100"/>
                <a:gd name="connsiteX10" fmla="*/ 152400 w 495300"/>
                <a:gd name="connsiteY10" fmla="*/ 647700 h 800100"/>
                <a:gd name="connsiteX11" fmla="*/ 152400 w 495300"/>
                <a:gd name="connsiteY11" fmla="*/ 552450 h 800100"/>
                <a:gd name="connsiteX12" fmla="*/ 342900 w 495300"/>
                <a:gd name="connsiteY12" fmla="*/ 552450 h 800100"/>
                <a:gd name="connsiteX13" fmla="*/ 371475 w 495300"/>
                <a:gd name="connsiteY13" fmla="*/ 581025 h 800100"/>
                <a:gd name="connsiteX14" fmla="*/ 342900 w 495300"/>
                <a:gd name="connsiteY14" fmla="*/ 609600 h 800100"/>
                <a:gd name="connsiteX15" fmla="*/ 152400 w 495300"/>
                <a:gd name="connsiteY15" fmla="*/ 609600 h 800100"/>
                <a:gd name="connsiteX16" fmla="*/ 123825 w 495300"/>
                <a:gd name="connsiteY16" fmla="*/ 581025 h 800100"/>
                <a:gd name="connsiteX17" fmla="*/ 152400 w 495300"/>
                <a:gd name="connsiteY17" fmla="*/ 552450 h 800100"/>
                <a:gd name="connsiteX18" fmla="*/ 248602 w 495300"/>
                <a:gd name="connsiteY18" fmla="*/ 56197 h 800100"/>
                <a:gd name="connsiteX19" fmla="*/ 58103 w 495300"/>
                <a:gd name="connsiteY19" fmla="*/ 244793 h 800100"/>
                <a:gd name="connsiteX20" fmla="*/ 58103 w 495300"/>
                <a:gd name="connsiteY20" fmla="*/ 252413 h 800100"/>
                <a:gd name="connsiteX21" fmla="*/ 71438 w 495300"/>
                <a:gd name="connsiteY21" fmla="*/ 319088 h 800100"/>
                <a:gd name="connsiteX22" fmla="*/ 103823 w 495300"/>
                <a:gd name="connsiteY22" fmla="*/ 371475 h 800100"/>
                <a:gd name="connsiteX23" fmla="*/ 159068 w 495300"/>
                <a:gd name="connsiteY23" fmla="*/ 457200 h 800100"/>
                <a:gd name="connsiteX24" fmla="*/ 247650 w 495300"/>
                <a:gd name="connsiteY24" fmla="*/ 457200 h 800100"/>
                <a:gd name="connsiteX25" fmla="*/ 337185 w 495300"/>
                <a:gd name="connsiteY25" fmla="*/ 457200 h 800100"/>
                <a:gd name="connsiteX26" fmla="*/ 392430 w 495300"/>
                <a:gd name="connsiteY26" fmla="*/ 371475 h 800100"/>
                <a:gd name="connsiteX27" fmla="*/ 424815 w 495300"/>
                <a:gd name="connsiteY27" fmla="*/ 319088 h 800100"/>
                <a:gd name="connsiteX28" fmla="*/ 438150 w 495300"/>
                <a:gd name="connsiteY28" fmla="*/ 252413 h 800100"/>
                <a:gd name="connsiteX29" fmla="*/ 439103 w 495300"/>
                <a:gd name="connsiteY29" fmla="*/ 252413 h 800100"/>
                <a:gd name="connsiteX30" fmla="*/ 439103 w 495300"/>
                <a:gd name="connsiteY30" fmla="*/ 244793 h 800100"/>
                <a:gd name="connsiteX31" fmla="*/ 248602 w 495300"/>
                <a:gd name="connsiteY31" fmla="*/ 56197 h 800100"/>
                <a:gd name="connsiteX32" fmla="*/ 247650 w 495300"/>
                <a:gd name="connsiteY32" fmla="*/ 0 h 800100"/>
                <a:gd name="connsiteX33" fmla="*/ 495300 w 495300"/>
                <a:gd name="connsiteY33" fmla="*/ 244793 h 800100"/>
                <a:gd name="connsiteX34" fmla="*/ 495300 w 495300"/>
                <a:gd name="connsiteY34" fmla="*/ 253365 h 800100"/>
                <a:gd name="connsiteX35" fmla="*/ 478155 w 495300"/>
                <a:gd name="connsiteY35" fmla="*/ 339090 h 800100"/>
                <a:gd name="connsiteX36" fmla="*/ 435292 w 495300"/>
                <a:gd name="connsiteY36" fmla="*/ 409575 h 800100"/>
                <a:gd name="connsiteX37" fmla="*/ 377190 w 495300"/>
                <a:gd name="connsiteY37" fmla="*/ 503873 h 800100"/>
                <a:gd name="connsiteX38" fmla="*/ 360045 w 495300"/>
                <a:gd name="connsiteY38" fmla="*/ 514350 h 800100"/>
                <a:gd name="connsiteX39" fmla="*/ 135255 w 495300"/>
                <a:gd name="connsiteY39" fmla="*/ 514350 h 800100"/>
                <a:gd name="connsiteX40" fmla="*/ 118110 w 495300"/>
                <a:gd name="connsiteY40" fmla="*/ 503873 h 800100"/>
                <a:gd name="connsiteX41" fmla="*/ 60007 w 495300"/>
                <a:gd name="connsiteY41" fmla="*/ 409575 h 800100"/>
                <a:gd name="connsiteX42" fmla="*/ 17145 w 495300"/>
                <a:gd name="connsiteY42" fmla="*/ 339090 h 800100"/>
                <a:gd name="connsiteX43" fmla="*/ 0 w 495300"/>
                <a:gd name="connsiteY43" fmla="*/ 253365 h 800100"/>
                <a:gd name="connsiteX44" fmla="*/ 0 w 495300"/>
                <a:gd name="connsiteY44" fmla="*/ 244793 h 800100"/>
                <a:gd name="connsiteX45" fmla="*/ 247650 w 495300"/>
                <a:gd name="connsiteY45" fmla="*/ 0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95300" h="800100">
                  <a:moveTo>
                    <a:pt x="185738" y="742950"/>
                  </a:moveTo>
                  <a:lnTo>
                    <a:pt x="309563" y="742950"/>
                  </a:lnTo>
                  <a:cubicBezTo>
                    <a:pt x="306706" y="775335"/>
                    <a:pt x="280036" y="800100"/>
                    <a:pt x="247651" y="800100"/>
                  </a:cubicBezTo>
                  <a:cubicBezTo>
                    <a:pt x="215265" y="800100"/>
                    <a:pt x="188595" y="775335"/>
                    <a:pt x="185738" y="742950"/>
                  </a:cubicBezTo>
                  <a:close/>
                  <a:moveTo>
                    <a:pt x="152400" y="647700"/>
                  </a:moveTo>
                  <a:lnTo>
                    <a:pt x="342900" y="647700"/>
                  </a:lnTo>
                  <a:cubicBezTo>
                    <a:pt x="359093" y="647700"/>
                    <a:pt x="371475" y="660083"/>
                    <a:pt x="371475" y="676275"/>
                  </a:cubicBezTo>
                  <a:cubicBezTo>
                    <a:pt x="371475" y="692467"/>
                    <a:pt x="359093" y="704850"/>
                    <a:pt x="342900" y="704850"/>
                  </a:cubicBezTo>
                  <a:lnTo>
                    <a:pt x="152400" y="704850"/>
                  </a:lnTo>
                  <a:cubicBezTo>
                    <a:pt x="136207" y="704850"/>
                    <a:pt x="123825" y="692467"/>
                    <a:pt x="123825" y="676275"/>
                  </a:cubicBezTo>
                  <a:cubicBezTo>
                    <a:pt x="123825" y="660083"/>
                    <a:pt x="136207" y="647700"/>
                    <a:pt x="152400" y="647700"/>
                  </a:cubicBezTo>
                  <a:close/>
                  <a:moveTo>
                    <a:pt x="152400" y="552450"/>
                  </a:moveTo>
                  <a:lnTo>
                    <a:pt x="342900" y="552450"/>
                  </a:lnTo>
                  <a:cubicBezTo>
                    <a:pt x="359093" y="552450"/>
                    <a:pt x="371475" y="564833"/>
                    <a:pt x="371475" y="581025"/>
                  </a:cubicBezTo>
                  <a:cubicBezTo>
                    <a:pt x="371475" y="597217"/>
                    <a:pt x="359093" y="609600"/>
                    <a:pt x="342900" y="609600"/>
                  </a:cubicBezTo>
                  <a:lnTo>
                    <a:pt x="152400" y="609600"/>
                  </a:lnTo>
                  <a:cubicBezTo>
                    <a:pt x="136207" y="609600"/>
                    <a:pt x="123825" y="597217"/>
                    <a:pt x="123825" y="581025"/>
                  </a:cubicBezTo>
                  <a:cubicBezTo>
                    <a:pt x="123825" y="564833"/>
                    <a:pt x="136207" y="552450"/>
                    <a:pt x="152400" y="552450"/>
                  </a:cubicBezTo>
                  <a:close/>
                  <a:moveTo>
                    <a:pt x="248602" y="56197"/>
                  </a:moveTo>
                  <a:cubicBezTo>
                    <a:pt x="144780" y="57150"/>
                    <a:pt x="60007" y="140970"/>
                    <a:pt x="58103" y="244793"/>
                  </a:cubicBezTo>
                  <a:lnTo>
                    <a:pt x="58103" y="252413"/>
                  </a:lnTo>
                  <a:cubicBezTo>
                    <a:pt x="59055" y="275273"/>
                    <a:pt x="62865" y="298133"/>
                    <a:pt x="71438" y="319088"/>
                  </a:cubicBezTo>
                  <a:cubicBezTo>
                    <a:pt x="79057" y="338138"/>
                    <a:pt x="90488" y="356235"/>
                    <a:pt x="103823" y="371475"/>
                  </a:cubicBezTo>
                  <a:cubicBezTo>
                    <a:pt x="124777" y="398145"/>
                    <a:pt x="143827" y="426720"/>
                    <a:pt x="159068" y="457200"/>
                  </a:cubicBezTo>
                  <a:lnTo>
                    <a:pt x="247650" y="457200"/>
                  </a:lnTo>
                  <a:lnTo>
                    <a:pt x="337185" y="457200"/>
                  </a:lnTo>
                  <a:cubicBezTo>
                    <a:pt x="351473" y="426720"/>
                    <a:pt x="370523" y="398145"/>
                    <a:pt x="392430" y="371475"/>
                  </a:cubicBezTo>
                  <a:cubicBezTo>
                    <a:pt x="406717" y="356235"/>
                    <a:pt x="417195" y="338138"/>
                    <a:pt x="424815" y="319088"/>
                  </a:cubicBezTo>
                  <a:cubicBezTo>
                    <a:pt x="432435" y="298133"/>
                    <a:pt x="437198" y="275273"/>
                    <a:pt x="438150" y="252413"/>
                  </a:cubicBezTo>
                  <a:lnTo>
                    <a:pt x="439103" y="252413"/>
                  </a:lnTo>
                  <a:lnTo>
                    <a:pt x="439103" y="244793"/>
                  </a:lnTo>
                  <a:cubicBezTo>
                    <a:pt x="437198" y="140018"/>
                    <a:pt x="352425" y="57150"/>
                    <a:pt x="248602" y="56197"/>
                  </a:cubicBezTo>
                  <a:close/>
                  <a:moveTo>
                    <a:pt x="247650" y="0"/>
                  </a:moveTo>
                  <a:cubicBezTo>
                    <a:pt x="382905" y="952"/>
                    <a:pt x="492442" y="109538"/>
                    <a:pt x="495300" y="244793"/>
                  </a:cubicBezTo>
                  <a:lnTo>
                    <a:pt x="495300" y="253365"/>
                  </a:lnTo>
                  <a:cubicBezTo>
                    <a:pt x="494348" y="282893"/>
                    <a:pt x="488633" y="311468"/>
                    <a:pt x="478155" y="339090"/>
                  </a:cubicBezTo>
                  <a:cubicBezTo>
                    <a:pt x="468630" y="364808"/>
                    <a:pt x="453390" y="388620"/>
                    <a:pt x="435292" y="409575"/>
                  </a:cubicBezTo>
                  <a:cubicBezTo>
                    <a:pt x="412433" y="434340"/>
                    <a:pt x="387668" y="482918"/>
                    <a:pt x="377190" y="503873"/>
                  </a:cubicBezTo>
                  <a:cubicBezTo>
                    <a:pt x="374333" y="510540"/>
                    <a:pt x="367665" y="514350"/>
                    <a:pt x="360045" y="514350"/>
                  </a:cubicBezTo>
                  <a:lnTo>
                    <a:pt x="135255" y="514350"/>
                  </a:lnTo>
                  <a:cubicBezTo>
                    <a:pt x="127635" y="514350"/>
                    <a:pt x="120968" y="510540"/>
                    <a:pt x="118110" y="503873"/>
                  </a:cubicBezTo>
                  <a:cubicBezTo>
                    <a:pt x="107632" y="482918"/>
                    <a:pt x="82868" y="434340"/>
                    <a:pt x="60007" y="409575"/>
                  </a:cubicBezTo>
                  <a:cubicBezTo>
                    <a:pt x="41910" y="388620"/>
                    <a:pt x="27622" y="364808"/>
                    <a:pt x="17145" y="339090"/>
                  </a:cubicBezTo>
                  <a:cubicBezTo>
                    <a:pt x="6668" y="311468"/>
                    <a:pt x="953" y="282893"/>
                    <a:pt x="0" y="253365"/>
                  </a:cubicBezTo>
                  <a:lnTo>
                    <a:pt x="0" y="244793"/>
                  </a:lnTo>
                  <a:cubicBezTo>
                    <a:pt x="2857" y="109538"/>
                    <a:pt x="112395" y="952"/>
                    <a:pt x="247650" y="0"/>
                  </a:cubicBezTo>
                  <a:close/>
                </a:path>
              </a:pathLst>
            </a:custGeom>
            <a:solidFill>
              <a:schemeClr val="bg2"/>
            </a:solidFill>
            <a:ln w="9525" cap="flat">
              <a:noFill/>
              <a:prstDash val="solid"/>
              <a:miter/>
            </a:ln>
          </p:spPr>
          <p:txBody>
            <a:bodyPr rtlCol="0" anchor="ctr"/>
            <a:lstStyle/>
            <a:p>
              <a:endParaRPr lang="en-US" sz="1350"/>
            </a:p>
          </p:txBody>
        </p:sp>
        <p:sp>
          <p:nvSpPr>
            <p:cNvPr id="90" name="Freeform: Shape 89">
              <a:extLst>
                <a:ext uri="{FF2B5EF4-FFF2-40B4-BE49-F238E27FC236}">
                  <a16:creationId xmlns:a16="http://schemas.microsoft.com/office/drawing/2014/main" id="{1874E2F8-0795-EBAA-9755-AE2B63A47E07}"/>
                </a:ext>
              </a:extLst>
            </p:cNvPr>
            <p:cNvSpPr/>
            <p:nvPr/>
          </p:nvSpPr>
          <p:spPr>
            <a:xfrm>
              <a:off x="4726398" y="5120708"/>
              <a:ext cx="424985" cy="425523"/>
            </a:xfrm>
            <a:custGeom>
              <a:avLst/>
              <a:gdLst>
                <a:gd name="connsiteX0" fmla="*/ 211461 w 753670"/>
                <a:gd name="connsiteY0" fmla="*/ 141928 h 754623"/>
                <a:gd name="connsiteX1" fmla="*/ 230511 w 753670"/>
                <a:gd name="connsiteY1" fmla="*/ 155263 h 754623"/>
                <a:gd name="connsiteX2" fmla="*/ 269563 w 753670"/>
                <a:gd name="connsiteY2" fmla="*/ 364813 h 754623"/>
                <a:gd name="connsiteX3" fmla="*/ 326713 w 753670"/>
                <a:gd name="connsiteY3" fmla="*/ 213366 h 754623"/>
                <a:gd name="connsiteX4" fmla="*/ 338143 w 753670"/>
                <a:gd name="connsiteY4" fmla="*/ 202888 h 754623"/>
                <a:gd name="connsiteX5" fmla="*/ 359098 w 753670"/>
                <a:gd name="connsiteY5" fmla="*/ 214318 h 754623"/>
                <a:gd name="connsiteX6" fmla="*/ 389578 w 753670"/>
                <a:gd name="connsiteY6" fmla="*/ 320046 h 754623"/>
                <a:gd name="connsiteX7" fmla="*/ 425773 w 753670"/>
                <a:gd name="connsiteY7" fmla="*/ 280993 h 754623"/>
                <a:gd name="connsiteX8" fmla="*/ 438156 w 753670"/>
                <a:gd name="connsiteY8" fmla="*/ 273373 h 754623"/>
                <a:gd name="connsiteX9" fmla="*/ 492448 w 753670"/>
                <a:gd name="connsiteY9" fmla="*/ 273373 h 754623"/>
                <a:gd name="connsiteX10" fmla="*/ 493401 w 753670"/>
                <a:gd name="connsiteY10" fmla="*/ 273373 h 754623"/>
                <a:gd name="connsiteX11" fmla="*/ 493401 w 753670"/>
                <a:gd name="connsiteY11" fmla="*/ 311473 h 754623"/>
                <a:gd name="connsiteX12" fmla="*/ 446728 w 753670"/>
                <a:gd name="connsiteY12" fmla="*/ 311473 h 754623"/>
                <a:gd name="connsiteX13" fmla="*/ 395293 w 753670"/>
                <a:gd name="connsiteY13" fmla="*/ 364813 h 754623"/>
                <a:gd name="connsiteX14" fmla="*/ 387673 w 753670"/>
                <a:gd name="connsiteY14" fmla="*/ 369575 h 754623"/>
                <a:gd name="connsiteX15" fmla="*/ 366718 w 753670"/>
                <a:gd name="connsiteY15" fmla="*/ 358146 h 754623"/>
                <a:gd name="connsiteX16" fmla="*/ 341953 w 753670"/>
                <a:gd name="connsiteY16" fmla="*/ 272421 h 754623"/>
                <a:gd name="connsiteX17" fmla="*/ 280993 w 753670"/>
                <a:gd name="connsiteY17" fmla="*/ 432441 h 754623"/>
                <a:gd name="connsiteX18" fmla="*/ 264800 w 753670"/>
                <a:gd name="connsiteY18" fmla="*/ 442918 h 754623"/>
                <a:gd name="connsiteX19" fmla="*/ 262896 w 753670"/>
                <a:gd name="connsiteY19" fmla="*/ 442918 h 754623"/>
                <a:gd name="connsiteX20" fmla="*/ 247656 w 753670"/>
                <a:gd name="connsiteY20" fmla="*/ 429583 h 754623"/>
                <a:gd name="connsiteX21" fmla="*/ 209555 w 753670"/>
                <a:gd name="connsiteY21" fmla="*/ 224795 h 754623"/>
                <a:gd name="connsiteX22" fmla="*/ 185743 w 753670"/>
                <a:gd name="connsiteY22" fmla="*/ 297186 h 754623"/>
                <a:gd name="connsiteX23" fmla="*/ 169551 w 753670"/>
                <a:gd name="connsiteY23" fmla="*/ 311473 h 754623"/>
                <a:gd name="connsiteX24" fmla="*/ 82873 w 753670"/>
                <a:gd name="connsiteY24" fmla="*/ 311473 h 754623"/>
                <a:gd name="connsiteX25" fmla="*/ 82873 w 753670"/>
                <a:gd name="connsiteY25" fmla="*/ 273373 h 754623"/>
                <a:gd name="connsiteX26" fmla="*/ 157168 w 753670"/>
                <a:gd name="connsiteY26" fmla="*/ 273373 h 754623"/>
                <a:gd name="connsiteX27" fmla="*/ 198126 w 753670"/>
                <a:gd name="connsiteY27" fmla="*/ 153358 h 754623"/>
                <a:gd name="connsiteX28" fmla="*/ 211461 w 753670"/>
                <a:gd name="connsiteY28" fmla="*/ 141928 h 754623"/>
                <a:gd name="connsiteX29" fmla="*/ 287660 w 753670"/>
                <a:gd name="connsiteY29" fmla="*/ 59060 h 754623"/>
                <a:gd name="connsiteX30" fmla="*/ 59060 w 753670"/>
                <a:gd name="connsiteY30" fmla="*/ 287660 h 754623"/>
                <a:gd name="connsiteX31" fmla="*/ 287660 w 753670"/>
                <a:gd name="connsiteY31" fmla="*/ 516260 h 754623"/>
                <a:gd name="connsiteX32" fmla="*/ 516260 w 753670"/>
                <a:gd name="connsiteY32" fmla="*/ 287660 h 754623"/>
                <a:gd name="connsiteX33" fmla="*/ 287660 w 753670"/>
                <a:gd name="connsiteY33" fmla="*/ 59060 h 754623"/>
                <a:gd name="connsiteX34" fmla="*/ 287660 w 753670"/>
                <a:gd name="connsiteY34" fmla="*/ 5 h 754623"/>
                <a:gd name="connsiteX35" fmla="*/ 573410 w 753670"/>
                <a:gd name="connsiteY35" fmla="*/ 288613 h 754623"/>
                <a:gd name="connsiteX36" fmla="*/ 514355 w 753670"/>
                <a:gd name="connsiteY36" fmla="*/ 461968 h 754623"/>
                <a:gd name="connsiteX37" fmla="*/ 557218 w 753670"/>
                <a:gd name="connsiteY37" fmla="*/ 503878 h 754623"/>
                <a:gd name="connsiteX38" fmla="*/ 616273 w 753670"/>
                <a:gd name="connsiteY38" fmla="*/ 521975 h 754623"/>
                <a:gd name="connsiteX39" fmla="*/ 734383 w 753670"/>
                <a:gd name="connsiteY39" fmla="*/ 641038 h 754623"/>
                <a:gd name="connsiteX40" fmla="*/ 734383 w 753670"/>
                <a:gd name="connsiteY40" fmla="*/ 735335 h 754623"/>
                <a:gd name="connsiteX41" fmla="*/ 640085 w 753670"/>
                <a:gd name="connsiteY41" fmla="*/ 735335 h 754623"/>
                <a:gd name="connsiteX42" fmla="*/ 521023 w 753670"/>
                <a:gd name="connsiteY42" fmla="*/ 616273 h 754623"/>
                <a:gd name="connsiteX43" fmla="*/ 502925 w 753670"/>
                <a:gd name="connsiteY43" fmla="*/ 556265 h 754623"/>
                <a:gd name="connsiteX44" fmla="*/ 461015 w 753670"/>
                <a:gd name="connsiteY44" fmla="*/ 514355 h 754623"/>
                <a:gd name="connsiteX45" fmla="*/ 285755 w 753670"/>
                <a:gd name="connsiteY45" fmla="*/ 573410 h 754623"/>
                <a:gd name="connsiteX46" fmla="*/ 5 w 753670"/>
                <a:gd name="connsiteY46" fmla="*/ 285755 h 754623"/>
                <a:gd name="connsiteX47" fmla="*/ 287660 w 753670"/>
                <a:gd name="connsiteY47" fmla="*/ 5 h 754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753670" h="754623">
                  <a:moveTo>
                    <a:pt x="211461" y="141928"/>
                  </a:moveTo>
                  <a:cubicBezTo>
                    <a:pt x="220033" y="140023"/>
                    <a:pt x="228606" y="145738"/>
                    <a:pt x="230511" y="155263"/>
                  </a:cubicBezTo>
                  <a:lnTo>
                    <a:pt x="269563" y="364813"/>
                  </a:lnTo>
                  <a:lnTo>
                    <a:pt x="326713" y="213366"/>
                  </a:lnTo>
                  <a:cubicBezTo>
                    <a:pt x="328618" y="207651"/>
                    <a:pt x="333381" y="204793"/>
                    <a:pt x="338143" y="202888"/>
                  </a:cubicBezTo>
                  <a:cubicBezTo>
                    <a:pt x="346716" y="200030"/>
                    <a:pt x="356241" y="205745"/>
                    <a:pt x="359098" y="214318"/>
                  </a:cubicBezTo>
                  <a:lnTo>
                    <a:pt x="389578" y="320046"/>
                  </a:lnTo>
                  <a:lnTo>
                    <a:pt x="425773" y="280993"/>
                  </a:lnTo>
                  <a:cubicBezTo>
                    <a:pt x="428631" y="277183"/>
                    <a:pt x="433393" y="274325"/>
                    <a:pt x="438156" y="273373"/>
                  </a:cubicBezTo>
                  <a:lnTo>
                    <a:pt x="492448" y="273373"/>
                  </a:lnTo>
                  <a:lnTo>
                    <a:pt x="493401" y="273373"/>
                  </a:lnTo>
                  <a:lnTo>
                    <a:pt x="493401" y="311473"/>
                  </a:lnTo>
                  <a:lnTo>
                    <a:pt x="446728" y="311473"/>
                  </a:lnTo>
                  <a:lnTo>
                    <a:pt x="395293" y="364813"/>
                  </a:lnTo>
                  <a:cubicBezTo>
                    <a:pt x="393388" y="366718"/>
                    <a:pt x="390531" y="368623"/>
                    <a:pt x="387673" y="369575"/>
                  </a:cubicBezTo>
                  <a:cubicBezTo>
                    <a:pt x="378148" y="372433"/>
                    <a:pt x="369576" y="366718"/>
                    <a:pt x="366718" y="358146"/>
                  </a:cubicBezTo>
                  <a:lnTo>
                    <a:pt x="341953" y="272421"/>
                  </a:lnTo>
                  <a:lnTo>
                    <a:pt x="280993" y="432441"/>
                  </a:lnTo>
                  <a:cubicBezTo>
                    <a:pt x="278136" y="439108"/>
                    <a:pt x="271468" y="442918"/>
                    <a:pt x="264800" y="442918"/>
                  </a:cubicBezTo>
                  <a:lnTo>
                    <a:pt x="262896" y="442918"/>
                  </a:lnTo>
                  <a:cubicBezTo>
                    <a:pt x="255275" y="442918"/>
                    <a:pt x="248608" y="437203"/>
                    <a:pt x="247656" y="429583"/>
                  </a:cubicBezTo>
                  <a:lnTo>
                    <a:pt x="209555" y="224795"/>
                  </a:lnTo>
                  <a:lnTo>
                    <a:pt x="185743" y="297186"/>
                  </a:lnTo>
                  <a:cubicBezTo>
                    <a:pt x="183838" y="304805"/>
                    <a:pt x="177171" y="310521"/>
                    <a:pt x="169551" y="311473"/>
                  </a:cubicBezTo>
                  <a:lnTo>
                    <a:pt x="82873" y="311473"/>
                  </a:lnTo>
                  <a:lnTo>
                    <a:pt x="82873" y="273373"/>
                  </a:lnTo>
                  <a:lnTo>
                    <a:pt x="157168" y="273373"/>
                  </a:lnTo>
                  <a:lnTo>
                    <a:pt x="198126" y="153358"/>
                  </a:lnTo>
                  <a:cubicBezTo>
                    <a:pt x="200983" y="147643"/>
                    <a:pt x="205746" y="142880"/>
                    <a:pt x="211461" y="141928"/>
                  </a:cubicBezTo>
                  <a:close/>
                  <a:moveTo>
                    <a:pt x="287660" y="59060"/>
                  </a:moveTo>
                  <a:cubicBezTo>
                    <a:pt x="160978" y="59060"/>
                    <a:pt x="59060" y="160978"/>
                    <a:pt x="59060" y="287660"/>
                  </a:cubicBezTo>
                  <a:cubicBezTo>
                    <a:pt x="59060" y="414343"/>
                    <a:pt x="160978" y="516260"/>
                    <a:pt x="287660" y="516260"/>
                  </a:cubicBezTo>
                  <a:cubicBezTo>
                    <a:pt x="413390" y="516260"/>
                    <a:pt x="516260" y="413390"/>
                    <a:pt x="516260" y="287660"/>
                  </a:cubicBezTo>
                  <a:cubicBezTo>
                    <a:pt x="516260" y="160978"/>
                    <a:pt x="414343" y="59060"/>
                    <a:pt x="287660" y="59060"/>
                  </a:cubicBezTo>
                  <a:close/>
                  <a:moveTo>
                    <a:pt x="287660" y="5"/>
                  </a:moveTo>
                  <a:cubicBezTo>
                    <a:pt x="445775" y="958"/>
                    <a:pt x="574363" y="129545"/>
                    <a:pt x="573410" y="288613"/>
                  </a:cubicBezTo>
                  <a:cubicBezTo>
                    <a:pt x="573410" y="351478"/>
                    <a:pt x="552455" y="412438"/>
                    <a:pt x="514355" y="461968"/>
                  </a:cubicBezTo>
                  <a:lnTo>
                    <a:pt x="557218" y="503878"/>
                  </a:lnTo>
                  <a:cubicBezTo>
                    <a:pt x="578173" y="499115"/>
                    <a:pt x="601033" y="506735"/>
                    <a:pt x="616273" y="521975"/>
                  </a:cubicBezTo>
                  <a:lnTo>
                    <a:pt x="734383" y="641038"/>
                  </a:lnTo>
                  <a:cubicBezTo>
                    <a:pt x="760100" y="666755"/>
                    <a:pt x="760100" y="709618"/>
                    <a:pt x="734383" y="735335"/>
                  </a:cubicBezTo>
                  <a:cubicBezTo>
                    <a:pt x="708665" y="761053"/>
                    <a:pt x="665803" y="761053"/>
                    <a:pt x="640085" y="735335"/>
                  </a:cubicBezTo>
                  <a:lnTo>
                    <a:pt x="521023" y="616273"/>
                  </a:lnTo>
                  <a:cubicBezTo>
                    <a:pt x="505783" y="600080"/>
                    <a:pt x="499115" y="578173"/>
                    <a:pt x="502925" y="556265"/>
                  </a:cubicBezTo>
                  <a:lnTo>
                    <a:pt x="461015" y="514355"/>
                  </a:lnTo>
                  <a:cubicBezTo>
                    <a:pt x="410533" y="552455"/>
                    <a:pt x="348620" y="573410"/>
                    <a:pt x="285755" y="573410"/>
                  </a:cubicBezTo>
                  <a:cubicBezTo>
                    <a:pt x="127640" y="572458"/>
                    <a:pt x="-947" y="443870"/>
                    <a:pt x="5" y="285755"/>
                  </a:cubicBezTo>
                  <a:cubicBezTo>
                    <a:pt x="958" y="127640"/>
                    <a:pt x="129545" y="-947"/>
                    <a:pt x="287660" y="5"/>
                  </a:cubicBezTo>
                  <a:close/>
                </a:path>
              </a:pathLst>
            </a:custGeom>
            <a:solidFill>
              <a:schemeClr val="bg1"/>
            </a:solidFill>
            <a:ln w="9525" cap="flat">
              <a:noFill/>
              <a:prstDash val="solid"/>
              <a:miter/>
            </a:ln>
          </p:spPr>
          <p:txBody>
            <a:bodyPr rtlCol="0" anchor="ctr"/>
            <a:lstStyle/>
            <a:p>
              <a:endParaRPr lang="en-US" sz="1350"/>
            </a:p>
          </p:txBody>
        </p:sp>
      </p:grpSp>
      <p:pic>
        <p:nvPicPr>
          <p:cNvPr id="95" name="Graphic 94" descr="Steering Wheel with solid fill">
            <a:extLst>
              <a:ext uri="{FF2B5EF4-FFF2-40B4-BE49-F238E27FC236}">
                <a16:creationId xmlns:a16="http://schemas.microsoft.com/office/drawing/2014/main" id="{B6941E61-AC8D-AECA-81C4-4291EA5322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1026" y="4466604"/>
            <a:ext cx="596508" cy="596508"/>
          </a:xfrm>
          <a:prstGeom prst="rect">
            <a:avLst/>
          </a:prstGeom>
        </p:spPr>
      </p:pic>
      <p:sp>
        <p:nvSpPr>
          <p:cNvPr id="2" name="Oval 1">
            <a:extLst>
              <a:ext uri="{FF2B5EF4-FFF2-40B4-BE49-F238E27FC236}">
                <a16:creationId xmlns:a16="http://schemas.microsoft.com/office/drawing/2014/main" id="{2DB21AF4-5726-7FDB-B9EF-A4ED4BBB4286}"/>
              </a:ext>
            </a:extLst>
          </p:cNvPr>
          <p:cNvSpPr/>
          <p:nvPr/>
        </p:nvSpPr>
        <p:spPr>
          <a:xfrm>
            <a:off x="7335742" y="5450634"/>
            <a:ext cx="99876" cy="96433"/>
          </a:xfrm>
          <a:prstGeom prst="ellipse">
            <a:avLst/>
          </a:prstGeom>
          <a:solidFill>
            <a:schemeClr val="accent6">
              <a:lumMod val="20000"/>
              <a:lumOff val="80000"/>
            </a:schemeClr>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en-US" sz="1013"/>
          </a:p>
        </p:txBody>
      </p:sp>
      <p:sp>
        <p:nvSpPr>
          <p:cNvPr id="3" name="Oval 2">
            <a:extLst>
              <a:ext uri="{FF2B5EF4-FFF2-40B4-BE49-F238E27FC236}">
                <a16:creationId xmlns:a16="http://schemas.microsoft.com/office/drawing/2014/main" id="{598A7715-EBA9-0870-EC64-49E98F2209D1}"/>
              </a:ext>
            </a:extLst>
          </p:cNvPr>
          <p:cNvSpPr/>
          <p:nvPr/>
        </p:nvSpPr>
        <p:spPr>
          <a:xfrm>
            <a:off x="7920958" y="3256074"/>
            <a:ext cx="99876" cy="96433"/>
          </a:xfrm>
          <a:prstGeom prst="ellipse">
            <a:avLst/>
          </a:prstGeom>
          <a:solidFill>
            <a:schemeClr val="accent6">
              <a:lumMod val="20000"/>
              <a:lumOff val="80000"/>
            </a:schemeClr>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en-US" sz="1013"/>
          </a:p>
        </p:txBody>
      </p:sp>
      <p:sp>
        <p:nvSpPr>
          <p:cNvPr id="5" name="Oval 4">
            <a:extLst>
              <a:ext uri="{FF2B5EF4-FFF2-40B4-BE49-F238E27FC236}">
                <a16:creationId xmlns:a16="http://schemas.microsoft.com/office/drawing/2014/main" id="{82A4283B-BE75-85BB-15A6-123F1711FC8C}"/>
              </a:ext>
            </a:extLst>
          </p:cNvPr>
          <p:cNvSpPr/>
          <p:nvPr/>
        </p:nvSpPr>
        <p:spPr>
          <a:xfrm>
            <a:off x="6531070" y="1692450"/>
            <a:ext cx="99876" cy="96433"/>
          </a:xfrm>
          <a:prstGeom prst="ellipse">
            <a:avLst/>
          </a:prstGeom>
          <a:solidFill>
            <a:schemeClr val="accent6">
              <a:lumMod val="20000"/>
              <a:lumOff val="80000"/>
            </a:schemeClr>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en-US" sz="1013"/>
          </a:p>
        </p:txBody>
      </p:sp>
    </p:spTree>
    <p:extLst>
      <p:ext uri="{BB962C8B-B14F-4D97-AF65-F5344CB8AC3E}">
        <p14:creationId xmlns:p14="http://schemas.microsoft.com/office/powerpoint/2010/main" val="250122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631FA-EC11-654A-4606-CEABCDE8722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9608E63-DE39-71E7-B8D8-676864808AC2}"/>
              </a:ext>
            </a:extLst>
          </p:cNvPr>
          <p:cNvSpPr>
            <a:spLocks noGrp="1"/>
          </p:cNvSpPr>
          <p:nvPr>
            <p:ph type="title"/>
          </p:nvPr>
        </p:nvSpPr>
        <p:spPr>
          <a:xfrm>
            <a:off x="481530" y="163730"/>
            <a:ext cx="11533686" cy="945514"/>
          </a:xfrm>
        </p:spPr>
        <p:txBody>
          <a:bodyPr>
            <a:noAutofit/>
          </a:bodyPr>
          <a:lstStyle/>
          <a:p>
            <a:pPr>
              <a:defRPr/>
            </a:pPr>
            <a:r>
              <a:rPr lang="en-US" kern="100" spc="-23">
                <a:solidFill>
                  <a:schemeClr val="accent2">
                    <a:lumMod val="75000"/>
                  </a:schemeClr>
                </a:solidFill>
                <a:latin typeface="Tahoma"/>
                <a:ea typeface="Tahoma"/>
                <a:cs typeface="Tahoma"/>
              </a:rPr>
              <a:t>RAI Solutions: </a:t>
            </a:r>
            <a:r>
              <a:rPr lang="en-US">
                <a:solidFill>
                  <a:srgbClr val="082340"/>
                </a:solidFill>
                <a:latin typeface="Tahoma"/>
              </a:rPr>
              <a:t>Our robust suite of </a:t>
            </a:r>
            <a:r>
              <a:rPr lang="en-US" kern="100" spc="-23">
                <a:solidFill>
                  <a:schemeClr val="accent2">
                    <a:lumMod val="75000"/>
                  </a:schemeClr>
                </a:solidFill>
                <a:latin typeface="Tahoma"/>
                <a:ea typeface="Tahoma"/>
                <a:cs typeface="Tahoma"/>
              </a:rPr>
              <a:t>responsible AI assets and accelerators </a:t>
            </a:r>
            <a:r>
              <a:rPr lang="en-US">
                <a:solidFill>
                  <a:srgbClr val="082340"/>
                </a:solidFill>
                <a:latin typeface="Tahoma"/>
              </a:rPr>
              <a:t>to help organizations build, deploy, and scale AI solutions ethically, transparently, and with proper governance</a:t>
            </a:r>
          </a:p>
        </p:txBody>
      </p:sp>
      <p:pic>
        <p:nvPicPr>
          <p:cNvPr id="95" name="Graphic 94" descr="Steering Wheel with solid fill">
            <a:extLst>
              <a:ext uri="{FF2B5EF4-FFF2-40B4-BE49-F238E27FC236}">
                <a16:creationId xmlns:a16="http://schemas.microsoft.com/office/drawing/2014/main" id="{EADA186B-E3FA-B903-B77F-0D7BAC4CD0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1026" y="4466604"/>
            <a:ext cx="596508" cy="596508"/>
          </a:xfrm>
          <a:prstGeom prst="rect">
            <a:avLst/>
          </a:prstGeom>
        </p:spPr>
      </p:pic>
      <p:grpSp>
        <p:nvGrpSpPr>
          <p:cNvPr id="2" name="Group 1">
            <a:extLst>
              <a:ext uri="{FF2B5EF4-FFF2-40B4-BE49-F238E27FC236}">
                <a16:creationId xmlns:a16="http://schemas.microsoft.com/office/drawing/2014/main" id="{6920CB18-660E-F365-81E7-F893BCC84511}"/>
              </a:ext>
            </a:extLst>
          </p:cNvPr>
          <p:cNvGrpSpPr/>
          <p:nvPr/>
        </p:nvGrpSpPr>
        <p:grpSpPr>
          <a:xfrm>
            <a:off x="551985" y="1327370"/>
            <a:ext cx="4800600" cy="205740"/>
            <a:chOff x="1888842" y="1836371"/>
            <a:chExt cx="8242711" cy="274320"/>
          </a:xfrm>
          <a:solidFill>
            <a:schemeClr val="accent2"/>
          </a:solidFill>
        </p:grpSpPr>
        <p:sp>
          <p:nvSpPr>
            <p:cNvPr id="3" name="Rectangle: Rounded Corners 2">
              <a:extLst>
                <a:ext uri="{FF2B5EF4-FFF2-40B4-BE49-F238E27FC236}">
                  <a16:creationId xmlns:a16="http://schemas.microsoft.com/office/drawing/2014/main" id="{891C311A-E79C-4BC2-3D66-6BE991C94851}"/>
                </a:ext>
              </a:extLst>
            </p:cNvPr>
            <p:cNvSpPr/>
            <p:nvPr/>
          </p:nvSpPr>
          <p:spPr>
            <a:xfrm>
              <a:off x="1888842" y="1963807"/>
              <a:ext cx="8229600" cy="457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IN" sz="900">
                <a:solidFill>
                  <a:prstClr val="white"/>
                </a:solidFill>
                <a:latin typeface="Poppins"/>
              </a:endParaRPr>
            </a:p>
          </p:txBody>
        </p:sp>
        <p:sp>
          <p:nvSpPr>
            <p:cNvPr id="5" name="TextBox 4">
              <a:extLst>
                <a:ext uri="{FF2B5EF4-FFF2-40B4-BE49-F238E27FC236}">
                  <a16:creationId xmlns:a16="http://schemas.microsoft.com/office/drawing/2014/main" id="{7F856808-7F6B-0877-415B-11C97E40F516}"/>
                </a:ext>
              </a:extLst>
            </p:cNvPr>
            <p:cNvSpPr txBox="1"/>
            <p:nvPr/>
          </p:nvSpPr>
          <p:spPr>
            <a:xfrm>
              <a:off x="4385579" y="1836371"/>
              <a:ext cx="3657600" cy="27432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defRPr/>
              </a:pPr>
              <a:r>
                <a:rPr lang="en-US" sz="1050">
                  <a:solidFill>
                    <a:prstClr val="white"/>
                  </a:solidFill>
                  <a:latin typeface="Poppins"/>
                </a:rPr>
                <a:t>ASSETS</a:t>
              </a:r>
              <a:endParaRPr lang="hi-IN" sz="1050">
                <a:solidFill>
                  <a:prstClr val="white"/>
                </a:solidFill>
                <a:latin typeface="Poppins"/>
              </a:endParaRPr>
            </a:p>
          </p:txBody>
        </p:sp>
        <p:grpSp>
          <p:nvGrpSpPr>
            <p:cNvPr id="6" name="Group 5">
              <a:extLst>
                <a:ext uri="{FF2B5EF4-FFF2-40B4-BE49-F238E27FC236}">
                  <a16:creationId xmlns:a16="http://schemas.microsoft.com/office/drawing/2014/main" id="{322977FB-9F1E-1948-2DBD-A4048D6B63D4}"/>
                </a:ext>
              </a:extLst>
            </p:cNvPr>
            <p:cNvGrpSpPr/>
            <p:nvPr/>
          </p:nvGrpSpPr>
          <p:grpSpPr>
            <a:xfrm>
              <a:off x="1888842" y="1887532"/>
              <a:ext cx="686778" cy="173384"/>
              <a:chOff x="10645552" y="925267"/>
              <a:chExt cx="686778" cy="173384"/>
            </a:xfrm>
            <a:grpFill/>
          </p:grpSpPr>
          <p:sp>
            <p:nvSpPr>
              <p:cNvPr id="11" name="Oval 10">
                <a:extLst>
                  <a:ext uri="{FF2B5EF4-FFF2-40B4-BE49-F238E27FC236}">
                    <a16:creationId xmlns:a16="http://schemas.microsoft.com/office/drawing/2014/main" id="{4CDB973E-5E3B-1E6A-3580-3B5EF3CA9519}"/>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Oval 11">
                <a:extLst>
                  <a:ext uri="{FF2B5EF4-FFF2-40B4-BE49-F238E27FC236}">
                    <a16:creationId xmlns:a16="http://schemas.microsoft.com/office/drawing/2014/main" id="{6A5093F1-E91C-9492-7B56-D8A9132B0E72}"/>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3" name="Oval 12">
                <a:extLst>
                  <a:ext uri="{FF2B5EF4-FFF2-40B4-BE49-F238E27FC236}">
                    <a16:creationId xmlns:a16="http://schemas.microsoft.com/office/drawing/2014/main" id="{CA680BFF-6315-1536-A8C8-87CABCDE206E}"/>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7" name="Group 6">
              <a:extLst>
                <a:ext uri="{FF2B5EF4-FFF2-40B4-BE49-F238E27FC236}">
                  <a16:creationId xmlns:a16="http://schemas.microsoft.com/office/drawing/2014/main" id="{56C721D0-48D7-67DC-C7C0-9287F657033A}"/>
                </a:ext>
              </a:extLst>
            </p:cNvPr>
            <p:cNvGrpSpPr/>
            <p:nvPr/>
          </p:nvGrpSpPr>
          <p:grpSpPr>
            <a:xfrm>
              <a:off x="9444775" y="1898957"/>
              <a:ext cx="686778" cy="173384"/>
              <a:chOff x="10645552" y="925267"/>
              <a:chExt cx="686778" cy="173384"/>
            </a:xfrm>
            <a:grpFill/>
          </p:grpSpPr>
          <p:sp>
            <p:nvSpPr>
              <p:cNvPr id="8" name="Oval 7">
                <a:extLst>
                  <a:ext uri="{FF2B5EF4-FFF2-40B4-BE49-F238E27FC236}">
                    <a16:creationId xmlns:a16="http://schemas.microsoft.com/office/drawing/2014/main" id="{EC95B619-03BC-65ED-C032-3B234FC2A52B}"/>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Oval 8">
                <a:extLst>
                  <a:ext uri="{FF2B5EF4-FFF2-40B4-BE49-F238E27FC236}">
                    <a16:creationId xmlns:a16="http://schemas.microsoft.com/office/drawing/2014/main" id="{BFBA7157-87AF-78AC-A5FF-E27616AE7461}"/>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0" name="Oval 9">
                <a:extLst>
                  <a:ext uri="{FF2B5EF4-FFF2-40B4-BE49-F238E27FC236}">
                    <a16:creationId xmlns:a16="http://schemas.microsoft.com/office/drawing/2014/main" id="{E7FCD969-0ED0-0EB9-4785-1E947C7BF78E}"/>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grpSp>
        <p:nvGrpSpPr>
          <p:cNvPr id="14" name="Group 13">
            <a:extLst>
              <a:ext uri="{FF2B5EF4-FFF2-40B4-BE49-F238E27FC236}">
                <a16:creationId xmlns:a16="http://schemas.microsoft.com/office/drawing/2014/main" id="{F30B388C-AABA-877B-F6A1-4004BB992B70}"/>
              </a:ext>
            </a:extLst>
          </p:cNvPr>
          <p:cNvGrpSpPr/>
          <p:nvPr/>
        </p:nvGrpSpPr>
        <p:grpSpPr>
          <a:xfrm>
            <a:off x="7069762" y="1658642"/>
            <a:ext cx="4738214" cy="875176"/>
            <a:chOff x="11670346" y="6135056"/>
            <a:chExt cx="4548092" cy="1166901"/>
          </a:xfrm>
        </p:grpSpPr>
        <p:sp>
          <p:nvSpPr>
            <p:cNvPr id="15" name="Rectangle 14">
              <a:extLst>
                <a:ext uri="{FF2B5EF4-FFF2-40B4-BE49-F238E27FC236}">
                  <a16:creationId xmlns:a16="http://schemas.microsoft.com/office/drawing/2014/main" id="{BFFA0455-E92F-9600-94D7-7696AED529AA}"/>
                </a:ext>
              </a:extLst>
            </p:cNvPr>
            <p:cNvSpPr/>
            <p:nvPr/>
          </p:nvSpPr>
          <p:spPr>
            <a:xfrm>
              <a:off x="11670346" y="6253470"/>
              <a:ext cx="1097280" cy="340067"/>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defTabSz="514350">
                <a:defRPr/>
              </a:pPr>
              <a:r>
                <a:rPr lang="en-US" sz="900" b="1">
                  <a:solidFill>
                    <a:schemeClr val="accent3">
                      <a:lumMod val="75000"/>
                    </a:schemeClr>
                  </a:solidFill>
                  <a:latin typeface="+mj-lt"/>
                </a:rPr>
                <a:t>Southeast Asian Food Operator</a:t>
              </a:r>
              <a:endParaRPr lang="en-US" sz="1350">
                <a:solidFill>
                  <a:schemeClr val="accent3">
                    <a:lumMod val="75000"/>
                  </a:schemeClr>
                </a:solidFill>
              </a:endParaRPr>
            </a:p>
          </p:txBody>
        </p:sp>
        <p:sp>
          <p:nvSpPr>
            <p:cNvPr id="16" name="TextBox 15">
              <a:extLst>
                <a:ext uri="{FF2B5EF4-FFF2-40B4-BE49-F238E27FC236}">
                  <a16:creationId xmlns:a16="http://schemas.microsoft.com/office/drawing/2014/main" id="{9473241D-633D-9363-B8EF-F92B8288F5E3}"/>
                </a:ext>
              </a:extLst>
            </p:cNvPr>
            <p:cNvSpPr txBox="1"/>
            <p:nvPr/>
          </p:nvSpPr>
          <p:spPr>
            <a:xfrm>
              <a:off x="12704650" y="6135056"/>
              <a:ext cx="3513788" cy="1166901"/>
            </a:xfrm>
            <a:prstGeom prst="rect">
              <a:avLst/>
            </a:prstGeom>
            <a:noFill/>
            <a:effectLst/>
          </p:spPr>
          <p:txBody>
            <a:bodyPr wrap="square" lIns="68580" tIns="34290" rIns="68580" bIns="34290" anchor="t">
              <a:spAutoFit/>
            </a:bodyPr>
            <a:lstStyle/>
            <a:p>
              <a:pPr marL="128588" indent="-128588" defTabSz="514350">
                <a:lnSpc>
                  <a:spcPct val="114999"/>
                </a:lnSpc>
                <a:spcAft>
                  <a:spcPts val="169"/>
                </a:spcAft>
                <a:buFont typeface="Arial" panose="020B0604020202020204" pitchFamily="34" charset="0"/>
                <a:buChar char="•"/>
                <a:defRPr/>
              </a:pPr>
              <a:r>
                <a:rPr lang="en-IN" sz="900">
                  <a:solidFill>
                    <a:prstClr val="black"/>
                  </a:solidFill>
                  <a:ea typeface="+mn-lt"/>
                  <a:cs typeface="+mn-lt"/>
                </a:rPr>
                <a:t>The </a:t>
              </a:r>
              <a:r>
                <a:rPr lang="en-IN" sz="900" err="1">
                  <a:solidFill>
                    <a:prstClr val="black"/>
                  </a:solidFill>
                  <a:ea typeface="+mn-lt"/>
                  <a:cs typeface="+mn-lt"/>
                </a:rPr>
                <a:t>Coforge</a:t>
              </a:r>
              <a:r>
                <a:rPr lang="en-IN" sz="900">
                  <a:solidFill>
                    <a:prstClr val="black"/>
                  </a:solidFill>
                  <a:ea typeface="+mn-lt"/>
                  <a:cs typeface="+mn-lt"/>
                </a:rPr>
                <a:t> developed IT assist solution now leverages the Trust AI framework, ensuring responsible and secure AI interactions by mitigating hallucinations and prompt injection, and prioritizing data privacy.</a:t>
              </a:r>
              <a:endParaRPr lang="en-US" sz="900">
                <a:solidFill>
                  <a:prstClr val="black"/>
                </a:solidFill>
                <a:ea typeface="+mn-lt"/>
                <a:cs typeface="+mn-lt"/>
              </a:endParaRPr>
            </a:p>
            <a:p>
              <a:pPr marL="96203" indent="-96203" defTabSz="514350">
                <a:lnSpc>
                  <a:spcPct val="114999"/>
                </a:lnSpc>
                <a:spcAft>
                  <a:spcPts val="169"/>
                </a:spcAft>
                <a:buFont typeface="Arial" panose="020B0604020202020204" pitchFamily="34" charset="0"/>
                <a:buChar char="•"/>
                <a:defRPr/>
              </a:pPr>
              <a:endParaRPr lang="en-IN" sz="900">
                <a:solidFill>
                  <a:prstClr val="black"/>
                </a:solidFill>
                <a:latin typeface="+mj-lt"/>
                <a:ea typeface="Tahoma"/>
                <a:cs typeface="Poppins"/>
              </a:endParaRPr>
            </a:p>
          </p:txBody>
        </p:sp>
      </p:grpSp>
      <p:grpSp>
        <p:nvGrpSpPr>
          <p:cNvPr id="17" name="Group 16">
            <a:extLst>
              <a:ext uri="{FF2B5EF4-FFF2-40B4-BE49-F238E27FC236}">
                <a16:creationId xmlns:a16="http://schemas.microsoft.com/office/drawing/2014/main" id="{DA19A341-EE6A-540D-3E9B-515DECD7E808}"/>
              </a:ext>
            </a:extLst>
          </p:cNvPr>
          <p:cNvGrpSpPr/>
          <p:nvPr/>
        </p:nvGrpSpPr>
        <p:grpSpPr>
          <a:xfrm>
            <a:off x="7069762" y="1318718"/>
            <a:ext cx="4800600" cy="205740"/>
            <a:chOff x="1888842" y="1836371"/>
            <a:chExt cx="8242711" cy="274320"/>
          </a:xfrm>
          <a:solidFill>
            <a:schemeClr val="accent3">
              <a:lumMod val="75000"/>
            </a:schemeClr>
          </a:solidFill>
        </p:grpSpPr>
        <p:sp>
          <p:nvSpPr>
            <p:cNvPr id="18" name="Rectangle: Rounded Corners 17">
              <a:extLst>
                <a:ext uri="{FF2B5EF4-FFF2-40B4-BE49-F238E27FC236}">
                  <a16:creationId xmlns:a16="http://schemas.microsoft.com/office/drawing/2014/main" id="{C6028387-7245-0E4D-34B4-020603F37E53}"/>
                </a:ext>
              </a:extLst>
            </p:cNvPr>
            <p:cNvSpPr/>
            <p:nvPr/>
          </p:nvSpPr>
          <p:spPr>
            <a:xfrm>
              <a:off x="1888842" y="1963807"/>
              <a:ext cx="8229600" cy="4571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IN" sz="900">
                <a:solidFill>
                  <a:prstClr val="white"/>
                </a:solidFill>
                <a:latin typeface="Poppins"/>
              </a:endParaRPr>
            </a:p>
          </p:txBody>
        </p:sp>
        <p:sp>
          <p:nvSpPr>
            <p:cNvPr id="19" name="TextBox 18">
              <a:extLst>
                <a:ext uri="{FF2B5EF4-FFF2-40B4-BE49-F238E27FC236}">
                  <a16:creationId xmlns:a16="http://schemas.microsoft.com/office/drawing/2014/main" id="{03C7A629-F53B-E2D7-50D6-4239F6472561}"/>
                </a:ext>
              </a:extLst>
            </p:cNvPr>
            <p:cNvSpPr txBox="1"/>
            <p:nvPr/>
          </p:nvSpPr>
          <p:spPr>
            <a:xfrm>
              <a:off x="4385579" y="1836371"/>
              <a:ext cx="3657600" cy="27432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defRPr/>
              </a:pPr>
              <a:r>
                <a:rPr lang="en-US" sz="1050">
                  <a:solidFill>
                    <a:prstClr val="white"/>
                  </a:solidFill>
                  <a:latin typeface="Poppins"/>
                </a:rPr>
                <a:t>EXPERIENCE</a:t>
              </a:r>
              <a:endParaRPr lang="hi-IN" sz="1050">
                <a:solidFill>
                  <a:prstClr val="white"/>
                </a:solidFill>
                <a:latin typeface="Poppins"/>
              </a:endParaRPr>
            </a:p>
          </p:txBody>
        </p:sp>
        <p:grpSp>
          <p:nvGrpSpPr>
            <p:cNvPr id="20" name="Group 19">
              <a:extLst>
                <a:ext uri="{FF2B5EF4-FFF2-40B4-BE49-F238E27FC236}">
                  <a16:creationId xmlns:a16="http://schemas.microsoft.com/office/drawing/2014/main" id="{91AD8D88-C072-9222-A909-C41E0B0C9DEB}"/>
                </a:ext>
              </a:extLst>
            </p:cNvPr>
            <p:cNvGrpSpPr/>
            <p:nvPr/>
          </p:nvGrpSpPr>
          <p:grpSpPr>
            <a:xfrm>
              <a:off x="1888842" y="1887532"/>
              <a:ext cx="686778" cy="173384"/>
              <a:chOff x="10645552" y="925267"/>
              <a:chExt cx="686778" cy="173384"/>
            </a:xfrm>
            <a:grpFill/>
          </p:grpSpPr>
          <p:sp>
            <p:nvSpPr>
              <p:cNvPr id="25" name="Oval 24">
                <a:extLst>
                  <a:ext uri="{FF2B5EF4-FFF2-40B4-BE49-F238E27FC236}">
                    <a16:creationId xmlns:a16="http://schemas.microsoft.com/office/drawing/2014/main" id="{A3E3751B-164D-FB1F-1EA7-B165E09CA38A}"/>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6" name="Oval 25">
                <a:extLst>
                  <a:ext uri="{FF2B5EF4-FFF2-40B4-BE49-F238E27FC236}">
                    <a16:creationId xmlns:a16="http://schemas.microsoft.com/office/drawing/2014/main" id="{47CCD8EC-A271-ED74-C5AC-2CBDC49E568B}"/>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7" name="Oval 26">
                <a:extLst>
                  <a:ext uri="{FF2B5EF4-FFF2-40B4-BE49-F238E27FC236}">
                    <a16:creationId xmlns:a16="http://schemas.microsoft.com/office/drawing/2014/main" id="{80EB506D-6116-780F-75F1-7B50F6D5244D}"/>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1" name="Group 20">
              <a:extLst>
                <a:ext uri="{FF2B5EF4-FFF2-40B4-BE49-F238E27FC236}">
                  <a16:creationId xmlns:a16="http://schemas.microsoft.com/office/drawing/2014/main" id="{05BA0CD7-6A13-5E3E-1597-C54AFBE32D36}"/>
                </a:ext>
              </a:extLst>
            </p:cNvPr>
            <p:cNvGrpSpPr/>
            <p:nvPr/>
          </p:nvGrpSpPr>
          <p:grpSpPr>
            <a:xfrm>
              <a:off x="9444775" y="1898957"/>
              <a:ext cx="686778" cy="173384"/>
              <a:chOff x="10645552" y="925267"/>
              <a:chExt cx="686778" cy="173384"/>
            </a:xfrm>
            <a:grpFill/>
          </p:grpSpPr>
          <p:sp>
            <p:nvSpPr>
              <p:cNvPr id="22" name="Oval 21">
                <a:extLst>
                  <a:ext uri="{FF2B5EF4-FFF2-40B4-BE49-F238E27FC236}">
                    <a16:creationId xmlns:a16="http://schemas.microsoft.com/office/drawing/2014/main" id="{3F642859-D75A-7051-9D98-48DD7F6C96B5}"/>
                  </a:ext>
                </a:extLst>
              </p:cNvPr>
              <p:cNvSpPr/>
              <p:nvPr/>
            </p:nvSpPr>
            <p:spPr>
              <a:xfrm>
                <a:off x="10645552"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 name="Oval 22">
                <a:extLst>
                  <a:ext uri="{FF2B5EF4-FFF2-40B4-BE49-F238E27FC236}">
                    <a16:creationId xmlns:a16="http://schemas.microsoft.com/office/drawing/2014/main" id="{D9DDADF7-7306-E4AE-7BD4-B3BC3EEC5BCF}"/>
                  </a:ext>
                </a:extLst>
              </p:cNvPr>
              <p:cNvSpPr/>
              <p:nvPr/>
            </p:nvSpPr>
            <p:spPr>
              <a:xfrm>
                <a:off x="10896074"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4" name="Oval 23">
                <a:extLst>
                  <a:ext uri="{FF2B5EF4-FFF2-40B4-BE49-F238E27FC236}">
                    <a16:creationId xmlns:a16="http://schemas.microsoft.com/office/drawing/2014/main" id="{0E5606CA-23BA-7C87-8569-7F0596CA44B3}"/>
                  </a:ext>
                </a:extLst>
              </p:cNvPr>
              <p:cNvSpPr/>
              <p:nvPr/>
            </p:nvSpPr>
            <p:spPr>
              <a:xfrm>
                <a:off x="11146596" y="925267"/>
                <a:ext cx="185734" cy="17338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grpSp>
        <p:nvGrpSpPr>
          <p:cNvPr id="28" name="Group 27">
            <a:extLst>
              <a:ext uri="{FF2B5EF4-FFF2-40B4-BE49-F238E27FC236}">
                <a16:creationId xmlns:a16="http://schemas.microsoft.com/office/drawing/2014/main" id="{02F388C1-FDE7-A360-5CF6-3FD061D64D9F}"/>
              </a:ext>
            </a:extLst>
          </p:cNvPr>
          <p:cNvGrpSpPr/>
          <p:nvPr/>
        </p:nvGrpSpPr>
        <p:grpSpPr>
          <a:xfrm>
            <a:off x="7104617" y="2532725"/>
            <a:ext cx="4728690" cy="690254"/>
            <a:chOff x="11679488" y="6135056"/>
            <a:chExt cx="4538950" cy="920338"/>
          </a:xfrm>
        </p:grpSpPr>
        <p:sp>
          <p:nvSpPr>
            <p:cNvPr id="29" name="Rectangle 28">
              <a:extLst>
                <a:ext uri="{FF2B5EF4-FFF2-40B4-BE49-F238E27FC236}">
                  <a16:creationId xmlns:a16="http://schemas.microsoft.com/office/drawing/2014/main" id="{40D7EB67-9535-D045-FA81-702DE582F338}"/>
                </a:ext>
              </a:extLst>
            </p:cNvPr>
            <p:cNvSpPr/>
            <p:nvPr/>
          </p:nvSpPr>
          <p:spPr>
            <a:xfrm>
              <a:off x="11679488" y="6185015"/>
              <a:ext cx="1097280" cy="340067"/>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defTabSz="514350">
                <a:defRPr/>
              </a:pPr>
              <a:r>
                <a:rPr lang="en-US" sz="900" b="1">
                  <a:solidFill>
                    <a:schemeClr val="accent3">
                      <a:lumMod val="75000"/>
                    </a:schemeClr>
                  </a:solidFill>
                  <a:latin typeface="+mj-lt"/>
                </a:rPr>
                <a:t>Indian PSU Bank</a:t>
              </a:r>
              <a:endParaRPr lang="en-US" sz="1350">
                <a:solidFill>
                  <a:schemeClr val="accent3">
                    <a:lumMod val="75000"/>
                  </a:schemeClr>
                </a:solidFill>
              </a:endParaRPr>
            </a:p>
          </p:txBody>
        </p:sp>
        <p:sp>
          <p:nvSpPr>
            <p:cNvPr id="30" name="TextBox 29">
              <a:extLst>
                <a:ext uri="{FF2B5EF4-FFF2-40B4-BE49-F238E27FC236}">
                  <a16:creationId xmlns:a16="http://schemas.microsoft.com/office/drawing/2014/main" id="{3267A7E3-4EEB-3FD2-7FC0-2C7350185161}"/>
                </a:ext>
              </a:extLst>
            </p:cNvPr>
            <p:cNvSpPr txBox="1"/>
            <p:nvPr/>
          </p:nvSpPr>
          <p:spPr>
            <a:xfrm>
              <a:off x="12704650" y="6135056"/>
              <a:ext cx="3513788" cy="920338"/>
            </a:xfrm>
            <a:prstGeom prst="rect">
              <a:avLst/>
            </a:prstGeom>
            <a:noFill/>
            <a:effectLst/>
          </p:spPr>
          <p:txBody>
            <a:bodyPr wrap="square" lIns="68580" tIns="34290" rIns="68580" bIns="34290" anchor="t">
              <a:spAutoFit/>
            </a:bodyPr>
            <a:lstStyle>
              <a:defPPr>
                <a:defRPr lang="en-US"/>
              </a:defPPr>
              <a:lvl1pPr marL="128588" lvl="0" indent="-128588" defTabSz="685800">
                <a:lnSpc>
                  <a:spcPct val="115000"/>
                </a:lnSpc>
                <a:spcAft>
                  <a:spcPts val="225"/>
                </a:spcAft>
                <a:buFont typeface="Arial" panose="020B0604020202020204" pitchFamily="34" charset="0"/>
                <a:buChar char="•"/>
                <a:defRPr sz="1200">
                  <a:solidFill>
                    <a:prstClr val="black"/>
                  </a:solidFill>
                  <a:latin typeface="+mj-lt"/>
                  <a:cs typeface="Poppins" panose="00000500000000000000" pitchFamily="2" charset="0"/>
                </a:defRPr>
              </a:lvl1pPr>
            </a:lstStyle>
            <a:p>
              <a:pPr marL="96203" indent="-96203">
                <a:lnSpc>
                  <a:spcPct val="114999"/>
                </a:lnSpc>
                <a:defRPr/>
              </a:pPr>
              <a:r>
                <a:rPr lang="en-US" sz="900" err="1">
                  <a:ea typeface="+mj-lt"/>
                  <a:cs typeface="+mj-lt"/>
                </a:rPr>
                <a:t>C</a:t>
              </a:r>
              <a:r>
                <a:rPr lang="en-US" sz="900" err="1">
                  <a:cs typeface="Tahoma"/>
                </a:rPr>
                <a:t>oforge's</a:t>
              </a:r>
              <a:r>
                <a:rPr lang="en-US" sz="900">
                  <a:cs typeface="Tahoma"/>
                </a:rPr>
                <a:t> integrated solution, combining its Trust AI Framework and Knowledge Center Solution, provides capabilities for PII leakage detection, LLM response accuracy checks, and ongoing performance evaluation of the Azure OpenAI GPT-4o model.</a:t>
              </a:r>
            </a:p>
          </p:txBody>
        </p:sp>
      </p:grpSp>
      <p:sp>
        <p:nvSpPr>
          <p:cNvPr id="31" name="Rectangle 30">
            <a:extLst>
              <a:ext uri="{FF2B5EF4-FFF2-40B4-BE49-F238E27FC236}">
                <a16:creationId xmlns:a16="http://schemas.microsoft.com/office/drawing/2014/main" id="{F2978F0D-8FB7-7424-6881-65DADAEFEA43}"/>
              </a:ext>
            </a:extLst>
          </p:cNvPr>
          <p:cNvSpPr/>
          <p:nvPr/>
        </p:nvSpPr>
        <p:spPr>
          <a:xfrm>
            <a:off x="773461" y="1685191"/>
            <a:ext cx="2057400" cy="54864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r>
              <a:rPr lang="en-US" sz="900" b="1">
                <a:solidFill>
                  <a:prstClr val="black"/>
                </a:solidFill>
                <a:ea typeface="Tahoma"/>
                <a:cs typeface="Tahoma"/>
              </a:rPr>
              <a:t>RAI Governance Framework</a:t>
            </a:r>
            <a:endParaRPr lang="en-US" sz="1500">
              <a:solidFill>
                <a:prstClr val="black"/>
              </a:solidFill>
            </a:endParaRPr>
          </a:p>
        </p:txBody>
      </p:sp>
      <p:sp>
        <p:nvSpPr>
          <p:cNvPr id="32" name="Rectangle 31">
            <a:extLst>
              <a:ext uri="{FF2B5EF4-FFF2-40B4-BE49-F238E27FC236}">
                <a16:creationId xmlns:a16="http://schemas.microsoft.com/office/drawing/2014/main" id="{76BBE001-5571-C274-7F0B-C1A1B22F0D29}"/>
              </a:ext>
            </a:extLst>
          </p:cNvPr>
          <p:cNvSpPr/>
          <p:nvPr/>
        </p:nvSpPr>
        <p:spPr>
          <a:xfrm>
            <a:off x="2989037" y="1685191"/>
            <a:ext cx="2057400" cy="54864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r>
              <a:rPr lang="en-US" sz="900" b="1">
                <a:solidFill>
                  <a:prstClr val="black"/>
                </a:solidFill>
                <a:ea typeface="Tahoma"/>
                <a:cs typeface="Tahoma"/>
              </a:rPr>
              <a:t>AI Risk Management Toolkit</a:t>
            </a:r>
            <a:endParaRPr lang="en-US" sz="1500">
              <a:solidFill>
                <a:prstClr val="black"/>
              </a:solidFill>
            </a:endParaRPr>
          </a:p>
        </p:txBody>
      </p:sp>
      <p:sp>
        <p:nvSpPr>
          <p:cNvPr id="33" name="Rectangle 32">
            <a:extLst>
              <a:ext uri="{FF2B5EF4-FFF2-40B4-BE49-F238E27FC236}">
                <a16:creationId xmlns:a16="http://schemas.microsoft.com/office/drawing/2014/main" id="{ED66F46D-E542-2ED3-3CD9-84D85B4A342C}"/>
              </a:ext>
            </a:extLst>
          </p:cNvPr>
          <p:cNvSpPr/>
          <p:nvPr/>
        </p:nvSpPr>
        <p:spPr>
          <a:xfrm>
            <a:off x="773461" y="2351945"/>
            <a:ext cx="2057400" cy="54864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r>
              <a:rPr lang="en-US" sz="900" b="1">
                <a:solidFill>
                  <a:prstClr val="black"/>
                </a:solidFill>
                <a:ea typeface="Tahoma"/>
                <a:cs typeface="Tahoma"/>
              </a:rPr>
              <a:t>Ethical AI Design Framework</a:t>
            </a:r>
            <a:endParaRPr lang="en-US" sz="1500">
              <a:solidFill>
                <a:prstClr val="black"/>
              </a:solidFill>
            </a:endParaRPr>
          </a:p>
        </p:txBody>
      </p:sp>
      <p:sp>
        <p:nvSpPr>
          <p:cNvPr id="34" name="Rectangle 33">
            <a:extLst>
              <a:ext uri="{FF2B5EF4-FFF2-40B4-BE49-F238E27FC236}">
                <a16:creationId xmlns:a16="http://schemas.microsoft.com/office/drawing/2014/main" id="{6DD9B4F1-6BCE-6253-9DB1-6717A8F2DD1C}"/>
              </a:ext>
            </a:extLst>
          </p:cNvPr>
          <p:cNvSpPr/>
          <p:nvPr/>
        </p:nvSpPr>
        <p:spPr>
          <a:xfrm>
            <a:off x="2989037" y="2351945"/>
            <a:ext cx="2057400" cy="54864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r>
              <a:rPr lang="en-US" sz="900" b="1">
                <a:solidFill>
                  <a:prstClr val="black"/>
                </a:solidFill>
                <a:ea typeface="Tahoma"/>
                <a:cs typeface="Tahoma"/>
              </a:rPr>
              <a:t>Bias Detection &amp; Mitigation Rules Framework</a:t>
            </a:r>
            <a:endParaRPr lang="en-US" sz="1500">
              <a:solidFill>
                <a:prstClr val="black"/>
              </a:solidFill>
            </a:endParaRPr>
          </a:p>
        </p:txBody>
      </p:sp>
      <p:sp>
        <p:nvSpPr>
          <p:cNvPr id="35" name="Rectangle 34">
            <a:extLst>
              <a:ext uri="{FF2B5EF4-FFF2-40B4-BE49-F238E27FC236}">
                <a16:creationId xmlns:a16="http://schemas.microsoft.com/office/drawing/2014/main" id="{5BB86888-5D82-10B0-626A-029C83C1BF7A}"/>
              </a:ext>
            </a:extLst>
          </p:cNvPr>
          <p:cNvSpPr/>
          <p:nvPr/>
        </p:nvSpPr>
        <p:spPr>
          <a:xfrm>
            <a:off x="771901" y="3003099"/>
            <a:ext cx="2057400" cy="54864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r>
              <a:rPr lang="en-US" sz="900" b="1">
                <a:solidFill>
                  <a:prstClr val="black"/>
                </a:solidFill>
                <a:ea typeface="Tahoma"/>
                <a:cs typeface="Tahoma"/>
              </a:rPr>
              <a:t>Fairness Scorecards</a:t>
            </a:r>
            <a:endParaRPr lang="en-US" sz="1500">
              <a:solidFill>
                <a:prstClr val="black"/>
              </a:solidFill>
            </a:endParaRPr>
          </a:p>
        </p:txBody>
      </p:sp>
      <p:sp>
        <p:nvSpPr>
          <p:cNvPr id="36" name="Rectangle 35">
            <a:extLst>
              <a:ext uri="{FF2B5EF4-FFF2-40B4-BE49-F238E27FC236}">
                <a16:creationId xmlns:a16="http://schemas.microsoft.com/office/drawing/2014/main" id="{5A0DF260-BC6F-887E-26C5-71EA53F98E02}"/>
              </a:ext>
            </a:extLst>
          </p:cNvPr>
          <p:cNvSpPr/>
          <p:nvPr/>
        </p:nvSpPr>
        <p:spPr>
          <a:xfrm>
            <a:off x="2987477" y="3003099"/>
            <a:ext cx="2057400" cy="54864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r>
              <a:rPr lang="en-US" sz="900" b="1">
                <a:solidFill>
                  <a:prstClr val="black"/>
                </a:solidFill>
                <a:ea typeface="Tahoma"/>
                <a:cs typeface="Tahoma"/>
              </a:rPr>
              <a:t>Explainability Dashboards</a:t>
            </a:r>
            <a:endParaRPr lang="en-US" sz="1500">
              <a:solidFill>
                <a:prstClr val="black"/>
              </a:solidFill>
            </a:endParaRPr>
          </a:p>
        </p:txBody>
      </p:sp>
      <p:sp>
        <p:nvSpPr>
          <p:cNvPr id="37" name="Rectangle 36">
            <a:extLst>
              <a:ext uri="{FF2B5EF4-FFF2-40B4-BE49-F238E27FC236}">
                <a16:creationId xmlns:a16="http://schemas.microsoft.com/office/drawing/2014/main" id="{C1B940A0-2821-04D1-74D3-13753FC24861}"/>
              </a:ext>
            </a:extLst>
          </p:cNvPr>
          <p:cNvSpPr/>
          <p:nvPr/>
        </p:nvSpPr>
        <p:spPr>
          <a:xfrm>
            <a:off x="771901" y="3669854"/>
            <a:ext cx="2057400" cy="54864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r>
              <a:rPr lang="en-US" sz="900" b="1">
                <a:solidFill>
                  <a:prstClr val="black"/>
                </a:solidFill>
                <a:ea typeface="Tahoma"/>
                <a:cs typeface="Tahoma"/>
              </a:rPr>
              <a:t>Model Drift Detection Accelerators</a:t>
            </a:r>
            <a:endParaRPr lang="en-US" sz="1500">
              <a:solidFill>
                <a:prstClr val="black"/>
              </a:solidFill>
            </a:endParaRPr>
          </a:p>
        </p:txBody>
      </p:sp>
      <p:sp>
        <p:nvSpPr>
          <p:cNvPr id="38" name="Rectangle 37">
            <a:extLst>
              <a:ext uri="{FF2B5EF4-FFF2-40B4-BE49-F238E27FC236}">
                <a16:creationId xmlns:a16="http://schemas.microsoft.com/office/drawing/2014/main" id="{CA3F79B8-5E9F-6DE1-CC5A-04E504739987}"/>
              </a:ext>
            </a:extLst>
          </p:cNvPr>
          <p:cNvSpPr/>
          <p:nvPr/>
        </p:nvSpPr>
        <p:spPr>
          <a:xfrm>
            <a:off x="2987477" y="3669854"/>
            <a:ext cx="2057400" cy="54864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r>
              <a:rPr lang="en-US" sz="900" b="1">
                <a:solidFill>
                  <a:prstClr val="black"/>
                </a:solidFill>
                <a:ea typeface="Tahoma"/>
                <a:cs typeface="Tahoma"/>
              </a:rPr>
              <a:t>AI Performance Monitoring Framework</a:t>
            </a:r>
            <a:endParaRPr lang="en-US" sz="1500">
              <a:solidFill>
                <a:prstClr val="black"/>
              </a:solidFill>
            </a:endParaRPr>
          </a:p>
        </p:txBody>
      </p:sp>
      <p:sp>
        <p:nvSpPr>
          <p:cNvPr id="39" name="Rectangle 38">
            <a:extLst>
              <a:ext uri="{FF2B5EF4-FFF2-40B4-BE49-F238E27FC236}">
                <a16:creationId xmlns:a16="http://schemas.microsoft.com/office/drawing/2014/main" id="{5501AD73-D4A3-793C-ADF3-9FA777DA4892}"/>
              </a:ext>
            </a:extLst>
          </p:cNvPr>
          <p:cNvSpPr/>
          <p:nvPr/>
        </p:nvSpPr>
        <p:spPr>
          <a:xfrm>
            <a:off x="755951" y="4349850"/>
            <a:ext cx="2057400" cy="54864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r>
              <a:rPr lang="en-US" sz="900" b="1">
                <a:solidFill>
                  <a:prstClr val="black"/>
                </a:solidFill>
                <a:ea typeface="Tahoma"/>
                <a:cs typeface="Tahoma"/>
              </a:rPr>
              <a:t>Data Anonymization &amp; Masking Pipelines</a:t>
            </a:r>
            <a:endParaRPr lang="en-US" sz="1500">
              <a:solidFill>
                <a:prstClr val="black"/>
              </a:solidFill>
            </a:endParaRPr>
          </a:p>
        </p:txBody>
      </p:sp>
      <p:sp>
        <p:nvSpPr>
          <p:cNvPr id="40" name="Rectangle 39">
            <a:extLst>
              <a:ext uri="{FF2B5EF4-FFF2-40B4-BE49-F238E27FC236}">
                <a16:creationId xmlns:a16="http://schemas.microsoft.com/office/drawing/2014/main" id="{372C483D-C1D3-59B6-9583-685712D5D829}"/>
              </a:ext>
            </a:extLst>
          </p:cNvPr>
          <p:cNvSpPr/>
          <p:nvPr/>
        </p:nvSpPr>
        <p:spPr>
          <a:xfrm>
            <a:off x="2971527" y="4349850"/>
            <a:ext cx="2057400" cy="54864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r>
              <a:rPr lang="en-US" sz="900" b="1">
                <a:solidFill>
                  <a:prstClr val="black"/>
                </a:solidFill>
                <a:ea typeface="Tahoma"/>
                <a:cs typeface="Tahoma"/>
              </a:rPr>
              <a:t>RAI Training Modules</a:t>
            </a:r>
            <a:endParaRPr lang="en-US" sz="1500">
              <a:solidFill>
                <a:prstClr val="black"/>
              </a:solidFill>
            </a:endParaRPr>
          </a:p>
        </p:txBody>
      </p:sp>
      <p:sp>
        <p:nvSpPr>
          <p:cNvPr id="41" name="Rectangle 40">
            <a:extLst>
              <a:ext uri="{FF2B5EF4-FFF2-40B4-BE49-F238E27FC236}">
                <a16:creationId xmlns:a16="http://schemas.microsoft.com/office/drawing/2014/main" id="{3AADD982-0595-B162-1CCE-BB0DA97A336B}"/>
              </a:ext>
            </a:extLst>
          </p:cNvPr>
          <p:cNvSpPr/>
          <p:nvPr/>
        </p:nvSpPr>
        <p:spPr>
          <a:xfrm>
            <a:off x="755951" y="5040584"/>
            <a:ext cx="2057400" cy="54864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r>
              <a:rPr lang="en-US" sz="900" b="1">
                <a:solidFill>
                  <a:prstClr val="black"/>
                </a:solidFill>
                <a:ea typeface="Tahoma"/>
                <a:cs typeface="Tahoma"/>
              </a:rPr>
              <a:t>RAI Playbooks</a:t>
            </a:r>
            <a:endParaRPr lang="en-US" sz="1500">
              <a:solidFill>
                <a:prstClr val="black"/>
              </a:solidFill>
            </a:endParaRPr>
          </a:p>
        </p:txBody>
      </p:sp>
      <p:sp>
        <p:nvSpPr>
          <p:cNvPr id="42" name="Rectangle 41">
            <a:extLst>
              <a:ext uri="{FF2B5EF4-FFF2-40B4-BE49-F238E27FC236}">
                <a16:creationId xmlns:a16="http://schemas.microsoft.com/office/drawing/2014/main" id="{D185A4DD-E969-0562-4128-47B7AFBBF41A}"/>
              </a:ext>
            </a:extLst>
          </p:cNvPr>
          <p:cNvSpPr/>
          <p:nvPr/>
        </p:nvSpPr>
        <p:spPr>
          <a:xfrm>
            <a:off x="2971527" y="5040584"/>
            <a:ext cx="2057400" cy="548640"/>
          </a:xfrm>
          <a:prstGeom prst="rect">
            <a:avLst/>
          </a:prstGeom>
          <a:noFill/>
          <a:ln w="28575">
            <a:solidFill>
              <a:srgbClr val="FE500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r>
              <a:rPr lang="en-US" sz="900" b="1">
                <a:solidFill>
                  <a:prstClr val="black"/>
                </a:solidFill>
                <a:ea typeface="Tahoma"/>
                <a:cs typeface="Tahoma"/>
              </a:rPr>
              <a:t>AI Ethics Workshops</a:t>
            </a:r>
            <a:endParaRPr lang="en-US" sz="1500">
              <a:solidFill>
                <a:prstClr val="black"/>
              </a:solidFill>
            </a:endParaRPr>
          </a:p>
        </p:txBody>
      </p:sp>
    </p:spTree>
    <p:extLst>
      <p:ext uri="{BB962C8B-B14F-4D97-AF65-F5344CB8AC3E}">
        <p14:creationId xmlns:p14="http://schemas.microsoft.com/office/powerpoint/2010/main" val="2886915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9A6AF-9D25-9294-E798-5BD1B09BC1A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3E2CF4-8FB1-6488-8569-810AD41AED46}"/>
              </a:ext>
            </a:extLst>
          </p:cNvPr>
          <p:cNvSpPr>
            <a:spLocks noGrp="1"/>
          </p:cNvSpPr>
          <p:nvPr>
            <p:ph type="title"/>
          </p:nvPr>
        </p:nvSpPr>
        <p:spPr/>
        <p:txBody>
          <a:bodyPr>
            <a:normAutofit/>
          </a:bodyPr>
          <a:lstStyle/>
          <a:p>
            <a:r>
              <a:rPr lang="en-US" sz="2100"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AI Adoption &amp; Governance: </a:t>
            </a:r>
            <a:r>
              <a:rPr lang="en-US" sz="2100"/>
              <a:t>We offer </a:t>
            </a:r>
            <a:r>
              <a:rPr lang="en-US" sz="2100"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a range of professional services </a:t>
            </a:r>
            <a:r>
              <a:rPr lang="en-US" sz="2100"/>
              <a:t>designed to address functional, technical &amp; cultural transformation underpinned by governance</a:t>
            </a:r>
            <a:endParaRPr lang="en-US" sz="2100"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314E9CFB-14FE-8ACD-33FD-7B45CAE2F141}"/>
              </a:ext>
            </a:extLst>
          </p:cNvPr>
          <p:cNvSpPr/>
          <p:nvPr/>
        </p:nvSpPr>
        <p:spPr>
          <a:xfrm>
            <a:off x="622417" y="7028651"/>
            <a:ext cx="2523642" cy="36101"/>
          </a:xfrm>
          <a:prstGeom prst="rect">
            <a:avLst/>
          </a:prstGeom>
          <a:solidFill>
            <a:srgbClr val="0F1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18">
              <a:latin typeface="+mj-lt"/>
            </a:endParaRPr>
          </a:p>
        </p:txBody>
      </p:sp>
      <p:graphicFrame>
        <p:nvGraphicFramePr>
          <p:cNvPr id="5" name="Diagram 4">
            <a:extLst>
              <a:ext uri="{FF2B5EF4-FFF2-40B4-BE49-F238E27FC236}">
                <a16:creationId xmlns:a16="http://schemas.microsoft.com/office/drawing/2014/main" id="{0745B87A-9751-7552-01B8-CA534FA50A83}"/>
              </a:ext>
            </a:extLst>
          </p:cNvPr>
          <p:cNvGraphicFramePr/>
          <p:nvPr>
            <p:extLst>
              <p:ext uri="{D42A27DB-BD31-4B8C-83A1-F6EECF244321}">
                <p14:modId xmlns:p14="http://schemas.microsoft.com/office/powerpoint/2010/main" val="205167676"/>
              </p:ext>
            </p:extLst>
          </p:nvPr>
        </p:nvGraphicFramePr>
        <p:xfrm>
          <a:off x="-413820" y="1976018"/>
          <a:ext cx="5854700" cy="42523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Diagram 8">
            <a:extLst>
              <a:ext uri="{FF2B5EF4-FFF2-40B4-BE49-F238E27FC236}">
                <a16:creationId xmlns:a16="http://schemas.microsoft.com/office/drawing/2014/main" id="{1B809DF0-2F6F-63A4-3080-4D2AABEFB000}"/>
              </a:ext>
            </a:extLst>
          </p:cNvPr>
          <p:cNvGraphicFramePr/>
          <p:nvPr>
            <p:extLst>
              <p:ext uri="{D42A27DB-BD31-4B8C-83A1-F6EECF244321}">
                <p14:modId xmlns:p14="http://schemas.microsoft.com/office/powerpoint/2010/main" val="2264584398"/>
              </p:ext>
            </p:extLst>
          </p:nvPr>
        </p:nvGraphicFramePr>
        <p:xfrm>
          <a:off x="5910514" y="1976019"/>
          <a:ext cx="5973680" cy="416911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0" name="TextBox 9">
            <a:extLst>
              <a:ext uri="{FF2B5EF4-FFF2-40B4-BE49-F238E27FC236}">
                <a16:creationId xmlns:a16="http://schemas.microsoft.com/office/drawing/2014/main" id="{4218A3E0-AC6B-5628-2420-B430A79C268D}"/>
              </a:ext>
            </a:extLst>
          </p:cNvPr>
          <p:cNvSpPr txBox="1"/>
          <p:nvPr/>
        </p:nvSpPr>
        <p:spPr>
          <a:xfrm>
            <a:off x="212842" y="1323340"/>
            <a:ext cx="5349240" cy="600164"/>
          </a:xfrm>
          <a:prstGeom prst="rect">
            <a:avLst/>
          </a:prstGeom>
          <a:noFill/>
        </p:spPr>
        <p:txBody>
          <a:bodyPr wrap="square" rtlCol="0">
            <a:spAutoFit/>
          </a:bodyPr>
          <a:lstStyle/>
          <a:p>
            <a:pPr algn="ctr"/>
            <a:r>
              <a:rPr lang="en-US" sz="1200" b="1"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Skills and Cultural Transformation Services</a:t>
            </a:r>
          </a:p>
          <a:p>
            <a:pPr algn="ctr"/>
            <a:r>
              <a:rPr lang="en-US" sz="1050">
                <a:solidFill>
                  <a:schemeClr val="tx2"/>
                </a:solidFill>
                <a:latin typeface="+mj-lt"/>
                <a:cs typeface="Segoe UI" panose="020B0502040204020203" pitchFamily="34" charset="0"/>
              </a:rPr>
              <a:t>Framework that educate, train and equip technical, non-technical and sr. leaders on AI fundamental, business impact and data-driven decision making</a:t>
            </a:r>
          </a:p>
        </p:txBody>
      </p:sp>
      <p:sp>
        <p:nvSpPr>
          <p:cNvPr id="11" name="TextBox 10">
            <a:extLst>
              <a:ext uri="{FF2B5EF4-FFF2-40B4-BE49-F238E27FC236}">
                <a16:creationId xmlns:a16="http://schemas.microsoft.com/office/drawing/2014/main" id="{A044AEB2-CB5D-F4D5-43D6-A49299E7075F}"/>
              </a:ext>
            </a:extLst>
          </p:cNvPr>
          <p:cNvSpPr txBox="1"/>
          <p:nvPr/>
        </p:nvSpPr>
        <p:spPr>
          <a:xfrm>
            <a:off x="6305551" y="1323340"/>
            <a:ext cx="5368874" cy="646331"/>
          </a:xfrm>
          <a:prstGeom prst="rect">
            <a:avLst/>
          </a:prstGeom>
          <a:noFill/>
        </p:spPr>
        <p:txBody>
          <a:bodyPr wrap="square" rtlCol="0">
            <a:spAutoFit/>
          </a:bodyPr>
          <a:lstStyle/>
          <a:p>
            <a:pPr algn="ctr"/>
            <a:r>
              <a:rPr lang="en-US" sz="1200" b="1"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AI Compliance and Governance Regulations Services</a:t>
            </a:r>
          </a:p>
          <a:p>
            <a:pPr algn="ctr"/>
            <a:r>
              <a:rPr lang="en-US" sz="1200">
                <a:solidFill>
                  <a:schemeClr val="tx2"/>
                </a:solidFill>
                <a:latin typeface="+mj-lt"/>
                <a:cs typeface="Segoe UI" panose="020B0502040204020203" pitchFamily="34" charset="0"/>
              </a:rPr>
              <a:t>Framework and approach that comprehensively addresses ethical, legal, and operational standards</a:t>
            </a:r>
          </a:p>
        </p:txBody>
      </p:sp>
    </p:spTree>
    <p:extLst>
      <p:ext uri="{BB962C8B-B14F-4D97-AF65-F5344CB8AC3E}">
        <p14:creationId xmlns:p14="http://schemas.microsoft.com/office/powerpoint/2010/main" val="1063135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BA0FB-84C2-1379-58FE-E9373DF843E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EC25E09-0558-BC49-D6F8-B9973E3DE18D}"/>
              </a:ext>
            </a:extLst>
          </p:cNvPr>
          <p:cNvSpPr>
            <a:spLocks noGrp="1"/>
          </p:cNvSpPr>
          <p:nvPr>
            <p:ph type="title"/>
          </p:nvPr>
        </p:nvSpPr>
        <p:spPr>
          <a:xfrm>
            <a:off x="428375" y="2483486"/>
            <a:ext cx="11335249" cy="945514"/>
          </a:xfrm>
        </p:spPr>
        <p:txBody>
          <a:bodyPr/>
          <a:lstStyle/>
          <a:p>
            <a:r>
              <a:rPr lang="en-US"/>
              <a:t>How Can We Help to </a:t>
            </a:r>
            <a:r>
              <a:rPr lang="en-US">
                <a:solidFill>
                  <a:schemeClr val="accent2">
                    <a:lumMod val="75000"/>
                  </a:schemeClr>
                </a:solidFill>
              </a:rPr>
              <a:t>Realize AI Vision</a:t>
            </a:r>
            <a:endParaRPr lang="en-GB" sz="1200">
              <a:solidFill>
                <a:schemeClr val="accent2">
                  <a:lumMod val="75000"/>
                </a:schemeClr>
              </a:solidFill>
            </a:endParaRPr>
          </a:p>
        </p:txBody>
      </p:sp>
    </p:spTree>
    <p:extLst>
      <p:ext uri="{BB962C8B-B14F-4D97-AF65-F5344CB8AC3E}">
        <p14:creationId xmlns:p14="http://schemas.microsoft.com/office/powerpoint/2010/main" val="986458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5ABDD-CEE1-D695-2BAF-A5D389594AE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DB0C054-747A-D903-4FDB-304444FB960F}"/>
              </a:ext>
            </a:extLst>
          </p:cNvPr>
          <p:cNvSpPr>
            <a:spLocks noGrp="1"/>
          </p:cNvSpPr>
          <p:nvPr>
            <p:ph type="title"/>
          </p:nvPr>
        </p:nvSpPr>
        <p:spPr/>
        <p:txBody>
          <a:bodyPr>
            <a:normAutofit/>
          </a:bodyPr>
          <a:lstStyle/>
          <a:p>
            <a:r>
              <a:rPr lang="en-US" sz="2700"/>
              <a:t>Our goal is </a:t>
            </a:r>
            <a:r>
              <a:rPr lang="en-US" sz="2700">
                <a:solidFill>
                  <a:schemeClr val="accent2">
                    <a:lumMod val="75000"/>
                  </a:schemeClr>
                </a:solidFill>
              </a:rPr>
              <a:t>value creation </a:t>
            </a:r>
            <a:r>
              <a:rPr lang="en-US" sz="2700"/>
              <a:t>leveraging AI technologies across key measurable dimensions</a:t>
            </a:r>
            <a:endParaRPr lang="en-US" sz="2700"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CD08A9DA-73D2-F780-F141-630AFABBA99B}"/>
              </a:ext>
            </a:extLst>
          </p:cNvPr>
          <p:cNvSpPr/>
          <p:nvPr/>
        </p:nvSpPr>
        <p:spPr>
          <a:xfrm>
            <a:off x="622417" y="7028651"/>
            <a:ext cx="2523642" cy="36101"/>
          </a:xfrm>
          <a:prstGeom prst="rect">
            <a:avLst/>
          </a:prstGeom>
          <a:solidFill>
            <a:srgbClr val="0F1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18">
              <a:latin typeface="+mj-lt"/>
            </a:endParaRPr>
          </a:p>
        </p:txBody>
      </p:sp>
      <p:grpSp>
        <p:nvGrpSpPr>
          <p:cNvPr id="7" name="Group 6">
            <a:extLst>
              <a:ext uri="{FF2B5EF4-FFF2-40B4-BE49-F238E27FC236}">
                <a16:creationId xmlns:a16="http://schemas.microsoft.com/office/drawing/2014/main" id="{8B3C9FD3-89E6-E04C-4237-B37D62AB8A4A}"/>
              </a:ext>
            </a:extLst>
          </p:cNvPr>
          <p:cNvGrpSpPr/>
          <p:nvPr/>
        </p:nvGrpSpPr>
        <p:grpSpPr>
          <a:xfrm>
            <a:off x="911512" y="2610639"/>
            <a:ext cx="10235233" cy="1874933"/>
            <a:chOff x="883328" y="2600883"/>
            <a:chExt cx="10235233" cy="1924946"/>
          </a:xfrm>
        </p:grpSpPr>
        <p:sp>
          <p:nvSpPr>
            <p:cNvPr id="8" name="Rectangle 7">
              <a:extLst>
                <a:ext uri="{FF2B5EF4-FFF2-40B4-BE49-F238E27FC236}">
                  <a16:creationId xmlns:a16="http://schemas.microsoft.com/office/drawing/2014/main" id="{1783FF24-F550-3E17-C594-7C0A964B1C84}"/>
                </a:ext>
              </a:extLst>
            </p:cNvPr>
            <p:cNvSpPr/>
            <p:nvPr/>
          </p:nvSpPr>
          <p:spPr>
            <a:xfrm>
              <a:off x="8375361" y="2614785"/>
              <a:ext cx="2743200" cy="1408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8">
                <a:defRPr/>
              </a:pPr>
              <a:r>
                <a:rPr lang="en-US" sz="2100" b="1">
                  <a:solidFill>
                    <a:prstClr val="white"/>
                  </a:solidFill>
                  <a:latin typeface="+mj-lt"/>
                </a:rPr>
                <a:t>Cost Reduction</a:t>
              </a:r>
            </a:p>
          </p:txBody>
        </p:sp>
        <p:sp>
          <p:nvSpPr>
            <p:cNvPr id="9" name="Rectangle 8">
              <a:extLst>
                <a:ext uri="{FF2B5EF4-FFF2-40B4-BE49-F238E27FC236}">
                  <a16:creationId xmlns:a16="http://schemas.microsoft.com/office/drawing/2014/main" id="{B0BBE7EB-76D2-5543-3A5F-D3035791466B}"/>
                </a:ext>
              </a:extLst>
            </p:cNvPr>
            <p:cNvSpPr/>
            <p:nvPr/>
          </p:nvSpPr>
          <p:spPr>
            <a:xfrm>
              <a:off x="2393719" y="2614785"/>
              <a:ext cx="2743200" cy="1408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8">
                <a:defRPr/>
              </a:pPr>
              <a:r>
                <a:rPr lang="en-US" sz="2100" b="1">
                  <a:solidFill>
                    <a:prstClr val="white"/>
                  </a:solidFill>
                  <a:latin typeface="+mj-lt"/>
                </a:rPr>
                <a:t>Revenue Uplift</a:t>
              </a:r>
            </a:p>
          </p:txBody>
        </p:sp>
        <p:sp>
          <p:nvSpPr>
            <p:cNvPr id="10" name="Rectangle 9">
              <a:extLst>
                <a:ext uri="{FF2B5EF4-FFF2-40B4-BE49-F238E27FC236}">
                  <a16:creationId xmlns:a16="http://schemas.microsoft.com/office/drawing/2014/main" id="{0F5CFD4C-55B5-3613-EB8D-AEA8CAFC6269}"/>
                </a:ext>
              </a:extLst>
            </p:cNvPr>
            <p:cNvSpPr/>
            <p:nvPr/>
          </p:nvSpPr>
          <p:spPr>
            <a:xfrm>
              <a:off x="5387291" y="2614785"/>
              <a:ext cx="2743200" cy="1408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8">
                <a:defRPr/>
              </a:pPr>
              <a:r>
                <a:rPr lang="en-US" sz="2100" b="1">
                  <a:solidFill>
                    <a:prstClr val="white"/>
                  </a:solidFill>
                  <a:latin typeface="+mj-lt"/>
                </a:rPr>
                <a:t>Cash Flows</a:t>
              </a:r>
            </a:p>
          </p:txBody>
        </p:sp>
        <p:sp>
          <p:nvSpPr>
            <p:cNvPr id="11" name="Arrow: Up 10">
              <a:extLst>
                <a:ext uri="{FF2B5EF4-FFF2-40B4-BE49-F238E27FC236}">
                  <a16:creationId xmlns:a16="http://schemas.microsoft.com/office/drawing/2014/main" id="{7969FD78-7D4F-CF4D-F36A-EAF1338E8A97}"/>
                </a:ext>
              </a:extLst>
            </p:cNvPr>
            <p:cNvSpPr/>
            <p:nvPr/>
          </p:nvSpPr>
          <p:spPr>
            <a:xfrm rot="10800000">
              <a:off x="8412685" y="2649422"/>
              <a:ext cx="327244" cy="396551"/>
            </a:xfrm>
            <a:prstGeom prst="up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Up 14">
              <a:extLst>
                <a:ext uri="{FF2B5EF4-FFF2-40B4-BE49-F238E27FC236}">
                  <a16:creationId xmlns:a16="http://schemas.microsoft.com/office/drawing/2014/main" id="{8D51FA40-7B62-D81F-A8AB-E4967BCA120B}"/>
                </a:ext>
              </a:extLst>
            </p:cNvPr>
            <p:cNvSpPr/>
            <p:nvPr/>
          </p:nvSpPr>
          <p:spPr>
            <a:xfrm>
              <a:off x="2445039" y="2649422"/>
              <a:ext cx="327244" cy="396551"/>
            </a:xfrm>
            <a:prstGeom prst="up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Up 18">
              <a:extLst>
                <a:ext uri="{FF2B5EF4-FFF2-40B4-BE49-F238E27FC236}">
                  <a16:creationId xmlns:a16="http://schemas.microsoft.com/office/drawing/2014/main" id="{0E728342-23DC-2254-7CE6-FA77D574F16E}"/>
                </a:ext>
              </a:extLst>
            </p:cNvPr>
            <p:cNvSpPr/>
            <p:nvPr/>
          </p:nvSpPr>
          <p:spPr>
            <a:xfrm>
              <a:off x="5441953" y="2658753"/>
              <a:ext cx="327244" cy="396551"/>
            </a:xfrm>
            <a:prstGeom prst="up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bject 16">
              <a:extLst>
                <a:ext uri="{FF2B5EF4-FFF2-40B4-BE49-F238E27FC236}">
                  <a16:creationId xmlns:a16="http://schemas.microsoft.com/office/drawing/2014/main" id="{431EF8E3-41EB-0C85-4B9D-D17022DE00F1}"/>
                </a:ext>
              </a:extLst>
            </p:cNvPr>
            <p:cNvSpPr txBox="1"/>
            <p:nvPr/>
          </p:nvSpPr>
          <p:spPr>
            <a:xfrm>
              <a:off x="8375361" y="4101765"/>
              <a:ext cx="2743199" cy="424064"/>
            </a:xfrm>
            <a:prstGeom prst="rect">
              <a:avLst/>
            </a:prstGeom>
          </p:spPr>
          <p:txBody>
            <a:bodyPr vert="horz" wrap="square" lIns="0" tIns="10207" rIns="0" bIns="0" rtlCol="0">
              <a:spAutoFit/>
            </a:bodyPr>
            <a:lstStyle/>
            <a:p>
              <a:pPr marL="12760" marR="5104" algn="ctr">
                <a:lnSpc>
                  <a:spcPct val="101200"/>
                </a:lnSpc>
                <a:spcBef>
                  <a:spcPts val="80"/>
                </a:spcBef>
              </a:pPr>
              <a:r>
                <a:rPr lang="en-US" sz="1350" b="1" spc="-10">
                  <a:solidFill>
                    <a:schemeClr val="tx2"/>
                  </a:solidFill>
                  <a:cs typeface="Graphik Regular"/>
                </a:rPr>
                <a:t>Minimizing expenses through AI efficiency</a:t>
              </a:r>
              <a:endParaRPr lang="en-US" sz="900" b="1">
                <a:solidFill>
                  <a:schemeClr val="tx2"/>
                </a:solidFill>
                <a:cs typeface="Graphik Regular"/>
              </a:endParaRPr>
            </a:p>
          </p:txBody>
        </p:sp>
        <p:sp>
          <p:nvSpPr>
            <p:cNvPr id="21" name="object 16">
              <a:extLst>
                <a:ext uri="{FF2B5EF4-FFF2-40B4-BE49-F238E27FC236}">
                  <a16:creationId xmlns:a16="http://schemas.microsoft.com/office/drawing/2014/main" id="{EDBD5F93-20B0-0A87-0A2F-FB2030AD6B00}"/>
                </a:ext>
              </a:extLst>
            </p:cNvPr>
            <p:cNvSpPr txBox="1"/>
            <p:nvPr/>
          </p:nvSpPr>
          <p:spPr>
            <a:xfrm>
              <a:off x="2388213" y="4101765"/>
              <a:ext cx="2743199" cy="424064"/>
            </a:xfrm>
            <a:prstGeom prst="rect">
              <a:avLst/>
            </a:prstGeom>
          </p:spPr>
          <p:txBody>
            <a:bodyPr vert="horz" wrap="square" lIns="0" tIns="10207" rIns="0" bIns="0" rtlCol="0">
              <a:spAutoFit/>
            </a:bodyPr>
            <a:lstStyle/>
            <a:p>
              <a:pPr marL="12760" marR="5104" algn="ctr">
                <a:lnSpc>
                  <a:spcPct val="101200"/>
                </a:lnSpc>
                <a:spcBef>
                  <a:spcPts val="80"/>
                </a:spcBef>
              </a:pPr>
              <a:r>
                <a:rPr lang="it-IT" sz="1350" b="1" spc="-10">
                  <a:solidFill>
                    <a:schemeClr val="tx2"/>
                  </a:solidFill>
                  <a:cs typeface="Graphik Regular"/>
                </a:rPr>
                <a:t>Increasing income via AI innovations</a:t>
              </a:r>
              <a:endParaRPr lang="en-US" sz="900" b="1">
                <a:solidFill>
                  <a:schemeClr val="tx2"/>
                </a:solidFill>
                <a:cs typeface="Graphik Regular"/>
              </a:endParaRPr>
            </a:p>
          </p:txBody>
        </p:sp>
        <p:sp>
          <p:nvSpPr>
            <p:cNvPr id="22" name="object 16">
              <a:extLst>
                <a:ext uri="{FF2B5EF4-FFF2-40B4-BE49-F238E27FC236}">
                  <a16:creationId xmlns:a16="http://schemas.microsoft.com/office/drawing/2014/main" id="{0A4E6A17-9631-AFB2-2892-CCEA3C46C3F2}"/>
                </a:ext>
              </a:extLst>
            </p:cNvPr>
            <p:cNvSpPr txBox="1"/>
            <p:nvPr/>
          </p:nvSpPr>
          <p:spPr>
            <a:xfrm>
              <a:off x="5398562" y="4101765"/>
              <a:ext cx="2743199" cy="424064"/>
            </a:xfrm>
            <a:prstGeom prst="rect">
              <a:avLst/>
            </a:prstGeom>
          </p:spPr>
          <p:txBody>
            <a:bodyPr vert="horz" wrap="square" lIns="0" tIns="10207" rIns="0" bIns="0" rtlCol="0">
              <a:spAutoFit/>
            </a:bodyPr>
            <a:lstStyle/>
            <a:p>
              <a:pPr marL="12760" marR="5104" algn="ctr">
                <a:lnSpc>
                  <a:spcPct val="101200"/>
                </a:lnSpc>
                <a:spcBef>
                  <a:spcPts val="80"/>
                </a:spcBef>
              </a:pPr>
              <a:r>
                <a:rPr lang="en-US" sz="1350" b="1" spc="-10">
                  <a:solidFill>
                    <a:schemeClr val="tx2"/>
                  </a:solidFill>
                  <a:cs typeface="Graphik Regular"/>
                </a:rPr>
                <a:t>Enhancing liquidity with AI solutions</a:t>
              </a:r>
              <a:endParaRPr lang="en-US" sz="900" b="1">
                <a:solidFill>
                  <a:schemeClr val="tx2"/>
                </a:solidFill>
                <a:cs typeface="Graphik Regular"/>
              </a:endParaRPr>
            </a:p>
          </p:txBody>
        </p:sp>
        <p:sp>
          <p:nvSpPr>
            <p:cNvPr id="29" name="Graphic 6" descr="Dollar with solid fill">
              <a:extLst>
                <a:ext uri="{FF2B5EF4-FFF2-40B4-BE49-F238E27FC236}">
                  <a16:creationId xmlns:a16="http://schemas.microsoft.com/office/drawing/2014/main" id="{D3616D65-E36A-DA40-D53E-1E2B047A6B4E}"/>
                </a:ext>
              </a:extLst>
            </p:cNvPr>
            <p:cNvSpPr/>
            <p:nvPr/>
          </p:nvSpPr>
          <p:spPr>
            <a:xfrm>
              <a:off x="883328" y="2600883"/>
              <a:ext cx="1028700" cy="1714500"/>
            </a:xfrm>
            <a:custGeom>
              <a:avLst/>
              <a:gdLst>
                <a:gd name="connsiteX0" fmla="*/ 994628 w 1151701"/>
                <a:gd name="connsiteY0" fmla="*/ 1086853 h 2077097"/>
                <a:gd name="connsiteX1" fmla="*/ 650089 w 1151701"/>
                <a:gd name="connsiteY1" fmla="*/ 953291 h 2077097"/>
                <a:gd name="connsiteX2" fmla="*/ 650089 w 1151701"/>
                <a:gd name="connsiteY2" fmla="*/ 369289 h 2077097"/>
                <a:gd name="connsiteX3" fmla="*/ 957950 w 1151701"/>
                <a:gd name="connsiteY3" fmla="*/ 491741 h 2077097"/>
                <a:gd name="connsiteX4" fmla="*/ 1096574 w 1151701"/>
                <a:gd name="connsiteY4" fmla="*/ 380640 h 2077097"/>
                <a:gd name="connsiteX5" fmla="*/ 650089 w 1151701"/>
                <a:gd name="connsiteY5" fmla="*/ 209883 h 2077097"/>
                <a:gd name="connsiteX6" fmla="*/ 650089 w 1151701"/>
                <a:gd name="connsiteY6" fmla="*/ 0 h 2077097"/>
                <a:gd name="connsiteX7" fmla="*/ 476809 w 1151701"/>
                <a:gd name="connsiteY7" fmla="*/ 0 h 2077097"/>
                <a:gd name="connsiteX8" fmla="*/ 476809 w 1151701"/>
                <a:gd name="connsiteY8" fmla="*/ 219061 h 2077097"/>
                <a:gd name="connsiteX9" fmla="*/ 306995 w 1151701"/>
                <a:gd name="connsiteY9" fmla="*/ 269781 h 2077097"/>
                <a:gd name="connsiteX10" fmla="*/ 66135 w 1151701"/>
                <a:gd name="connsiteY10" fmla="*/ 801132 h 2077097"/>
                <a:gd name="connsiteX11" fmla="*/ 476809 w 1151701"/>
                <a:gd name="connsiteY11" fmla="*/ 1072120 h 2077097"/>
                <a:gd name="connsiteX12" fmla="*/ 476809 w 1151701"/>
                <a:gd name="connsiteY12" fmla="*/ 1704427 h 2077097"/>
                <a:gd name="connsiteX13" fmla="*/ 138624 w 1151701"/>
                <a:gd name="connsiteY13" fmla="*/ 1545747 h 2077097"/>
                <a:gd name="connsiteX14" fmla="*/ 0 w 1151701"/>
                <a:gd name="connsiteY14" fmla="*/ 1656606 h 2077097"/>
                <a:gd name="connsiteX15" fmla="*/ 232484 w 1151701"/>
                <a:gd name="connsiteY15" fmla="*/ 1811422 h 2077097"/>
                <a:gd name="connsiteX16" fmla="*/ 476809 w 1151701"/>
                <a:gd name="connsiteY16" fmla="*/ 1865282 h 2077097"/>
                <a:gd name="connsiteX17" fmla="*/ 476809 w 1151701"/>
                <a:gd name="connsiteY17" fmla="*/ 2077097 h 2077097"/>
                <a:gd name="connsiteX18" fmla="*/ 650089 w 1151701"/>
                <a:gd name="connsiteY18" fmla="*/ 2077097 h 2077097"/>
                <a:gd name="connsiteX19" fmla="*/ 650089 w 1151701"/>
                <a:gd name="connsiteY19" fmla="*/ 1859727 h 2077097"/>
                <a:gd name="connsiteX20" fmla="*/ 1109859 w 1151701"/>
                <a:gd name="connsiteY20" fmla="*/ 1569899 h 2077097"/>
                <a:gd name="connsiteX21" fmla="*/ 994628 w 1151701"/>
                <a:gd name="connsiteY21" fmla="*/ 1086853 h 2077097"/>
                <a:gd name="connsiteX22" fmla="*/ 332409 w 1151701"/>
                <a:gd name="connsiteY22" fmla="*/ 838809 h 2077097"/>
                <a:gd name="connsiteX23" fmla="*/ 380639 w 1151701"/>
                <a:gd name="connsiteY23" fmla="*/ 420008 h 2077097"/>
                <a:gd name="connsiteX24" fmla="*/ 476809 w 1151701"/>
                <a:gd name="connsiteY24" fmla="*/ 383055 h 2077097"/>
                <a:gd name="connsiteX25" fmla="*/ 476809 w 1151701"/>
                <a:gd name="connsiteY25" fmla="*/ 906919 h 2077097"/>
                <a:gd name="connsiteX26" fmla="*/ 332409 w 1151701"/>
                <a:gd name="connsiteY26" fmla="*/ 838809 h 2077097"/>
                <a:gd name="connsiteX27" fmla="*/ 854848 w 1151701"/>
                <a:gd name="connsiteY27" fmla="*/ 1607335 h 2077097"/>
                <a:gd name="connsiteX28" fmla="*/ 650089 w 1151701"/>
                <a:gd name="connsiteY28" fmla="*/ 1697906 h 2077097"/>
                <a:gd name="connsiteX29" fmla="*/ 650089 w 1151701"/>
                <a:gd name="connsiteY29" fmla="*/ 1120908 h 2077097"/>
                <a:gd name="connsiteX30" fmla="*/ 945243 w 1151701"/>
                <a:gd name="connsiteY30" fmla="*/ 1298910 h 2077097"/>
                <a:gd name="connsiteX31" fmla="*/ 854848 w 1151701"/>
                <a:gd name="connsiteY31" fmla="*/ 1607335 h 207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1701" h="2077097">
                  <a:moveTo>
                    <a:pt x="994628" y="1086853"/>
                  </a:moveTo>
                  <a:cubicBezTo>
                    <a:pt x="897013" y="1017295"/>
                    <a:pt x="770230" y="984689"/>
                    <a:pt x="650089" y="953291"/>
                  </a:cubicBezTo>
                  <a:lnTo>
                    <a:pt x="650089" y="369289"/>
                  </a:lnTo>
                  <a:cubicBezTo>
                    <a:pt x="766735" y="378558"/>
                    <a:pt x="875743" y="421916"/>
                    <a:pt x="957950" y="491741"/>
                  </a:cubicBezTo>
                  <a:lnTo>
                    <a:pt x="1096574" y="380640"/>
                  </a:lnTo>
                  <a:cubicBezTo>
                    <a:pt x="977941" y="279715"/>
                    <a:pt x="818971" y="218916"/>
                    <a:pt x="650089" y="209883"/>
                  </a:cubicBezTo>
                  <a:lnTo>
                    <a:pt x="650089" y="0"/>
                  </a:lnTo>
                  <a:lnTo>
                    <a:pt x="476809" y="0"/>
                  </a:lnTo>
                  <a:lnTo>
                    <a:pt x="476809" y="219061"/>
                  </a:lnTo>
                  <a:cubicBezTo>
                    <a:pt x="417472" y="228720"/>
                    <a:pt x="360223" y="245820"/>
                    <a:pt x="306995" y="269781"/>
                  </a:cubicBezTo>
                  <a:cubicBezTo>
                    <a:pt x="88084" y="369530"/>
                    <a:pt x="-23682" y="603807"/>
                    <a:pt x="66135" y="801132"/>
                  </a:cubicBezTo>
                  <a:cubicBezTo>
                    <a:pt x="135736" y="953291"/>
                    <a:pt x="303529" y="1021159"/>
                    <a:pt x="476809" y="1072120"/>
                  </a:cubicBezTo>
                  <a:lnTo>
                    <a:pt x="476809" y="1704427"/>
                  </a:lnTo>
                  <a:cubicBezTo>
                    <a:pt x="342517" y="1690660"/>
                    <a:pt x="231040" y="1626174"/>
                    <a:pt x="138624" y="1545747"/>
                  </a:cubicBezTo>
                  <a:lnTo>
                    <a:pt x="0" y="1656606"/>
                  </a:lnTo>
                  <a:cubicBezTo>
                    <a:pt x="66005" y="1719242"/>
                    <a:pt x="144706" y="1771653"/>
                    <a:pt x="232484" y="1811422"/>
                  </a:cubicBezTo>
                  <a:cubicBezTo>
                    <a:pt x="309204" y="1841943"/>
                    <a:pt x="392066" y="1860209"/>
                    <a:pt x="476809" y="1865282"/>
                  </a:cubicBezTo>
                  <a:lnTo>
                    <a:pt x="476809" y="2077097"/>
                  </a:lnTo>
                  <a:lnTo>
                    <a:pt x="650089" y="2077097"/>
                  </a:lnTo>
                  <a:lnTo>
                    <a:pt x="650089" y="1859727"/>
                  </a:lnTo>
                  <a:cubicBezTo>
                    <a:pt x="848784" y="1831951"/>
                    <a:pt x="1031305" y="1729787"/>
                    <a:pt x="1109859" y="1569899"/>
                  </a:cubicBezTo>
                  <a:cubicBezTo>
                    <a:pt x="1188412" y="1410011"/>
                    <a:pt x="1159821" y="1204958"/>
                    <a:pt x="994628" y="1086853"/>
                  </a:cubicBezTo>
                  <a:close/>
                  <a:moveTo>
                    <a:pt x="332409" y="838809"/>
                  </a:moveTo>
                  <a:cubicBezTo>
                    <a:pt x="173569" y="726742"/>
                    <a:pt x="212268" y="509855"/>
                    <a:pt x="380639" y="420008"/>
                  </a:cubicBezTo>
                  <a:cubicBezTo>
                    <a:pt x="410480" y="404003"/>
                    <a:pt x="442849" y="391564"/>
                    <a:pt x="476809" y="383055"/>
                  </a:cubicBezTo>
                  <a:lnTo>
                    <a:pt x="476809" y="906919"/>
                  </a:lnTo>
                  <a:cubicBezTo>
                    <a:pt x="424522" y="891014"/>
                    <a:pt x="375735" y="868002"/>
                    <a:pt x="332409" y="838809"/>
                  </a:cubicBezTo>
                  <a:close/>
                  <a:moveTo>
                    <a:pt x="854848" y="1607335"/>
                  </a:moveTo>
                  <a:cubicBezTo>
                    <a:pt x="798480" y="1653420"/>
                    <a:pt x="727363" y="1684876"/>
                    <a:pt x="650089" y="1697906"/>
                  </a:cubicBezTo>
                  <a:lnTo>
                    <a:pt x="650089" y="1120908"/>
                  </a:lnTo>
                  <a:cubicBezTo>
                    <a:pt x="765609" y="1153997"/>
                    <a:pt x="898168" y="1196022"/>
                    <a:pt x="945243" y="1298910"/>
                  </a:cubicBezTo>
                  <a:cubicBezTo>
                    <a:pt x="992317" y="1401799"/>
                    <a:pt x="944954" y="1530531"/>
                    <a:pt x="854848" y="1607335"/>
                  </a:cubicBezTo>
                  <a:close/>
                </a:path>
              </a:pathLst>
            </a:custGeom>
            <a:solidFill>
              <a:schemeClr val="accent3"/>
            </a:solidFill>
            <a:ln w="76200" cap="flat">
              <a:noFill/>
              <a:prstDash val="solid"/>
              <a:miter/>
            </a:ln>
            <a:effectLst>
              <a:glow rad="63500">
                <a:schemeClr val="accent3">
                  <a:satMod val="175000"/>
                  <a:alpha val="40000"/>
                </a:schemeClr>
              </a:glo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cene3d>
                <a:camera prst="orthographicFront"/>
                <a:lightRig rig="harsh" dir="t"/>
              </a:scene3d>
              <a:sp3d extrusionH="57150" prstMaterial="matte">
                <a:bevelT w="63500" h="12700" prst="angle"/>
                <a:contourClr>
                  <a:schemeClr val="bg1">
                    <a:lumMod val="65000"/>
                  </a:schemeClr>
                </a:contourClr>
              </a:sp3d>
            </a:bodyPr>
            <a:lstStyle/>
            <a:p>
              <a:endParaRPr lang="en-US" b="1">
                <a:ln/>
                <a:solidFill>
                  <a:schemeClr val="accent3"/>
                </a:solidFill>
              </a:endParaRPr>
            </a:p>
          </p:txBody>
        </p:sp>
      </p:grpSp>
    </p:spTree>
    <p:extLst>
      <p:ext uri="{BB962C8B-B14F-4D97-AF65-F5344CB8AC3E}">
        <p14:creationId xmlns:p14="http://schemas.microsoft.com/office/powerpoint/2010/main" val="3673951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DC29E-57FF-9A11-9481-ACC26534877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71BFE27-79B6-FA76-D0C7-3272B28169A6}"/>
              </a:ext>
            </a:extLst>
          </p:cNvPr>
          <p:cNvSpPr>
            <a:spLocks noGrp="1"/>
          </p:cNvSpPr>
          <p:nvPr>
            <p:ph type="title"/>
          </p:nvPr>
        </p:nvSpPr>
        <p:spPr/>
        <p:txBody>
          <a:bodyPr>
            <a:normAutofit/>
          </a:bodyPr>
          <a:lstStyle/>
          <a:p>
            <a:r>
              <a:rPr lang="en-US"/>
              <a:t>We’ve used a </a:t>
            </a:r>
            <a:r>
              <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three-pronged approach </a:t>
            </a:r>
            <a:r>
              <a:rPr lang="en-US"/>
              <a:t>to deliver our AI capabilities with focus and impact</a:t>
            </a:r>
            <a:endParaRPr lang="en-US" kern="100" spc="-23">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4EFB92BE-59B1-1120-20EA-4D9E004BE377}"/>
              </a:ext>
            </a:extLst>
          </p:cNvPr>
          <p:cNvSpPr/>
          <p:nvPr/>
        </p:nvSpPr>
        <p:spPr>
          <a:xfrm>
            <a:off x="622417" y="7028651"/>
            <a:ext cx="2523642" cy="36101"/>
          </a:xfrm>
          <a:prstGeom prst="rect">
            <a:avLst/>
          </a:prstGeom>
          <a:solidFill>
            <a:srgbClr val="0F1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18">
              <a:latin typeface="+mj-lt"/>
            </a:endParaRPr>
          </a:p>
        </p:txBody>
      </p:sp>
      <p:grpSp>
        <p:nvGrpSpPr>
          <p:cNvPr id="71" name="Group 70">
            <a:extLst>
              <a:ext uri="{FF2B5EF4-FFF2-40B4-BE49-F238E27FC236}">
                <a16:creationId xmlns:a16="http://schemas.microsoft.com/office/drawing/2014/main" id="{FBD3C4D9-9FD6-033A-8D0B-739D664807AB}"/>
              </a:ext>
            </a:extLst>
          </p:cNvPr>
          <p:cNvGrpSpPr/>
          <p:nvPr/>
        </p:nvGrpSpPr>
        <p:grpSpPr>
          <a:xfrm>
            <a:off x="856136" y="1767251"/>
            <a:ext cx="10536802" cy="3939572"/>
            <a:chOff x="1141514" y="2281179"/>
            <a:chExt cx="14049069" cy="5252762"/>
          </a:xfrm>
        </p:grpSpPr>
        <p:sp>
          <p:nvSpPr>
            <p:cNvPr id="3" name="Freeform: Shape 2">
              <a:extLst>
                <a:ext uri="{FF2B5EF4-FFF2-40B4-BE49-F238E27FC236}">
                  <a16:creationId xmlns:a16="http://schemas.microsoft.com/office/drawing/2014/main" id="{D4B84D80-1C6D-BF88-3173-4ACA063DAF6A}"/>
                </a:ext>
              </a:extLst>
            </p:cNvPr>
            <p:cNvSpPr/>
            <p:nvPr/>
          </p:nvSpPr>
          <p:spPr>
            <a:xfrm>
              <a:off x="1143482" y="3399171"/>
              <a:ext cx="4066517" cy="3913354"/>
            </a:xfrm>
            <a:custGeom>
              <a:avLst/>
              <a:gdLst>
                <a:gd name="connsiteX0" fmla="*/ 6200075 w 6200074"/>
                <a:gd name="connsiteY0" fmla="*/ 3100037 h 6200074"/>
                <a:gd name="connsiteX1" fmla="*/ 3100038 w 6200074"/>
                <a:gd name="connsiteY1" fmla="*/ 6200075 h 6200074"/>
                <a:gd name="connsiteX2" fmla="*/ 0 w 6200074"/>
                <a:gd name="connsiteY2" fmla="*/ 3100037 h 6200074"/>
                <a:gd name="connsiteX3" fmla="*/ 3100038 w 6200074"/>
                <a:gd name="connsiteY3" fmla="*/ 0 h 6200074"/>
                <a:gd name="connsiteX4" fmla="*/ 6200075 w 6200074"/>
                <a:gd name="connsiteY4" fmla="*/ 3100037 h 62000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0074" h="6200074">
                  <a:moveTo>
                    <a:pt x="6200075" y="3100037"/>
                  </a:moveTo>
                  <a:cubicBezTo>
                    <a:pt x="6200075" y="4812141"/>
                    <a:pt x="4812141" y="6200075"/>
                    <a:pt x="3100038" y="6200075"/>
                  </a:cubicBezTo>
                  <a:cubicBezTo>
                    <a:pt x="1387934" y="6200075"/>
                    <a:pt x="0" y="4812141"/>
                    <a:pt x="0" y="3100037"/>
                  </a:cubicBezTo>
                  <a:cubicBezTo>
                    <a:pt x="0" y="1387934"/>
                    <a:pt x="1387934" y="0"/>
                    <a:pt x="3100038" y="0"/>
                  </a:cubicBezTo>
                  <a:cubicBezTo>
                    <a:pt x="4812141" y="0"/>
                    <a:pt x="6200075" y="1387934"/>
                    <a:pt x="6200075" y="3100037"/>
                  </a:cubicBezTo>
                  <a:close/>
                </a:path>
              </a:pathLst>
            </a:custGeom>
            <a:solidFill>
              <a:schemeClr val="tx1">
                <a:alpha val="25000"/>
              </a:schemeClr>
            </a:solidFill>
            <a:ln w="9436" cap="flat">
              <a:noFill/>
              <a:prstDash val="solid"/>
              <a:miter/>
            </a:ln>
            <a:effectLst>
              <a:softEdge rad="368300"/>
            </a:effectLst>
          </p:spPr>
          <p:txBody>
            <a:bodyPr rtlCol="0" anchor="ctr"/>
            <a:lstStyle/>
            <a:p>
              <a:endParaRPr lang="en-US" sz="1350">
                <a:latin typeface="Tahoma" panose="020B0604030504040204" pitchFamily="34" charset="0"/>
                <a:ea typeface="Tahoma" panose="020B0604030504040204" pitchFamily="34" charset="0"/>
                <a:cs typeface="Tahoma" panose="020B0604030504040204" pitchFamily="34" charset="0"/>
              </a:endParaRPr>
            </a:p>
          </p:txBody>
        </p:sp>
        <p:grpSp>
          <p:nvGrpSpPr>
            <p:cNvPr id="5" name="Group 4">
              <a:extLst>
                <a:ext uri="{FF2B5EF4-FFF2-40B4-BE49-F238E27FC236}">
                  <a16:creationId xmlns:a16="http://schemas.microsoft.com/office/drawing/2014/main" id="{81ECECBE-030D-E0F7-430C-1465C5566302}"/>
                </a:ext>
              </a:extLst>
            </p:cNvPr>
            <p:cNvGrpSpPr/>
            <p:nvPr/>
          </p:nvGrpSpPr>
          <p:grpSpPr>
            <a:xfrm>
              <a:off x="1141514" y="3153893"/>
              <a:ext cx="3623564" cy="3487085"/>
              <a:chOff x="4729272" y="2079171"/>
              <a:chExt cx="2714716" cy="2714716"/>
            </a:xfrm>
          </p:grpSpPr>
          <p:grpSp>
            <p:nvGrpSpPr>
              <p:cNvPr id="52" name="Group 51">
                <a:extLst>
                  <a:ext uri="{FF2B5EF4-FFF2-40B4-BE49-F238E27FC236}">
                    <a16:creationId xmlns:a16="http://schemas.microsoft.com/office/drawing/2014/main" id="{1E3ED488-36DB-927A-7106-A24E53CFD282}"/>
                  </a:ext>
                </a:extLst>
              </p:cNvPr>
              <p:cNvGrpSpPr/>
              <p:nvPr/>
            </p:nvGrpSpPr>
            <p:grpSpPr>
              <a:xfrm>
                <a:off x="4729272" y="2079171"/>
                <a:ext cx="2714716" cy="2714716"/>
                <a:chOff x="3126659" y="476558"/>
                <a:chExt cx="5919942" cy="5919942"/>
              </a:xfrm>
            </p:grpSpPr>
            <p:sp>
              <p:nvSpPr>
                <p:cNvPr id="54" name="Freeform: Shape 53">
                  <a:extLst>
                    <a:ext uri="{FF2B5EF4-FFF2-40B4-BE49-F238E27FC236}">
                      <a16:creationId xmlns:a16="http://schemas.microsoft.com/office/drawing/2014/main" id="{72DCE841-EC1C-149C-E1A3-1474AD4BFED3}"/>
                    </a:ext>
                  </a:extLst>
                </p:cNvPr>
                <p:cNvSpPr/>
                <p:nvPr/>
              </p:nvSpPr>
              <p:spPr>
                <a:xfrm>
                  <a:off x="3126659" y="476558"/>
                  <a:ext cx="5919942" cy="5919942"/>
                </a:xfrm>
                <a:custGeom>
                  <a:avLst/>
                  <a:gdLst>
                    <a:gd name="connsiteX0" fmla="*/ 6200075 w 6200074"/>
                    <a:gd name="connsiteY0" fmla="*/ 3100037 h 6200074"/>
                    <a:gd name="connsiteX1" fmla="*/ 3100038 w 6200074"/>
                    <a:gd name="connsiteY1" fmla="*/ 6200075 h 6200074"/>
                    <a:gd name="connsiteX2" fmla="*/ 0 w 6200074"/>
                    <a:gd name="connsiteY2" fmla="*/ 3100037 h 6200074"/>
                    <a:gd name="connsiteX3" fmla="*/ 3100038 w 6200074"/>
                    <a:gd name="connsiteY3" fmla="*/ 0 h 6200074"/>
                    <a:gd name="connsiteX4" fmla="*/ 6200075 w 6200074"/>
                    <a:gd name="connsiteY4" fmla="*/ 3100037 h 62000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0074" h="6200074">
                      <a:moveTo>
                        <a:pt x="6200075" y="3100037"/>
                      </a:moveTo>
                      <a:cubicBezTo>
                        <a:pt x="6200075" y="4812141"/>
                        <a:pt x="4812141" y="6200075"/>
                        <a:pt x="3100038" y="6200075"/>
                      </a:cubicBezTo>
                      <a:cubicBezTo>
                        <a:pt x="1387934" y="6200075"/>
                        <a:pt x="0" y="4812141"/>
                        <a:pt x="0" y="3100037"/>
                      </a:cubicBezTo>
                      <a:cubicBezTo>
                        <a:pt x="0" y="1387934"/>
                        <a:pt x="1387934" y="0"/>
                        <a:pt x="3100038" y="0"/>
                      </a:cubicBezTo>
                      <a:cubicBezTo>
                        <a:pt x="4812141" y="0"/>
                        <a:pt x="6200075" y="1387934"/>
                        <a:pt x="6200075" y="3100037"/>
                      </a:cubicBezTo>
                      <a:close/>
                    </a:path>
                  </a:pathLst>
                </a:custGeom>
                <a:solidFill>
                  <a:srgbClr val="F9F9FA"/>
                </a:solidFill>
                <a:ln w="9436" cap="flat">
                  <a:noFill/>
                  <a:prstDash val="solid"/>
                  <a:miter/>
                </a:ln>
              </p:spPr>
              <p:txBody>
                <a:bodyPr rtlCol="0" anchor="ctr"/>
                <a:lstStyle/>
                <a:p>
                  <a:endParaRPr lang="en-US" sz="1350">
                    <a:latin typeface="Tahoma" panose="020B0604030504040204" pitchFamily="34" charset="0"/>
                    <a:ea typeface="Tahoma" panose="020B0604030504040204" pitchFamily="34" charset="0"/>
                    <a:cs typeface="Tahoma" panose="020B0604030504040204" pitchFamily="34" charset="0"/>
                  </a:endParaRPr>
                </a:p>
              </p:txBody>
            </p:sp>
            <p:sp>
              <p:nvSpPr>
                <p:cNvPr id="55" name="Freeform: Shape 54">
                  <a:extLst>
                    <a:ext uri="{FF2B5EF4-FFF2-40B4-BE49-F238E27FC236}">
                      <a16:creationId xmlns:a16="http://schemas.microsoft.com/office/drawing/2014/main" id="{E2215D47-D884-BD62-0A47-79FB4AD78711}"/>
                    </a:ext>
                  </a:extLst>
                </p:cNvPr>
                <p:cNvSpPr/>
                <p:nvPr/>
              </p:nvSpPr>
              <p:spPr>
                <a:xfrm>
                  <a:off x="4108786" y="603137"/>
                  <a:ext cx="1942305" cy="2747646"/>
                </a:xfrm>
                <a:custGeom>
                  <a:avLst/>
                  <a:gdLst>
                    <a:gd name="connsiteX0" fmla="*/ 2062981 w 2062981"/>
                    <a:gd name="connsiteY0" fmla="*/ 0 h 2918358"/>
                    <a:gd name="connsiteX1" fmla="*/ 2062981 w 2062981"/>
                    <a:gd name="connsiteY1" fmla="*/ 2918358 h 2918358"/>
                    <a:gd name="connsiteX2" fmla="*/ 0 w 2062981"/>
                    <a:gd name="connsiteY2" fmla="*/ 855378 h 2918358"/>
                    <a:gd name="connsiteX3" fmla="*/ 185843 w 2062981"/>
                    <a:gd name="connsiteY3" fmla="*/ 686472 h 2918358"/>
                    <a:gd name="connsiteX4" fmla="*/ 1945815 w 2062981"/>
                    <a:gd name="connsiteY4" fmla="*/ 2963 h 2918358"/>
                    <a:gd name="connsiteX5" fmla="*/ 2062981 w 2062981"/>
                    <a:gd name="connsiteY5" fmla="*/ 0 h 2918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62981" h="2918358">
                      <a:moveTo>
                        <a:pt x="2062981" y="0"/>
                      </a:moveTo>
                      <a:lnTo>
                        <a:pt x="2062981" y="2918358"/>
                      </a:lnTo>
                      <a:lnTo>
                        <a:pt x="0" y="855378"/>
                      </a:lnTo>
                      <a:lnTo>
                        <a:pt x="185843" y="686472"/>
                      </a:lnTo>
                      <a:cubicBezTo>
                        <a:pt x="669046" y="287698"/>
                        <a:pt x="1278790" y="36775"/>
                        <a:pt x="1945815" y="2963"/>
                      </a:cubicBezTo>
                      <a:lnTo>
                        <a:pt x="2062981" y="0"/>
                      </a:lnTo>
                      <a:close/>
                    </a:path>
                  </a:pathLst>
                </a:custGeom>
                <a:solidFill>
                  <a:srgbClr val="082340"/>
                </a:solidFill>
                <a:ln w="9436" cap="flat">
                  <a:noFill/>
                  <a:prstDash val="solid"/>
                  <a:miter/>
                </a:ln>
              </p:spPr>
              <p:txBody>
                <a:bodyPr rtlCol="0" anchor="ctr"/>
                <a:lstStyle/>
                <a:p>
                  <a:endParaRPr lang="en-US" sz="1350">
                    <a:latin typeface="Tahoma" panose="020B0604030504040204" pitchFamily="34" charset="0"/>
                    <a:ea typeface="Tahoma" panose="020B0604030504040204" pitchFamily="34" charset="0"/>
                    <a:cs typeface="Tahoma" panose="020B0604030504040204" pitchFamily="34" charset="0"/>
                  </a:endParaRPr>
                </a:p>
              </p:txBody>
            </p:sp>
            <p:sp>
              <p:nvSpPr>
                <p:cNvPr id="56" name="Freeform: Shape 55">
                  <a:extLst>
                    <a:ext uri="{FF2B5EF4-FFF2-40B4-BE49-F238E27FC236}">
                      <a16:creationId xmlns:a16="http://schemas.microsoft.com/office/drawing/2014/main" id="{6E0B322C-34C2-EBEB-DBEA-CED096C39F9B}"/>
                    </a:ext>
                  </a:extLst>
                </p:cNvPr>
                <p:cNvSpPr/>
                <p:nvPr/>
              </p:nvSpPr>
              <p:spPr>
                <a:xfrm>
                  <a:off x="6122170" y="603137"/>
                  <a:ext cx="1941818" cy="2747267"/>
                </a:xfrm>
                <a:custGeom>
                  <a:avLst/>
                  <a:gdLst>
                    <a:gd name="connsiteX0" fmla="*/ 0 w 2062464"/>
                    <a:gd name="connsiteY0" fmla="*/ 0 h 2917956"/>
                    <a:gd name="connsiteX1" fmla="*/ 117166 w 2062464"/>
                    <a:gd name="connsiteY1" fmla="*/ 2963 h 2917956"/>
                    <a:gd name="connsiteX2" fmla="*/ 1877137 w 2062464"/>
                    <a:gd name="connsiteY2" fmla="*/ 686472 h 2917956"/>
                    <a:gd name="connsiteX3" fmla="*/ 2062464 w 2062464"/>
                    <a:gd name="connsiteY3" fmla="*/ 854909 h 2917956"/>
                    <a:gd name="connsiteX4" fmla="*/ 0 w 2062464"/>
                    <a:gd name="connsiteY4" fmla="*/ 2917956 h 2917956"/>
                    <a:gd name="connsiteX5" fmla="*/ 0 w 2062464"/>
                    <a:gd name="connsiteY5" fmla="*/ 0 h 2917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62464" h="2917956">
                      <a:moveTo>
                        <a:pt x="0" y="0"/>
                      </a:moveTo>
                      <a:lnTo>
                        <a:pt x="117166" y="2963"/>
                      </a:lnTo>
                      <a:cubicBezTo>
                        <a:pt x="784191" y="36775"/>
                        <a:pt x="1393934" y="287698"/>
                        <a:pt x="1877137" y="686472"/>
                      </a:cubicBezTo>
                      <a:lnTo>
                        <a:pt x="2062464" y="854909"/>
                      </a:lnTo>
                      <a:lnTo>
                        <a:pt x="0" y="2917956"/>
                      </a:lnTo>
                      <a:lnTo>
                        <a:pt x="0" y="0"/>
                      </a:lnTo>
                      <a:close/>
                    </a:path>
                  </a:pathLst>
                </a:custGeom>
                <a:solidFill>
                  <a:srgbClr val="1458A1"/>
                </a:solidFill>
                <a:ln w="9436" cap="flat">
                  <a:noFill/>
                  <a:prstDash val="solid"/>
                  <a:miter/>
                </a:ln>
              </p:spPr>
              <p:txBody>
                <a:bodyPr rtlCol="0" anchor="ctr"/>
                <a:lstStyle/>
                <a:p>
                  <a:endParaRPr lang="en-US" sz="1350">
                    <a:latin typeface="Tahoma" panose="020B0604030504040204" pitchFamily="34" charset="0"/>
                    <a:ea typeface="Tahoma" panose="020B0604030504040204" pitchFamily="34" charset="0"/>
                    <a:cs typeface="Tahoma" panose="020B0604030504040204" pitchFamily="34" charset="0"/>
                  </a:endParaRPr>
                </a:p>
              </p:txBody>
            </p:sp>
            <p:sp>
              <p:nvSpPr>
                <p:cNvPr id="57" name="Freeform: Shape 56">
                  <a:extLst>
                    <a:ext uri="{FF2B5EF4-FFF2-40B4-BE49-F238E27FC236}">
                      <a16:creationId xmlns:a16="http://schemas.microsoft.com/office/drawing/2014/main" id="{8FA69C8D-FD1E-9C7E-E1E2-3B49CBCFF105}"/>
                    </a:ext>
                  </a:extLst>
                </p:cNvPr>
                <p:cNvSpPr/>
                <p:nvPr/>
              </p:nvSpPr>
              <p:spPr>
                <a:xfrm>
                  <a:off x="6172105" y="1458255"/>
                  <a:ext cx="2747918" cy="1942735"/>
                </a:xfrm>
                <a:custGeom>
                  <a:avLst/>
                  <a:gdLst>
                    <a:gd name="connsiteX0" fmla="*/ 2062854 w 2918647"/>
                    <a:gd name="connsiteY0" fmla="*/ 0 h 2063438"/>
                    <a:gd name="connsiteX1" fmla="*/ 2232175 w 2918647"/>
                    <a:gd name="connsiteY1" fmla="*/ 186300 h 2063438"/>
                    <a:gd name="connsiteX2" fmla="*/ 2915684 w 2918647"/>
                    <a:gd name="connsiteY2" fmla="*/ 1946271 h 2063438"/>
                    <a:gd name="connsiteX3" fmla="*/ 2918647 w 2918647"/>
                    <a:gd name="connsiteY3" fmla="*/ 2063438 h 2063438"/>
                    <a:gd name="connsiteX4" fmla="*/ 0 w 2918647"/>
                    <a:gd name="connsiteY4" fmla="*/ 2063438 h 2063438"/>
                    <a:gd name="connsiteX5" fmla="*/ 2062854 w 2918647"/>
                    <a:gd name="connsiteY5" fmla="*/ 0 h 2063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8647" h="2063438">
                      <a:moveTo>
                        <a:pt x="2062854" y="0"/>
                      </a:moveTo>
                      <a:lnTo>
                        <a:pt x="2232175" y="186300"/>
                      </a:lnTo>
                      <a:cubicBezTo>
                        <a:pt x="2630949" y="669503"/>
                        <a:pt x="2881872" y="1279247"/>
                        <a:pt x="2915684" y="1946271"/>
                      </a:cubicBezTo>
                      <a:lnTo>
                        <a:pt x="2918647" y="2063438"/>
                      </a:lnTo>
                      <a:lnTo>
                        <a:pt x="0" y="2063438"/>
                      </a:lnTo>
                      <a:lnTo>
                        <a:pt x="2062854" y="0"/>
                      </a:lnTo>
                      <a:close/>
                    </a:path>
                  </a:pathLst>
                </a:custGeom>
                <a:solidFill>
                  <a:srgbClr val="3C8EE7"/>
                </a:solidFill>
                <a:ln w="9436" cap="flat">
                  <a:noFill/>
                  <a:prstDash val="solid"/>
                  <a:miter/>
                </a:ln>
              </p:spPr>
              <p:txBody>
                <a:bodyPr rtlCol="0" anchor="ctr"/>
                <a:lstStyle/>
                <a:p>
                  <a:endParaRPr lang="en-US" sz="1350">
                    <a:latin typeface="Tahoma" panose="020B0604030504040204" pitchFamily="34" charset="0"/>
                    <a:ea typeface="Tahoma" panose="020B0604030504040204" pitchFamily="34" charset="0"/>
                    <a:cs typeface="Tahoma" panose="020B0604030504040204" pitchFamily="34" charset="0"/>
                  </a:endParaRPr>
                </a:p>
              </p:txBody>
            </p:sp>
            <p:sp>
              <p:nvSpPr>
                <p:cNvPr id="58" name="Freeform: Shape 57">
                  <a:extLst>
                    <a:ext uri="{FF2B5EF4-FFF2-40B4-BE49-F238E27FC236}">
                      <a16:creationId xmlns:a16="http://schemas.microsoft.com/office/drawing/2014/main" id="{388B6E51-C131-47F4-179F-94698462287C}"/>
                    </a:ext>
                  </a:extLst>
                </p:cNvPr>
                <p:cNvSpPr/>
                <p:nvPr/>
              </p:nvSpPr>
              <p:spPr>
                <a:xfrm>
                  <a:off x="3253236" y="1458741"/>
                  <a:ext cx="2747540" cy="1942249"/>
                </a:xfrm>
                <a:custGeom>
                  <a:avLst/>
                  <a:gdLst>
                    <a:gd name="connsiteX0" fmla="*/ 855324 w 2918246"/>
                    <a:gd name="connsiteY0" fmla="*/ 0 h 2062922"/>
                    <a:gd name="connsiteX1" fmla="*/ 2918246 w 2918246"/>
                    <a:gd name="connsiteY1" fmla="*/ 2062922 h 2062922"/>
                    <a:gd name="connsiteX2" fmla="*/ 0 w 2918246"/>
                    <a:gd name="connsiteY2" fmla="*/ 2062922 h 2062922"/>
                    <a:gd name="connsiteX3" fmla="*/ 2963 w 2918246"/>
                    <a:gd name="connsiteY3" fmla="*/ 1945755 h 2062922"/>
                    <a:gd name="connsiteX4" fmla="*/ 686472 w 2918246"/>
                    <a:gd name="connsiteY4" fmla="*/ 185784 h 2062922"/>
                    <a:gd name="connsiteX5" fmla="*/ 855324 w 2918246"/>
                    <a:gd name="connsiteY5" fmla="*/ 0 h 206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8246" h="2062922">
                      <a:moveTo>
                        <a:pt x="855324" y="0"/>
                      </a:moveTo>
                      <a:lnTo>
                        <a:pt x="2918246" y="2062922"/>
                      </a:lnTo>
                      <a:lnTo>
                        <a:pt x="0" y="2062922"/>
                      </a:lnTo>
                      <a:lnTo>
                        <a:pt x="2963" y="1945755"/>
                      </a:lnTo>
                      <a:cubicBezTo>
                        <a:pt x="36775" y="1278731"/>
                        <a:pt x="287697" y="668987"/>
                        <a:pt x="686472" y="185784"/>
                      </a:cubicBezTo>
                      <a:lnTo>
                        <a:pt x="855324" y="0"/>
                      </a:lnTo>
                      <a:close/>
                    </a:path>
                  </a:pathLst>
                </a:custGeom>
                <a:solidFill>
                  <a:srgbClr val="082340"/>
                </a:solidFill>
                <a:ln w="9436" cap="flat">
                  <a:noFill/>
                  <a:prstDash val="solid"/>
                  <a:miter/>
                </a:ln>
              </p:spPr>
              <p:txBody>
                <a:bodyPr rtlCol="0" anchor="ctr"/>
                <a:lstStyle/>
                <a:p>
                  <a:endParaRPr lang="en-US" sz="1350">
                    <a:latin typeface="Tahoma" panose="020B0604030504040204" pitchFamily="34" charset="0"/>
                    <a:ea typeface="Tahoma" panose="020B0604030504040204" pitchFamily="34" charset="0"/>
                    <a:cs typeface="Tahoma" panose="020B0604030504040204" pitchFamily="34" charset="0"/>
                  </a:endParaRPr>
                </a:p>
              </p:txBody>
            </p:sp>
            <p:sp>
              <p:nvSpPr>
                <p:cNvPr id="59" name="Freeform: Shape 58">
                  <a:extLst>
                    <a:ext uri="{FF2B5EF4-FFF2-40B4-BE49-F238E27FC236}">
                      <a16:creationId xmlns:a16="http://schemas.microsoft.com/office/drawing/2014/main" id="{AC9A914B-944E-948A-1772-8CBF791B1DBF}"/>
                    </a:ext>
                  </a:extLst>
                </p:cNvPr>
                <p:cNvSpPr/>
                <p:nvPr/>
              </p:nvSpPr>
              <p:spPr>
                <a:xfrm>
                  <a:off x="3253236" y="3472070"/>
                  <a:ext cx="2747301" cy="1942411"/>
                </a:xfrm>
                <a:custGeom>
                  <a:avLst/>
                  <a:gdLst>
                    <a:gd name="connsiteX0" fmla="*/ 0 w 2917992"/>
                    <a:gd name="connsiteY0" fmla="*/ 0 h 2063094"/>
                    <a:gd name="connsiteX1" fmla="*/ 2917992 w 2917992"/>
                    <a:gd name="connsiteY1" fmla="*/ 0 h 2063094"/>
                    <a:gd name="connsiteX2" fmla="*/ 855482 w 2917992"/>
                    <a:gd name="connsiteY2" fmla="*/ 2063094 h 2063094"/>
                    <a:gd name="connsiteX3" fmla="*/ 686472 w 2917992"/>
                    <a:gd name="connsiteY3" fmla="*/ 1877137 h 2063094"/>
                    <a:gd name="connsiteX4" fmla="*/ 2963 w 2917992"/>
                    <a:gd name="connsiteY4" fmla="*/ 117165 h 2063094"/>
                    <a:gd name="connsiteX5" fmla="*/ 0 w 2917992"/>
                    <a:gd name="connsiteY5" fmla="*/ 0 h 2063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7992" h="2063094">
                      <a:moveTo>
                        <a:pt x="0" y="0"/>
                      </a:moveTo>
                      <a:lnTo>
                        <a:pt x="2917992" y="0"/>
                      </a:lnTo>
                      <a:lnTo>
                        <a:pt x="855482" y="2063094"/>
                      </a:lnTo>
                      <a:lnTo>
                        <a:pt x="686472" y="1877137"/>
                      </a:lnTo>
                      <a:cubicBezTo>
                        <a:pt x="287697" y="1393934"/>
                        <a:pt x="36775" y="784190"/>
                        <a:pt x="2963" y="117165"/>
                      </a:cubicBezTo>
                      <a:lnTo>
                        <a:pt x="0" y="0"/>
                      </a:lnTo>
                      <a:close/>
                    </a:path>
                  </a:pathLst>
                </a:custGeom>
                <a:solidFill>
                  <a:srgbClr val="082340"/>
                </a:solidFill>
                <a:ln w="9436" cap="flat">
                  <a:noFill/>
                  <a:prstDash val="solid"/>
                  <a:miter/>
                </a:ln>
              </p:spPr>
              <p:txBody>
                <a:bodyPr rtlCol="0" anchor="ctr"/>
                <a:lstStyle/>
                <a:p>
                  <a:endParaRPr lang="en-US" sz="1350">
                    <a:latin typeface="Tahoma" panose="020B0604030504040204" pitchFamily="34" charset="0"/>
                    <a:ea typeface="Tahoma" panose="020B0604030504040204" pitchFamily="34" charset="0"/>
                    <a:cs typeface="Tahoma" panose="020B0604030504040204" pitchFamily="34" charset="0"/>
                  </a:endParaRPr>
                </a:p>
              </p:txBody>
            </p:sp>
            <p:sp>
              <p:nvSpPr>
                <p:cNvPr id="60" name="Freeform: Shape 59">
                  <a:extLst>
                    <a:ext uri="{FF2B5EF4-FFF2-40B4-BE49-F238E27FC236}">
                      <a16:creationId xmlns:a16="http://schemas.microsoft.com/office/drawing/2014/main" id="{4B678D04-90BD-D96B-0218-EB1F12BA9F55}"/>
                    </a:ext>
                  </a:extLst>
                </p:cNvPr>
                <p:cNvSpPr/>
                <p:nvPr/>
              </p:nvSpPr>
              <p:spPr>
                <a:xfrm>
                  <a:off x="6172378" y="3472070"/>
                  <a:ext cx="2747645" cy="1942304"/>
                </a:xfrm>
                <a:custGeom>
                  <a:avLst/>
                  <a:gdLst>
                    <a:gd name="connsiteX0" fmla="*/ 0 w 2918357"/>
                    <a:gd name="connsiteY0" fmla="*/ 0 h 2062980"/>
                    <a:gd name="connsiteX1" fmla="*/ 2918357 w 2918357"/>
                    <a:gd name="connsiteY1" fmla="*/ 0 h 2062980"/>
                    <a:gd name="connsiteX2" fmla="*/ 2915394 w 2918357"/>
                    <a:gd name="connsiteY2" fmla="*/ 117165 h 2062980"/>
                    <a:gd name="connsiteX3" fmla="*/ 2231885 w 2918357"/>
                    <a:gd name="connsiteY3" fmla="*/ 1877137 h 2062980"/>
                    <a:gd name="connsiteX4" fmla="*/ 2062980 w 2918357"/>
                    <a:gd name="connsiteY4" fmla="*/ 2062980 h 2062980"/>
                    <a:gd name="connsiteX5" fmla="*/ 0 w 2918357"/>
                    <a:gd name="connsiteY5" fmla="*/ 0 h 2062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8357" h="2062980">
                      <a:moveTo>
                        <a:pt x="0" y="0"/>
                      </a:moveTo>
                      <a:lnTo>
                        <a:pt x="2918357" y="0"/>
                      </a:lnTo>
                      <a:lnTo>
                        <a:pt x="2915394" y="117165"/>
                      </a:lnTo>
                      <a:cubicBezTo>
                        <a:pt x="2881582" y="784190"/>
                        <a:pt x="2630659" y="1393934"/>
                        <a:pt x="2231885" y="1877137"/>
                      </a:cubicBezTo>
                      <a:lnTo>
                        <a:pt x="2062980" y="2062980"/>
                      </a:lnTo>
                      <a:lnTo>
                        <a:pt x="0" y="0"/>
                      </a:lnTo>
                      <a:close/>
                    </a:path>
                  </a:pathLst>
                </a:custGeom>
                <a:solidFill>
                  <a:srgbClr val="9EC7F3"/>
                </a:solidFill>
                <a:ln w="9436" cap="flat">
                  <a:noFill/>
                  <a:prstDash val="solid"/>
                  <a:miter/>
                </a:ln>
              </p:spPr>
              <p:txBody>
                <a:bodyPr rtlCol="0" anchor="ctr"/>
                <a:lstStyle/>
                <a:p>
                  <a:endParaRPr lang="en-US" sz="1350">
                    <a:latin typeface="Tahoma" panose="020B0604030504040204" pitchFamily="34" charset="0"/>
                    <a:ea typeface="Tahoma" panose="020B0604030504040204" pitchFamily="34" charset="0"/>
                    <a:cs typeface="Tahoma" panose="020B0604030504040204" pitchFamily="34" charset="0"/>
                  </a:endParaRPr>
                </a:p>
              </p:txBody>
            </p:sp>
            <p:sp>
              <p:nvSpPr>
                <p:cNvPr id="61" name="Freeform: Shape 60">
                  <a:extLst>
                    <a:ext uri="{FF2B5EF4-FFF2-40B4-BE49-F238E27FC236}">
                      <a16:creationId xmlns:a16="http://schemas.microsoft.com/office/drawing/2014/main" id="{2E468B57-4F81-C8AE-8CA5-E1409E1BBC89}"/>
                    </a:ext>
                  </a:extLst>
                </p:cNvPr>
                <p:cNvSpPr/>
                <p:nvPr/>
              </p:nvSpPr>
              <p:spPr>
                <a:xfrm>
                  <a:off x="4108949" y="3522038"/>
                  <a:ext cx="1942141" cy="2747884"/>
                </a:xfrm>
                <a:custGeom>
                  <a:avLst/>
                  <a:gdLst>
                    <a:gd name="connsiteX0" fmla="*/ 2062807 w 2062807"/>
                    <a:gd name="connsiteY0" fmla="*/ 0 h 2918611"/>
                    <a:gd name="connsiteX1" fmla="*/ 2062807 w 2062807"/>
                    <a:gd name="connsiteY1" fmla="*/ 2918611 h 2918611"/>
                    <a:gd name="connsiteX2" fmla="*/ 1945641 w 2062807"/>
                    <a:gd name="connsiteY2" fmla="*/ 2915648 h 2918611"/>
                    <a:gd name="connsiteX3" fmla="*/ 185669 w 2062807"/>
                    <a:gd name="connsiteY3" fmla="*/ 2232139 h 2918611"/>
                    <a:gd name="connsiteX4" fmla="*/ 0 w 2062807"/>
                    <a:gd name="connsiteY4" fmla="*/ 2063391 h 2918611"/>
                    <a:gd name="connsiteX5" fmla="*/ 2062807 w 2062807"/>
                    <a:gd name="connsiteY5" fmla="*/ 0 h 2918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62807" h="2918611">
                      <a:moveTo>
                        <a:pt x="2062807" y="0"/>
                      </a:moveTo>
                      <a:lnTo>
                        <a:pt x="2062807" y="2918611"/>
                      </a:lnTo>
                      <a:lnTo>
                        <a:pt x="1945641" y="2915648"/>
                      </a:lnTo>
                      <a:cubicBezTo>
                        <a:pt x="1278616" y="2881837"/>
                        <a:pt x="668872" y="2630914"/>
                        <a:pt x="185669" y="2232139"/>
                      </a:cubicBezTo>
                      <a:lnTo>
                        <a:pt x="0" y="2063391"/>
                      </a:lnTo>
                      <a:lnTo>
                        <a:pt x="2062807" y="0"/>
                      </a:lnTo>
                      <a:close/>
                    </a:path>
                  </a:pathLst>
                </a:custGeom>
                <a:solidFill>
                  <a:srgbClr val="082340"/>
                </a:solidFill>
                <a:ln w="9436" cap="flat">
                  <a:noFill/>
                  <a:prstDash val="solid"/>
                  <a:miter/>
                </a:ln>
              </p:spPr>
              <p:txBody>
                <a:bodyPr rtlCol="0" anchor="ctr"/>
                <a:lstStyle/>
                <a:p>
                  <a:endParaRPr lang="en-US" sz="1350">
                    <a:latin typeface="Tahoma" panose="020B0604030504040204" pitchFamily="34" charset="0"/>
                    <a:ea typeface="Tahoma" panose="020B0604030504040204" pitchFamily="34" charset="0"/>
                    <a:cs typeface="Tahoma" panose="020B0604030504040204" pitchFamily="34" charset="0"/>
                  </a:endParaRPr>
                </a:p>
              </p:txBody>
            </p:sp>
            <p:sp>
              <p:nvSpPr>
                <p:cNvPr id="62" name="Freeform: Shape 61">
                  <a:extLst>
                    <a:ext uri="{FF2B5EF4-FFF2-40B4-BE49-F238E27FC236}">
                      <a16:creationId xmlns:a16="http://schemas.microsoft.com/office/drawing/2014/main" id="{051956EF-EF87-606E-7F9B-077C0F56B8F3}"/>
                    </a:ext>
                  </a:extLst>
                </p:cNvPr>
                <p:cNvSpPr/>
                <p:nvPr/>
              </p:nvSpPr>
              <p:spPr>
                <a:xfrm>
                  <a:off x="6122170" y="3522383"/>
                  <a:ext cx="1942249" cy="2747539"/>
                </a:xfrm>
                <a:custGeom>
                  <a:avLst/>
                  <a:gdLst>
                    <a:gd name="connsiteX0" fmla="*/ 0 w 2062921"/>
                    <a:gd name="connsiteY0" fmla="*/ 0 h 2918245"/>
                    <a:gd name="connsiteX1" fmla="*/ 2062921 w 2062921"/>
                    <a:gd name="connsiteY1" fmla="*/ 2062921 h 2918245"/>
                    <a:gd name="connsiteX2" fmla="*/ 1877137 w 2062921"/>
                    <a:gd name="connsiteY2" fmla="*/ 2231773 h 2918245"/>
                    <a:gd name="connsiteX3" fmla="*/ 117166 w 2062921"/>
                    <a:gd name="connsiteY3" fmla="*/ 2915282 h 2918245"/>
                    <a:gd name="connsiteX4" fmla="*/ 0 w 2062921"/>
                    <a:gd name="connsiteY4" fmla="*/ 2918245 h 2918245"/>
                    <a:gd name="connsiteX5" fmla="*/ 0 w 2062921"/>
                    <a:gd name="connsiteY5" fmla="*/ 0 h 2918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62921" h="2918245">
                      <a:moveTo>
                        <a:pt x="0" y="0"/>
                      </a:moveTo>
                      <a:lnTo>
                        <a:pt x="2062921" y="2062921"/>
                      </a:lnTo>
                      <a:lnTo>
                        <a:pt x="1877137" y="2231773"/>
                      </a:lnTo>
                      <a:cubicBezTo>
                        <a:pt x="1393934" y="2630548"/>
                        <a:pt x="784191" y="2881471"/>
                        <a:pt x="117166" y="2915282"/>
                      </a:cubicBezTo>
                      <a:lnTo>
                        <a:pt x="0" y="2918245"/>
                      </a:lnTo>
                      <a:lnTo>
                        <a:pt x="0" y="0"/>
                      </a:lnTo>
                      <a:close/>
                    </a:path>
                  </a:pathLst>
                </a:custGeom>
                <a:solidFill>
                  <a:srgbClr val="082340"/>
                </a:solidFill>
                <a:ln w="9436" cap="flat">
                  <a:noFill/>
                  <a:prstDash val="solid"/>
                  <a:miter/>
                </a:ln>
              </p:spPr>
              <p:txBody>
                <a:bodyPr rtlCol="0" anchor="ctr"/>
                <a:lstStyle/>
                <a:p>
                  <a:endParaRPr lang="en-US" sz="1350">
                    <a:latin typeface="Tahoma" panose="020B0604030504040204" pitchFamily="34" charset="0"/>
                    <a:ea typeface="Tahoma" panose="020B0604030504040204" pitchFamily="34" charset="0"/>
                    <a:cs typeface="Tahoma" panose="020B0604030504040204" pitchFamily="34" charset="0"/>
                  </a:endParaRPr>
                </a:p>
              </p:txBody>
            </p:sp>
          </p:grpSp>
          <p:sp>
            <p:nvSpPr>
              <p:cNvPr id="53" name="Oval 52">
                <a:extLst>
                  <a:ext uri="{FF2B5EF4-FFF2-40B4-BE49-F238E27FC236}">
                    <a16:creationId xmlns:a16="http://schemas.microsoft.com/office/drawing/2014/main" id="{FDC1E52E-5B3F-FC32-3FA3-F588085D81E3}"/>
                  </a:ext>
                </a:extLst>
              </p:cNvPr>
              <p:cNvSpPr/>
              <p:nvPr/>
            </p:nvSpPr>
            <p:spPr>
              <a:xfrm>
                <a:off x="4943630" y="2293529"/>
                <a:ext cx="2286000" cy="2286000"/>
              </a:xfrm>
              <a:prstGeom prst="ellipse">
                <a:avLst/>
              </a:prstGeom>
              <a:gradFill flip="none" rotWithShape="1">
                <a:gsLst>
                  <a:gs pos="7000">
                    <a:schemeClr val="bg1"/>
                  </a:gs>
                  <a:gs pos="100000">
                    <a:schemeClr val="bg1">
                      <a:lumMod val="95000"/>
                    </a:schemeClr>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50">
                  <a:latin typeface="Tahoma" panose="020B0604030504040204" pitchFamily="34" charset="0"/>
                  <a:ea typeface="Tahoma" panose="020B0604030504040204" pitchFamily="34" charset="0"/>
                  <a:cs typeface="Tahoma" panose="020B0604030504040204" pitchFamily="34" charset="0"/>
                </a:endParaRPr>
              </a:p>
            </p:txBody>
          </p:sp>
        </p:grpSp>
        <p:sp>
          <p:nvSpPr>
            <p:cNvPr id="6" name="TextBox 5">
              <a:extLst>
                <a:ext uri="{FF2B5EF4-FFF2-40B4-BE49-F238E27FC236}">
                  <a16:creationId xmlns:a16="http://schemas.microsoft.com/office/drawing/2014/main" id="{ACFAD384-1B41-61F7-AD62-F125B6774372}"/>
                </a:ext>
              </a:extLst>
            </p:cNvPr>
            <p:cNvSpPr txBox="1"/>
            <p:nvPr/>
          </p:nvSpPr>
          <p:spPr>
            <a:xfrm>
              <a:off x="8346136" y="6845839"/>
              <a:ext cx="717216" cy="688102"/>
            </a:xfrm>
            <a:prstGeom prst="rect">
              <a:avLst/>
            </a:prstGeom>
            <a:noFill/>
          </p:spPr>
          <p:txBody>
            <a:bodyPr wrap="square" lIns="0" tIns="0" rIns="0" bIns="0" rtlCol="0" anchor="ctr">
              <a:noAutofit/>
            </a:bodyPr>
            <a:lstStyle/>
            <a:p>
              <a:pPr algn="ctr"/>
              <a:r>
                <a:rPr lang="en-US" sz="2400" b="1">
                  <a:solidFill>
                    <a:schemeClr val="bg1"/>
                  </a:solidFill>
                  <a:latin typeface="Tahoma" panose="020B0604030504040204" pitchFamily="34" charset="0"/>
                  <a:ea typeface="Tahoma" panose="020B0604030504040204" pitchFamily="34" charset="0"/>
                  <a:cs typeface="Tahoma" panose="020B0604030504040204" pitchFamily="34" charset="0"/>
                </a:rPr>
                <a:t>04</a:t>
              </a:r>
              <a:endParaRPr lang="en-IN" sz="2400" b="1">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51" name="TextBox 50">
              <a:extLst>
                <a:ext uri="{FF2B5EF4-FFF2-40B4-BE49-F238E27FC236}">
                  <a16:creationId xmlns:a16="http://schemas.microsoft.com/office/drawing/2014/main" id="{B7A6D694-41F4-0864-62A7-38F592843C4F}"/>
                </a:ext>
              </a:extLst>
            </p:cNvPr>
            <p:cNvSpPr txBox="1"/>
            <p:nvPr/>
          </p:nvSpPr>
          <p:spPr>
            <a:xfrm>
              <a:off x="6284230" y="6848067"/>
              <a:ext cx="1854358" cy="212419"/>
            </a:xfrm>
            <a:prstGeom prst="rect">
              <a:avLst/>
            </a:prstGeom>
            <a:noFill/>
          </p:spPr>
          <p:txBody>
            <a:bodyPr wrap="square" lIns="0" tIns="0" rIns="0" bIns="0" rtlCol="0" anchor="ctr">
              <a:noAutofit/>
            </a:bodyPr>
            <a:lstStyle/>
            <a:p>
              <a:pPr>
                <a:lnSpc>
                  <a:spcPct val="90000"/>
                </a:lnSpc>
              </a:pPr>
              <a:r>
                <a:rPr lang="en-US" sz="900" b="1">
                  <a:solidFill>
                    <a:schemeClr val="bg1"/>
                  </a:solidFill>
                  <a:latin typeface="Tahoma" panose="020B0604030504040204" pitchFamily="34" charset="0"/>
                  <a:ea typeface="Tahoma" panose="020B0604030504040204" pitchFamily="34" charset="0"/>
                  <a:cs typeface="Tahoma" panose="020B0604030504040204" pitchFamily="34" charset="0"/>
                </a:rPr>
                <a:t>Placeholder</a:t>
              </a:r>
            </a:p>
          </p:txBody>
        </p:sp>
        <p:sp>
          <p:nvSpPr>
            <p:cNvPr id="13" name="Isosceles Triangle 12">
              <a:extLst>
                <a:ext uri="{FF2B5EF4-FFF2-40B4-BE49-F238E27FC236}">
                  <a16:creationId xmlns:a16="http://schemas.microsoft.com/office/drawing/2014/main" id="{39710E53-BC4C-AC83-9818-88C57AD62682}"/>
                </a:ext>
              </a:extLst>
            </p:cNvPr>
            <p:cNvSpPr/>
            <p:nvPr/>
          </p:nvSpPr>
          <p:spPr>
            <a:xfrm rot="5400000">
              <a:off x="6982941" y="4076948"/>
              <a:ext cx="226595" cy="139671"/>
            </a:xfrm>
            <a:prstGeom prst="triangle">
              <a:avLst/>
            </a:prstGeom>
            <a:gradFill>
              <a:gsLst>
                <a:gs pos="0">
                  <a:schemeClr val="bg1"/>
                </a:gs>
                <a:gs pos="100000">
                  <a:schemeClr val="bg1">
                    <a:lumMod val="95000"/>
                  </a:schemeClr>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50">
                <a:latin typeface="Tahoma" panose="020B0604030504040204" pitchFamily="34" charset="0"/>
                <a:ea typeface="Tahoma" panose="020B0604030504040204" pitchFamily="34" charset="0"/>
                <a:cs typeface="Tahoma" panose="020B0604030504040204" pitchFamily="34" charset="0"/>
              </a:endParaRPr>
            </a:p>
          </p:txBody>
        </p:sp>
        <p:grpSp>
          <p:nvGrpSpPr>
            <p:cNvPr id="14" name="Group 13">
              <a:extLst>
                <a:ext uri="{FF2B5EF4-FFF2-40B4-BE49-F238E27FC236}">
                  <a16:creationId xmlns:a16="http://schemas.microsoft.com/office/drawing/2014/main" id="{E737CD5A-1D9B-A96E-7A3C-8FE55C1B0662}"/>
                </a:ext>
              </a:extLst>
            </p:cNvPr>
            <p:cNvGrpSpPr/>
            <p:nvPr/>
          </p:nvGrpSpPr>
          <p:grpSpPr>
            <a:xfrm>
              <a:off x="7334028" y="3804959"/>
              <a:ext cx="1854361" cy="713002"/>
              <a:chOff x="8570043" y="3190673"/>
              <a:chExt cx="1953464" cy="555076"/>
            </a:xfrm>
          </p:grpSpPr>
          <p:sp>
            <p:nvSpPr>
              <p:cNvPr id="48" name="TextBox 47">
                <a:extLst>
                  <a:ext uri="{FF2B5EF4-FFF2-40B4-BE49-F238E27FC236}">
                    <a16:creationId xmlns:a16="http://schemas.microsoft.com/office/drawing/2014/main" id="{DEEC5B59-B49A-0DCE-E78C-61C3F43C93EC}"/>
                  </a:ext>
                </a:extLst>
              </p:cNvPr>
              <p:cNvSpPr txBox="1"/>
              <p:nvPr/>
            </p:nvSpPr>
            <p:spPr>
              <a:xfrm>
                <a:off x="8570048" y="3394213"/>
                <a:ext cx="1953459" cy="351536"/>
              </a:xfrm>
              <a:prstGeom prst="rect">
                <a:avLst/>
              </a:prstGeom>
              <a:noFill/>
            </p:spPr>
            <p:txBody>
              <a:bodyPr wrap="square" lIns="0" tIns="0" rIns="0" bIns="0" rtlCol="0" anchor="t">
                <a:noAutofit/>
              </a:bodyPr>
              <a:lstStyle/>
              <a:p>
                <a:pPr>
                  <a:lnSpc>
                    <a:spcPct val="90000"/>
                  </a:lnSpc>
                </a:pPr>
                <a:r>
                  <a:rPr lang="en-US" sz="825">
                    <a:solidFill>
                      <a:schemeClr val="bg1"/>
                    </a:solidFill>
                    <a:latin typeface="Tahoma" panose="020B0604030504040204" pitchFamily="34" charset="0"/>
                    <a:ea typeface="Tahoma" panose="020B0604030504040204" pitchFamily="34" charset="0"/>
                    <a:cs typeface="Tahoma" panose="020B0604030504040204" pitchFamily="34" charset="0"/>
                  </a:rPr>
                  <a:t>Insert your desired text here. </a:t>
                </a:r>
                <a:endParaRPr lang="en-US" sz="825" b="1">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49" name="TextBox 48">
                <a:extLst>
                  <a:ext uri="{FF2B5EF4-FFF2-40B4-BE49-F238E27FC236}">
                    <a16:creationId xmlns:a16="http://schemas.microsoft.com/office/drawing/2014/main" id="{BF28E000-6F30-2CE0-6C00-654650877502}"/>
                  </a:ext>
                </a:extLst>
              </p:cNvPr>
              <p:cNvSpPr txBox="1"/>
              <p:nvPr/>
            </p:nvSpPr>
            <p:spPr>
              <a:xfrm>
                <a:off x="8570043" y="3190673"/>
                <a:ext cx="1953460" cy="165370"/>
              </a:xfrm>
              <a:prstGeom prst="rect">
                <a:avLst/>
              </a:prstGeom>
              <a:noFill/>
            </p:spPr>
            <p:txBody>
              <a:bodyPr wrap="square" lIns="0" tIns="0" rIns="0" bIns="0" rtlCol="0" anchor="ctr">
                <a:noAutofit/>
              </a:bodyPr>
              <a:lstStyle/>
              <a:p>
                <a:pPr>
                  <a:lnSpc>
                    <a:spcPct val="90000"/>
                  </a:lnSpc>
                </a:pPr>
                <a:r>
                  <a:rPr lang="en-US" sz="900" b="1">
                    <a:solidFill>
                      <a:schemeClr val="bg1"/>
                    </a:solidFill>
                    <a:latin typeface="Tahoma" panose="020B0604030504040204" pitchFamily="34" charset="0"/>
                    <a:ea typeface="Tahoma" panose="020B0604030504040204" pitchFamily="34" charset="0"/>
                    <a:cs typeface="Tahoma" panose="020B0604030504040204" pitchFamily="34" charset="0"/>
                  </a:rPr>
                  <a:t>Placeholder</a:t>
                </a:r>
              </a:p>
            </p:txBody>
          </p:sp>
        </p:grpSp>
        <p:sp>
          <p:nvSpPr>
            <p:cNvPr id="16" name="Oval 15">
              <a:extLst>
                <a:ext uri="{FF2B5EF4-FFF2-40B4-BE49-F238E27FC236}">
                  <a16:creationId xmlns:a16="http://schemas.microsoft.com/office/drawing/2014/main" id="{B9AFEB5D-4EFC-186C-51B5-094F638FD550}"/>
                </a:ext>
              </a:extLst>
            </p:cNvPr>
            <p:cNvSpPr/>
            <p:nvPr/>
          </p:nvSpPr>
          <p:spPr>
            <a:xfrm>
              <a:off x="5508956" y="6267711"/>
              <a:ext cx="203507" cy="195841"/>
            </a:xfrm>
            <a:prstGeom prst="ellipse">
              <a:avLst/>
            </a:prstGeom>
            <a:solidFill>
              <a:srgbClr val="9EC7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50">
                <a:latin typeface="Tahoma" panose="020B0604030504040204" pitchFamily="34" charset="0"/>
                <a:ea typeface="Tahoma" panose="020B0604030504040204" pitchFamily="34" charset="0"/>
                <a:cs typeface="Tahoma" panose="020B0604030504040204" pitchFamily="34" charset="0"/>
              </a:endParaRPr>
            </a:p>
          </p:txBody>
        </p:sp>
        <p:sp>
          <p:nvSpPr>
            <p:cNvPr id="17" name="TextBox 16">
              <a:extLst>
                <a:ext uri="{FF2B5EF4-FFF2-40B4-BE49-F238E27FC236}">
                  <a16:creationId xmlns:a16="http://schemas.microsoft.com/office/drawing/2014/main" id="{2F8EB7D1-3EEA-CEEC-B961-D8C946CDA4BE}"/>
                </a:ext>
              </a:extLst>
            </p:cNvPr>
            <p:cNvSpPr txBox="1"/>
            <p:nvPr/>
          </p:nvSpPr>
          <p:spPr>
            <a:xfrm>
              <a:off x="1625753" y="4360976"/>
              <a:ext cx="2550287" cy="1046611"/>
            </a:xfrm>
            <a:prstGeom prst="rect">
              <a:avLst/>
            </a:prstGeom>
            <a:noFill/>
          </p:spPr>
          <p:txBody>
            <a:bodyPr wrap="square" rtlCol="0" anchor="ctr">
              <a:spAutoFit/>
            </a:bodyPr>
            <a:lstStyle/>
            <a:p>
              <a:pPr algn="ctr">
                <a:lnSpc>
                  <a:spcPct val="115000"/>
                </a:lnSpc>
              </a:pPr>
              <a:r>
                <a:rPr lang="en-US" sz="1350" b="1">
                  <a:latin typeface="Tahoma" panose="020B0604030504040204" pitchFamily="34" charset="0"/>
                  <a:ea typeface="Tahoma" panose="020B0604030504040204" pitchFamily="34" charset="0"/>
                  <a:cs typeface="Tahoma" panose="020B0604030504040204" pitchFamily="34" charset="0"/>
                  <a:sym typeface="Google Sans"/>
                </a:rPr>
                <a:t>Three-pronged Approach to Enable AI Capabilities</a:t>
              </a:r>
              <a:endParaRPr lang="en-IN" sz="1350" b="1">
                <a:latin typeface="Tahoma" panose="020B0604030504040204" pitchFamily="34" charset="0"/>
                <a:ea typeface="Tahoma" panose="020B0604030504040204" pitchFamily="34" charset="0"/>
                <a:cs typeface="Tahoma" panose="020B0604030504040204" pitchFamily="34" charset="0"/>
                <a:sym typeface="Google Sans"/>
              </a:endParaRPr>
            </a:p>
          </p:txBody>
        </p:sp>
        <p:sp>
          <p:nvSpPr>
            <p:cNvPr id="18" name="Arc 17">
              <a:extLst>
                <a:ext uri="{FF2B5EF4-FFF2-40B4-BE49-F238E27FC236}">
                  <a16:creationId xmlns:a16="http://schemas.microsoft.com/office/drawing/2014/main" id="{1AA1FEC0-EDE2-88F1-3F5F-2B1AC065DBFE}"/>
                </a:ext>
              </a:extLst>
            </p:cNvPr>
            <p:cNvSpPr/>
            <p:nvPr/>
          </p:nvSpPr>
          <p:spPr>
            <a:xfrm rot="226720">
              <a:off x="3815537" y="2591600"/>
              <a:ext cx="2376957" cy="2432600"/>
            </a:xfrm>
            <a:prstGeom prst="arc">
              <a:avLst>
                <a:gd name="adj1" fmla="val 11434344"/>
                <a:gd name="adj2" fmla="val 16960036"/>
              </a:avLst>
            </a:prstGeom>
            <a:ln w="25400">
              <a:solidFill>
                <a:srgbClr val="1458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350">
                <a:latin typeface="Tahoma" panose="020B0604030504040204" pitchFamily="34" charset="0"/>
                <a:ea typeface="Tahoma" panose="020B0604030504040204" pitchFamily="34" charset="0"/>
                <a:cs typeface="Tahoma" panose="020B0604030504040204" pitchFamily="34" charset="0"/>
              </a:endParaRPr>
            </a:p>
          </p:txBody>
        </p:sp>
        <p:sp>
          <p:nvSpPr>
            <p:cNvPr id="23" name="Freeform: Shape 22">
              <a:extLst>
                <a:ext uri="{FF2B5EF4-FFF2-40B4-BE49-F238E27FC236}">
                  <a16:creationId xmlns:a16="http://schemas.microsoft.com/office/drawing/2014/main" id="{6C78D1CE-6AD3-FF54-E587-66D4CEC3A522}"/>
                </a:ext>
              </a:extLst>
            </p:cNvPr>
            <p:cNvSpPr/>
            <p:nvPr/>
          </p:nvSpPr>
          <p:spPr>
            <a:xfrm flipV="1">
              <a:off x="4792472" y="4322469"/>
              <a:ext cx="608499" cy="168364"/>
            </a:xfrm>
            <a:custGeom>
              <a:avLst/>
              <a:gdLst>
                <a:gd name="connsiteX0" fmla="*/ 680610 w 3242571"/>
                <a:gd name="connsiteY0" fmla="*/ 0 h 335651"/>
                <a:gd name="connsiteX1" fmla="*/ 3242571 w 3242571"/>
                <a:gd name="connsiteY1" fmla="*/ 0 h 335651"/>
                <a:gd name="connsiteX2" fmla="*/ 3242571 w 3242571"/>
                <a:gd name="connsiteY2" fmla="*/ 335651 h 335651"/>
                <a:gd name="connsiteX3" fmla="*/ 0 w 3242571"/>
                <a:gd name="connsiteY3" fmla="*/ 335651 h 335651"/>
                <a:gd name="connsiteX4" fmla="*/ 67351 w 3242571"/>
                <a:gd name="connsiteY4" fmla="*/ 254021 h 335651"/>
                <a:gd name="connsiteX5" fmla="*/ 680610 w 3242571"/>
                <a:gd name="connsiteY5" fmla="*/ 0 h 335651"/>
                <a:gd name="connsiteX0" fmla="*/ 3242571 w 3528614"/>
                <a:gd name="connsiteY0" fmla="*/ 335651 h 621695"/>
                <a:gd name="connsiteX1" fmla="*/ 0 w 3528614"/>
                <a:gd name="connsiteY1" fmla="*/ 335651 h 621695"/>
                <a:gd name="connsiteX2" fmla="*/ 67351 w 3528614"/>
                <a:gd name="connsiteY2" fmla="*/ 254021 h 621695"/>
                <a:gd name="connsiteX3" fmla="*/ 680610 w 3528614"/>
                <a:gd name="connsiteY3" fmla="*/ 0 h 621695"/>
                <a:gd name="connsiteX4" fmla="*/ 3242571 w 3528614"/>
                <a:gd name="connsiteY4" fmla="*/ 0 h 621695"/>
                <a:gd name="connsiteX5" fmla="*/ 3528614 w 3528614"/>
                <a:gd name="connsiteY5" fmla="*/ 621695 h 621695"/>
                <a:gd name="connsiteX0" fmla="*/ 0 w 3528614"/>
                <a:gd name="connsiteY0" fmla="*/ 335651 h 621695"/>
                <a:gd name="connsiteX1" fmla="*/ 67351 w 3528614"/>
                <a:gd name="connsiteY1" fmla="*/ 254021 h 621695"/>
                <a:gd name="connsiteX2" fmla="*/ 680610 w 3528614"/>
                <a:gd name="connsiteY2" fmla="*/ 0 h 621695"/>
                <a:gd name="connsiteX3" fmla="*/ 3242571 w 3528614"/>
                <a:gd name="connsiteY3" fmla="*/ 0 h 621695"/>
                <a:gd name="connsiteX4" fmla="*/ 3528614 w 3528614"/>
                <a:gd name="connsiteY4" fmla="*/ 621695 h 621695"/>
                <a:gd name="connsiteX0" fmla="*/ 0 w 3242571"/>
                <a:gd name="connsiteY0" fmla="*/ 335651 h 335651"/>
                <a:gd name="connsiteX1" fmla="*/ 67351 w 3242571"/>
                <a:gd name="connsiteY1" fmla="*/ 254021 h 335651"/>
                <a:gd name="connsiteX2" fmla="*/ 680610 w 3242571"/>
                <a:gd name="connsiteY2" fmla="*/ 0 h 335651"/>
                <a:gd name="connsiteX3" fmla="*/ 3242571 w 3242571"/>
                <a:gd name="connsiteY3" fmla="*/ 0 h 335651"/>
              </a:gdLst>
              <a:ahLst/>
              <a:cxnLst>
                <a:cxn ang="0">
                  <a:pos x="connsiteX0" y="connsiteY0"/>
                </a:cxn>
                <a:cxn ang="0">
                  <a:pos x="connsiteX1" y="connsiteY1"/>
                </a:cxn>
                <a:cxn ang="0">
                  <a:pos x="connsiteX2" y="connsiteY2"/>
                </a:cxn>
                <a:cxn ang="0">
                  <a:pos x="connsiteX3" y="connsiteY3"/>
                </a:cxn>
              </a:cxnLst>
              <a:rect l="l" t="t" r="r" b="b"/>
              <a:pathLst>
                <a:path w="3242571" h="335651">
                  <a:moveTo>
                    <a:pt x="0" y="335651"/>
                  </a:moveTo>
                  <a:lnTo>
                    <a:pt x="67351" y="254021"/>
                  </a:lnTo>
                  <a:cubicBezTo>
                    <a:pt x="224298" y="97074"/>
                    <a:pt x="441118" y="0"/>
                    <a:pt x="680610" y="0"/>
                  </a:cubicBezTo>
                  <a:lnTo>
                    <a:pt x="3242571" y="0"/>
                  </a:lnTo>
                </a:path>
              </a:pathLst>
            </a:custGeom>
            <a:noFill/>
            <a:ln>
              <a:solidFill>
                <a:srgbClr val="3C8EE7"/>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350">
                <a:latin typeface="Tahoma" panose="020B0604030504040204" pitchFamily="34" charset="0"/>
                <a:ea typeface="Tahoma" panose="020B0604030504040204" pitchFamily="34" charset="0"/>
                <a:cs typeface="Tahoma" panose="020B0604030504040204" pitchFamily="34" charset="0"/>
              </a:endParaRPr>
            </a:p>
          </p:txBody>
        </p:sp>
        <p:sp>
          <p:nvSpPr>
            <p:cNvPr id="24" name="Freeform: Shape 23">
              <a:extLst>
                <a:ext uri="{FF2B5EF4-FFF2-40B4-BE49-F238E27FC236}">
                  <a16:creationId xmlns:a16="http://schemas.microsoft.com/office/drawing/2014/main" id="{2876A2E9-C661-24AA-7AB3-CD62F8DD4824}"/>
                </a:ext>
              </a:extLst>
            </p:cNvPr>
            <p:cNvSpPr/>
            <p:nvPr/>
          </p:nvSpPr>
          <p:spPr>
            <a:xfrm flipV="1">
              <a:off x="4758668" y="5525034"/>
              <a:ext cx="790440" cy="839840"/>
            </a:xfrm>
            <a:custGeom>
              <a:avLst/>
              <a:gdLst>
                <a:gd name="connsiteX0" fmla="*/ 680610 w 3242571"/>
                <a:gd name="connsiteY0" fmla="*/ 0 h 335651"/>
                <a:gd name="connsiteX1" fmla="*/ 3242571 w 3242571"/>
                <a:gd name="connsiteY1" fmla="*/ 0 h 335651"/>
                <a:gd name="connsiteX2" fmla="*/ 3242571 w 3242571"/>
                <a:gd name="connsiteY2" fmla="*/ 335651 h 335651"/>
                <a:gd name="connsiteX3" fmla="*/ 0 w 3242571"/>
                <a:gd name="connsiteY3" fmla="*/ 335651 h 335651"/>
                <a:gd name="connsiteX4" fmla="*/ 67351 w 3242571"/>
                <a:gd name="connsiteY4" fmla="*/ 254021 h 335651"/>
                <a:gd name="connsiteX5" fmla="*/ 680610 w 3242571"/>
                <a:gd name="connsiteY5" fmla="*/ 0 h 335651"/>
                <a:gd name="connsiteX0" fmla="*/ 3242571 w 3528614"/>
                <a:gd name="connsiteY0" fmla="*/ 335651 h 621695"/>
                <a:gd name="connsiteX1" fmla="*/ 0 w 3528614"/>
                <a:gd name="connsiteY1" fmla="*/ 335651 h 621695"/>
                <a:gd name="connsiteX2" fmla="*/ 67351 w 3528614"/>
                <a:gd name="connsiteY2" fmla="*/ 254021 h 621695"/>
                <a:gd name="connsiteX3" fmla="*/ 680610 w 3528614"/>
                <a:gd name="connsiteY3" fmla="*/ 0 h 621695"/>
                <a:gd name="connsiteX4" fmla="*/ 3242571 w 3528614"/>
                <a:gd name="connsiteY4" fmla="*/ 0 h 621695"/>
                <a:gd name="connsiteX5" fmla="*/ 3528614 w 3528614"/>
                <a:gd name="connsiteY5" fmla="*/ 621695 h 621695"/>
                <a:gd name="connsiteX0" fmla="*/ 0 w 3528614"/>
                <a:gd name="connsiteY0" fmla="*/ 335651 h 621695"/>
                <a:gd name="connsiteX1" fmla="*/ 67351 w 3528614"/>
                <a:gd name="connsiteY1" fmla="*/ 254021 h 621695"/>
                <a:gd name="connsiteX2" fmla="*/ 680610 w 3528614"/>
                <a:gd name="connsiteY2" fmla="*/ 0 h 621695"/>
                <a:gd name="connsiteX3" fmla="*/ 3242571 w 3528614"/>
                <a:gd name="connsiteY3" fmla="*/ 0 h 621695"/>
                <a:gd name="connsiteX4" fmla="*/ 3528614 w 3528614"/>
                <a:gd name="connsiteY4" fmla="*/ 621695 h 621695"/>
                <a:gd name="connsiteX0" fmla="*/ 0 w 3242571"/>
                <a:gd name="connsiteY0" fmla="*/ 335651 h 335651"/>
                <a:gd name="connsiteX1" fmla="*/ 67351 w 3242571"/>
                <a:gd name="connsiteY1" fmla="*/ 254021 h 335651"/>
                <a:gd name="connsiteX2" fmla="*/ 680610 w 3242571"/>
                <a:gd name="connsiteY2" fmla="*/ 0 h 335651"/>
                <a:gd name="connsiteX3" fmla="*/ 3242571 w 3242571"/>
                <a:gd name="connsiteY3" fmla="*/ 0 h 335651"/>
              </a:gdLst>
              <a:ahLst/>
              <a:cxnLst>
                <a:cxn ang="0">
                  <a:pos x="connsiteX0" y="connsiteY0"/>
                </a:cxn>
                <a:cxn ang="0">
                  <a:pos x="connsiteX1" y="connsiteY1"/>
                </a:cxn>
                <a:cxn ang="0">
                  <a:pos x="connsiteX2" y="connsiteY2"/>
                </a:cxn>
                <a:cxn ang="0">
                  <a:pos x="connsiteX3" y="connsiteY3"/>
                </a:cxn>
              </a:cxnLst>
              <a:rect l="l" t="t" r="r" b="b"/>
              <a:pathLst>
                <a:path w="3242571" h="335651">
                  <a:moveTo>
                    <a:pt x="0" y="335651"/>
                  </a:moveTo>
                  <a:lnTo>
                    <a:pt x="67351" y="254021"/>
                  </a:lnTo>
                  <a:cubicBezTo>
                    <a:pt x="224298" y="97074"/>
                    <a:pt x="441118" y="0"/>
                    <a:pt x="680610" y="0"/>
                  </a:cubicBezTo>
                  <a:lnTo>
                    <a:pt x="3242571" y="0"/>
                  </a:lnTo>
                </a:path>
              </a:pathLst>
            </a:custGeom>
            <a:noFill/>
            <a:ln>
              <a:solidFill>
                <a:srgbClr val="9EC7F3"/>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350">
                <a:latin typeface="Tahoma" panose="020B0604030504040204" pitchFamily="34" charset="0"/>
                <a:ea typeface="Tahoma" panose="020B0604030504040204" pitchFamily="34" charset="0"/>
                <a:cs typeface="Tahoma" panose="020B0604030504040204" pitchFamily="34" charset="0"/>
              </a:endParaRPr>
            </a:p>
          </p:txBody>
        </p:sp>
        <p:grpSp>
          <p:nvGrpSpPr>
            <p:cNvPr id="25" name="Group 24">
              <a:extLst>
                <a:ext uri="{FF2B5EF4-FFF2-40B4-BE49-F238E27FC236}">
                  <a16:creationId xmlns:a16="http://schemas.microsoft.com/office/drawing/2014/main" id="{E59AE827-FDE9-EE44-4A62-61564D838278}"/>
                </a:ext>
              </a:extLst>
            </p:cNvPr>
            <p:cNvGrpSpPr/>
            <p:nvPr/>
          </p:nvGrpSpPr>
          <p:grpSpPr>
            <a:xfrm>
              <a:off x="5389735" y="2281179"/>
              <a:ext cx="3673619" cy="715229"/>
              <a:chOff x="7911971" y="1816982"/>
              <a:chExt cx="2752216" cy="556810"/>
            </a:xfrm>
          </p:grpSpPr>
          <p:sp>
            <p:nvSpPr>
              <p:cNvPr id="43" name="Oval 42">
                <a:extLst>
                  <a:ext uri="{FF2B5EF4-FFF2-40B4-BE49-F238E27FC236}">
                    <a16:creationId xmlns:a16="http://schemas.microsoft.com/office/drawing/2014/main" id="{F848BD6A-3AFA-0A8D-CC64-063C5B88B244}"/>
                  </a:ext>
                </a:extLst>
              </p:cNvPr>
              <p:cNvSpPr/>
              <p:nvPr/>
            </p:nvSpPr>
            <p:spPr>
              <a:xfrm>
                <a:off x="7911971" y="2051875"/>
                <a:ext cx="152464" cy="152465"/>
              </a:xfrm>
              <a:prstGeom prst="ellipse">
                <a:avLst/>
              </a:prstGeom>
              <a:solidFill>
                <a:srgbClr val="1458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50">
                  <a:latin typeface="Tahoma" panose="020B0604030504040204" pitchFamily="34" charset="0"/>
                  <a:ea typeface="Tahoma" panose="020B0604030504040204" pitchFamily="34" charset="0"/>
                  <a:cs typeface="Tahoma" panose="020B0604030504040204" pitchFamily="34" charset="0"/>
                </a:endParaRPr>
              </a:p>
            </p:txBody>
          </p:sp>
          <p:sp>
            <p:nvSpPr>
              <p:cNvPr id="44" name="TextBox 43">
                <a:extLst>
                  <a:ext uri="{FF2B5EF4-FFF2-40B4-BE49-F238E27FC236}">
                    <a16:creationId xmlns:a16="http://schemas.microsoft.com/office/drawing/2014/main" id="{BCB931E1-3828-5748-AA35-E51C31AF8EFC}"/>
                  </a:ext>
                </a:extLst>
              </p:cNvPr>
              <p:cNvSpPr txBox="1"/>
              <p:nvPr/>
            </p:nvSpPr>
            <p:spPr>
              <a:xfrm>
                <a:off x="10126860" y="1816982"/>
                <a:ext cx="537327" cy="535692"/>
              </a:xfrm>
              <a:prstGeom prst="rect">
                <a:avLst/>
              </a:prstGeom>
              <a:noFill/>
            </p:spPr>
            <p:txBody>
              <a:bodyPr wrap="square" lIns="0" tIns="0" rIns="0" bIns="0" rtlCol="0" anchor="ctr">
                <a:noAutofit/>
              </a:bodyPr>
              <a:lstStyle/>
              <a:p>
                <a:pPr algn="ctr"/>
                <a:r>
                  <a:rPr lang="en-US" sz="2400" b="1">
                    <a:solidFill>
                      <a:schemeClr val="bg1"/>
                    </a:solidFill>
                    <a:latin typeface="Tahoma" panose="020B0604030504040204" pitchFamily="34" charset="0"/>
                    <a:ea typeface="Tahoma" panose="020B0604030504040204" pitchFamily="34" charset="0"/>
                    <a:cs typeface="Tahoma" panose="020B0604030504040204" pitchFamily="34" charset="0"/>
                  </a:rPr>
                  <a:t>01</a:t>
                </a:r>
                <a:endParaRPr lang="en-IN" sz="2400" b="1">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nvGrpSpPr>
              <p:cNvPr id="45" name="Group 44">
                <a:extLst>
                  <a:ext uri="{FF2B5EF4-FFF2-40B4-BE49-F238E27FC236}">
                    <a16:creationId xmlns:a16="http://schemas.microsoft.com/office/drawing/2014/main" id="{C6B3700E-1651-2A02-353F-44638D4940E2}"/>
                  </a:ext>
                </a:extLst>
              </p:cNvPr>
              <p:cNvGrpSpPr/>
              <p:nvPr/>
            </p:nvGrpSpPr>
            <p:grpSpPr>
              <a:xfrm>
                <a:off x="8582112" y="1818716"/>
                <a:ext cx="1389258" cy="555076"/>
                <a:chOff x="8570043" y="3190673"/>
                <a:chExt cx="1953464" cy="555076"/>
              </a:xfrm>
            </p:grpSpPr>
            <p:sp>
              <p:nvSpPr>
                <p:cNvPr id="46" name="TextBox 45">
                  <a:extLst>
                    <a:ext uri="{FF2B5EF4-FFF2-40B4-BE49-F238E27FC236}">
                      <a16:creationId xmlns:a16="http://schemas.microsoft.com/office/drawing/2014/main" id="{A719A5FE-62C4-EB5D-82AA-F64B48CC5117}"/>
                    </a:ext>
                  </a:extLst>
                </p:cNvPr>
                <p:cNvSpPr txBox="1"/>
                <p:nvPr/>
              </p:nvSpPr>
              <p:spPr>
                <a:xfrm>
                  <a:off x="8570048" y="3394213"/>
                  <a:ext cx="1953459" cy="351536"/>
                </a:xfrm>
                <a:prstGeom prst="rect">
                  <a:avLst/>
                </a:prstGeom>
                <a:noFill/>
              </p:spPr>
              <p:txBody>
                <a:bodyPr wrap="square" lIns="0" tIns="0" rIns="0" bIns="0" rtlCol="0" anchor="t">
                  <a:noAutofit/>
                </a:bodyPr>
                <a:lstStyle/>
                <a:p>
                  <a:pPr>
                    <a:lnSpc>
                      <a:spcPct val="90000"/>
                    </a:lnSpc>
                  </a:pPr>
                  <a:r>
                    <a:rPr lang="en-US" sz="825">
                      <a:solidFill>
                        <a:schemeClr val="bg1"/>
                      </a:solidFill>
                      <a:latin typeface="Tahoma" panose="020B0604030504040204" pitchFamily="34" charset="0"/>
                      <a:ea typeface="Tahoma" panose="020B0604030504040204" pitchFamily="34" charset="0"/>
                      <a:cs typeface="Tahoma" panose="020B0604030504040204" pitchFamily="34" charset="0"/>
                    </a:rPr>
                    <a:t>Insert your desired text here. </a:t>
                  </a:r>
                  <a:endParaRPr lang="en-US" sz="825" b="1">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47" name="TextBox 46">
                  <a:extLst>
                    <a:ext uri="{FF2B5EF4-FFF2-40B4-BE49-F238E27FC236}">
                      <a16:creationId xmlns:a16="http://schemas.microsoft.com/office/drawing/2014/main" id="{2DA3C2AC-15D7-6FBF-280C-C581B18A09E2}"/>
                    </a:ext>
                  </a:extLst>
                </p:cNvPr>
                <p:cNvSpPr txBox="1"/>
                <p:nvPr/>
              </p:nvSpPr>
              <p:spPr>
                <a:xfrm>
                  <a:off x="8570043" y="3190673"/>
                  <a:ext cx="1953460" cy="165370"/>
                </a:xfrm>
                <a:prstGeom prst="rect">
                  <a:avLst/>
                </a:prstGeom>
                <a:noFill/>
              </p:spPr>
              <p:txBody>
                <a:bodyPr wrap="square" lIns="0" tIns="0" rIns="0" bIns="0" rtlCol="0" anchor="ctr">
                  <a:noAutofit/>
                </a:bodyPr>
                <a:lstStyle/>
                <a:p>
                  <a:pPr>
                    <a:lnSpc>
                      <a:spcPct val="90000"/>
                    </a:lnSpc>
                  </a:pPr>
                  <a:r>
                    <a:rPr lang="en-US" sz="900" b="1">
                      <a:solidFill>
                        <a:schemeClr val="bg1"/>
                      </a:solidFill>
                      <a:latin typeface="Tahoma" panose="020B0604030504040204" pitchFamily="34" charset="0"/>
                      <a:ea typeface="Tahoma" panose="020B0604030504040204" pitchFamily="34" charset="0"/>
                      <a:cs typeface="Tahoma" panose="020B0604030504040204" pitchFamily="34" charset="0"/>
                    </a:rPr>
                    <a:t>Placeholder</a:t>
                  </a:r>
                </a:p>
              </p:txBody>
            </p:sp>
          </p:grpSp>
        </p:grpSp>
        <p:grpSp>
          <p:nvGrpSpPr>
            <p:cNvPr id="26" name="Group 25">
              <a:extLst>
                <a:ext uri="{FF2B5EF4-FFF2-40B4-BE49-F238E27FC236}">
                  <a16:creationId xmlns:a16="http://schemas.microsoft.com/office/drawing/2014/main" id="{C3A166BD-5FAF-B5B6-04C2-774A5E7080D1}"/>
                </a:ext>
              </a:extLst>
            </p:cNvPr>
            <p:cNvGrpSpPr/>
            <p:nvPr/>
          </p:nvGrpSpPr>
          <p:grpSpPr>
            <a:xfrm>
              <a:off x="5785203" y="5931640"/>
              <a:ext cx="3609317" cy="914199"/>
              <a:chOff x="6528591" y="4658888"/>
              <a:chExt cx="2734327" cy="765690"/>
            </a:xfrm>
          </p:grpSpPr>
          <p:sp>
            <p:nvSpPr>
              <p:cNvPr id="38" name="Rectangle: Rounded Corners 37">
                <a:extLst>
                  <a:ext uri="{FF2B5EF4-FFF2-40B4-BE49-F238E27FC236}">
                    <a16:creationId xmlns:a16="http://schemas.microsoft.com/office/drawing/2014/main" id="{95D16781-D80B-5839-EA40-54FB639B1B85}"/>
                  </a:ext>
                </a:extLst>
              </p:cNvPr>
              <p:cNvSpPr/>
              <p:nvPr/>
            </p:nvSpPr>
            <p:spPr>
              <a:xfrm>
                <a:off x="6528591" y="4658888"/>
                <a:ext cx="2734327" cy="765690"/>
              </a:xfrm>
              <a:prstGeom prst="roundRect">
                <a:avLst>
                  <a:gd name="adj" fmla="val 11951"/>
                </a:avLst>
              </a:prstGeom>
              <a:solidFill>
                <a:srgbClr val="9EC7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50">
                  <a:latin typeface="Tahoma" panose="020B0604030504040204" pitchFamily="34" charset="0"/>
                  <a:ea typeface="Tahoma" panose="020B0604030504040204" pitchFamily="34" charset="0"/>
                  <a:cs typeface="Tahoma" panose="020B0604030504040204" pitchFamily="34" charset="0"/>
                </a:endParaRPr>
              </a:p>
            </p:txBody>
          </p:sp>
          <p:sp>
            <p:nvSpPr>
              <p:cNvPr id="39" name="Rectangle: Rounded Corners 38">
                <a:extLst>
                  <a:ext uri="{FF2B5EF4-FFF2-40B4-BE49-F238E27FC236}">
                    <a16:creationId xmlns:a16="http://schemas.microsoft.com/office/drawing/2014/main" id="{EEB89F63-01A3-F549-70F9-7C5C7BB8B36F}"/>
                  </a:ext>
                </a:extLst>
              </p:cNvPr>
              <p:cNvSpPr/>
              <p:nvPr/>
            </p:nvSpPr>
            <p:spPr>
              <a:xfrm>
                <a:off x="6617539" y="4732395"/>
                <a:ext cx="579054" cy="618677"/>
              </a:xfrm>
              <a:prstGeom prst="roundRect">
                <a:avLst>
                  <a:gd name="adj" fmla="val 11951"/>
                </a:avLst>
              </a:prstGeom>
              <a:gradFill>
                <a:gsLst>
                  <a:gs pos="0">
                    <a:schemeClr val="bg1"/>
                  </a:gs>
                  <a:gs pos="100000">
                    <a:schemeClr val="bg1">
                      <a:lumMod val="95000"/>
                    </a:schemeClr>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50">
                  <a:latin typeface="Tahoma" panose="020B0604030504040204" pitchFamily="34" charset="0"/>
                  <a:ea typeface="Tahoma" panose="020B0604030504040204" pitchFamily="34" charset="0"/>
                  <a:cs typeface="Tahoma" panose="020B0604030504040204" pitchFamily="34" charset="0"/>
                </a:endParaRPr>
              </a:p>
            </p:txBody>
          </p:sp>
          <p:sp>
            <p:nvSpPr>
              <p:cNvPr id="41" name="TextBox 40">
                <a:extLst>
                  <a:ext uri="{FF2B5EF4-FFF2-40B4-BE49-F238E27FC236}">
                    <a16:creationId xmlns:a16="http://schemas.microsoft.com/office/drawing/2014/main" id="{16451A82-E1FE-0D65-13AE-5590E8434AFD}"/>
                  </a:ext>
                </a:extLst>
              </p:cNvPr>
              <p:cNvSpPr txBox="1"/>
              <p:nvPr/>
            </p:nvSpPr>
            <p:spPr>
              <a:xfrm>
                <a:off x="7388523" y="4914952"/>
                <a:ext cx="1718232" cy="189441"/>
              </a:xfrm>
              <a:prstGeom prst="rect">
                <a:avLst/>
              </a:prstGeom>
              <a:noFill/>
            </p:spPr>
            <p:txBody>
              <a:bodyPr wrap="square" lIns="0" tIns="0" rIns="0" bIns="0" rtlCol="0" anchor="ctr">
                <a:noAutofit/>
              </a:bodyPr>
              <a:lstStyle>
                <a:defPPr>
                  <a:defRPr lang="en-US"/>
                </a:defPPr>
                <a:lvl1pPr>
                  <a:lnSpc>
                    <a:spcPct val="90000"/>
                  </a:lnSpc>
                  <a:defRPr sz="1400" b="1">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sz="1050"/>
                  <a:t>Solving Targeted Business Needs with AI</a:t>
                </a:r>
              </a:p>
            </p:txBody>
          </p:sp>
        </p:grpSp>
        <p:sp>
          <p:nvSpPr>
            <p:cNvPr id="27" name="Rectangle: Rounded Corners 26">
              <a:extLst>
                <a:ext uri="{FF2B5EF4-FFF2-40B4-BE49-F238E27FC236}">
                  <a16:creationId xmlns:a16="http://schemas.microsoft.com/office/drawing/2014/main" id="{D3F41D7C-D9C7-8F14-6E48-8BDC525154FD}"/>
                </a:ext>
              </a:extLst>
            </p:cNvPr>
            <p:cNvSpPr/>
            <p:nvPr/>
          </p:nvSpPr>
          <p:spPr>
            <a:xfrm>
              <a:off x="5785187" y="4004971"/>
              <a:ext cx="3609315" cy="914199"/>
            </a:xfrm>
            <a:prstGeom prst="roundRect">
              <a:avLst>
                <a:gd name="adj" fmla="val 11951"/>
              </a:avLst>
            </a:prstGeom>
            <a:solidFill>
              <a:srgbClr val="3C8E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50">
                <a:latin typeface="Tahoma" panose="020B0604030504040204" pitchFamily="34" charset="0"/>
                <a:ea typeface="Tahoma" panose="020B0604030504040204" pitchFamily="34" charset="0"/>
                <a:cs typeface="Tahoma" panose="020B0604030504040204" pitchFamily="34" charset="0"/>
              </a:endParaRPr>
            </a:p>
          </p:txBody>
        </p:sp>
        <p:sp>
          <p:nvSpPr>
            <p:cNvPr id="28" name="Rectangle: Rounded Corners 27">
              <a:extLst>
                <a:ext uri="{FF2B5EF4-FFF2-40B4-BE49-F238E27FC236}">
                  <a16:creationId xmlns:a16="http://schemas.microsoft.com/office/drawing/2014/main" id="{26226711-C1E1-47A5-7473-AC9056CFDEB0}"/>
                </a:ext>
              </a:extLst>
            </p:cNvPr>
            <p:cNvSpPr/>
            <p:nvPr/>
          </p:nvSpPr>
          <p:spPr>
            <a:xfrm>
              <a:off x="5902644" y="4092735"/>
              <a:ext cx="764361" cy="738672"/>
            </a:xfrm>
            <a:prstGeom prst="roundRect">
              <a:avLst>
                <a:gd name="adj" fmla="val 11951"/>
              </a:avLst>
            </a:prstGeom>
            <a:gradFill>
              <a:gsLst>
                <a:gs pos="0">
                  <a:schemeClr val="bg1"/>
                </a:gs>
                <a:gs pos="100000">
                  <a:schemeClr val="bg1">
                    <a:lumMod val="95000"/>
                  </a:schemeClr>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50">
                <a:latin typeface="Tahoma" panose="020B0604030504040204" pitchFamily="34" charset="0"/>
                <a:ea typeface="Tahoma" panose="020B0604030504040204" pitchFamily="34" charset="0"/>
                <a:cs typeface="Tahoma" panose="020B0604030504040204" pitchFamily="34" charset="0"/>
              </a:endParaRPr>
            </a:p>
          </p:txBody>
        </p:sp>
        <p:sp>
          <p:nvSpPr>
            <p:cNvPr id="30" name="TextBox 29">
              <a:extLst>
                <a:ext uri="{FF2B5EF4-FFF2-40B4-BE49-F238E27FC236}">
                  <a16:creationId xmlns:a16="http://schemas.microsoft.com/office/drawing/2014/main" id="{AA5D8A04-DDBA-0C20-7CE9-59FCCB509CEE}"/>
                </a:ext>
              </a:extLst>
            </p:cNvPr>
            <p:cNvSpPr txBox="1"/>
            <p:nvPr/>
          </p:nvSpPr>
          <p:spPr>
            <a:xfrm>
              <a:off x="6823160" y="4316151"/>
              <a:ext cx="2431671" cy="306163"/>
            </a:xfrm>
            <a:prstGeom prst="rect">
              <a:avLst/>
            </a:prstGeom>
            <a:noFill/>
          </p:spPr>
          <p:txBody>
            <a:bodyPr wrap="square" lIns="0" tIns="0" rIns="0" bIns="0" rtlCol="0" anchor="ctr">
              <a:noAutofit/>
            </a:bodyPr>
            <a:lstStyle/>
            <a:p>
              <a:pPr>
                <a:lnSpc>
                  <a:spcPct val="90000"/>
                </a:lnSpc>
              </a:pPr>
              <a:r>
                <a:rPr lang="en-US" sz="1050" b="1">
                  <a:solidFill>
                    <a:schemeClr val="bg1"/>
                  </a:solidFill>
                  <a:latin typeface="Tahoma" panose="020B0604030504040204" pitchFamily="34" charset="0"/>
                  <a:ea typeface="Tahoma" panose="020B0604030504040204" pitchFamily="34" charset="0"/>
                  <a:cs typeface="Tahoma" panose="020B0604030504040204" pitchFamily="34" charset="0"/>
                </a:rPr>
                <a:t>Inspiration Through the Art of the Possible</a:t>
              </a:r>
            </a:p>
          </p:txBody>
        </p:sp>
        <p:sp>
          <p:nvSpPr>
            <p:cNvPr id="31" name="Oval 30">
              <a:extLst>
                <a:ext uri="{FF2B5EF4-FFF2-40B4-BE49-F238E27FC236}">
                  <a16:creationId xmlns:a16="http://schemas.microsoft.com/office/drawing/2014/main" id="{0016D118-7D5F-BF8B-3D2E-97ADE7C8818A}"/>
                </a:ext>
              </a:extLst>
            </p:cNvPr>
            <p:cNvSpPr/>
            <p:nvPr/>
          </p:nvSpPr>
          <p:spPr>
            <a:xfrm>
              <a:off x="5421454" y="4381227"/>
              <a:ext cx="203507" cy="195841"/>
            </a:xfrm>
            <a:prstGeom prst="ellipse">
              <a:avLst/>
            </a:prstGeom>
            <a:solidFill>
              <a:srgbClr val="3C8E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50">
                <a:latin typeface="Tahoma" panose="020B0604030504040204" pitchFamily="34" charset="0"/>
                <a:ea typeface="Tahoma" panose="020B0604030504040204" pitchFamily="34" charset="0"/>
                <a:cs typeface="Tahoma" panose="020B0604030504040204" pitchFamily="34" charset="0"/>
              </a:endParaRPr>
            </a:p>
          </p:txBody>
        </p:sp>
        <p:sp>
          <p:nvSpPr>
            <p:cNvPr id="32" name="Rectangle: Rounded Corners 31">
              <a:extLst>
                <a:ext uri="{FF2B5EF4-FFF2-40B4-BE49-F238E27FC236}">
                  <a16:creationId xmlns:a16="http://schemas.microsoft.com/office/drawing/2014/main" id="{FA60E408-E837-54F8-DDAB-CF7BDC71B30E}"/>
                </a:ext>
              </a:extLst>
            </p:cNvPr>
            <p:cNvSpPr/>
            <p:nvPr/>
          </p:nvSpPr>
          <p:spPr>
            <a:xfrm>
              <a:off x="5785187" y="2294909"/>
              <a:ext cx="3609315" cy="914199"/>
            </a:xfrm>
            <a:prstGeom prst="roundRect">
              <a:avLst>
                <a:gd name="adj" fmla="val 11951"/>
              </a:avLst>
            </a:prstGeom>
            <a:solidFill>
              <a:srgbClr val="1458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50">
                <a:latin typeface="Tahoma" panose="020B0604030504040204" pitchFamily="34" charset="0"/>
                <a:ea typeface="Tahoma" panose="020B0604030504040204" pitchFamily="34" charset="0"/>
                <a:cs typeface="Tahoma" panose="020B0604030504040204" pitchFamily="34" charset="0"/>
              </a:endParaRPr>
            </a:p>
          </p:txBody>
        </p:sp>
        <p:sp>
          <p:nvSpPr>
            <p:cNvPr id="33" name="Rectangle: Rounded Corners 32">
              <a:extLst>
                <a:ext uri="{FF2B5EF4-FFF2-40B4-BE49-F238E27FC236}">
                  <a16:creationId xmlns:a16="http://schemas.microsoft.com/office/drawing/2014/main" id="{0B9D649F-6ED1-C55C-D1C0-C20B264A2652}"/>
                </a:ext>
              </a:extLst>
            </p:cNvPr>
            <p:cNvSpPr/>
            <p:nvPr/>
          </p:nvSpPr>
          <p:spPr>
            <a:xfrm>
              <a:off x="5902644" y="2382671"/>
              <a:ext cx="764361" cy="738672"/>
            </a:xfrm>
            <a:prstGeom prst="roundRect">
              <a:avLst>
                <a:gd name="adj" fmla="val 11951"/>
              </a:avLst>
            </a:prstGeom>
            <a:gradFill>
              <a:gsLst>
                <a:gs pos="0">
                  <a:schemeClr val="bg1"/>
                </a:gs>
                <a:gs pos="100000">
                  <a:schemeClr val="bg1">
                    <a:lumMod val="95000"/>
                  </a:schemeClr>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50">
                <a:latin typeface="Tahoma" panose="020B0604030504040204" pitchFamily="34" charset="0"/>
                <a:ea typeface="Tahoma" panose="020B0604030504040204" pitchFamily="34" charset="0"/>
                <a:cs typeface="Tahoma" panose="020B0604030504040204" pitchFamily="34" charset="0"/>
              </a:endParaRPr>
            </a:p>
          </p:txBody>
        </p:sp>
        <p:sp>
          <p:nvSpPr>
            <p:cNvPr id="35" name="TextBox 34">
              <a:extLst>
                <a:ext uri="{FF2B5EF4-FFF2-40B4-BE49-F238E27FC236}">
                  <a16:creationId xmlns:a16="http://schemas.microsoft.com/office/drawing/2014/main" id="{A1713F77-26BC-9374-9444-E2C3F115A96C}"/>
                </a:ext>
              </a:extLst>
            </p:cNvPr>
            <p:cNvSpPr txBox="1"/>
            <p:nvPr/>
          </p:nvSpPr>
          <p:spPr>
            <a:xfrm>
              <a:off x="6782758" y="2566365"/>
              <a:ext cx="2448907" cy="352816"/>
            </a:xfrm>
            <a:prstGeom prst="rect">
              <a:avLst/>
            </a:prstGeom>
            <a:noFill/>
          </p:spPr>
          <p:txBody>
            <a:bodyPr wrap="square" lIns="0" tIns="0" rIns="0" bIns="0" rtlCol="0" anchor="ctr">
              <a:noAutofit/>
            </a:bodyPr>
            <a:lstStyle/>
            <a:p>
              <a:pPr>
                <a:lnSpc>
                  <a:spcPct val="90000"/>
                </a:lnSpc>
              </a:pPr>
              <a:r>
                <a:rPr lang="en-US" sz="1050" b="1">
                  <a:solidFill>
                    <a:schemeClr val="bg1"/>
                  </a:solidFill>
                  <a:latin typeface="Tahoma" panose="020B0604030504040204" pitchFamily="34" charset="0"/>
                  <a:ea typeface="Tahoma" panose="020B0604030504040204" pitchFamily="34" charset="0"/>
                  <a:cs typeface="Tahoma" panose="020B0604030504040204" pitchFamily="34" charset="0"/>
                </a:rPr>
                <a:t>Value-Led AI Opportunity &amp; Capability Assessment</a:t>
              </a:r>
            </a:p>
          </p:txBody>
        </p:sp>
        <p:pic>
          <p:nvPicPr>
            <p:cNvPr id="37" name="Graphic 36" descr="Target with solid fill">
              <a:extLst>
                <a:ext uri="{FF2B5EF4-FFF2-40B4-BE49-F238E27FC236}">
                  <a16:creationId xmlns:a16="http://schemas.microsoft.com/office/drawing/2014/main" id="{DE04B398-16FA-1E2E-0FCF-02C20276C5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95655" y="6117512"/>
              <a:ext cx="567990" cy="557961"/>
            </a:xfrm>
            <a:prstGeom prst="rect">
              <a:avLst/>
            </a:prstGeom>
          </p:spPr>
        </p:pic>
        <p:sp>
          <p:nvSpPr>
            <p:cNvPr id="63" name="TextBox 62">
              <a:extLst>
                <a:ext uri="{FF2B5EF4-FFF2-40B4-BE49-F238E27FC236}">
                  <a16:creationId xmlns:a16="http://schemas.microsoft.com/office/drawing/2014/main" id="{17518E2A-3AEE-6D3D-07E6-89AB0486F88D}"/>
                </a:ext>
              </a:extLst>
            </p:cNvPr>
            <p:cNvSpPr txBox="1"/>
            <p:nvPr/>
          </p:nvSpPr>
          <p:spPr>
            <a:xfrm>
              <a:off x="9704183" y="2340191"/>
              <a:ext cx="5486400" cy="769441"/>
            </a:xfrm>
            <a:prstGeom prst="rect">
              <a:avLst/>
            </a:prstGeom>
            <a:noFill/>
            <a:ln w="28575">
              <a:noFill/>
            </a:ln>
            <a:scene3d>
              <a:camera prst="orthographicFront"/>
              <a:lightRig rig="threePt" dir="t"/>
            </a:scene3d>
            <a:sp3d>
              <a:bevelT prst="angle"/>
            </a:sp3d>
          </p:spPr>
          <p:txBody>
            <a:bodyPr wrap="square" anchor="ctr">
              <a:spAutoFit/>
            </a:bodyPr>
            <a:lstStyle/>
            <a:p>
              <a:pPr marL="14287" defTabSz="1028385">
                <a:defRPr/>
              </a:pPr>
              <a:r>
                <a:rPr lang="en-US" sz="1050">
                  <a:solidFill>
                    <a:schemeClr val="tx2"/>
                  </a:solidFill>
                  <a:latin typeface="Tahoma" panose="020B0604030504040204" pitchFamily="34" charset="0"/>
                  <a:cs typeface="Tahoma" panose="020B0604030504040204" pitchFamily="34" charset="0"/>
                </a:rPr>
                <a:t>We help customers identify, define, and prioritize high-impact AI opportunities, while assessing their current AI maturity and outlining the capabilities needed to achieve their target state.</a:t>
              </a:r>
            </a:p>
          </p:txBody>
        </p:sp>
        <p:sp>
          <p:nvSpPr>
            <p:cNvPr id="64" name="TextBox 63">
              <a:extLst>
                <a:ext uri="{FF2B5EF4-FFF2-40B4-BE49-F238E27FC236}">
                  <a16:creationId xmlns:a16="http://schemas.microsoft.com/office/drawing/2014/main" id="{6D459A26-D872-D9AF-CF15-BD33FEF5FBFA}"/>
                </a:ext>
              </a:extLst>
            </p:cNvPr>
            <p:cNvSpPr txBox="1"/>
            <p:nvPr/>
          </p:nvSpPr>
          <p:spPr>
            <a:xfrm>
              <a:off x="9704183" y="3953632"/>
              <a:ext cx="5486400" cy="984885"/>
            </a:xfrm>
            <a:prstGeom prst="rect">
              <a:avLst/>
            </a:prstGeom>
            <a:noFill/>
            <a:ln w="28575">
              <a:noFill/>
            </a:ln>
            <a:scene3d>
              <a:camera prst="orthographicFront"/>
              <a:lightRig rig="threePt" dir="t"/>
            </a:scene3d>
            <a:sp3d>
              <a:bevelT prst="angle"/>
            </a:sp3d>
          </p:spPr>
          <p:txBody>
            <a:bodyPr wrap="square" anchor="ctr">
              <a:spAutoFit/>
            </a:bodyPr>
            <a:lstStyle/>
            <a:p>
              <a:pPr marL="14287" defTabSz="1028385">
                <a:defRPr/>
              </a:pPr>
              <a:r>
                <a:rPr lang="en-US" sz="1050">
                  <a:solidFill>
                    <a:schemeClr val="tx2"/>
                  </a:solidFill>
                  <a:latin typeface="Tahoma" panose="020B0604030504040204" pitchFamily="34" charset="0"/>
                  <a:cs typeface="Tahoma" panose="020B0604030504040204" pitchFamily="34" charset="0"/>
                </a:rPr>
                <a:t>We showcase transformative AI use cases - drawn from real-world implementations across industries - to inspire new ways of thinking and uncover innovative opportunities to reimagine business processes and functions.</a:t>
              </a:r>
            </a:p>
          </p:txBody>
        </p:sp>
        <p:sp>
          <p:nvSpPr>
            <p:cNvPr id="65" name="TextBox 64">
              <a:extLst>
                <a:ext uri="{FF2B5EF4-FFF2-40B4-BE49-F238E27FC236}">
                  <a16:creationId xmlns:a16="http://schemas.microsoft.com/office/drawing/2014/main" id="{23F65560-7C2F-005E-05B4-4BCD34E3871F}"/>
                </a:ext>
              </a:extLst>
            </p:cNvPr>
            <p:cNvSpPr txBox="1"/>
            <p:nvPr/>
          </p:nvSpPr>
          <p:spPr>
            <a:xfrm>
              <a:off x="9704183" y="5997117"/>
              <a:ext cx="5486400" cy="769441"/>
            </a:xfrm>
            <a:prstGeom prst="rect">
              <a:avLst/>
            </a:prstGeom>
            <a:noFill/>
            <a:ln w="28575">
              <a:noFill/>
            </a:ln>
            <a:scene3d>
              <a:camera prst="orthographicFront"/>
              <a:lightRig rig="threePt" dir="t"/>
            </a:scene3d>
            <a:sp3d>
              <a:bevelT prst="angle"/>
            </a:sp3d>
          </p:spPr>
          <p:txBody>
            <a:bodyPr wrap="square" anchor="ctr">
              <a:spAutoFit/>
            </a:bodyPr>
            <a:lstStyle/>
            <a:p>
              <a:pPr marL="14287" defTabSz="1028385">
                <a:defRPr/>
              </a:pPr>
              <a:r>
                <a:rPr lang="en-US" sz="1050">
                  <a:solidFill>
                    <a:schemeClr val="tx2"/>
                  </a:solidFill>
                  <a:latin typeface="Tahoma" panose="020B0604030504040204" pitchFamily="34" charset="0"/>
                  <a:cs typeface="Tahoma" panose="020B0604030504040204" pitchFamily="34" charset="0"/>
                </a:rPr>
                <a:t>We collaborate with customers to design and implement AI solutions that address specific business challenges or opportunities, delivering tangible outcomes and measurable value.</a:t>
              </a:r>
            </a:p>
          </p:txBody>
        </p:sp>
        <p:pic>
          <p:nvPicPr>
            <p:cNvPr id="68" name="Graphic 67" descr="Artificial Intelligence with solid fill">
              <a:extLst>
                <a:ext uri="{FF2B5EF4-FFF2-40B4-BE49-F238E27FC236}">
                  <a16:creationId xmlns:a16="http://schemas.microsoft.com/office/drawing/2014/main" id="{A76B755C-F532-92B2-9731-90135F8ED5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66334" y="4154566"/>
              <a:ext cx="640080" cy="640080"/>
            </a:xfrm>
            <a:prstGeom prst="rect">
              <a:avLst/>
            </a:prstGeom>
          </p:spPr>
        </p:pic>
        <p:pic>
          <p:nvPicPr>
            <p:cNvPr id="70" name="Graphic 69" descr="Diamond with solid fill">
              <a:extLst>
                <a:ext uri="{FF2B5EF4-FFF2-40B4-BE49-F238E27FC236}">
                  <a16:creationId xmlns:a16="http://schemas.microsoft.com/office/drawing/2014/main" id="{4D7A2FAD-2780-007D-4C2D-BF8D028D1B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54738" y="2436316"/>
              <a:ext cx="640080" cy="640080"/>
            </a:xfrm>
            <a:prstGeom prst="rect">
              <a:avLst/>
            </a:prstGeom>
          </p:spPr>
        </p:pic>
      </p:grpSp>
    </p:spTree>
    <p:extLst>
      <p:ext uri="{BB962C8B-B14F-4D97-AF65-F5344CB8AC3E}">
        <p14:creationId xmlns:p14="http://schemas.microsoft.com/office/powerpoint/2010/main" val="3325382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23DC5-9525-F28B-D50D-4DCC6B7EB578}"/>
            </a:ext>
          </a:extLst>
        </p:cNvPr>
        <p:cNvGrpSpPr/>
        <p:nvPr/>
      </p:nvGrpSpPr>
      <p:grpSpPr>
        <a:xfrm>
          <a:off x="0" y="0"/>
          <a:ext cx="0" cy="0"/>
          <a:chOff x="0" y="0"/>
          <a:chExt cx="0" cy="0"/>
        </a:xfrm>
      </p:grpSpPr>
      <p:sp>
        <p:nvSpPr>
          <p:cNvPr id="118" name="Title 1">
            <a:extLst>
              <a:ext uri="{FF2B5EF4-FFF2-40B4-BE49-F238E27FC236}">
                <a16:creationId xmlns:a16="http://schemas.microsoft.com/office/drawing/2014/main" id="{5DD73793-0F67-276E-DCF8-8720138A78C0}"/>
              </a:ext>
            </a:extLst>
          </p:cNvPr>
          <p:cNvSpPr>
            <a:spLocks noGrp="1"/>
          </p:cNvSpPr>
          <p:nvPr>
            <p:ph type="title"/>
          </p:nvPr>
        </p:nvSpPr>
        <p:spPr>
          <a:xfrm>
            <a:off x="319713" y="221013"/>
            <a:ext cx="11704320" cy="664797"/>
          </a:xfrm>
        </p:spPr>
        <p:txBody>
          <a:bodyPr/>
          <a:lstStyle/>
          <a:p>
            <a:r>
              <a:rPr lang="en-US" sz="2400" kern="1200">
                <a:solidFill>
                  <a:schemeClr val="accent1"/>
                </a:solidFill>
                <a:latin typeface="+mj-lt"/>
                <a:ea typeface="+mj-ea"/>
                <a:cs typeface="+mj-cs"/>
              </a:rPr>
              <a:t>We apply a </a:t>
            </a:r>
            <a:r>
              <a:rPr lang="en-US" sz="2400">
                <a:solidFill>
                  <a:schemeClr val="accent2">
                    <a:lumMod val="75000"/>
                  </a:schemeClr>
                </a:solidFill>
              </a:rPr>
              <a:t>Value vs. Cost </a:t>
            </a:r>
            <a:r>
              <a:rPr lang="en-US" sz="2400" kern="1200">
                <a:solidFill>
                  <a:schemeClr val="accent1"/>
                </a:solidFill>
                <a:latin typeface="+mj-lt"/>
                <a:ea typeface="+mj-ea"/>
                <a:cs typeface="+mj-cs"/>
              </a:rPr>
              <a:t>framework to identify and prioritize high-ROI use cases in industry verticals (Ex: </a:t>
            </a:r>
            <a:r>
              <a:rPr lang="en-US" sz="2400">
                <a:solidFill>
                  <a:schemeClr val="accent2">
                    <a:lumMod val="75000"/>
                  </a:schemeClr>
                </a:solidFill>
              </a:rPr>
              <a:t>Retail)</a:t>
            </a:r>
            <a:endParaRPr lang="en-US" sz="2400" kern="1200">
              <a:solidFill>
                <a:schemeClr val="accent1"/>
              </a:solidFill>
              <a:latin typeface="+mj-lt"/>
              <a:ea typeface="+mj-ea"/>
              <a:cs typeface="+mj-cs"/>
            </a:endParaRPr>
          </a:p>
        </p:txBody>
      </p:sp>
      <p:sp>
        <p:nvSpPr>
          <p:cNvPr id="2" name="object 4">
            <a:extLst>
              <a:ext uri="{FF2B5EF4-FFF2-40B4-BE49-F238E27FC236}">
                <a16:creationId xmlns:a16="http://schemas.microsoft.com/office/drawing/2014/main" id="{85336839-8157-4DC0-0B39-AD3D168DC75D}"/>
              </a:ext>
            </a:extLst>
          </p:cNvPr>
          <p:cNvSpPr/>
          <p:nvPr/>
        </p:nvSpPr>
        <p:spPr>
          <a:xfrm>
            <a:off x="1352226" y="1418666"/>
            <a:ext cx="10030748" cy="4044988"/>
          </a:xfrm>
          <a:custGeom>
            <a:avLst/>
            <a:gdLst/>
            <a:ahLst/>
            <a:cxnLst/>
            <a:rect l="l" t="t" r="r" b="b"/>
            <a:pathLst>
              <a:path w="7840980" h="4516755">
                <a:moveTo>
                  <a:pt x="0" y="0"/>
                </a:moveTo>
                <a:lnTo>
                  <a:pt x="0" y="4516335"/>
                </a:lnTo>
                <a:lnTo>
                  <a:pt x="7840484" y="4516335"/>
                </a:lnTo>
              </a:path>
            </a:pathLst>
          </a:custGeom>
          <a:ln w="12700">
            <a:solidFill>
              <a:srgbClr val="6E7878"/>
            </a:solidFill>
            <a:headEnd type="triangle" w="lg" len="med"/>
            <a:tailEnd type="triangle" w="lg" len="med"/>
          </a:ln>
        </p:spPr>
        <p:txBody>
          <a:bodyPr wrap="square" lIns="0" tIns="0" rIns="0" bIns="0" rtlCol="0"/>
          <a:lstStyle/>
          <a:p>
            <a:endParaRPr sz="1808">
              <a:latin typeface="Tahoma (Body)"/>
            </a:endParaRPr>
          </a:p>
        </p:txBody>
      </p:sp>
      <p:sp>
        <p:nvSpPr>
          <p:cNvPr id="3" name="object 9">
            <a:extLst>
              <a:ext uri="{FF2B5EF4-FFF2-40B4-BE49-F238E27FC236}">
                <a16:creationId xmlns:a16="http://schemas.microsoft.com/office/drawing/2014/main" id="{14425EC0-3B1B-40F2-4C3A-2948EF82DC89}"/>
              </a:ext>
            </a:extLst>
          </p:cNvPr>
          <p:cNvSpPr txBox="1"/>
          <p:nvPr/>
        </p:nvSpPr>
        <p:spPr>
          <a:xfrm>
            <a:off x="777758" y="2607573"/>
            <a:ext cx="420411" cy="229418"/>
          </a:xfrm>
          <a:prstGeom prst="rect">
            <a:avLst/>
          </a:prstGeom>
        </p:spPr>
        <p:txBody>
          <a:bodyPr vert="horz" wrap="square" lIns="0" tIns="12759" rIns="0" bIns="0" rtlCol="0">
            <a:spAutoFit/>
          </a:bodyPr>
          <a:lstStyle/>
          <a:p>
            <a:pPr marL="12760" algn="r">
              <a:spcBef>
                <a:spcPts val="100"/>
              </a:spcBef>
            </a:pPr>
            <a:r>
              <a:rPr lang="en-US" sz="1407" spc="-20">
                <a:latin typeface="Tahoma (Body)"/>
                <a:cs typeface="Graphik Regular"/>
              </a:rPr>
              <a:t>High</a:t>
            </a:r>
            <a:endParaRPr lang="en-US" sz="1407">
              <a:latin typeface="Tahoma (Body)"/>
              <a:cs typeface="Graphik Regular"/>
            </a:endParaRPr>
          </a:p>
        </p:txBody>
      </p:sp>
      <p:sp>
        <p:nvSpPr>
          <p:cNvPr id="5" name="object 10">
            <a:extLst>
              <a:ext uri="{FF2B5EF4-FFF2-40B4-BE49-F238E27FC236}">
                <a16:creationId xmlns:a16="http://schemas.microsoft.com/office/drawing/2014/main" id="{07580AA0-5E45-8DAA-B402-CECAF40736D7}"/>
              </a:ext>
            </a:extLst>
          </p:cNvPr>
          <p:cNvSpPr txBox="1"/>
          <p:nvPr/>
        </p:nvSpPr>
        <p:spPr>
          <a:xfrm>
            <a:off x="796067" y="5289502"/>
            <a:ext cx="402102" cy="229418"/>
          </a:xfrm>
          <a:prstGeom prst="rect">
            <a:avLst/>
          </a:prstGeom>
        </p:spPr>
        <p:txBody>
          <a:bodyPr vert="horz" wrap="square" lIns="0" tIns="12759" rIns="0" bIns="0" rtlCol="0">
            <a:spAutoFit/>
          </a:bodyPr>
          <a:lstStyle/>
          <a:p>
            <a:pPr marL="12760" algn="r">
              <a:spcBef>
                <a:spcPts val="100"/>
              </a:spcBef>
            </a:pPr>
            <a:r>
              <a:rPr lang="en-US" sz="1407" spc="-25">
                <a:latin typeface="Tahoma (Body)"/>
                <a:cs typeface="Graphik Regular"/>
              </a:rPr>
              <a:t>Low</a:t>
            </a:r>
            <a:endParaRPr lang="en-US" sz="1407">
              <a:latin typeface="Tahoma (Body)"/>
              <a:cs typeface="Graphik Regular"/>
            </a:endParaRPr>
          </a:p>
        </p:txBody>
      </p:sp>
      <p:sp>
        <p:nvSpPr>
          <p:cNvPr id="6" name="object 11">
            <a:extLst>
              <a:ext uri="{FF2B5EF4-FFF2-40B4-BE49-F238E27FC236}">
                <a16:creationId xmlns:a16="http://schemas.microsoft.com/office/drawing/2014/main" id="{B3D1C67A-EDC6-BC9F-9682-96A229E2C02F}"/>
              </a:ext>
            </a:extLst>
          </p:cNvPr>
          <p:cNvSpPr txBox="1"/>
          <p:nvPr/>
        </p:nvSpPr>
        <p:spPr>
          <a:xfrm>
            <a:off x="4784122" y="5659022"/>
            <a:ext cx="3501462" cy="213836"/>
          </a:xfrm>
          <a:prstGeom prst="rect">
            <a:avLst/>
          </a:prstGeom>
        </p:spPr>
        <p:txBody>
          <a:bodyPr vert="horz" wrap="square" lIns="0" tIns="12759" rIns="0" bIns="0" rtlCol="0">
            <a:spAutoFit/>
          </a:bodyPr>
          <a:lstStyle/>
          <a:p>
            <a:pPr marL="12760">
              <a:spcBef>
                <a:spcPts val="100"/>
              </a:spcBef>
            </a:pPr>
            <a:r>
              <a:rPr lang="en-US" sz="1306" b="1">
                <a:latin typeface="Tahoma (Body)"/>
                <a:cs typeface="Graphik Bold"/>
              </a:rPr>
              <a:t>* AI</a:t>
            </a:r>
            <a:r>
              <a:rPr lang="en-US" sz="1306" b="1" spc="-20">
                <a:latin typeface="Tahoma (Body)"/>
                <a:cs typeface="Graphik Bold"/>
              </a:rPr>
              <a:t> Total</a:t>
            </a:r>
            <a:r>
              <a:rPr lang="en-US" sz="1306" b="1" spc="-15">
                <a:latin typeface="Tahoma (Body)"/>
                <a:cs typeface="Graphik Bold"/>
              </a:rPr>
              <a:t> </a:t>
            </a:r>
            <a:r>
              <a:rPr lang="en-US" sz="1306" b="1">
                <a:latin typeface="Tahoma (Body)"/>
                <a:cs typeface="Graphik Bold"/>
              </a:rPr>
              <a:t>Cost,</a:t>
            </a:r>
            <a:r>
              <a:rPr lang="en-US" sz="1306" b="1" spc="216">
                <a:latin typeface="Tahoma (Body)"/>
                <a:cs typeface="Graphik Bold"/>
              </a:rPr>
              <a:t> </a:t>
            </a:r>
            <a:r>
              <a:rPr lang="en-US" sz="1306" b="1" spc="-10">
                <a:latin typeface="Tahoma (Body)"/>
                <a:cs typeface="Graphik Bold"/>
              </a:rPr>
              <a:t>Complexity</a:t>
            </a:r>
            <a:r>
              <a:rPr lang="en-US" sz="1306" b="1" spc="-15">
                <a:latin typeface="Tahoma (Body)"/>
                <a:cs typeface="Graphik Bold"/>
              </a:rPr>
              <a:t> </a:t>
            </a:r>
            <a:r>
              <a:rPr lang="en-US" sz="1306" b="1">
                <a:latin typeface="Tahoma (Body)"/>
                <a:cs typeface="Graphik Bold"/>
              </a:rPr>
              <a:t>and</a:t>
            </a:r>
            <a:r>
              <a:rPr lang="en-US" sz="1306" b="1" spc="-15">
                <a:latin typeface="Tahoma (Body)"/>
                <a:cs typeface="Graphik Bold"/>
              </a:rPr>
              <a:t> </a:t>
            </a:r>
            <a:r>
              <a:rPr lang="en-US" sz="1306" b="1" spc="-20">
                <a:latin typeface="Tahoma (Body)"/>
                <a:cs typeface="Graphik Bold"/>
              </a:rPr>
              <a:t>Risk</a:t>
            </a:r>
            <a:endParaRPr lang="en-US" sz="1306">
              <a:latin typeface="Tahoma (Body)"/>
              <a:cs typeface="Graphik Regular"/>
            </a:endParaRPr>
          </a:p>
        </p:txBody>
      </p:sp>
      <p:sp>
        <p:nvSpPr>
          <p:cNvPr id="7" name="object 12">
            <a:extLst>
              <a:ext uri="{FF2B5EF4-FFF2-40B4-BE49-F238E27FC236}">
                <a16:creationId xmlns:a16="http://schemas.microsoft.com/office/drawing/2014/main" id="{1BCB7BE3-048E-1A3C-DFEE-832115E0B842}"/>
              </a:ext>
            </a:extLst>
          </p:cNvPr>
          <p:cNvSpPr txBox="1"/>
          <p:nvPr/>
        </p:nvSpPr>
        <p:spPr>
          <a:xfrm>
            <a:off x="1374664" y="5535982"/>
            <a:ext cx="365547" cy="229418"/>
          </a:xfrm>
          <a:prstGeom prst="rect">
            <a:avLst/>
          </a:prstGeom>
        </p:spPr>
        <p:txBody>
          <a:bodyPr vert="horz" wrap="square" lIns="0" tIns="12759" rIns="0" bIns="0" rtlCol="0">
            <a:spAutoFit/>
          </a:bodyPr>
          <a:lstStyle/>
          <a:p>
            <a:pPr marL="12760">
              <a:spcBef>
                <a:spcPts val="100"/>
              </a:spcBef>
            </a:pPr>
            <a:r>
              <a:rPr lang="en-US" sz="1407" spc="-25">
                <a:latin typeface="Tahoma (Body)"/>
                <a:cs typeface="Graphik Regular"/>
              </a:rPr>
              <a:t>Low</a:t>
            </a:r>
            <a:endParaRPr lang="en-US" sz="1407">
              <a:latin typeface="Tahoma (Body)"/>
              <a:cs typeface="Graphik Regular"/>
            </a:endParaRPr>
          </a:p>
        </p:txBody>
      </p:sp>
      <p:sp>
        <p:nvSpPr>
          <p:cNvPr id="8" name="object 13">
            <a:extLst>
              <a:ext uri="{FF2B5EF4-FFF2-40B4-BE49-F238E27FC236}">
                <a16:creationId xmlns:a16="http://schemas.microsoft.com/office/drawing/2014/main" id="{998EB258-0309-0CF5-726C-025921E60F93}"/>
              </a:ext>
            </a:extLst>
          </p:cNvPr>
          <p:cNvSpPr txBox="1"/>
          <p:nvPr/>
        </p:nvSpPr>
        <p:spPr>
          <a:xfrm>
            <a:off x="10994837" y="5535982"/>
            <a:ext cx="420411" cy="229418"/>
          </a:xfrm>
          <a:prstGeom prst="rect">
            <a:avLst/>
          </a:prstGeom>
        </p:spPr>
        <p:txBody>
          <a:bodyPr vert="horz" wrap="square" lIns="0" tIns="12759" rIns="0" bIns="0" rtlCol="0">
            <a:spAutoFit/>
          </a:bodyPr>
          <a:lstStyle/>
          <a:p>
            <a:pPr marL="12760">
              <a:spcBef>
                <a:spcPts val="100"/>
              </a:spcBef>
            </a:pPr>
            <a:r>
              <a:rPr lang="en-US" sz="1407" spc="-20">
                <a:latin typeface="Tahoma (Body)"/>
                <a:cs typeface="Graphik Regular"/>
              </a:rPr>
              <a:t>High</a:t>
            </a:r>
            <a:endParaRPr lang="en-US" sz="1407">
              <a:latin typeface="Tahoma (Body)"/>
              <a:cs typeface="Graphik Regular"/>
            </a:endParaRPr>
          </a:p>
        </p:txBody>
      </p:sp>
      <p:sp>
        <p:nvSpPr>
          <p:cNvPr id="9" name="object 14">
            <a:extLst>
              <a:ext uri="{FF2B5EF4-FFF2-40B4-BE49-F238E27FC236}">
                <a16:creationId xmlns:a16="http://schemas.microsoft.com/office/drawing/2014/main" id="{955AE64B-8828-F8D1-373F-9896914E4304}"/>
              </a:ext>
            </a:extLst>
          </p:cNvPr>
          <p:cNvSpPr txBox="1"/>
          <p:nvPr/>
        </p:nvSpPr>
        <p:spPr>
          <a:xfrm>
            <a:off x="454024" y="2066382"/>
            <a:ext cx="216534" cy="2805900"/>
          </a:xfrm>
          <a:prstGeom prst="rect">
            <a:avLst/>
          </a:prstGeom>
        </p:spPr>
        <p:txBody>
          <a:bodyPr vert="vert270" wrap="square" lIns="0" tIns="37001" rIns="0" bIns="0" rtlCol="0">
            <a:spAutoFit/>
          </a:bodyPr>
          <a:lstStyle/>
          <a:p>
            <a:pPr marL="12760">
              <a:spcBef>
                <a:spcPts val="291"/>
              </a:spcBef>
            </a:pPr>
            <a:r>
              <a:rPr lang="en-US" sz="1407" b="1" spc="-20">
                <a:latin typeface="Tahoma (Body)"/>
                <a:cs typeface="Graphik Bold"/>
              </a:rPr>
              <a:t>Value </a:t>
            </a:r>
            <a:r>
              <a:rPr lang="en-US" sz="1407" b="1">
                <a:latin typeface="Tahoma (Body)"/>
                <a:cs typeface="Graphik Bold"/>
              </a:rPr>
              <a:t>and</a:t>
            </a:r>
            <a:r>
              <a:rPr lang="en-US" sz="1407" b="1" spc="-15">
                <a:latin typeface="Tahoma (Body)"/>
                <a:cs typeface="Graphik Bold"/>
              </a:rPr>
              <a:t> </a:t>
            </a:r>
            <a:r>
              <a:rPr lang="en-US" sz="1407" b="1" spc="-10">
                <a:latin typeface="Tahoma (Body)"/>
                <a:cs typeface="Graphik Bold"/>
              </a:rPr>
              <a:t>Competitive</a:t>
            </a:r>
            <a:r>
              <a:rPr lang="en-US" sz="1407" b="1" spc="-20">
                <a:latin typeface="Tahoma (Body)"/>
                <a:cs typeface="Graphik Bold"/>
              </a:rPr>
              <a:t> </a:t>
            </a:r>
            <a:r>
              <a:rPr lang="en-US" sz="1407" b="1" spc="-10">
                <a:latin typeface="Tahoma (Body)"/>
                <a:cs typeface="Graphik Bold"/>
              </a:rPr>
              <a:t>Impact</a:t>
            </a:r>
            <a:endParaRPr lang="en-US" sz="1407">
              <a:latin typeface="Tahoma (Body)"/>
              <a:cs typeface="Graphik Regular"/>
            </a:endParaRPr>
          </a:p>
        </p:txBody>
      </p:sp>
      <p:sp>
        <p:nvSpPr>
          <p:cNvPr id="10" name="object 15">
            <a:extLst>
              <a:ext uri="{FF2B5EF4-FFF2-40B4-BE49-F238E27FC236}">
                <a16:creationId xmlns:a16="http://schemas.microsoft.com/office/drawing/2014/main" id="{62D8D3C1-2649-DC62-864E-549E07C271CA}"/>
              </a:ext>
            </a:extLst>
          </p:cNvPr>
          <p:cNvSpPr txBox="1"/>
          <p:nvPr/>
        </p:nvSpPr>
        <p:spPr>
          <a:xfrm>
            <a:off x="1402466" y="4016738"/>
            <a:ext cx="3200400" cy="1097280"/>
          </a:xfrm>
          <a:prstGeom prst="rect">
            <a:avLst/>
          </a:prstGeom>
          <a:solidFill>
            <a:srgbClr val="002856"/>
          </a:solidFill>
        </p:spPr>
        <p:txBody>
          <a:bodyPr vert="horz" wrap="square" lIns="91440" tIns="91440" rIns="91440" bIns="91440" rtlCol="0">
            <a:noAutofit/>
          </a:bodyPr>
          <a:lstStyle/>
          <a:p>
            <a:pPr marL="127594" marR="5104" indent="-114834">
              <a:lnSpc>
                <a:spcPct val="102600"/>
              </a:lnSpc>
              <a:spcBef>
                <a:spcPts val="60"/>
              </a:spcBef>
              <a:buChar char="•"/>
              <a:tabLst>
                <a:tab pos="127594" algn="l"/>
              </a:tabLst>
            </a:pPr>
            <a:r>
              <a:rPr lang="en-US" sz="1050" spc="-10">
                <a:solidFill>
                  <a:srgbClr val="FFFFFF"/>
                </a:solidFill>
                <a:latin typeface="Tahoma (Body)"/>
                <a:cs typeface="Graphik Medium"/>
              </a:rPr>
              <a:t>AI-driven Fraud Detection </a:t>
            </a:r>
          </a:p>
          <a:p>
            <a:pPr marL="127594" marR="5104" indent="-114834">
              <a:lnSpc>
                <a:spcPct val="102600"/>
              </a:lnSpc>
              <a:spcBef>
                <a:spcPts val="60"/>
              </a:spcBef>
              <a:buChar char="•"/>
              <a:tabLst>
                <a:tab pos="127594" algn="l"/>
              </a:tabLst>
            </a:pPr>
            <a:r>
              <a:rPr lang="en-US" sz="1050" spc="-10">
                <a:solidFill>
                  <a:srgbClr val="FFFFFF"/>
                </a:solidFill>
                <a:latin typeface="Tahoma (Body)"/>
                <a:cs typeface="Graphik Medium"/>
              </a:rPr>
              <a:t>Customer Service Automation</a:t>
            </a:r>
          </a:p>
          <a:p>
            <a:pPr marL="127594" marR="5104" indent="-114834">
              <a:lnSpc>
                <a:spcPct val="102600"/>
              </a:lnSpc>
              <a:spcBef>
                <a:spcPts val="60"/>
              </a:spcBef>
              <a:buChar char="•"/>
              <a:tabLst>
                <a:tab pos="127594" algn="l"/>
              </a:tabLst>
            </a:pPr>
            <a:r>
              <a:rPr lang="en-US" sz="1050" spc="-10">
                <a:solidFill>
                  <a:srgbClr val="FFFFFF"/>
                </a:solidFill>
                <a:latin typeface="Tahoma (Body)"/>
                <a:cs typeface="Graphik Medium"/>
              </a:rPr>
              <a:t>AI for Regulatory Compliance</a:t>
            </a:r>
          </a:p>
          <a:p>
            <a:pPr marL="127594" marR="5104" indent="-114834">
              <a:lnSpc>
                <a:spcPct val="102600"/>
              </a:lnSpc>
              <a:spcBef>
                <a:spcPts val="60"/>
              </a:spcBef>
              <a:buChar char="•"/>
              <a:tabLst>
                <a:tab pos="127594" algn="l"/>
              </a:tabLst>
            </a:pPr>
            <a:r>
              <a:rPr lang="en-US" sz="1050" spc="-10">
                <a:solidFill>
                  <a:srgbClr val="FFFFFF"/>
                </a:solidFill>
                <a:latin typeface="Tahoma (Body)"/>
                <a:cs typeface="Graphik Medium"/>
              </a:rPr>
              <a:t>Intelligent Automation of Operational Tasks</a:t>
            </a:r>
            <a:endParaRPr lang="en-US" sz="1050">
              <a:latin typeface="Tahoma (Body)"/>
              <a:cs typeface="Graphik Medium"/>
            </a:endParaRPr>
          </a:p>
          <a:p>
            <a:pPr marL="126955" indent="-114195">
              <a:spcBef>
                <a:spcPts val="40"/>
              </a:spcBef>
              <a:buChar char="•"/>
              <a:tabLst>
                <a:tab pos="126955" algn="l"/>
              </a:tabLst>
            </a:pPr>
            <a:r>
              <a:rPr lang="en-US" sz="1050" spc="-10">
                <a:solidFill>
                  <a:srgbClr val="FFFFFF"/>
                </a:solidFill>
                <a:latin typeface="Tahoma (Body)"/>
              </a:rPr>
              <a:t>Coding Assistants</a:t>
            </a:r>
          </a:p>
        </p:txBody>
      </p:sp>
      <p:sp>
        <p:nvSpPr>
          <p:cNvPr id="11" name="object 16">
            <a:extLst>
              <a:ext uri="{FF2B5EF4-FFF2-40B4-BE49-F238E27FC236}">
                <a16:creationId xmlns:a16="http://schemas.microsoft.com/office/drawing/2014/main" id="{3F767526-9BEA-FD39-5B20-28E3072B2751}"/>
              </a:ext>
            </a:extLst>
          </p:cNvPr>
          <p:cNvSpPr txBox="1"/>
          <p:nvPr/>
        </p:nvSpPr>
        <p:spPr>
          <a:xfrm>
            <a:off x="1395373" y="1859958"/>
            <a:ext cx="3200400" cy="707805"/>
          </a:xfrm>
          <a:prstGeom prst="rect">
            <a:avLst/>
          </a:prstGeom>
        </p:spPr>
        <p:txBody>
          <a:bodyPr vert="horz" wrap="square" lIns="0" tIns="10207" rIns="0" bIns="0" rtlCol="0">
            <a:spAutoFit/>
          </a:bodyPr>
          <a:lstStyle/>
          <a:p>
            <a:pPr marL="12760" marR="5104" algn="ctr">
              <a:lnSpc>
                <a:spcPct val="101200"/>
              </a:lnSpc>
              <a:spcBef>
                <a:spcPts val="80"/>
              </a:spcBef>
            </a:pPr>
            <a:r>
              <a:rPr lang="en-US" b="1" spc="-10">
                <a:latin typeface="Tahoma (Body)"/>
                <a:cs typeface="Graphik Regular"/>
              </a:rPr>
              <a:t>Defend</a:t>
            </a:r>
            <a:r>
              <a:rPr lang="en-US" sz="1400" b="1" spc="-10">
                <a:latin typeface="Tahoma (Body)"/>
                <a:cs typeface="Graphik Regular"/>
              </a:rPr>
              <a:t> </a:t>
            </a:r>
            <a:r>
              <a:rPr lang="en-US" sz="1400" spc="-10">
                <a:latin typeface="Tahoma (Body)"/>
                <a:cs typeface="Graphik Regular"/>
              </a:rPr>
              <a:t>through protecting core value enabling operational stability &amp;  compliance and cost reductions</a:t>
            </a:r>
            <a:endParaRPr lang="en-US" sz="1400">
              <a:latin typeface="Tahoma (Body)"/>
              <a:cs typeface="Graphik Regular"/>
            </a:endParaRPr>
          </a:p>
        </p:txBody>
      </p:sp>
      <p:sp>
        <p:nvSpPr>
          <p:cNvPr id="18" name="object 18">
            <a:extLst>
              <a:ext uri="{FF2B5EF4-FFF2-40B4-BE49-F238E27FC236}">
                <a16:creationId xmlns:a16="http://schemas.microsoft.com/office/drawing/2014/main" id="{27310DCE-CA10-6EB2-7BF2-C63D946631E2}"/>
              </a:ext>
            </a:extLst>
          </p:cNvPr>
          <p:cNvSpPr txBox="1"/>
          <p:nvPr/>
        </p:nvSpPr>
        <p:spPr>
          <a:xfrm>
            <a:off x="4814293" y="1859959"/>
            <a:ext cx="3102559" cy="707805"/>
          </a:xfrm>
          <a:prstGeom prst="rect">
            <a:avLst/>
          </a:prstGeom>
        </p:spPr>
        <p:txBody>
          <a:bodyPr vert="horz" wrap="square" lIns="0" tIns="10207" rIns="0" bIns="0" rtlCol="0">
            <a:spAutoFit/>
          </a:bodyPr>
          <a:lstStyle/>
          <a:p>
            <a:pPr marL="12760" marR="5104" algn="ctr">
              <a:lnSpc>
                <a:spcPct val="101200"/>
              </a:lnSpc>
              <a:spcBef>
                <a:spcPts val="80"/>
              </a:spcBef>
            </a:pPr>
            <a:r>
              <a:rPr lang="en-US" b="1">
                <a:latin typeface="Tahoma (Body)"/>
                <a:cs typeface="Graphik Bold"/>
              </a:rPr>
              <a:t>Extend</a:t>
            </a:r>
            <a:r>
              <a:rPr lang="en-US" sz="1407" b="1" spc="70">
                <a:latin typeface="Tahoma (Body)"/>
                <a:cs typeface="Graphik Bold"/>
              </a:rPr>
              <a:t> </a:t>
            </a:r>
            <a:r>
              <a:rPr lang="en-US" sz="1400">
                <a:latin typeface="Tahoma (Body)"/>
              </a:rPr>
              <a:t>through optimizing existing processes enabling efficiencies and value expansion</a:t>
            </a:r>
          </a:p>
        </p:txBody>
      </p:sp>
      <p:sp>
        <p:nvSpPr>
          <p:cNvPr id="19" name="object 19">
            <a:extLst>
              <a:ext uri="{FF2B5EF4-FFF2-40B4-BE49-F238E27FC236}">
                <a16:creationId xmlns:a16="http://schemas.microsoft.com/office/drawing/2014/main" id="{8203FC56-3A31-D747-E18F-6685D1F58B15}"/>
              </a:ext>
            </a:extLst>
          </p:cNvPr>
          <p:cNvSpPr txBox="1"/>
          <p:nvPr/>
        </p:nvSpPr>
        <p:spPr>
          <a:xfrm>
            <a:off x="4722190" y="3513093"/>
            <a:ext cx="3291840" cy="1097280"/>
          </a:xfrm>
          <a:prstGeom prst="rect">
            <a:avLst/>
          </a:prstGeom>
          <a:solidFill>
            <a:srgbClr val="002856"/>
          </a:solidFill>
        </p:spPr>
        <p:txBody>
          <a:bodyPr vert="horz" wrap="square" lIns="91440" tIns="91440" rIns="91440" bIns="91440" rtlCol="0">
            <a:noAutofit/>
          </a:bodyPr>
          <a:lstStyle>
            <a:defPPr>
              <a:defRPr lang="en-US"/>
            </a:defPPr>
            <a:lvl1pPr marL="127597" marR="5104" indent="-114837">
              <a:lnSpc>
                <a:spcPct val="102600"/>
              </a:lnSpc>
              <a:spcBef>
                <a:spcPts val="60"/>
              </a:spcBef>
              <a:buChar char="•"/>
              <a:tabLst>
                <a:tab pos="127597" algn="l"/>
              </a:tabLst>
              <a:defRPr sz="1200" spc="-10">
                <a:solidFill>
                  <a:srgbClr val="FFFFFF"/>
                </a:solidFill>
                <a:cs typeface="Graphik Medium"/>
              </a:defRPr>
            </a:lvl1pPr>
          </a:lstStyle>
          <a:p>
            <a:r>
              <a:rPr lang="en-US" sz="1050">
                <a:latin typeface="Tahoma (Body)"/>
              </a:rPr>
              <a:t>Personalized Product Recommendations</a:t>
            </a:r>
          </a:p>
          <a:p>
            <a:r>
              <a:rPr lang="en-US" sz="1050">
                <a:latin typeface="Tahoma (Body)"/>
              </a:rPr>
              <a:t>Demand Forecasting with ML</a:t>
            </a:r>
          </a:p>
          <a:p>
            <a:r>
              <a:rPr lang="en-US" sz="1050">
                <a:latin typeface="Tahoma (Body)"/>
              </a:rPr>
              <a:t>Dynamic Pricing Optimization</a:t>
            </a:r>
          </a:p>
          <a:p>
            <a:r>
              <a:rPr lang="en-US" sz="1050">
                <a:latin typeface="Tahoma (Body)"/>
              </a:rPr>
              <a:t>Personalized Sales &amp; Marketing</a:t>
            </a:r>
          </a:p>
          <a:p>
            <a:r>
              <a:rPr lang="en-US" sz="1050">
                <a:latin typeface="Tahoma (Body)"/>
              </a:rPr>
              <a:t>Financial Forecasting &amp; Closing</a:t>
            </a:r>
          </a:p>
        </p:txBody>
      </p:sp>
      <p:sp>
        <p:nvSpPr>
          <p:cNvPr id="20" name="object 20">
            <a:extLst>
              <a:ext uri="{FF2B5EF4-FFF2-40B4-BE49-F238E27FC236}">
                <a16:creationId xmlns:a16="http://schemas.microsoft.com/office/drawing/2014/main" id="{B6EC9E2C-D4A1-BF8B-3FBA-ACF4FBB98FA4}"/>
              </a:ext>
            </a:extLst>
          </p:cNvPr>
          <p:cNvSpPr txBox="1"/>
          <p:nvPr/>
        </p:nvSpPr>
        <p:spPr>
          <a:xfrm>
            <a:off x="8275189" y="1859959"/>
            <a:ext cx="3200400" cy="490182"/>
          </a:xfrm>
          <a:prstGeom prst="rect">
            <a:avLst/>
          </a:prstGeom>
        </p:spPr>
        <p:txBody>
          <a:bodyPr vert="horz" wrap="square" lIns="0" tIns="10207" rIns="0" bIns="0" rtlCol="0">
            <a:spAutoFit/>
          </a:bodyPr>
          <a:lstStyle/>
          <a:p>
            <a:pPr marL="12760" marR="5104" algn="ctr">
              <a:lnSpc>
                <a:spcPct val="101200"/>
              </a:lnSpc>
              <a:spcBef>
                <a:spcPts val="80"/>
              </a:spcBef>
            </a:pPr>
            <a:r>
              <a:rPr lang="en-US" b="1">
                <a:latin typeface="Tahoma (Body)"/>
                <a:cs typeface="Graphik Bold"/>
              </a:rPr>
              <a:t>Upend</a:t>
            </a:r>
            <a:r>
              <a:rPr lang="en-US" sz="1407" b="1">
                <a:latin typeface="Tahoma (Body)"/>
                <a:cs typeface="Graphik Bold"/>
              </a:rPr>
              <a:t> </a:t>
            </a:r>
            <a:r>
              <a:rPr lang="en-US" sz="1400">
                <a:latin typeface="Tahoma (Body)"/>
                <a:cs typeface="Graphik Bold"/>
              </a:rPr>
              <a:t>by innovating and </a:t>
            </a:r>
            <a:r>
              <a:rPr lang="en-US" sz="1400">
                <a:latin typeface="Tahoma (Body)"/>
                <a:cs typeface="Graphik Regular"/>
              </a:rPr>
              <a:t>creating</a:t>
            </a:r>
            <a:r>
              <a:rPr lang="en-US" sz="1400" spc="-50">
                <a:latin typeface="Tahoma (Body)"/>
                <a:cs typeface="Graphik Regular"/>
              </a:rPr>
              <a:t> net-</a:t>
            </a:r>
            <a:r>
              <a:rPr lang="en-US" sz="1400" spc="-25">
                <a:latin typeface="Tahoma (Body)"/>
                <a:cs typeface="Graphik Regular"/>
              </a:rPr>
              <a:t>new </a:t>
            </a:r>
            <a:r>
              <a:rPr lang="en-US" sz="1400">
                <a:latin typeface="Tahoma (Body)"/>
                <a:cs typeface="Graphik Regular"/>
              </a:rPr>
              <a:t>value to leap ahead</a:t>
            </a:r>
            <a:endParaRPr lang="en-US" sz="1407">
              <a:latin typeface="Tahoma (Body)"/>
              <a:cs typeface="Graphik Regular"/>
            </a:endParaRPr>
          </a:p>
        </p:txBody>
      </p:sp>
      <p:sp>
        <p:nvSpPr>
          <p:cNvPr id="21" name="object 21">
            <a:extLst>
              <a:ext uri="{FF2B5EF4-FFF2-40B4-BE49-F238E27FC236}">
                <a16:creationId xmlns:a16="http://schemas.microsoft.com/office/drawing/2014/main" id="{FC6E7534-B822-BB07-D3FB-3C47DC34807A}"/>
              </a:ext>
            </a:extLst>
          </p:cNvPr>
          <p:cNvSpPr txBox="1"/>
          <p:nvPr/>
        </p:nvSpPr>
        <p:spPr>
          <a:xfrm>
            <a:off x="8265858" y="3008966"/>
            <a:ext cx="3108960" cy="1097280"/>
          </a:xfrm>
          <a:prstGeom prst="rect">
            <a:avLst/>
          </a:prstGeom>
          <a:solidFill>
            <a:srgbClr val="002856"/>
          </a:solidFill>
        </p:spPr>
        <p:txBody>
          <a:bodyPr vert="horz" wrap="square" lIns="91440" tIns="91440" rIns="91440" bIns="91440" rtlCol="0">
            <a:noAutofit/>
          </a:bodyPr>
          <a:lstStyle>
            <a:defPPr>
              <a:defRPr lang="en-US"/>
            </a:defPPr>
            <a:lvl1pPr marL="127597" marR="5104" indent="-114837">
              <a:lnSpc>
                <a:spcPct val="102600"/>
              </a:lnSpc>
              <a:spcBef>
                <a:spcPts val="60"/>
              </a:spcBef>
              <a:buChar char="•"/>
              <a:tabLst>
                <a:tab pos="127597" algn="l"/>
              </a:tabLst>
              <a:defRPr sz="1200" spc="-10">
                <a:solidFill>
                  <a:srgbClr val="FFFFFF"/>
                </a:solidFill>
                <a:cs typeface="Graphik Medium"/>
              </a:defRPr>
            </a:lvl1pPr>
          </a:lstStyle>
          <a:p>
            <a:r>
              <a:rPr lang="en-US" sz="1050">
                <a:latin typeface="Tahoma (Body)"/>
              </a:rPr>
              <a:t>AI-powered virtual shopping assistants / stylists</a:t>
            </a:r>
          </a:p>
          <a:p>
            <a:r>
              <a:rPr lang="en-US" sz="1050">
                <a:latin typeface="Tahoma (Body)"/>
              </a:rPr>
              <a:t>Hyper-personalized marketing engines</a:t>
            </a:r>
          </a:p>
          <a:p>
            <a:r>
              <a:rPr lang="en-US" sz="1050">
                <a:latin typeface="Tahoma (Body)"/>
              </a:rPr>
              <a:t>Voice and visual search with AI</a:t>
            </a:r>
          </a:p>
          <a:p>
            <a:r>
              <a:rPr lang="en-US" sz="1050">
                <a:latin typeface="Tahoma (Body)"/>
              </a:rPr>
              <a:t>AI-generated product design (based on trend or customer data)</a:t>
            </a:r>
          </a:p>
        </p:txBody>
      </p:sp>
      <p:pic>
        <p:nvPicPr>
          <p:cNvPr id="22" name="Graphic 21">
            <a:extLst>
              <a:ext uri="{FF2B5EF4-FFF2-40B4-BE49-F238E27FC236}">
                <a16:creationId xmlns:a16="http://schemas.microsoft.com/office/drawing/2014/main" id="{7D8EF515-CF4A-4328-68C8-8FEA96116A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49475" y="1237950"/>
            <a:ext cx="685800" cy="533400"/>
          </a:xfrm>
          <a:prstGeom prst="rect">
            <a:avLst/>
          </a:prstGeom>
        </p:spPr>
      </p:pic>
      <p:pic>
        <p:nvPicPr>
          <p:cNvPr id="23" name="Graphic 22">
            <a:extLst>
              <a:ext uri="{FF2B5EF4-FFF2-40B4-BE49-F238E27FC236}">
                <a16:creationId xmlns:a16="http://schemas.microsoft.com/office/drawing/2014/main" id="{DC117F09-1EEE-380A-F721-02F0F50CDE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65147" y="1258655"/>
            <a:ext cx="685800" cy="533400"/>
          </a:xfrm>
          <a:prstGeom prst="rect">
            <a:avLst/>
          </a:prstGeom>
        </p:spPr>
      </p:pic>
      <p:pic>
        <p:nvPicPr>
          <p:cNvPr id="24" name="Graphic 23">
            <a:extLst>
              <a:ext uri="{FF2B5EF4-FFF2-40B4-BE49-F238E27FC236}">
                <a16:creationId xmlns:a16="http://schemas.microsoft.com/office/drawing/2014/main" id="{D14DCC96-ED57-1EAB-9C48-DC82DE5140A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33801" y="1257005"/>
            <a:ext cx="685800" cy="533400"/>
          </a:xfrm>
          <a:prstGeom prst="rect">
            <a:avLst/>
          </a:prstGeom>
        </p:spPr>
      </p:pic>
      <p:cxnSp>
        <p:nvCxnSpPr>
          <p:cNvPr id="28" name="Straight Connector 27">
            <a:extLst>
              <a:ext uri="{FF2B5EF4-FFF2-40B4-BE49-F238E27FC236}">
                <a16:creationId xmlns:a16="http://schemas.microsoft.com/office/drawing/2014/main" id="{ED57AD95-5A46-F20E-2BB9-9EF7F0E51EE5}"/>
              </a:ext>
            </a:extLst>
          </p:cNvPr>
          <p:cNvCxnSpPr/>
          <p:nvPr/>
        </p:nvCxnSpPr>
        <p:spPr>
          <a:xfrm>
            <a:off x="4634539" y="1524001"/>
            <a:ext cx="0" cy="3924861"/>
          </a:xfrm>
          <a:prstGeom prst="line">
            <a:avLst/>
          </a:prstGeom>
          <a:noFill/>
          <a:ln w="12700" cap="flat" cmpd="sng">
            <a:solidFill>
              <a:srgbClr val="6F7878"/>
            </a:solidFill>
            <a:prstDash val="dash"/>
            <a:round/>
            <a:headEnd type="none" w="lg" len="med"/>
            <a:tailEnd type="none" w="lg" len="med"/>
          </a:ln>
        </p:spPr>
      </p:cxnSp>
      <p:cxnSp>
        <p:nvCxnSpPr>
          <p:cNvPr id="29" name="Straight Connector 28">
            <a:extLst>
              <a:ext uri="{FF2B5EF4-FFF2-40B4-BE49-F238E27FC236}">
                <a16:creationId xmlns:a16="http://schemas.microsoft.com/office/drawing/2014/main" id="{C23E3424-73AE-31E1-4D2D-043553E0A64D}"/>
              </a:ext>
            </a:extLst>
          </p:cNvPr>
          <p:cNvCxnSpPr/>
          <p:nvPr/>
        </p:nvCxnSpPr>
        <p:spPr>
          <a:xfrm>
            <a:off x="8150211" y="1524001"/>
            <a:ext cx="0" cy="3924861"/>
          </a:xfrm>
          <a:prstGeom prst="line">
            <a:avLst/>
          </a:prstGeom>
          <a:noFill/>
          <a:ln w="12700" cap="flat" cmpd="sng">
            <a:solidFill>
              <a:srgbClr val="6F7878"/>
            </a:solidFill>
            <a:prstDash val="dash"/>
            <a:round/>
            <a:headEnd type="none" w="lg" len="med"/>
            <a:tailEnd type="none" w="lg" len="med"/>
          </a:ln>
        </p:spPr>
      </p:cxnSp>
      <p:sp>
        <p:nvSpPr>
          <p:cNvPr id="4" name="TextBox 3">
            <a:extLst>
              <a:ext uri="{FF2B5EF4-FFF2-40B4-BE49-F238E27FC236}">
                <a16:creationId xmlns:a16="http://schemas.microsoft.com/office/drawing/2014/main" id="{D7D50477-5608-7102-098E-87BE7847EED0}"/>
              </a:ext>
            </a:extLst>
          </p:cNvPr>
          <p:cNvSpPr txBox="1"/>
          <p:nvPr/>
        </p:nvSpPr>
        <p:spPr>
          <a:xfrm>
            <a:off x="4215200" y="6466741"/>
            <a:ext cx="3668550" cy="215444"/>
          </a:xfrm>
          <a:prstGeom prst="rect">
            <a:avLst/>
          </a:prstGeom>
          <a:noFill/>
        </p:spPr>
        <p:txBody>
          <a:bodyPr wrap="square" rtlCol="0">
            <a:spAutoFit/>
          </a:bodyPr>
          <a:lstStyle/>
          <a:p>
            <a:pPr algn="ctr"/>
            <a:r>
              <a:rPr lang="en-US" sz="800" b="1"/>
              <a:t>* Value and Cost Framework by Gartner</a:t>
            </a:r>
          </a:p>
        </p:txBody>
      </p:sp>
      <p:sp>
        <p:nvSpPr>
          <p:cNvPr id="13" name="object 15">
            <a:extLst>
              <a:ext uri="{FF2B5EF4-FFF2-40B4-BE49-F238E27FC236}">
                <a16:creationId xmlns:a16="http://schemas.microsoft.com/office/drawing/2014/main" id="{15880BA5-E39C-EE3C-0ADF-C13883BA0497}"/>
              </a:ext>
            </a:extLst>
          </p:cNvPr>
          <p:cNvSpPr txBox="1"/>
          <p:nvPr/>
        </p:nvSpPr>
        <p:spPr>
          <a:xfrm>
            <a:off x="1402466" y="5142618"/>
            <a:ext cx="3200400" cy="274320"/>
          </a:xfrm>
          <a:prstGeom prst="rect">
            <a:avLst/>
          </a:prstGeom>
          <a:solidFill>
            <a:schemeClr val="bg1">
              <a:lumMod val="95000"/>
            </a:schemeClr>
          </a:solidFill>
        </p:spPr>
        <p:txBody>
          <a:bodyPr vert="horz" wrap="square" lIns="91440" tIns="91440" rIns="91440" bIns="91440" rtlCol="0">
            <a:noAutofit/>
          </a:bodyPr>
          <a:lstStyle/>
          <a:p>
            <a:pPr marL="12760" marR="5104" algn="ctr">
              <a:lnSpc>
                <a:spcPct val="102600"/>
              </a:lnSpc>
              <a:spcBef>
                <a:spcPts val="60"/>
              </a:spcBef>
              <a:tabLst>
                <a:tab pos="127594" algn="l"/>
              </a:tabLst>
            </a:pPr>
            <a:r>
              <a:rPr lang="en-US" sz="1100" b="1" spc="-10">
                <a:solidFill>
                  <a:schemeClr val="tx2"/>
                </a:solidFill>
                <a:latin typeface="Tahoma (Body)"/>
                <a:cs typeface="Graphik Medium"/>
              </a:rPr>
              <a:t>10 - 20% ROI</a:t>
            </a:r>
            <a:endParaRPr lang="en-US" sz="1100" b="1" spc="-10">
              <a:solidFill>
                <a:schemeClr val="tx2"/>
              </a:solidFill>
              <a:latin typeface="Tahoma (Body)"/>
            </a:endParaRPr>
          </a:p>
        </p:txBody>
      </p:sp>
      <p:sp>
        <p:nvSpPr>
          <p:cNvPr id="14" name="object 15">
            <a:extLst>
              <a:ext uri="{FF2B5EF4-FFF2-40B4-BE49-F238E27FC236}">
                <a16:creationId xmlns:a16="http://schemas.microsoft.com/office/drawing/2014/main" id="{C71524D3-43FB-02D9-46B8-89B196013AEB}"/>
              </a:ext>
            </a:extLst>
          </p:cNvPr>
          <p:cNvSpPr txBox="1"/>
          <p:nvPr/>
        </p:nvSpPr>
        <p:spPr>
          <a:xfrm>
            <a:off x="4725976" y="4654108"/>
            <a:ext cx="3291840" cy="274320"/>
          </a:xfrm>
          <a:prstGeom prst="rect">
            <a:avLst/>
          </a:prstGeom>
          <a:solidFill>
            <a:schemeClr val="bg1">
              <a:lumMod val="95000"/>
            </a:schemeClr>
          </a:solidFill>
        </p:spPr>
        <p:txBody>
          <a:bodyPr vert="horz" wrap="square" lIns="91440" tIns="91440" rIns="91440" bIns="91440" rtlCol="0">
            <a:noAutofit/>
          </a:bodyPr>
          <a:lstStyle/>
          <a:p>
            <a:pPr marL="12760" marR="5104" algn="ctr">
              <a:lnSpc>
                <a:spcPct val="102600"/>
              </a:lnSpc>
              <a:spcBef>
                <a:spcPts val="60"/>
              </a:spcBef>
              <a:tabLst>
                <a:tab pos="127594" algn="l"/>
              </a:tabLst>
            </a:pPr>
            <a:r>
              <a:rPr lang="en-US" sz="1100" b="1" spc="-10">
                <a:solidFill>
                  <a:schemeClr val="tx2"/>
                </a:solidFill>
                <a:latin typeface="Tahoma (Body)"/>
                <a:cs typeface="Graphik Medium"/>
              </a:rPr>
              <a:t>20 - 60% ROI</a:t>
            </a:r>
            <a:endParaRPr lang="en-US" sz="1100" b="1" spc="-10">
              <a:solidFill>
                <a:schemeClr val="tx2"/>
              </a:solidFill>
              <a:latin typeface="Tahoma (Body)"/>
            </a:endParaRPr>
          </a:p>
        </p:txBody>
      </p:sp>
      <p:sp>
        <p:nvSpPr>
          <p:cNvPr id="15" name="object 15">
            <a:extLst>
              <a:ext uri="{FF2B5EF4-FFF2-40B4-BE49-F238E27FC236}">
                <a16:creationId xmlns:a16="http://schemas.microsoft.com/office/drawing/2014/main" id="{0593DAE8-75F1-178E-2D27-9D6CC5586498}"/>
              </a:ext>
            </a:extLst>
          </p:cNvPr>
          <p:cNvSpPr txBox="1"/>
          <p:nvPr/>
        </p:nvSpPr>
        <p:spPr>
          <a:xfrm>
            <a:off x="8266440" y="4149610"/>
            <a:ext cx="3108960" cy="274320"/>
          </a:xfrm>
          <a:prstGeom prst="rect">
            <a:avLst/>
          </a:prstGeom>
          <a:solidFill>
            <a:schemeClr val="bg1">
              <a:lumMod val="95000"/>
            </a:schemeClr>
          </a:solidFill>
        </p:spPr>
        <p:txBody>
          <a:bodyPr vert="horz" wrap="square" lIns="91440" tIns="91440" rIns="91440" bIns="91440" rtlCol="0">
            <a:noAutofit/>
          </a:bodyPr>
          <a:lstStyle/>
          <a:p>
            <a:pPr marL="12760" marR="5104" algn="ctr">
              <a:lnSpc>
                <a:spcPct val="102600"/>
              </a:lnSpc>
              <a:spcBef>
                <a:spcPts val="60"/>
              </a:spcBef>
              <a:tabLst>
                <a:tab pos="127594" algn="l"/>
              </a:tabLst>
            </a:pPr>
            <a:r>
              <a:rPr lang="en-US" sz="1100" b="1" spc="-10">
                <a:solidFill>
                  <a:schemeClr val="tx2"/>
                </a:solidFill>
                <a:latin typeface="Tahoma (Body)"/>
                <a:cs typeface="Graphik Medium"/>
              </a:rPr>
              <a:t>40 - 300% ROI</a:t>
            </a:r>
            <a:endParaRPr lang="en-US" sz="1100" b="1" spc="-10">
              <a:solidFill>
                <a:schemeClr val="tx2"/>
              </a:solidFill>
              <a:latin typeface="Tahoma (Body)"/>
            </a:endParaRPr>
          </a:p>
        </p:txBody>
      </p:sp>
    </p:spTree>
    <p:extLst>
      <p:ext uri="{BB962C8B-B14F-4D97-AF65-F5344CB8AC3E}">
        <p14:creationId xmlns:p14="http://schemas.microsoft.com/office/powerpoint/2010/main" val="15172576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Oval 23">
            <a:extLst>
              <a:ext uri="{FF2B5EF4-FFF2-40B4-BE49-F238E27FC236}">
                <a16:creationId xmlns:a16="http://schemas.microsoft.com/office/drawing/2014/main" id="{2F283EE8-73E1-8377-AF2B-8270DFD8AC4C}"/>
              </a:ext>
            </a:extLst>
          </p:cNvPr>
          <p:cNvSpPr/>
          <p:nvPr/>
        </p:nvSpPr>
        <p:spPr>
          <a:xfrm>
            <a:off x="2684988" y="2452206"/>
            <a:ext cx="2057400" cy="2057400"/>
          </a:xfrm>
          <a:prstGeom prst="ellipse">
            <a:avLst/>
          </a:prstGeom>
          <a:solidFill>
            <a:schemeClr val="accent1">
              <a:lumMod val="50000"/>
              <a:lumOff val="50000"/>
              <a:alpha val="67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0" name="Straight Connector 19">
            <a:extLst>
              <a:ext uri="{FF2B5EF4-FFF2-40B4-BE49-F238E27FC236}">
                <a16:creationId xmlns:a16="http://schemas.microsoft.com/office/drawing/2014/main" id="{B3FE99BE-9946-5A2F-12CC-55D29CCCF7E5}"/>
              </a:ext>
            </a:extLst>
          </p:cNvPr>
          <p:cNvCxnSpPr/>
          <p:nvPr/>
        </p:nvCxnSpPr>
        <p:spPr>
          <a:xfrm>
            <a:off x="3952875" y="1174019"/>
            <a:ext cx="0" cy="4251960"/>
          </a:xfrm>
          <a:prstGeom prst="line">
            <a:avLst/>
          </a:prstGeom>
          <a:ln>
            <a:solidFill>
              <a:schemeClr val="tx2">
                <a:lumMod val="25000"/>
                <a:lumOff val="7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3FC9AF2-A1E7-2C4F-DC57-BA7BAE387826}"/>
              </a:ext>
            </a:extLst>
          </p:cNvPr>
          <p:cNvCxnSpPr>
            <a:cxnSpLocks/>
          </p:cNvCxnSpPr>
          <p:nvPr/>
        </p:nvCxnSpPr>
        <p:spPr>
          <a:xfrm flipV="1">
            <a:off x="1329294" y="3226306"/>
            <a:ext cx="5554980" cy="0"/>
          </a:xfrm>
          <a:prstGeom prst="line">
            <a:avLst/>
          </a:prstGeom>
          <a:ln>
            <a:solidFill>
              <a:schemeClr val="tx2">
                <a:lumMod val="25000"/>
                <a:lumOff val="7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000310C-FF00-3C25-AA4C-B518916D9FA0}"/>
              </a:ext>
            </a:extLst>
          </p:cNvPr>
          <p:cNvSpPr txBox="1"/>
          <p:nvPr/>
        </p:nvSpPr>
        <p:spPr>
          <a:xfrm>
            <a:off x="4155536" y="5222819"/>
            <a:ext cx="763407" cy="253916"/>
          </a:xfrm>
          <a:prstGeom prst="rect">
            <a:avLst/>
          </a:prstGeom>
          <a:noFill/>
        </p:spPr>
        <p:txBody>
          <a:bodyPr wrap="square" rtlCol="0">
            <a:spAutoFit/>
          </a:bodyPr>
          <a:lstStyle/>
          <a:p>
            <a:r>
              <a:rPr lang="en-US" sz="1050">
                <a:solidFill>
                  <a:schemeClr val="bg2">
                    <a:lumMod val="90000"/>
                  </a:schemeClr>
                </a:solidFill>
              </a:rPr>
              <a:t>Q3</a:t>
            </a:r>
          </a:p>
        </p:txBody>
      </p:sp>
      <p:sp>
        <p:nvSpPr>
          <p:cNvPr id="30" name="TextBox 29">
            <a:extLst>
              <a:ext uri="{FF2B5EF4-FFF2-40B4-BE49-F238E27FC236}">
                <a16:creationId xmlns:a16="http://schemas.microsoft.com/office/drawing/2014/main" id="{5DBE8086-2D79-8CEC-C07E-FA03418C0F82}"/>
              </a:ext>
            </a:extLst>
          </p:cNvPr>
          <p:cNvSpPr txBox="1"/>
          <p:nvPr/>
        </p:nvSpPr>
        <p:spPr>
          <a:xfrm>
            <a:off x="3973547" y="2890274"/>
            <a:ext cx="763407" cy="253916"/>
          </a:xfrm>
          <a:prstGeom prst="rect">
            <a:avLst/>
          </a:prstGeom>
          <a:noFill/>
        </p:spPr>
        <p:txBody>
          <a:bodyPr wrap="square" rtlCol="0">
            <a:spAutoFit/>
          </a:bodyPr>
          <a:lstStyle/>
          <a:p>
            <a:r>
              <a:rPr lang="en-US" sz="1050">
                <a:solidFill>
                  <a:schemeClr val="bg2">
                    <a:lumMod val="90000"/>
                  </a:schemeClr>
                </a:solidFill>
              </a:rPr>
              <a:t>Q2</a:t>
            </a:r>
          </a:p>
        </p:txBody>
      </p:sp>
      <p:sp>
        <p:nvSpPr>
          <p:cNvPr id="31" name="TextBox 30">
            <a:extLst>
              <a:ext uri="{FF2B5EF4-FFF2-40B4-BE49-F238E27FC236}">
                <a16:creationId xmlns:a16="http://schemas.microsoft.com/office/drawing/2014/main" id="{207D7F4A-D84C-508D-04E5-A972CEA2EE1F}"/>
              </a:ext>
            </a:extLst>
          </p:cNvPr>
          <p:cNvSpPr txBox="1"/>
          <p:nvPr/>
        </p:nvSpPr>
        <p:spPr>
          <a:xfrm>
            <a:off x="1317770" y="5222819"/>
            <a:ext cx="763407" cy="253916"/>
          </a:xfrm>
          <a:prstGeom prst="rect">
            <a:avLst/>
          </a:prstGeom>
          <a:noFill/>
        </p:spPr>
        <p:txBody>
          <a:bodyPr wrap="square" rtlCol="0">
            <a:spAutoFit/>
          </a:bodyPr>
          <a:lstStyle/>
          <a:p>
            <a:r>
              <a:rPr lang="en-US" sz="1050">
                <a:solidFill>
                  <a:schemeClr val="bg2">
                    <a:lumMod val="90000"/>
                  </a:schemeClr>
                </a:solidFill>
              </a:rPr>
              <a:t>Q4</a:t>
            </a:r>
          </a:p>
        </p:txBody>
      </p:sp>
      <p:sp>
        <p:nvSpPr>
          <p:cNvPr id="32" name="TextBox 31">
            <a:extLst>
              <a:ext uri="{FF2B5EF4-FFF2-40B4-BE49-F238E27FC236}">
                <a16:creationId xmlns:a16="http://schemas.microsoft.com/office/drawing/2014/main" id="{C100D3E9-ABD9-E1AA-612D-F1D35B08954E}"/>
              </a:ext>
            </a:extLst>
          </p:cNvPr>
          <p:cNvSpPr txBox="1"/>
          <p:nvPr/>
        </p:nvSpPr>
        <p:spPr>
          <a:xfrm>
            <a:off x="1317770" y="2890274"/>
            <a:ext cx="763407" cy="253916"/>
          </a:xfrm>
          <a:prstGeom prst="rect">
            <a:avLst/>
          </a:prstGeom>
          <a:noFill/>
        </p:spPr>
        <p:txBody>
          <a:bodyPr wrap="square" rtlCol="0">
            <a:spAutoFit/>
          </a:bodyPr>
          <a:lstStyle/>
          <a:p>
            <a:r>
              <a:rPr lang="en-US" sz="1050">
                <a:solidFill>
                  <a:schemeClr val="bg2">
                    <a:lumMod val="90000"/>
                  </a:schemeClr>
                </a:solidFill>
              </a:rPr>
              <a:t>Q1</a:t>
            </a:r>
          </a:p>
        </p:txBody>
      </p:sp>
      <p:sp>
        <p:nvSpPr>
          <p:cNvPr id="2" name="Title 1">
            <a:extLst>
              <a:ext uri="{FF2B5EF4-FFF2-40B4-BE49-F238E27FC236}">
                <a16:creationId xmlns:a16="http://schemas.microsoft.com/office/drawing/2014/main" id="{82A2E6AF-CBE6-883D-36EC-F7BB921F376F}"/>
              </a:ext>
            </a:extLst>
          </p:cNvPr>
          <p:cNvSpPr>
            <a:spLocks noGrp="1"/>
          </p:cNvSpPr>
          <p:nvPr>
            <p:ph type="title"/>
          </p:nvPr>
        </p:nvSpPr>
        <p:spPr/>
        <p:txBody>
          <a:bodyPr/>
          <a:lstStyle/>
          <a:p>
            <a:r>
              <a:rPr lang="en-US">
                <a:solidFill>
                  <a:schemeClr val="accent2">
                    <a:lumMod val="75000"/>
                  </a:schemeClr>
                </a:solidFill>
              </a:rPr>
              <a:t>Value – Time - Effort </a:t>
            </a:r>
            <a:r>
              <a:rPr lang="en-US">
                <a:solidFill>
                  <a:srgbClr val="002060"/>
                </a:solidFill>
              </a:rPr>
              <a:t>Prioritization Matrix</a:t>
            </a:r>
          </a:p>
        </p:txBody>
      </p:sp>
      <p:cxnSp>
        <p:nvCxnSpPr>
          <p:cNvPr id="6" name="Straight Arrow Connector 5">
            <a:extLst>
              <a:ext uri="{FF2B5EF4-FFF2-40B4-BE49-F238E27FC236}">
                <a16:creationId xmlns:a16="http://schemas.microsoft.com/office/drawing/2014/main" id="{C9C18FC8-C30C-78B8-0A91-2963C4A4B0C9}"/>
              </a:ext>
            </a:extLst>
          </p:cNvPr>
          <p:cNvCxnSpPr/>
          <p:nvPr/>
        </p:nvCxnSpPr>
        <p:spPr>
          <a:xfrm flipH="1" flipV="1">
            <a:off x="1090502" y="1079082"/>
            <a:ext cx="0" cy="4457700"/>
          </a:xfrm>
          <a:prstGeom prst="straightConnector1">
            <a:avLst/>
          </a:prstGeom>
          <a:ln w="19050" cap="flat" cmpd="sng" algn="ctr">
            <a:solidFill>
              <a:schemeClr val="accent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7" name="Straight Arrow Connector 6">
            <a:extLst>
              <a:ext uri="{FF2B5EF4-FFF2-40B4-BE49-F238E27FC236}">
                <a16:creationId xmlns:a16="http://schemas.microsoft.com/office/drawing/2014/main" id="{E723D1CE-0404-5AF1-6D94-AA5A0D411881}"/>
              </a:ext>
            </a:extLst>
          </p:cNvPr>
          <p:cNvCxnSpPr>
            <a:cxnSpLocks/>
          </p:cNvCxnSpPr>
          <p:nvPr/>
        </p:nvCxnSpPr>
        <p:spPr>
          <a:xfrm flipV="1">
            <a:off x="1080977" y="5531356"/>
            <a:ext cx="6172200" cy="0"/>
          </a:xfrm>
          <a:prstGeom prst="straightConnector1">
            <a:avLst/>
          </a:prstGeom>
          <a:ln w="19050" cap="flat" cmpd="sng" algn="ctr">
            <a:solidFill>
              <a:schemeClr val="accent1"/>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sp>
        <p:nvSpPr>
          <p:cNvPr id="11" name="TextBox 10">
            <a:extLst>
              <a:ext uri="{FF2B5EF4-FFF2-40B4-BE49-F238E27FC236}">
                <a16:creationId xmlns:a16="http://schemas.microsoft.com/office/drawing/2014/main" id="{023D80CF-9E58-9E95-FEC4-6852BE32212D}"/>
              </a:ext>
            </a:extLst>
          </p:cNvPr>
          <p:cNvSpPr txBox="1"/>
          <p:nvPr/>
        </p:nvSpPr>
        <p:spPr>
          <a:xfrm>
            <a:off x="2180924" y="5630416"/>
            <a:ext cx="2009775" cy="300082"/>
          </a:xfrm>
          <a:prstGeom prst="rect">
            <a:avLst/>
          </a:prstGeom>
          <a:noFill/>
        </p:spPr>
        <p:txBody>
          <a:bodyPr wrap="square" rtlCol="0">
            <a:spAutoFit/>
          </a:bodyPr>
          <a:lstStyle/>
          <a:p>
            <a:pPr algn="ctr"/>
            <a:r>
              <a:rPr lang="en-US" sz="1350">
                <a:solidFill>
                  <a:srgbClr val="002060"/>
                </a:solidFill>
                <a:effectLst>
                  <a:outerShdw blurRad="38100" dist="38100" dir="2700000" algn="tl">
                    <a:srgbClr val="000000">
                      <a:alpha val="43137"/>
                    </a:srgbClr>
                  </a:outerShdw>
                </a:effectLst>
              </a:rPr>
              <a:t>Time</a:t>
            </a:r>
          </a:p>
        </p:txBody>
      </p:sp>
      <p:sp>
        <p:nvSpPr>
          <p:cNvPr id="12" name="TextBox 11">
            <a:extLst>
              <a:ext uri="{FF2B5EF4-FFF2-40B4-BE49-F238E27FC236}">
                <a16:creationId xmlns:a16="http://schemas.microsoft.com/office/drawing/2014/main" id="{4261CD95-420D-441D-12AF-B60E1F4E7EB3}"/>
              </a:ext>
            </a:extLst>
          </p:cNvPr>
          <p:cNvSpPr txBox="1"/>
          <p:nvPr/>
        </p:nvSpPr>
        <p:spPr>
          <a:xfrm>
            <a:off x="338027" y="4049647"/>
            <a:ext cx="676275" cy="300082"/>
          </a:xfrm>
          <a:prstGeom prst="rect">
            <a:avLst/>
          </a:prstGeom>
          <a:noFill/>
        </p:spPr>
        <p:txBody>
          <a:bodyPr wrap="square" rtlCol="0">
            <a:spAutoFit/>
          </a:bodyPr>
          <a:lstStyle/>
          <a:p>
            <a:pPr algn="ctr"/>
            <a:r>
              <a:rPr lang="en-US" sz="1350">
                <a:solidFill>
                  <a:srgbClr val="002060"/>
                </a:solidFill>
                <a:effectLst>
                  <a:outerShdw blurRad="38100" dist="38100" dir="2700000" algn="tl">
                    <a:srgbClr val="000000">
                      <a:alpha val="43137"/>
                    </a:srgbClr>
                  </a:outerShdw>
                </a:effectLst>
              </a:rPr>
              <a:t>Value</a:t>
            </a:r>
          </a:p>
        </p:txBody>
      </p:sp>
      <p:cxnSp>
        <p:nvCxnSpPr>
          <p:cNvPr id="14" name="Straight Arrow Connector 13">
            <a:extLst>
              <a:ext uri="{FF2B5EF4-FFF2-40B4-BE49-F238E27FC236}">
                <a16:creationId xmlns:a16="http://schemas.microsoft.com/office/drawing/2014/main" id="{826F5ECB-51DB-57CA-1321-BC1B8E189323}"/>
              </a:ext>
            </a:extLst>
          </p:cNvPr>
          <p:cNvCxnSpPr>
            <a:cxnSpLocks/>
            <a:stCxn id="12" idx="0"/>
          </p:cNvCxnSpPr>
          <p:nvPr/>
        </p:nvCxnSpPr>
        <p:spPr>
          <a:xfrm flipV="1">
            <a:off x="676165" y="2401822"/>
            <a:ext cx="0" cy="1647825"/>
          </a:xfrm>
          <a:prstGeom prst="straightConnector1">
            <a:avLst/>
          </a:prstGeom>
          <a:ln w="19050" cap="flat" cmpd="sng" algn="ctr">
            <a:solidFill>
              <a:srgbClr val="002060"/>
            </a:solidFill>
            <a:prstDash val="sysDash"/>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74C9BE2D-A5E7-E153-F71C-1C08537CBA37}"/>
              </a:ext>
            </a:extLst>
          </p:cNvPr>
          <p:cNvCxnSpPr>
            <a:cxnSpLocks/>
          </p:cNvCxnSpPr>
          <p:nvPr/>
        </p:nvCxnSpPr>
        <p:spPr>
          <a:xfrm flipV="1">
            <a:off x="3595387" y="5768916"/>
            <a:ext cx="2743200" cy="0"/>
          </a:xfrm>
          <a:prstGeom prst="straightConnector1">
            <a:avLst/>
          </a:prstGeom>
          <a:ln w="19050" cap="flat" cmpd="sng" algn="ctr">
            <a:solidFill>
              <a:srgbClr val="002060"/>
            </a:solidFill>
            <a:prstDash val="sysDash"/>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sp>
        <p:nvSpPr>
          <p:cNvPr id="21" name="Oval 20">
            <a:extLst>
              <a:ext uri="{FF2B5EF4-FFF2-40B4-BE49-F238E27FC236}">
                <a16:creationId xmlns:a16="http://schemas.microsoft.com/office/drawing/2014/main" id="{3040323F-14F0-512E-1B6C-B9634DC1AD25}"/>
              </a:ext>
            </a:extLst>
          </p:cNvPr>
          <p:cNvSpPr/>
          <p:nvPr/>
        </p:nvSpPr>
        <p:spPr>
          <a:xfrm>
            <a:off x="1833452" y="3531106"/>
            <a:ext cx="891540" cy="891540"/>
          </a:xfrm>
          <a:prstGeom prst="ellipse">
            <a:avLst/>
          </a:prstGeom>
          <a:solidFill>
            <a:srgbClr val="0070C0">
              <a:alpha val="67000"/>
            </a:srgb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 name="Oval 21">
            <a:extLst>
              <a:ext uri="{FF2B5EF4-FFF2-40B4-BE49-F238E27FC236}">
                <a16:creationId xmlns:a16="http://schemas.microsoft.com/office/drawing/2014/main" id="{C2F0F9CB-50AF-2515-3460-2F81DF104F96}"/>
              </a:ext>
            </a:extLst>
          </p:cNvPr>
          <p:cNvSpPr/>
          <p:nvPr/>
        </p:nvSpPr>
        <p:spPr>
          <a:xfrm>
            <a:off x="4261883" y="1938537"/>
            <a:ext cx="1371600" cy="1371600"/>
          </a:xfrm>
          <a:prstGeom prst="ellipse">
            <a:avLst/>
          </a:prstGeom>
          <a:solidFill>
            <a:schemeClr val="accent1">
              <a:lumMod val="90000"/>
              <a:lumOff val="10000"/>
              <a:alpha val="67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 name="Oval 22">
            <a:extLst>
              <a:ext uri="{FF2B5EF4-FFF2-40B4-BE49-F238E27FC236}">
                <a16:creationId xmlns:a16="http://schemas.microsoft.com/office/drawing/2014/main" id="{6859EB42-6B5D-69B8-9B3D-52EAFCB6609A}"/>
              </a:ext>
            </a:extLst>
          </p:cNvPr>
          <p:cNvSpPr/>
          <p:nvPr/>
        </p:nvSpPr>
        <p:spPr>
          <a:xfrm>
            <a:off x="5343414" y="3226306"/>
            <a:ext cx="1028700" cy="1028700"/>
          </a:xfrm>
          <a:prstGeom prst="ellipse">
            <a:avLst/>
          </a:prstGeom>
          <a:solidFill>
            <a:schemeClr val="accent1">
              <a:lumMod val="10000"/>
              <a:lumOff val="90000"/>
              <a:alpha val="67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TextBox 25">
            <a:extLst>
              <a:ext uri="{FF2B5EF4-FFF2-40B4-BE49-F238E27FC236}">
                <a16:creationId xmlns:a16="http://schemas.microsoft.com/office/drawing/2014/main" id="{D193B71C-41AF-8234-58A1-10453CD2A6AC}"/>
              </a:ext>
            </a:extLst>
          </p:cNvPr>
          <p:cNvSpPr txBox="1"/>
          <p:nvPr/>
        </p:nvSpPr>
        <p:spPr>
          <a:xfrm>
            <a:off x="7485298" y="3967477"/>
            <a:ext cx="4520825" cy="1254189"/>
          </a:xfrm>
          <a:prstGeom prst="rect">
            <a:avLst/>
          </a:prstGeom>
          <a:noFill/>
        </p:spPr>
        <p:txBody>
          <a:bodyPr wrap="square">
            <a:spAutoFit/>
          </a:bodyPr>
          <a:lstStyle/>
          <a:p>
            <a:pPr>
              <a:spcAft>
                <a:spcPts val="450"/>
              </a:spcAft>
            </a:pPr>
            <a:r>
              <a:rPr lang="en-US" sz="1050">
                <a:solidFill>
                  <a:srgbClr val="002060"/>
                </a:solidFill>
              </a:rPr>
              <a:t>This matrix plots AI use cases based on:</a:t>
            </a:r>
          </a:p>
          <a:p>
            <a:pPr marL="257175" indent="-257175">
              <a:spcAft>
                <a:spcPts val="450"/>
              </a:spcAft>
              <a:buFont typeface="Wingdings" panose="05000000000000000000" pitchFamily="2" charset="2"/>
              <a:buChar char="§"/>
            </a:pPr>
            <a:r>
              <a:rPr lang="en-US" sz="1050" b="1">
                <a:solidFill>
                  <a:srgbClr val="002060"/>
                </a:solidFill>
              </a:rPr>
              <a:t>X-axis (Time): </a:t>
            </a:r>
            <a:r>
              <a:rPr lang="en-US" sz="1050">
                <a:solidFill>
                  <a:srgbClr val="002060"/>
                </a:solidFill>
              </a:rPr>
              <a:t>Estimated time to realize value</a:t>
            </a:r>
          </a:p>
          <a:p>
            <a:pPr marL="257175" indent="-257175">
              <a:spcAft>
                <a:spcPts val="450"/>
              </a:spcAft>
              <a:buFont typeface="Wingdings" panose="05000000000000000000" pitchFamily="2" charset="2"/>
              <a:buChar char="§"/>
            </a:pPr>
            <a:r>
              <a:rPr lang="en-US" sz="1050" b="1">
                <a:solidFill>
                  <a:srgbClr val="002060"/>
                </a:solidFill>
              </a:rPr>
              <a:t>Y-axis (Value): </a:t>
            </a:r>
            <a:r>
              <a:rPr lang="en-US" sz="1050">
                <a:solidFill>
                  <a:srgbClr val="002060"/>
                </a:solidFill>
              </a:rPr>
              <a:t>Business value potential (e.g., savings, revenue uplift, experience enhancement)</a:t>
            </a:r>
          </a:p>
          <a:p>
            <a:pPr marL="257175" indent="-257175">
              <a:spcAft>
                <a:spcPts val="450"/>
              </a:spcAft>
              <a:buFont typeface="Wingdings" panose="05000000000000000000" pitchFamily="2" charset="2"/>
              <a:buChar char="§"/>
            </a:pPr>
            <a:r>
              <a:rPr lang="en-US" sz="1050" b="1">
                <a:solidFill>
                  <a:srgbClr val="002060"/>
                </a:solidFill>
              </a:rPr>
              <a:t>Bubble size (Effort): </a:t>
            </a:r>
            <a:r>
              <a:rPr lang="en-US" sz="1050">
                <a:solidFill>
                  <a:srgbClr val="002060"/>
                </a:solidFill>
              </a:rPr>
              <a:t>Estimated implementation complexity, resource demand, and technical effort required</a:t>
            </a:r>
          </a:p>
        </p:txBody>
      </p:sp>
      <p:sp>
        <p:nvSpPr>
          <p:cNvPr id="4" name="TextBox 3">
            <a:extLst>
              <a:ext uri="{FF2B5EF4-FFF2-40B4-BE49-F238E27FC236}">
                <a16:creationId xmlns:a16="http://schemas.microsoft.com/office/drawing/2014/main" id="{322FA442-B3EA-FAED-9E01-0B0913A304D6}"/>
              </a:ext>
            </a:extLst>
          </p:cNvPr>
          <p:cNvSpPr txBox="1"/>
          <p:nvPr/>
        </p:nvSpPr>
        <p:spPr>
          <a:xfrm>
            <a:off x="2430282" y="1918372"/>
            <a:ext cx="1918447" cy="300082"/>
          </a:xfrm>
          <a:prstGeom prst="rect">
            <a:avLst/>
          </a:prstGeom>
          <a:noFill/>
        </p:spPr>
        <p:txBody>
          <a:bodyPr wrap="square" rtlCol="0">
            <a:spAutoFit/>
          </a:bodyPr>
          <a:lstStyle>
            <a:defPPr>
              <a:defRPr lang="en-US"/>
            </a:defPPr>
            <a:lvl1pPr algn="ctr">
              <a:defRPr>
                <a:solidFill>
                  <a:srgbClr val="002060"/>
                </a:solidFill>
                <a:effectLst>
                  <a:outerShdw blurRad="38100" dist="38100" dir="2700000" algn="tl">
                    <a:srgbClr val="000000">
                      <a:alpha val="43137"/>
                    </a:srgbClr>
                  </a:outerShdw>
                </a:effectLst>
              </a:defRPr>
            </a:lvl1pPr>
          </a:lstStyle>
          <a:p>
            <a:r>
              <a:rPr lang="en-US" sz="1350"/>
              <a:t>Effort Size</a:t>
            </a:r>
          </a:p>
        </p:txBody>
      </p:sp>
      <p:graphicFrame>
        <p:nvGraphicFramePr>
          <p:cNvPr id="17" name="Table 16">
            <a:extLst>
              <a:ext uri="{FF2B5EF4-FFF2-40B4-BE49-F238E27FC236}">
                <a16:creationId xmlns:a16="http://schemas.microsoft.com/office/drawing/2014/main" id="{1B0E52AB-0A65-164B-F4C1-9E50585E9035}"/>
              </a:ext>
            </a:extLst>
          </p:cNvPr>
          <p:cNvGraphicFramePr>
            <a:graphicFrameLocks noGrp="1"/>
          </p:cNvGraphicFramePr>
          <p:nvPr/>
        </p:nvGraphicFramePr>
        <p:xfrm>
          <a:off x="7485301" y="968745"/>
          <a:ext cx="4520826" cy="2625352"/>
        </p:xfrm>
        <a:graphic>
          <a:graphicData uri="http://schemas.openxmlformats.org/drawingml/2006/table">
            <a:tbl>
              <a:tblPr firstRow="1" bandRow="1">
                <a:tableStyleId>{5C22544A-7EE6-4342-B048-85BDC9FD1C3A}</a:tableStyleId>
              </a:tblPr>
              <a:tblGrid>
                <a:gridCol w="1257100">
                  <a:extLst>
                    <a:ext uri="{9D8B030D-6E8A-4147-A177-3AD203B41FA5}">
                      <a16:colId xmlns:a16="http://schemas.microsoft.com/office/drawing/2014/main" val="406435927"/>
                    </a:ext>
                  </a:extLst>
                </a:gridCol>
                <a:gridCol w="1463573">
                  <a:extLst>
                    <a:ext uri="{9D8B030D-6E8A-4147-A177-3AD203B41FA5}">
                      <a16:colId xmlns:a16="http://schemas.microsoft.com/office/drawing/2014/main" val="2431161354"/>
                    </a:ext>
                  </a:extLst>
                </a:gridCol>
                <a:gridCol w="1800153">
                  <a:extLst>
                    <a:ext uri="{9D8B030D-6E8A-4147-A177-3AD203B41FA5}">
                      <a16:colId xmlns:a16="http://schemas.microsoft.com/office/drawing/2014/main" val="694061731"/>
                    </a:ext>
                  </a:extLst>
                </a:gridCol>
              </a:tblGrid>
              <a:tr h="268510">
                <a:tc>
                  <a:txBody>
                    <a:bodyPr/>
                    <a:lstStyle/>
                    <a:p>
                      <a:r>
                        <a:rPr lang="en-US" sz="1100">
                          <a:effectLst>
                            <a:outerShdw blurRad="38100" dist="38100" dir="2700000" algn="tl">
                              <a:srgbClr val="000000">
                                <a:alpha val="43137"/>
                              </a:srgbClr>
                            </a:outerShdw>
                          </a:effectLst>
                        </a:rPr>
                        <a:t>QUADRANT</a:t>
                      </a:r>
                    </a:p>
                  </a:txBody>
                  <a:tcPr marL="68580" marR="68580" marT="34290" marB="34290" anchor="ctr">
                    <a:solidFill>
                      <a:srgbClr val="002060"/>
                    </a:solidFill>
                  </a:tcPr>
                </a:tc>
                <a:tc>
                  <a:txBody>
                    <a:bodyPr/>
                    <a:lstStyle/>
                    <a:p>
                      <a:r>
                        <a:rPr lang="en-US" sz="1100">
                          <a:effectLst>
                            <a:outerShdw blurRad="38100" dist="38100" dir="2700000" algn="tl">
                              <a:srgbClr val="000000">
                                <a:alpha val="43137"/>
                              </a:srgbClr>
                            </a:outerShdw>
                          </a:effectLst>
                        </a:rPr>
                        <a:t>LABEL</a:t>
                      </a:r>
                    </a:p>
                  </a:txBody>
                  <a:tcPr marL="68580" marR="68580" marT="34290" marB="34290" anchor="ctr">
                    <a:solidFill>
                      <a:srgbClr val="002060"/>
                    </a:solidFill>
                  </a:tcPr>
                </a:tc>
                <a:tc>
                  <a:txBody>
                    <a:bodyPr/>
                    <a:lstStyle/>
                    <a:p>
                      <a:r>
                        <a:rPr lang="en-US" sz="1100">
                          <a:effectLst>
                            <a:outerShdw blurRad="38100" dist="38100" dir="2700000" algn="tl">
                              <a:srgbClr val="000000">
                                <a:alpha val="43137"/>
                              </a:srgbClr>
                            </a:outerShdw>
                          </a:effectLst>
                        </a:rPr>
                        <a:t>DESCRIPTION</a:t>
                      </a:r>
                    </a:p>
                  </a:txBody>
                  <a:tcPr marL="68580" marR="68580" marT="34290" marB="34290" anchor="ctr">
                    <a:solidFill>
                      <a:srgbClr val="002060"/>
                    </a:solidFill>
                  </a:tcPr>
                </a:tc>
                <a:extLst>
                  <a:ext uri="{0D108BD9-81ED-4DB2-BD59-A6C34878D82A}">
                    <a16:rowId xmlns:a16="http://schemas.microsoft.com/office/drawing/2014/main" val="2071038992"/>
                  </a:ext>
                </a:extLst>
              </a:tr>
              <a:tr h="561201">
                <a:tc>
                  <a:txBody>
                    <a:bodyPr/>
                    <a:lstStyle/>
                    <a:p>
                      <a:r>
                        <a:rPr lang="en-US" sz="900" b="1">
                          <a:solidFill>
                            <a:srgbClr val="002060"/>
                          </a:solidFill>
                        </a:rPr>
                        <a:t>Q1 (Top Left)</a:t>
                      </a:r>
                    </a:p>
                  </a:txBody>
                  <a:tcPr marL="68580" marR="68580" marT="34290" marB="34290" anchor="ctr">
                    <a:solidFill>
                      <a:schemeClr val="accent1">
                        <a:lumMod val="25000"/>
                        <a:lumOff val="75000"/>
                      </a:schemeClr>
                    </a:solidFill>
                  </a:tcPr>
                </a:tc>
                <a:tc>
                  <a:txBody>
                    <a:bodyPr/>
                    <a:lstStyle/>
                    <a:p>
                      <a:r>
                        <a:rPr lang="en-US" sz="900" b="1">
                          <a:solidFill>
                            <a:srgbClr val="002060"/>
                          </a:solidFill>
                        </a:rPr>
                        <a:t>Quick Wins</a:t>
                      </a:r>
                    </a:p>
                  </a:txBody>
                  <a:tcPr marL="68580" marR="68580" marT="34290" marB="34290" anchor="ctr">
                    <a:solidFill>
                      <a:schemeClr val="accent1">
                        <a:lumMod val="10000"/>
                        <a:lumOff val="90000"/>
                      </a:schemeClr>
                    </a:solidFill>
                  </a:tcPr>
                </a:tc>
                <a:tc>
                  <a:txBody>
                    <a:bodyPr/>
                    <a:lstStyle/>
                    <a:p>
                      <a:r>
                        <a:rPr lang="en-US" sz="900">
                          <a:solidFill>
                            <a:srgbClr val="002060"/>
                          </a:solidFill>
                        </a:rPr>
                        <a:t>High value, short timeline, low effort – prioritize for rapid realization and fast ROI</a:t>
                      </a:r>
                    </a:p>
                  </a:txBody>
                  <a:tcPr marL="68580" marR="68580" marT="34290" marB="34290" anchor="ctr">
                    <a:solidFill>
                      <a:schemeClr val="accent1">
                        <a:lumMod val="10000"/>
                        <a:lumOff val="90000"/>
                      </a:schemeClr>
                    </a:solidFill>
                  </a:tcPr>
                </a:tc>
                <a:extLst>
                  <a:ext uri="{0D108BD9-81ED-4DB2-BD59-A6C34878D82A}">
                    <a16:rowId xmlns:a16="http://schemas.microsoft.com/office/drawing/2014/main" val="2912653228"/>
                  </a:ext>
                </a:extLst>
              </a:tr>
              <a:tr h="561201">
                <a:tc>
                  <a:txBody>
                    <a:bodyPr/>
                    <a:lstStyle/>
                    <a:p>
                      <a:r>
                        <a:rPr lang="en-US" sz="900" b="1">
                          <a:solidFill>
                            <a:srgbClr val="002060"/>
                          </a:solidFill>
                        </a:rPr>
                        <a:t>Q2 (Top Right)</a:t>
                      </a:r>
                    </a:p>
                  </a:txBody>
                  <a:tcPr marL="68580" marR="68580" marT="34290" marB="34290" anchor="ctr">
                    <a:solidFill>
                      <a:schemeClr val="accent1">
                        <a:lumMod val="25000"/>
                        <a:lumOff val="75000"/>
                      </a:schemeClr>
                    </a:solidFill>
                  </a:tcPr>
                </a:tc>
                <a:tc>
                  <a:txBody>
                    <a:bodyPr/>
                    <a:lstStyle/>
                    <a:p>
                      <a:r>
                        <a:rPr lang="en-US" sz="900" b="1">
                          <a:solidFill>
                            <a:srgbClr val="002060"/>
                          </a:solidFill>
                        </a:rPr>
                        <a:t>Scalable Growth</a:t>
                      </a:r>
                    </a:p>
                  </a:txBody>
                  <a:tcPr marL="68580" marR="68580" marT="34290" marB="34290" anchor="ctr">
                    <a:solidFill>
                      <a:schemeClr val="accent1">
                        <a:lumMod val="10000"/>
                        <a:lumOff val="90000"/>
                      </a:schemeClr>
                    </a:solidFill>
                  </a:tcPr>
                </a:tc>
                <a:tc>
                  <a:txBody>
                    <a:bodyPr/>
                    <a:lstStyle/>
                    <a:p>
                      <a:r>
                        <a:rPr lang="en-US" sz="900">
                          <a:solidFill>
                            <a:srgbClr val="002060"/>
                          </a:solidFill>
                        </a:rPr>
                        <a:t>High value, longer timeline – invest and scale with a mid-to-long-term roadmap</a:t>
                      </a:r>
                    </a:p>
                  </a:txBody>
                  <a:tcPr marL="68580" marR="68580" marT="34290" marB="34290" anchor="ctr">
                    <a:solidFill>
                      <a:schemeClr val="accent1">
                        <a:lumMod val="10000"/>
                        <a:lumOff val="90000"/>
                      </a:schemeClr>
                    </a:solidFill>
                  </a:tcPr>
                </a:tc>
                <a:extLst>
                  <a:ext uri="{0D108BD9-81ED-4DB2-BD59-A6C34878D82A}">
                    <a16:rowId xmlns:a16="http://schemas.microsoft.com/office/drawing/2014/main" val="3835801549"/>
                  </a:ext>
                </a:extLst>
              </a:tr>
              <a:tr h="480060">
                <a:tc>
                  <a:txBody>
                    <a:bodyPr/>
                    <a:lstStyle/>
                    <a:p>
                      <a:r>
                        <a:rPr lang="en-US" sz="900" b="1">
                          <a:solidFill>
                            <a:srgbClr val="002060"/>
                          </a:solidFill>
                        </a:rPr>
                        <a:t>Q3 (Bottom Right)</a:t>
                      </a:r>
                    </a:p>
                  </a:txBody>
                  <a:tcPr marL="68580" marR="68580" marT="34290" marB="34290" anchor="ctr">
                    <a:solidFill>
                      <a:schemeClr val="accent1">
                        <a:lumMod val="25000"/>
                        <a:lumOff val="75000"/>
                      </a:schemeClr>
                    </a:solidFill>
                  </a:tcPr>
                </a:tc>
                <a:tc>
                  <a:txBody>
                    <a:bodyPr/>
                    <a:lstStyle/>
                    <a:p>
                      <a:r>
                        <a:rPr lang="en-US" sz="900" b="1">
                          <a:solidFill>
                            <a:srgbClr val="002060"/>
                          </a:solidFill>
                        </a:rPr>
                        <a:t>Automate or Delegate</a:t>
                      </a:r>
                    </a:p>
                  </a:txBody>
                  <a:tcPr marL="68580" marR="68580" marT="34290" marB="34290" anchor="ctr">
                    <a:solidFill>
                      <a:schemeClr val="accent1">
                        <a:lumMod val="10000"/>
                        <a:lumOff val="90000"/>
                      </a:schemeClr>
                    </a:solidFill>
                  </a:tcPr>
                </a:tc>
                <a:tc>
                  <a:txBody>
                    <a:bodyPr/>
                    <a:lstStyle/>
                    <a:p>
                      <a:r>
                        <a:rPr lang="en-US" sz="900">
                          <a:solidFill>
                            <a:srgbClr val="002060"/>
                          </a:solidFill>
                        </a:rPr>
                        <a:t>Low value, longer timeline – deprioritize or automate with minimal investment</a:t>
                      </a:r>
                    </a:p>
                  </a:txBody>
                  <a:tcPr marL="68580" marR="68580" marT="34290" marB="34290" anchor="ctr">
                    <a:solidFill>
                      <a:schemeClr val="accent1">
                        <a:lumMod val="10000"/>
                        <a:lumOff val="90000"/>
                      </a:schemeClr>
                    </a:solidFill>
                  </a:tcPr>
                </a:tc>
                <a:extLst>
                  <a:ext uri="{0D108BD9-81ED-4DB2-BD59-A6C34878D82A}">
                    <a16:rowId xmlns:a16="http://schemas.microsoft.com/office/drawing/2014/main" val="2343314677"/>
                  </a:ext>
                </a:extLst>
              </a:tr>
              <a:tr h="754380">
                <a:tc>
                  <a:txBody>
                    <a:bodyPr/>
                    <a:lstStyle/>
                    <a:p>
                      <a:r>
                        <a:rPr lang="en-US" sz="900" b="1">
                          <a:solidFill>
                            <a:srgbClr val="002060"/>
                          </a:solidFill>
                        </a:rPr>
                        <a:t>Q4 (Bottom Left)</a:t>
                      </a:r>
                    </a:p>
                  </a:txBody>
                  <a:tcPr marL="68580" marR="68580" marT="34290" marB="34290" anchor="ctr">
                    <a:solidFill>
                      <a:schemeClr val="accent1">
                        <a:lumMod val="25000"/>
                        <a:lumOff val="75000"/>
                      </a:schemeClr>
                    </a:solidFill>
                  </a:tcPr>
                </a:tc>
                <a:tc>
                  <a:txBody>
                    <a:bodyPr/>
                    <a:lstStyle/>
                    <a:p>
                      <a:r>
                        <a:rPr lang="en-US" sz="900" b="1">
                          <a:solidFill>
                            <a:srgbClr val="002060"/>
                          </a:solidFill>
                        </a:rPr>
                        <a:t>Low-Yield Experiments</a:t>
                      </a:r>
                    </a:p>
                  </a:txBody>
                  <a:tcPr marL="68580" marR="68580" marT="34290" marB="34290" anchor="ctr">
                    <a:solidFill>
                      <a:schemeClr val="accent1">
                        <a:lumMod val="10000"/>
                        <a:lumOff val="90000"/>
                      </a:schemeClr>
                    </a:solidFill>
                  </a:tcPr>
                </a:tc>
                <a:tc>
                  <a:txBody>
                    <a:bodyPr/>
                    <a:lstStyle/>
                    <a:p>
                      <a:r>
                        <a:rPr lang="en-US" sz="900">
                          <a:solidFill>
                            <a:srgbClr val="002060"/>
                          </a:solidFill>
                        </a:rPr>
                        <a:t>Low value, short timeline – use as learning pilots or proofs of concept; deprioritize for scaled investment unless strategic alignment exists.</a:t>
                      </a:r>
                    </a:p>
                  </a:txBody>
                  <a:tcPr marL="68580" marR="68580" marT="34290" marB="34290" anchor="ctr">
                    <a:solidFill>
                      <a:schemeClr val="accent1">
                        <a:lumMod val="10000"/>
                        <a:lumOff val="90000"/>
                      </a:schemeClr>
                    </a:solidFill>
                  </a:tcPr>
                </a:tc>
                <a:extLst>
                  <a:ext uri="{0D108BD9-81ED-4DB2-BD59-A6C34878D82A}">
                    <a16:rowId xmlns:a16="http://schemas.microsoft.com/office/drawing/2014/main" val="4271808295"/>
                  </a:ext>
                </a:extLst>
              </a:tr>
            </a:tbl>
          </a:graphicData>
        </a:graphic>
      </p:graphicFrame>
    </p:spTree>
    <p:extLst>
      <p:ext uri="{BB962C8B-B14F-4D97-AF65-F5344CB8AC3E}">
        <p14:creationId xmlns:p14="http://schemas.microsoft.com/office/powerpoint/2010/main" val="10664987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B05931-E5CE-DD3A-A195-CE433CB0A18B}"/>
              </a:ext>
            </a:extLst>
          </p:cNvPr>
          <p:cNvSpPr>
            <a:spLocks noGrp="1"/>
          </p:cNvSpPr>
          <p:nvPr>
            <p:ph type="title"/>
          </p:nvPr>
        </p:nvSpPr>
        <p:spPr>
          <a:xfrm>
            <a:off x="428375" y="2862326"/>
            <a:ext cx="11335249" cy="945514"/>
          </a:xfrm>
        </p:spPr>
        <p:txBody>
          <a:bodyPr/>
          <a:lstStyle/>
          <a:p>
            <a:r>
              <a:rPr lang="en-US"/>
              <a:t>Case Examples</a:t>
            </a:r>
          </a:p>
        </p:txBody>
      </p:sp>
    </p:spTree>
    <p:extLst>
      <p:ext uri="{BB962C8B-B14F-4D97-AF65-F5344CB8AC3E}">
        <p14:creationId xmlns:p14="http://schemas.microsoft.com/office/powerpoint/2010/main" val="2417576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FF7B4D3D-6179-323C-2AA3-B3C54F60581E}"/>
              </a:ext>
            </a:extLst>
          </p:cNvPr>
          <p:cNvSpPr/>
          <p:nvPr/>
        </p:nvSpPr>
        <p:spPr>
          <a:xfrm rot="1984612" flipH="1" flipV="1">
            <a:off x="11057799" y="4261252"/>
            <a:ext cx="1232345" cy="2694731"/>
          </a:xfrm>
          <a:custGeom>
            <a:avLst/>
            <a:gdLst>
              <a:gd name="connsiteX0" fmla="*/ 0 w 1643127"/>
              <a:gd name="connsiteY0" fmla="*/ 1070196 h 3592974"/>
              <a:gd name="connsiteX1" fmla="*/ 1643127 w 1643127"/>
              <a:gd name="connsiteY1" fmla="*/ 0 h 3592974"/>
              <a:gd name="connsiteX2" fmla="*/ 1643127 w 1643127"/>
              <a:gd name="connsiteY2" fmla="*/ 3592974 h 3592974"/>
            </a:gdLst>
            <a:ahLst/>
            <a:cxnLst>
              <a:cxn ang="0">
                <a:pos x="connsiteX0" y="connsiteY0"/>
              </a:cxn>
              <a:cxn ang="0">
                <a:pos x="connsiteX1" y="connsiteY1"/>
              </a:cxn>
              <a:cxn ang="0">
                <a:pos x="connsiteX2" y="connsiteY2"/>
              </a:cxn>
            </a:cxnLst>
            <a:rect l="l" t="t" r="r" b="b"/>
            <a:pathLst>
              <a:path w="1643127" h="3592974">
                <a:moveTo>
                  <a:pt x="0" y="1070196"/>
                </a:moveTo>
                <a:lnTo>
                  <a:pt x="1643127" y="0"/>
                </a:lnTo>
                <a:lnTo>
                  <a:pt x="1643127" y="359297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Freeform: Shape 17">
            <a:extLst>
              <a:ext uri="{FF2B5EF4-FFF2-40B4-BE49-F238E27FC236}">
                <a16:creationId xmlns:a16="http://schemas.microsoft.com/office/drawing/2014/main" id="{3344DC3D-8666-95C2-8E8F-3B0AF77B0297}"/>
              </a:ext>
            </a:extLst>
          </p:cNvPr>
          <p:cNvSpPr/>
          <p:nvPr/>
        </p:nvSpPr>
        <p:spPr>
          <a:xfrm rot="1984612">
            <a:off x="-396059" y="389044"/>
            <a:ext cx="1232345" cy="2694731"/>
          </a:xfrm>
          <a:custGeom>
            <a:avLst/>
            <a:gdLst>
              <a:gd name="connsiteX0" fmla="*/ 0 w 1643127"/>
              <a:gd name="connsiteY0" fmla="*/ 1070196 h 3592974"/>
              <a:gd name="connsiteX1" fmla="*/ 1643127 w 1643127"/>
              <a:gd name="connsiteY1" fmla="*/ 0 h 3592974"/>
              <a:gd name="connsiteX2" fmla="*/ 1643127 w 1643127"/>
              <a:gd name="connsiteY2" fmla="*/ 3592974 h 3592974"/>
            </a:gdLst>
            <a:ahLst/>
            <a:cxnLst>
              <a:cxn ang="0">
                <a:pos x="connsiteX0" y="connsiteY0"/>
              </a:cxn>
              <a:cxn ang="0">
                <a:pos x="connsiteX1" y="connsiteY1"/>
              </a:cxn>
              <a:cxn ang="0">
                <a:pos x="connsiteX2" y="connsiteY2"/>
              </a:cxn>
            </a:cxnLst>
            <a:rect l="l" t="t" r="r" b="b"/>
            <a:pathLst>
              <a:path w="1643127" h="3592974">
                <a:moveTo>
                  <a:pt x="0" y="1070196"/>
                </a:moveTo>
                <a:lnTo>
                  <a:pt x="1643127" y="0"/>
                </a:lnTo>
                <a:lnTo>
                  <a:pt x="1643127" y="359297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B7998012-576A-A367-DE30-E400ABE19176}"/>
              </a:ext>
            </a:extLst>
          </p:cNvPr>
          <p:cNvSpPr>
            <a:spLocks noGrp="1"/>
          </p:cNvSpPr>
          <p:nvPr>
            <p:ph type="title"/>
          </p:nvPr>
        </p:nvSpPr>
        <p:spPr/>
        <p:txBody>
          <a:bodyPr vert="horz" lIns="0" tIns="34290" rIns="68580" bIns="34290" rtlCol="0" anchor="ctr">
            <a:normAutofit/>
          </a:bodyPr>
          <a:lstStyle/>
          <a:p>
            <a:r>
              <a:rPr lang="en-US"/>
              <a:t>Laying the Foundation: </a:t>
            </a:r>
            <a:r>
              <a:rPr lang="en-US">
                <a:solidFill>
                  <a:schemeClr val="accent2">
                    <a:lumMod val="75000"/>
                  </a:schemeClr>
                </a:solidFill>
              </a:rPr>
              <a:t>Machine Learning Beginnings</a:t>
            </a:r>
          </a:p>
        </p:txBody>
      </p:sp>
      <p:sp>
        <p:nvSpPr>
          <p:cNvPr id="4" name="TextBox 3">
            <a:extLst>
              <a:ext uri="{FF2B5EF4-FFF2-40B4-BE49-F238E27FC236}">
                <a16:creationId xmlns:a16="http://schemas.microsoft.com/office/drawing/2014/main" id="{CADDE2D7-A1D8-B457-6FE4-D015FA3D68AF}"/>
              </a:ext>
            </a:extLst>
          </p:cNvPr>
          <p:cNvSpPr txBox="1"/>
          <p:nvPr/>
        </p:nvSpPr>
        <p:spPr>
          <a:xfrm>
            <a:off x="481530" y="3683723"/>
            <a:ext cx="3592286" cy="1938992"/>
          </a:xfrm>
          <a:prstGeom prst="rect">
            <a:avLst/>
          </a:prstGeom>
          <a:noFill/>
        </p:spPr>
        <p:txBody>
          <a:bodyPr wrap="square">
            <a:spAutoFit/>
          </a:bodyPr>
          <a:lstStyle/>
          <a:p>
            <a:r>
              <a:rPr lang="en-US" sz="1200" i="1">
                <a:solidFill>
                  <a:srgbClr val="002060"/>
                </a:solidFill>
              </a:rPr>
              <a:t>Machine Learning is a branch of artificial intelligence that enables computers to learn from data and improve their performance over time without being explicitly programmed.</a:t>
            </a:r>
          </a:p>
          <a:p>
            <a:endParaRPr lang="en-US" sz="1200" i="1">
              <a:solidFill>
                <a:srgbClr val="002060"/>
              </a:solidFill>
            </a:endParaRPr>
          </a:p>
          <a:p>
            <a:r>
              <a:rPr lang="en-US" sz="1200" i="1">
                <a:solidFill>
                  <a:srgbClr val="002060"/>
                </a:solidFill>
              </a:rPr>
              <a:t>Instead of following fixed rules, ML systems identify patterns in data and use those patterns to make predictions or decisions—like recognizing faces in photos, recommending products, or detecting fraud. </a:t>
            </a:r>
          </a:p>
        </p:txBody>
      </p:sp>
      <p:pic>
        <p:nvPicPr>
          <p:cNvPr id="9" name="Picture 8">
            <a:extLst>
              <a:ext uri="{FF2B5EF4-FFF2-40B4-BE49-F238E27FC236}">
                <a16:creationId xmlns:a16="http://schemas.microsoft.com/office/drawing/2014/main" id="{2B2242E4-178C-3C88-DB5F-A51F1DE425A9}"/>
              </a:ext>
            </a:extLst>
          </p:cNvPr>
          <p:cNvPicPr>
            <a:picLocks noChangeAspect="1"/>
          </p:cNvPicPr>
          <p:nvPr/>
        </p:nvPicPr>
        <p:blipFill>
          <a:blip r:embed="rId3"/>
          <a:stretch>
            <a:fillRect/>
          </a:stretch>
        </p:blipFill>
        <p:spPr>
          <a:xfrm>
            <a:off x="481530" y="1109243"/>
            <a:ext cx="3592286" cy="1998209"/>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347CC1F0-C950-DB1D-90E3-F363A7FC441F}"/>
              </a:ext>
            </a:extLst>
          </p:cNvPr>
          <p:cNvPicPr>
            <a:picLocks noChangeAspect="1"/>
          </p:cNvPicPr>
          <p:nvPr/>
        </p:nvPicPr>
        <p:blipFill>
          <a:blip r:embed="rId4"/>
          <a:stretch>
            <a:fillRect/>
          </a:stretch>
        </p:blipFill>
        <p:spPr>
          <a:xfrm>
            <a:off x="4638757" y="1131907"/>
            <a:ext cx="6811571" cy="4942322"/>
          </a:xfrm>
          <a:prstGeom prst="rect">
            <a:avLst/>
          </a:prstGeom>
        </p:spPr>
      </p:pic>
      <p:sp>
        <p:nvSpPr>
          <p:cNvPr id="5" name="Rectangle 4">
            <a:extLst>
              <a:ext uri="{FF2B5EF4-FFF2-40B4-BE49-F238E27FC236}">
                <a16:creationId xmlns:a16="http://schemas.microsoft.com/office/drawing/2014/main" id="{94D2C93D-CDBD-707D-ECEB-F0972AD37548}"/>
              </a:ext>
            </a:extLst>
          </p:cNvPr>
          <p:cNvSpPr/>
          <p:nvPr/>
        </p:nvSpPr>
        <p:spPr>
          <a:xfrm>
            <a:off x="4918900" y="1404389"/>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TextBox 6">
            <a:extLst>
              <a:ext uri="{FF2B5EF4-FFF2-40B4-BE49-F238E27FC236}">
                <a16:creationId xmlns:a16="http://schemas.microsoft.com/office/drawing/2014/main" id="{C3B6E8C8-346C-A128-97A5-4AF469AF4FEE}"/>
              </a:ext>
            </a:extLst>
          </p:cNvPr>
          <p:cNvSpPr txBox="1"/>
          <p:nvPr/>
        </p:nvSpPr>
        <p:spPr>
          <a:xfrm>
            <a:off x="5003708" y="1518255"/>
            <a:ext cx="2847903" cy="1938992"/>
          </a:xfrm>
          <a:prstGeom prst="rect">
            <a:avLst/>
          </a:prstGeom>
          <a:noFill/>
        </p:spPr>
        <p:txBody>
          <a:bodyPr wrap="square">
            <a:spAutoFit/>
          </a:bodyPr>
          <a:lstStyle/>
          <a:p>
            <a:pPr algn="l"/>
            <a:r>
              <a:rPr lang="en-US" sz="1200" b="1">
                <a:solidFill>
                  <a:schemeClr val="bg1"/>
                </a:solidFill>
              </a:rPr>
              <a:t>Reducing False Positives in AML for a Global Bank</a:t>
            </a:r>
          </a:p>
          <a:p>
            <a:pPr algn="l"/>
            <a:endParaRPr lang="en-US" sz="1200" b="1">
              <a:solidFill>
                <a:schemeClr val="bg1"/>
              </a:solidFill>
            </a:endParaRPr>
          </a:p>
          <a:p>
            <a:pPr algn="l"/>
            <a:r>
              <a:rPr lang="en-US" sz="1200">
                <a:solidFill>
                  <a:schemeClr val="bg1"/>
                </a:solidFill>
              </a:rPr>
              <a:t>ML Classification Model trained on historical false positives.</a:t>
            </a:r>
          </a:p>
          <a:p>
            <a:pPr algn="l"/>
            <a:r>
              <a:rPr lang="en-US" sz="1200">
                <a:solidFill>
                  <a:schemeClr val="bg1"/>
                </a:solidFill>
              </a:rPr>
              <a:t>Fuzzy Matching &amp; Compliance Data Integration for enhanced risk scoring</a:t>
            </a:r>
          </a:p>
          <a:p>
            <a:pPr algn="l"/>
            <a:endParaRPr lang="en-US" sz="1200">
              <a:solidFill>
                <a:schemeClr val="bg1"/>
              </a:solidFill>
            </a:endParaRPr>
          </a:p>
          <a:p>
            <a:pPr algn="l"/>
            <a:r>
              <a:rPr lang="en-US" sz="1200" b="1">
                <a:solidFill>
                  <a:srgbClr val="FFFF00"/>
                </a:solidFill>
              </a:rPr>
              <a:t>30% </a:t>
            </a:r>
            <a:r>
              <a:rPr lang="en-US" sz="1200">
                <a:solidFill>
                  <a:srgbClr val="FFFF00"/>
                </a:solidFill>
              </a:rPr>
              <a:t>Improved fraud detection</a:t>
            </a:r>
          </a:p>
          <a:p>
            <a:pPr algn="l"/>
            <a:r>
              <a:rPr lang="en-US" sz="1200">
                <a:solidFill>
                  <a:srgbClr val="FFFF00"/>
                </a:solidFill>
              </a:rPr>
              <a:t>Enhanced compliance</a:t>
            </a:r>
          </a:p>
        </p:txBody>
      </p:sp>
      <p:sp>
        <p:nvSpPr>
          <p:cNvPr id="11" name="Rectangle 10">
            <a:extLst>
              <a:ext uri="{FF2B5EF4-FFF2-40B4-BE49-F238E27FC236}">
                <a16:creationId xmlns:a16="http://schemas.microsoft.com/office/drawing/2014/main" id="{83D0C7DA-2CF7-C0B2-DE4D-ACBE057E2D3E}"/>
              </a:ext>
            </a:extLst>
          </p:cNvPr>
          <p:cNvSpPr/>
          <p:nvPr/>
        </p:nvSpPr>
        <p:spPr>
          <a:xfrm>
            <a:off x="8145554" y="1431301"/>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TextBox 11">
            <a:extLst>
              <a:ext uri="{FF2B5EF4-FFF2-40B4-BE49-F238E27FC236}">
                <a16:creationId xmlns:a16="http://schemas.microsoft.com/office/drawing/2014/main" id="{D70DCA72-07AF-E529-B865-2E5CFE72DDDD}"/>
              </a:ext>
            </a:extLst>
          </p:cNvPr>
          <p:cNvSpPr txBox="1"/>
          <p:nvPr/>
        </p:nvSpPr>
        <p:spPr>
          <a:xfrm>
            <a:off x="8198324" y="1541357"/>
            <a:ext cx="2911980" cy="1938992"/>
          </a:xfrm>
          <a:prstGeom prst="rect">
            <a:avLst/>
          </a:prstGeom>
          <a:noFill/>
        </p:spPr>
        <p:txBody>
          <a:bodyPr wrap="square">
            <a:spAutoFit/>
          </a:bodyPr>
          <a:lstStyle/>
          <a:p>
            <a:pPr algn="l"/>
            <a:r>
              <a:rPr lang="en-US" sz="1200" b="1">
                <a:solidFill>
                  <a:schemeClr val="bg1"/>
                </a:solidFill>
              </a:rPr>
              <a:t>ML-Based Alert Noise Reduction for Airline Disruption Notifications</a:t>
            </a:r>
          </a:p>
          <a:p>
            <a:pPr algn="l"/>
            <a:endParaRPr lang="en-US" sz="1200" b="1">
              <a:solidFill>
                <a:schemeClr val="bg1"/>
              </a:solidFill>
            </a:endParaRPr>
          </a:p>
          <a:p>
            <a:pPr algn="l"/>
            <a:r>
              <a:rPr lang="en-US" sz="1200">
                <a:solidFill>
                  <a:schemeClr val="bg1"/>
                </a:solidFill>
              </a:rPr>
              <a:t>ML model to predict useful alerts using historical data, context-aware filtering based on weather/operational context, and dispatcher feedback integration.</a:t>
            </a:r>
          </a:p>
          <a:p>
            <a:pPr algn="l"/>
            <a:endParaRPr lang="en-US" sz="1200">
              <a:solidFill>
                <a:schemeClr val="bg1"/>
              </a:solidFill>
            </a:endParaRPr>
          </a:p>
          <a:p>
            <a:pPr algn="l"/>
            <a:r>
              <a:rPr lang="en-US" sz="1200" b="1">
                <a:solidFill>
                  <a:srgbClr val="FFFF00"/>
                </a:solidFill>
                <a:effectLst>
                  <a:outerShdw blurRad="38100" dist="38100" dir="2700000" algn="tl">
                    <a:srgbClr val="000000">
                      <a:alpha val="43137"/>
                    </a:srgbClr>
                  </a:outerShdw>
                </a:effectLst>
              </a:rPr>
              <a:t>80% </a:t>
            </a:r>
            <a:r>
              <a:rPr lang="en-US" sz="1200">
                <a:solidFill>
                  <a:srgbClr val="FFFF00"/>
                </a:solidFill>
              </a:rPr>
              <a:t>reduced alert fatigue, improved dispatcher productivity</a:t>
            </a:r>
          </a:p>
        </p:txBody>
      </p:sp>
      <p:sp>
        <p:nvSpPr>
          <p:cNvPr id="19" name="Rectangle 18">
            <a:extLst>
              <a:ext uri="{FF2B5EF4-FFF2-40B4-BE49-F238E27FC236}">
                <a16:creationId xmlns:a16="http://schemas.microsoft.com/office/drawing/2014/main" id="{3174074E-9771-C63C-F3F9-ABFAD197BBBA}"/>
              </a:ext>
            </a:extLst>
          </p:cNvPr>
          <p:cNvSpPr/>
          <p:nvPr/>
        </p:nvSpPr>
        <p:spPr>
          <a:xfrm>
            <a:off x="4918900" y="3731395"/>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TextBox 19">
            <a:extLst>
              <a:ext uri="{FF2B5EF4-FFF2-40B4-BE49-F238E27FC236}">
                <a16:creationId xmlns:a16="http://schemas.microsoft.com/office/drawing/2014/main" id="{49E6A2A8-B83F-D7CB-9B07-D6990954FE18}"/>
              </a:ext>
            </a:extLst>
          </p:cNvPr>
          <p:cNvSpPr txBox="1"/>
          <p:nvPr/>
        </p:nvSpPr>
        <p:spPr>
          <a:xfrm>
            <a:off x="4957960" y="3810184"/>
            <a:ext cx="2939399" cy="2123658"/>
          </a:xfrm>
          <a:prstGeom prst="rect">
            <a:avLst/>
          </a:prstGeom>
          <a:noFill/>
        </p:spPr>
        <p:txBody>
          <a:bodyPr wrap="square">
            <a:spAutoFit/>
          </a:bodyPr>
          <a:lstStyle/>
          <a:p>
            <a:pPr algn="l"/>
            <a:r>
              <a:rPr lang="en-US" sz="1200" b="1">
                <a:solidFill>
                  <a:schemeClr val="bg1"/>
                </a:solidFill>
              </a:rPr>
              <a:t>Predictive Analytics for Risk Profiling For Airport Solution Provider</a:t>
            </a:r>
          </a:p>
          <a:p>
            <a:pPr algn="l"/>
            <a:endParaRPr lang="en-US" sz="1200" b="1">
              <a:solidFill>
                <a:schemeClr val="bg1"/>
              </a:solidFill>
            </a:endParaRPr>
          </a:p>
          <a:p>
            <a:pPr algn="l"/>
            <a:r>
              <a:rPr lang="en-US" sz="1200">
                <a:solidFill>
                  <a:schemeClr val="bg1"/>
                </a:solidFill>
              </a:rPr>
              <a:t>ML model to predict high-risk passengers using historical travel patterns and behavioral attributes using Clustering.</a:t>
            </a:r>
          </a:p>
          <a:p>
            <a:pPr algn="l"/>
            <a:endParaRPr lang="en-US" sz="1200">
              <a:solidFill>
                <a:schemeClr val="bg1"/>
              </a:solidFill>
            </a:endParaRPr>
          </a:p>
          <a:p>
            <a:pPr algn="l"/>
            <a:r>
              <a:rPr lang="en-US" sz="1200" b="1">
                <a:solidFill>
                  <a:srgbClr val="FFFF00"/>
                </a:solidFill>
              </a:rPr>
              <a:t>77% </a:t>
            </a:r>
            <a:r>
              <a:rPr lang="en-US" sz="1200">
                <a:solidFill>
                  <a:srgbClr val="FFFF00"/>
                </a:solidFill>
              </a:rPr>
              <a:t>reduction in false positives </a:t>
            </a:r>
          </a:p>
          <a:p>
            <a:pPr algn="l"/>
            <a:r>
              <a:rPr lang="en-US" sz="1200" b="1">
                <a:solidFill>
                  <a:srgbClr val="FFFF00"/>
                </a:solidFill>
              </a:rPr>
              <a:t>+2% </a:t>
            </a:r>
            <a:r>
              <a:rPr lang="en-US" sz="1200">
                <a:solidFill>
                  <a:srgbClr val="FFFF00"/>
                </a:solidFill>
              </a:rPr>
              <a:t>improvement in hit accuracy</a:t>
            </a:r>
          </a:p>
        </p:txBody>
      </p:sp>
      <p:sp>
        <p:nvSpPr>
          <p:cNvPr id="21" name="Rectangle 20">
            <a:extLst>
              <a:ext uri="{FF2B5EF4-FFF2-40B4-BE49-F238E27FC236}">
                <a16:creationId xmlns:a16="http://schemas.microsoft.com/office/drawing/2014/main" id="{DACC30B9-0B47-FFBC-8955-C9C69619364A}"/>
              </a:ext>
            </a:extLst>
          </p:cNvPr>
          <p:cNvSpPr/>
          <p:nvPr/>
        </p:nvSpPr>
        <p:spPr>
          <a:xfrm>
            <a:off x="8145554" y="3731395"/>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 name="TextBox 21">
            <a:extLst>
              <a:ext uri="{FF2B5EF4-FFF2-40B4-BE49-F238E27FC236}">
                <a16:creationId xmlns:a16="http://schemas.microsoft.com/office/drawing/2014/main" id="{77BBFB02-CB99-9C55-0C13-ABF725E55CEF}"/>
              </a:ext>
            </a:extLst>
          </p:cNvPr>
          <p:cNvSpPr txBox="1"/>
          <p:nvPr/>
        </p:nvSpPr>
        <p:spPr>
          <a:xfrm>
            <a:off x="8184615" y="3828101"/>
            <a:ext cx="2918791" cy="2123658"/>
          </a:xfrm>
          <a:prstGeom prst="rect">
            <a:avLst/>
          </a:prstGeom>
          <a:noFill/>
        </p:spPr>
        <p:txBody>
          <a:bodyPr wrap="square">
            <a:spAutoFit/>
          </a:bodyPr>
          <a:lstStyle/>
          <a:p>
            <a:pPr algn="l"/>
            <a:r>
              <a:rPr lang="en-US" sz="1200" b="1">
                <a:solidFill>
                  <a:schemeClr val="bg1"/>
                </a:solidFill>
              </a:rPr>
              <a:t>Financial Document Summarization &amp; Sentiment Analysis</a:t>
            </a:r>
          </a:p>
          <a:p>
            <a:pPr algn="l"/>
            <a:endParaRPr lang="en-US" sz="1200" b="1">
              <a:solidFill>
                <a:schemeClr val="bg1"/>
              </a:solidFill>
            </a:endParaRPr>
          </a:p>
          <a:p>
            <a:pPr algn="l"/>
            <a:r>
              <a:rPr lang="en-US" sz="1200">
                <a:solidFill>
                  <a:schemeClr val="bg1"/>
                </a:solidFill>
              </a:rPr>
              <a:t>Used NLP to extract key highlights and sentiments from 10-K/10-Q filings. Trained multi-year financial sentiment models to detect  speculative language.</a:t>
            </a:r>
          </a:p>
          <a:p>
            <a:pPr algn="l"/>
            <a:endParaRPr lang="en-US" sz="1200">
              <a:solidFill>
                <a:schemeClr val="bg1"/>
              </a:solidFill>
            </a:endParaRPr>
          </a:p>
          <a:p>
            <a:pPr algn="l"/>
            <a:r>
              <a:rPr lang="en-US" sz="1200" b="1">
                <a:solidFill>
                  <a:srgbClr val="FFFF00"/>
                </a:solidFill>
              </a:rPr>
              <a:t>11% </a:t>
            </a:r>
            <a:r>
              <a:rPr lang="en-US" sz="1200">
                <a:solidFill>
                  <a:srgbClr val="FFFF00"/>
                </a:solidFill>
              </a:rPr>
              <a:t>Stock Price prediction Accuracy </a:t>
            </a:r>
            <a:r>
              <a:rPr lang="en-US" sz="1200" b="1">
                <a:solidFill>
                  <a:srgbClr val="FFFF00"/>
                </a:solidFill>
              </a:rPr>
              <a:t>70%+ </a:t>
            </a:r>
            <a:r>
              <a:rPr lang="en-US" sz="1200">
                <a:solidFill>
                  <a:srgbClr val="FFFF00"/>
                </a:solidFill>
              </a:rPr>
              <a:t>reduction in manual review time.</a:t>
            </a:r>
          </a:p>
        </p:txBody>
      </p:sp>
      <p:pic>
        <p:nvPicPr>
          <p:cNvPr id="6" name="Picture 5">
            <a:extLst>
              <a:ext uri="{FF2B5EF4-FFF2-40B4-BE49-F238E27FC236}">
                <a16:creationId xmlns:a16="http://schemas.microsoft.com/office/drawing/2014/main" id="{ECAC277B-2C0E-CD4B-640B-0D9F4EC4AAB0}"/>
              </a:ext>
            </a:extLst>
          </p:cNvPr>
          <p:cNvPicPr>
            <a:picLocks noChangeAspect="1"/>
          </p:cNvPicPr>
          <p:nvPr/>
        </p:nvPicPr>
        <p:blipFill>
          <a:blip r:embed="rId5"/>
          <a:stretch>
            <a:fillRect/>
          </a:stretch>
        </p:blipFill>
        <p:spPr>
          <a:xfrm>
            <a:off x="10427187" y="132224"/>
            <a:ext cx="1607676" cy="814793"/>
          </a:xfrm>
          <a:prstGeom prst="rect">
            <a:avLst/>
          </a:prstGeom>
          <a:ln>
            <a:noFill/>
          </a:ln>
          <a:effectLst>
            <a:outerShdw blurRad="292100" dist="139700" dir="2700000" algn="tl" rotWithShape="0">
              <a:srgbClr val="333333">
                <a:alpha val="65000"/>
              </a:srgbClr>
            </a:outerShdw>
          </a:effectLst>
        </p:spPr>
      </p:pic>
      <p:sp>
        <p:nvSpPr>
          <p:cNvPr id="8" name="Rectangle 7">
            <a:extLst>
              <a:ext uri="{FF2B5EF4-FFF2-40B4-BE49-F238E27FC236}">
                <a16:creationId xmlns:a16="http://schemas.microsoft.com/office/drawing/2014/main" id="{38380CD1-E047-C91F-936C-9995262EFF84}"/>
              </a:ext>
            </a:extLst>
          </p:cNvPr>
          <p:cNvSpPr/>
          <p:nvPr/>
        </p:nvSpPr>
        <p:spPr>
          <a:xfrm>
            <a:off x="10548258" y="468086"/>
            <a:ext cx="315686" cy="543425"/>
          </a:xfrm>
          <a:prstGeom prst="rect">
            <a:avLst/>
          </a:prstGeom>
          <a:noFill/>
          <a:ln w="38100">
            <a:solidFill>
              <a:srgbClr val="FFC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4279725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2576C-E6F9-BB68-23DA-59FE3C779511}"/>
            </a:ext>
          </a:extLst>
        </p:cNvPr>
        <p:cNvGrpSpPr/>
        <p:nvPr/>
      </p:nvGrpSpPr>
      <p:grpSpPr>
        <a:xfrm>
          <a:off x="0" y="0"/>
          <a:ext cx="0" cy="0"/>
          <a:chOff x="0" y="0"/>
          <a:chExt cx="0" cy="0"/>
        </a:xfrm>
      </p:grpSpPr>
      <p:sp>
        <p:nvSpPr>
          <p:cNvPr id="18" name="Freeform: Shape 17">
            <a:extLst>
              <a:ext uri="{FF2B5EF4-FFF2-40B4-BE49-F238E27FC236}">
                <a16:creationId xmlns:a16="http://schemas.microsoft.com/office/drawing/2014/main" id="{56FEDB7A-97D6-B26D-9C89-417DEC6394E4}"/>
              </a:ext>
            </a:extLst>
          </p:cNvPr>
          <p:cNvSpPr/>
          <p:nvPr/>
        </p:nvSpPr>
        <p:spPr>
          <a:xfrm rot="1984612" flipH="1" flipV="1">
            <a:off x="11057799" y="4261252"/>
            <a:ext cx="1232345" cy="2694731"/>
          </a:xfrm>
          <a:custGeom>
            <a:avLst/>
            <a:gdLst>
              <a:gd name="connsiteX0" fmla="*/ 0 w 1643127"/>
              <a:gd name="connsiteY0" fmla="*/ 1070196 h 3592974"/>
              <a:gd name="connsiteX1" fmla="*/ 1643127 w 1643127"/>
              <a:gd name="connsiteY1" fmla="*/ 0 h 3592974"/>
              <a:gd name="connsiteX2" fmla="*/ 1643127 w 1643127"/>
              <a:gd name="connsiteY2" fmla="*/ 3592974 h 3592974"/>
            </a:gdLst>
            <a:ahLst/>
            <a:cxnLst>
              <a:cxn ang="0">
                <a:pos x="connsiteX0" y="connsiteY0"/>
              </a:cxn>
              <a:cxn ang="0">
                <a:pos x="connsiteX1" y="connsiteY1"/>
              </a:cxn>
              <a:cxn ang="0">
                <a:pos x="connsiteX2" y="connsiteY2"/>
              </a:cxn>
            </a:cxnLst>
            <a:rect l="l" t="t" r="r" b="b"/>
            <a:pathLst>
              <a:path w="1643127" h="3592974">
                <a:moveTo>
                  <a:pt x="0" y="1070196"/>
                </a:moveTo>
                <a:lnTo>
                  <a:pt x="1643127" y="0"/>
                </a:lnTo>
                <a:lnTo>
                  <a:pt x="1643127" y="359297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reeform: Shape 18">
            <a:extLst>
              <a:ext uri="{FF2B5EF4-FFF2-40B4-BE49-F238E27FC236}">
                <a16:creationId xmlns:a16="http://schemas.microsoft.com/office/drawing/2014/main" id="{C301C183-FA2A-50ED-CB6D-5CE1A4912381}"/>
              </a:ext>
            </a:extLst>
          </p:cNvPr>
          <p:cNvSpPr/>
          <p:nvPr/>
        </p:nvSpPr>
        <p:spPr>
          <a:xfrm rot="1984612">
            <a:off x="-396059" y="389044"/>
            <a:ext cx="1232345" cy="2694731"/>
          </a:xfrm>
          <a:custGeom>
            <a:avLst/>
            <a:gdLst>
              <a:gd name="connsiteX0" fmla="*/ 0 w 1643127"/>
              <a:gd name="connsiteY0" fmla="*/ 1070196 h 3592974"/>
              <a:gd name="connsiteX1" fmla="*/ 1643127 w 1643127"/>
              <a:gd name="connsiteY1" fmla="*/ 0 h 3592974"/>
              <a:gd name="connsiteX2" fmla="*/ 1643127 w 1643127"/>
              <a:gd name="connsiteY2" fmla="*/ 3592974 h 3592974"/>
            </a:gdLst>
            <a:ahLst/>
            <a:cxnLst>
              <a:cxn ang="0">
                <a:pos x="connsiteX0" y="connsiteY0"/>
              </a:cxn>
              <a:cxn ang="0">
                <a:pos x="connsiteX1" y="connsiteY1"/>
              </a:cxn>
              <a:cxn ang="0">
                <a:pos x="connsiteX2" y="connsiteY2"/>
              </a:cxn>
            </a:cxnLst>
            <a:rect l="l" t="t" r="r" b="b"/>
            <a:pathLst>
              <a:path w="1643127" h="3592974">
                <a:moveTo>
                  <a:pt x="0" y="1070196"/>
                </a:moveTo>
                <a:lnTo>
                  <a:pt x="1643127" y="0"/>
                </a:lnTo>
                <a:lnTo>
                  <a:pt x="1643127" y="359297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347BC00E-8F0D-A31D-6A00-22C09C310FBB}"/>
              </a:ext>
            </a:extLst>
          </p:cNvPr>
          <p:cNvSpPr>
            <a:spLocks noGrp="1"/>
          </p:cNvSpPr>
          <p:nvPr>
            <p:ph type="title"/>
          </p:nvPr>
        </p:nvSpPr>
        <p:spPr/>
        <p:txBody>
          <a:bodyPr vert="horz" lIns="0" tIns="34290" rIns="68580" bIns="34290" rtlCol="0" anchor="ctr">
            <a:normAutofit/>
          </a:bodyPr>
          <a:lstStyle/>
          <a:p>
            <a:r>
              <a:rPr lang="en-US"/>
              <a:t>Embracing Creativity: </a:t>
            </a:r>
            <a:r>
              <a:rPr lang="en-US">
                <a:solidFill>
                  <a:schemeClr val="accent2">
                    <a:lumMod val="75000"/>
                  </a:schemeClr>
                </a:solidFill>
              </a:rPr>
              <a:t>The Rise of Generative AI</a:t>
            </a:r>
          </a:p>
        </p:txBody>
      </p:sp>
      <p:sp>
        <p:nvSpPr>
          <p:cNvPr id="4" name="TextBox 3">
            <a:extLst>
              <a:ext uri="{FF2B5EF4-FFF2-40B4-BE49-F238E27FC236}">
                <a16:creationId xmlns:a16="http://schemas.microsoft.com/office/drawing/2014/main" id="{DF1569F3-42FB-6322-DCC7-3ED06591B483}"/>
              </a:ext>
            </a:extLst>
          </p:cNvPr>
          <p:cNvSpPr txBox="1"/>
          <p:nvPr/>
        </p:nvSpPr>
        <p:spPr>
          <a:xfrm>
            <a:off x="481530" y="3683724"/>
            <a:ext cx="3592286" cy="1384995"/>
          </a:xfrm>
          <a:prstGeom prst="rect">
            <a:avLst/>
          </a:prstGeom>
          <a:noFill/>
        </p:spPr>
        <p:txBody>
          <a:bodyPr wrap="square">
            <a:spAutoFit/>
          </a:bodyPr>
          <a:lstStyle/>
          <a:p>
            <a:r>
              <a:rPr lang="en-US" sz="1200" i="1">
                <a:solidFill>
                  <a:srgbClr val="002060"/>
                </a:solidFill>
              </a:rPr>
              <a:t>Generative AI (GenAI) refers to advanced AI models capable of creating new content—such as text, images, code, or audio—by leveraging Large Language Models[LLM]. Unlike traditional AI that classifies or predicts, GenAI generates outputs that mimic human creativity and reasoning, but is susceptible to hallucinations</a:t>
            </a:r>
          </a:p>
        </p:txBody>
      </p:sp>
      <p:pic>
        <p:nvPicPr>
          <p:cNvPr id="1026" name="Picture 2" descr="A Brief History of Generative AI - DATAVERSITY">
            <a:extLst>
              <a:ext uri="{FF2B5EF4-FFF2-40B4-BE49-F238E27FC236}">
                <a16:creationId xmlns:a16="http://schemas.microsoft.com/office/drawing/2014/main" id="{70229FE1-50EF-2B4C-DD51-EA039CD7AC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514" b="9554"/>
          <a:stretch/>
        </p:blipFill>
        <p:spPr bwMode="auto">
          <a:xfrm>
            <a:off x="481530" y="1109243"/>
            <a:ext cx="3592286" cy="219761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F6DAF862-0C3B-C5D0-5A03-65BC11FAA29E}"/>
              </a:ext>
            </a:extLst>
          </p:cNvPr>
          <p:cNvPicPr>
            <a:picLocks noChangeAspect="1"/>
          </p:cNvPicPr>
          <p:nvPr/>
        </p:nvPicPr>
        <p:blipFill>
          <a:blip r:embed="rId3"/>
          <a:stretch>
            <a:fillRect/>
          </a:stretch>
        </p:blipFill>
        <p:spPr>
          <a:xfrm>
            <a:off x="4638757" y="1131907"/>
            <a:ext cx="6811571" cy="4942322"/>
          </a:xfrm>
          <a:prstGeom prst="rect">
            <a:avLst/>
          </a:prstGeom>
        </p:spPr>
      </p:pic>
      <p:sp>
        <p:nvSpPr>
          <p:cNvPr id="9" name="Rectangle 8">
            <a:extLst>
              <a:ext uri="{FF2B5EF4-FFF2-40B4-BE49-F238E27FC236}">
                <a16:creationId xmlns:a16="http://schemas.microsoft.com/office/drawing/2014/main" id="{AE746FB9-74F0-9160-8EB4-5E3AAFAD85B2}"/>
              </a:ext>
            </a:extLst>
          </p:cNvPr>
          <p:cNvSpPr/>
          <p:nvPr/>
        </p:nvSpPr>
        <p:spPr>
          <a:xfrm>
            <a:off x="4918900" y="1404389"/>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Rectangle 14">
            <a:extLst>
              <a:ext uri="{FF2B5EF4-FFF2-40B4-BE49-F238E27FC236}">
                <a16:creationId xmlns:a16="http://schemas.microsoft.com/office/drawing/2014/main" id="{30B374AD-4AB1-D474-D652-C2C7381F196C}"/>
              </a:ext>
            </a:extLst>
          </p:cNvPr>
          <p:cNvSpPr/>
          <p:nvPr/>
        </p:nvSpPr>
        <p:spPr>
          <a:xfrm>
            <a:off x="8145554" y="1404389"/>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Rectangle 20">
            <a:extLst>
              <a:ext uri="{FF2B5EF4-FFF2-40B4-BE49-F238E27FC236}">
                <a16:creationId xmlns:a16="http://schemas.microsoft.com/office/drawing/2014/main" id="{7AC0773B-CF40-192F-5EF1-FD39C7DC3F7B}"/>
              </a:ext>
            </a:extLst>
          </p:cNvPr>
          <p:cNvSpPr/>
          <p:nvPr/>
        </p:nvSpPr>
        <p:spPr>
          <a:xfrm>
            <a:off x="4918900" y="3731395"/>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 name="TextBox 21">
            <a:extLst>
              <a:ext uri="{FF2B5EF4-FFF2-40B4-BE49-F238E27FC236}">
                <a16:creationId xmlns:a16="http://schemas.microsoft.com/office/drawing/2014/main" id="{52B77F6B-9CAF-F0FD-31CA-827F612A3817}"/>
              </a:ext>
            </a:extLst>
          </p:cNvPr>
          <p:cNvSpPr txBox="1"/>
          <p:nvPr/>
        </p:nvSpPr>
        <p:spPr>
          <a:xfrm>
            <a:off x="4957960" y="3857706"/>
            <a:ext cx="3027824" cy="1938992"/>
          </a:xfrm>
          <a:prstGeom prst="rect">
            <a:avLst/>
          </a:prstGeom>
          <a:noFill/>
        </p:spPr>
        <p:txBody>
          <a:bodyPr wrap="square">
            <a:spAutoFit/>
          </a:bodyPr>
          <a:lstStyle/>
          <a:p>
            <a:pPr algn="l"/>
            <a:r>
              <a:rPr lang="en-US" sz="1200" b="1">
                <a:solidFill>
                  <a:schemeClr val="bg1"/>
                </a:solidFill>
              </a:rPr>
              <a:t>GenAI-Powered PLSQL Modernization for a Retail Major</a:t>
            </a:r>
          </a:p>
          <a:p>
            <a:pPr algn="l"/>
            <a:endParaRPr lang="en-US" sz="1200" b="1">
              <a:solidFill>
                <a:schemeClr val="bg1"/>
              </a:solidFill>
            </a:endParaRPr>
          </a:p>
          <a:p>
            <a:pPr algn="l"/>
            <a:r>
              <a:rPr lang="en-US" sz="1200">
                <a:solidFill>
                  <a:schemeClr val="bg1"/>
                </a:solidFill>
              </a:rPr>
              <a:t>GenAI-based code transformation to modernize legacy PLSQL.</a:t>
            </a:r>
          </a:p>
          <a:p>
            <a:pPr algn="l"/>
            <a:r>
              <a:rPr lang="en-US" sz="1200">
                <a:solidFill>
                  <a:schemeClr val="bg1"/>
                </a:solidFill>
              </a:rPr>
              <a:t>Automated documentation generation for improved maintainability.</a:t>
            </a:r>
          </a:p>
          <a:p>
            <a:pPr algn="l"/>
            <a:endParaRPr lang="en-US" sz="1200">
              <a:solidFill>
                <a:schemeClr val="bg1"/>
              </a:solidFill>
            </a:endParaRPr>
          </a:p>
          <a:p>
            <a:pPr algn="l"/>
            <a:endParaRPr lang="en-US" sz="1200">
              <a:solidFill>
                <a:schemeClr val="bg1"/>
              </a:solidFill>
            </a:endParaRPr>
          </a:p>
          <a:p>
            <a:pPr algn="l"/>
            <a:r>
              <a:rPr lang="en-US" sz="1200" b="1">
                <a:solidFill>
                  <a:srgbClr val="FFFF00"/>
                </a:solidFill>
              </a:rPr>
              <a:t>30% </a:t>
            </a:r>
            <a:r>
              <a:rPr lang="en-US" sz="1200">
                <a:solidFill>
                  <a:srgbClr val="FFFF00"/>
                </a:solidFill>
              </a:rPr>
              <a:t>faster modernization of PLSQL code</a:t>
            </a:r>
          </a:p>
        </p:txBody>
      </p:sp>
      <p:sp>
        <p:nvSpPr>
          <p:cNvPr id="23" name="Rectangle 22">
            <a:extLst>
              <a:ext uri="{FF2B5EF4-FFF2-40B4-BE49-F238E27FC236}">
                <a16:creationId xmlns:a16="http://schemas.microsoft.com/office/drawing/2014/main" id="{6555D168-E6C4-80AA-BA64-D7ABB20B23DB}"/>
              </a:ext>
            </a:extLst>
          </p:cNvPr>
          <p:cNvSpPr/>
          <p:nvPr/>
        </p:nvSpPr>
        <p:spPr>
          <a:xfrm>
            <a:off x="8145554" y="3731395"/>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TextBox 23">
            <a:extLst>
              <a:ext uri="{FF2B5EF4-FFF2-40B4-BE49-F238E27FC236}">
                <a16:creationId xmlns:a16="http://schemas.microsoft.com/office/drawing/2014/main" id="{772198A0-84A8-4D41-3252-43BB530F253E}"/>
              </a:ext>
            </a:extLst>
          </p:cNvPr>
          <p:cNvSpPr txBox="1"/>
          <p:nvPr/>
        </p:nvSpPr>
        <p:spPr>
          <a:xfrm>
            <a:off x="8194917" y="3836430"/>
            <a:ext cx="2968157" cy="2308324"/>
          </a:xfrm>
          <a:prstGeom prst="rect">
            <a:avLst/>
          </a:prstGeom>
          <a:noFill/>
        </p:spPr>
        <p:txBody>
          <a:bodyPr wrap="square">
            <a:spAutoFit/>
          </a:bodyPr>
          <a:lstStyle/>
          <a:p>
            <a:pPr algn="l"/>
            <a:r>
              <a:rPr lang="en-US" sz="1200" b="1">
                <a:solidFill>
                  <a:schemeClr val="bg1"/>
                </a:solidFill>
              </a:rPr>
              <a:t>AI-Powered Insights from Airline Contracts</a:t>
            </a:r>
          </a:p>
          <a:p>
            <a:pPr algn="l"/>
            <a:endParaRPr lang="en-US" sz="1200" b="1">
              <a:solidFill>
                <a:schemeClr val="bg1"/>
              </a:solidFill>
            </a:endParaRPr>
          </a:p>
          <a:p>
            <a:pPr algn="l"/>
            <a:r>
              <a:rPr lang="en-US" sz="1200">
                <a:solidFill>
                  <a:schemeClr val="bg1"/>
                </a:solidFill>
              </a:rPr>
              <a:t>LLM-driven system to extract fare discounts from multi-format airline contracts, with region-wise rate identification and downstream integration</a:t>
            </a:r>
          </a:p>
          <a:p>
            <a:pPr algn="l"/>
            <a:endParaRPr lang="en-US" sz="1200">
              <a:solidFill>
                <a:schemeClr val="bg1"/>
              </a:solidFill>
            </a:endParaRPr>
          </a:p>
          <a:p>
            <a:pPr algn="l"/>
            <a:endParaRPr lang="en-US" sz="1200">
              <a:solidFill>
                <a:schemeClr val="bg1"/>
              </a:solidFill>
            </a:endParaRPr>
          </a:p>
          <a:p>
            <a:r>
              <a:rPr lang="en-US" sz="1200" b="1">
                <a:solidFill>
                  <a:srgbClr val="FFFF00"/>
                </a:solidFill>
              </a:rPr>
              <a:t>25% </a:t>
            </a:r>
            <a:r>
              <a:rPr lang="en-US" sz="1200">
                <a:solidFill>
                  <a:srgbClr val="FFFF00"/>
                </a:solidFill>
              </a:rPr>
              <a:t>boost in business team productivity</a:t>
            </a:r>
          </a:p>
        </p:txBody>
      </p:sp>
      <p:sp>
        <p:nvSpPr>
          <p:cNvPr id="3" name="TextBox 2">
            <a:extLst>
              <a:ext uri="{FF2B5EF4-FFF2-40B4-BE49-F238E27FC236}">
                <a16:creationId xmlns:a16="http://schemas.microsoft.com/office/drawing/2014/main" id="{F4B6B36E-C4E6-4154-CFAD-C738F622CF09}"/>
              </a:ext>
            </a:extLst>
          </p:cNvPr>
          <p:cNvSpPr txBox="1"/>
          <p:nvPr/>
        </p:nvSpPr>
        <p:spPr>
          <a:xfrm>
            <a:off x="5007325" y="1439325"/>
            <a:ext cx="2939399" cy="2123658"/>
          </a:xfrm>
          <a:prstGeom prst="rect">
            <a:avLst/>
          </a:prstGeom>
          <a:noFill/>
        </p:spPr>
        <p:txBody>
          <a:bodyPr wrap="square">
            <a:spAutoFit/>
          </a:bodyPr>
          <a:lstStyle/>
          <a:p>
            <a:pPr algn="l"/>
            <a:r>
              <a:rPr lang="en-US" sz="1200" b="1">
                <a:solidFill>
                  <a:schemeClr val="bg1"/>
                </a:solidFill>
              </a:rPr>
              <a:t>GenAI-Based Risk Score Assessment Using Z-Score</a:t>
            </a:r>
          </a:p>
          <a:p>
            <a:pPr algn="l"/>
            <a:endParaRPr lang="en-US" sz="1200">
              <a:solidFill>
                <a:schemeClr val="bg1"/>
              </a:solidFill>
            </a:endParaRPr>
          </a:p>
          <a:p>
            <a:pPr algn="l"/>
            <a:r>
              <a:rPr lang="en-US" sz="1200">
                <a:solidFill>
                  <a:schemeClr val="bg1"/>
                </a:solidFill>
              </a:rPr>
              <a:t>Deployed GenAI to automate financial creditworthiness evaluation based on Edward Altman’s Z-Score model.</a:t>
            </a:r>
          </a:p>
          <a:p>
            <a:pPr algn="l"/>
            <a:r>
              <a:rPr lang="en-US" sz="1200">
                <a:solidFill>
                  <a:schemeClr val="bg1"/>
                </a:solidFill>
              </a:rPr>
              <a:t>Provided dynamic commentary on Z-score drivers </a:t>
            </a:r>
          </a:p>
          <a:p>
            <a:pPr algn="l"/>
            <a:endParaRPr lang="en-US" sz="1200">
              <a:solidFill>
                <a:schemeClr val="bg1"/>
              </a:solidFill>
            </a:endParaRPr>
          </a:p>
          <a:p>
            <a:pPr algn="l"/>
            <a:r>
              <a:rPr lang="en-US" sz="1200" b="1">
                <a:solidFill>
                  <a:srgbClr val="FFFF00"/>
                </a:solidFill>
              </a:rPr>
              <a:t>20% </a:t>
            </a:r>
            <a:r>
              <a:rPr lang="en-US" sz="1200">
                <a:solidFill>
                  <a:srgbClr val="FFFF00"/>
                </a:solidFill>
              </a:rPr>
              <a:t>Reduction in Manual Data Interpretation</a:t>
            </a:r>
          </a:p>
        </p:txBody>
      </p:sp>
      <p:sp>
        <p:nvSpPr>
          <p:cNvPr id="5" name="TextBox 4">
            <a:extLst>
              <a:ext uri="{FF2B5EF4-FFF2-40B4-BE49-F238E27FC236}">
                <a16:creationId xmlns:a16="http://schemas.microsoft.com/office/drawing/2014/main" id="{EF719987-FFF7-E802-1A82-48B25A0EA30C}"/>
              </a:ext>
            </a:extLst>
          </p:cNvPr>
          <p:cNvSpPr txBox="1"/>
          <p:nvPr/>
        </p:nvSpPr>
        <p:spPr>
          <a:xfrm>
            <a:off x="8232715" y="1433346"/>
            <a:ext cx="2843197" cy="2123658"/>
          </a:xfrm>
          <a:prstGeom prst="rect">
            <a:avLst/>
          </a:prstGeom>
          <a:noFill/>
        </p:spPr>
        <p:txBody>
          <a:bodyPr wrap="square">
            <a:spAutoFit/>
          </a:bodyPr>
          <a:lstStyle/>
          <a:p>
            <a:pPr algn="l"/>
            <a:r>
              <a:rPr lang="en-US" sz="1200" b="1">
                <a:solidFill>
                  <a:schemeClr val="bg1"/>
                </a:solidFill>
              </a:rPr>
              <a:t>Reverse &amp; Forward Engineering for Mainframe </a:t>
            </a:r>
          </a:p>
          <a:p>
            <a:pPr algn="l"/>
            <a:endParaRPr lang="en-US" sz="1200" b="1">
              <a:solidFill>
                <a:schemeClr val="bg1"/>
              </a:solidFill>
            </a:endParaRPr>
          </a:p>
          <a:p>
            <a:pPr algn="l"/>
            <a:r>
              <a:rPr lang="en-US" sz="1200">
                <a:solidFill>
                  <a:schemeClr val="bg1"/>
                </a:solidFill>
              </a:rPr>
              <a:t>Copilot-assisted forward engineering boosted developer productivity by 40%</a:t>
            </a:r>
          </a:p>
          <a:p>
            <a:pPr algn="l"/>
            <a:r>
              <a:rPr lang="en-US" sz="1200">
                <a:solidFill>
                  <a:schemeClr val="bg1"/>
                </a:solidFill>
              </a:rPr>
              <a:t>Reverse engineering TPF code into natural language streamlined SME design inputs.</a:t>
            </a:r>
          </a:p>
          <a:p>
            <a:pPr algn="l"/>
            <a:endParaRPr lang="en-US" sz="1200">
              <a:solidFill>
                <a:schemeClr val="bg1"/>
              </a:solidFill>
            </a:endParaRPr>
          </a:p>
          <a:p>
            <a:pPr algn="l"/>
            <a:r>
              <a:rPr lang="en-US" sz="1200" b="1">
                <a:solidFill>
                  <a:srgbClr val="FFFF00"/>
                </a:solidFill>
              </a:rPr>
              <a:t>40% </a:t>
            </a:r>
            <a:r>
              <a:rPr lang="en-US" sz="1200">
                <a:solidFill>
                  <a:srgbClr val="FFFF00"/>
                </a:solidFill>
              </a:rPr>
              <a:t>faster migration</a:t>
            </a:r>
          </a:p>
          <a:p>
            <a:pPr algn="l"/>
            <a:r>
              <a:rPr lang="en-US" sz="1200" b="1">
                <a:solidFill>
                  <a:srgbClr val="FFFF00"/>
                </a:solidFill>
              </a:rPr>
              <a:t>30% </a:t>
            </a:r>
            <a:r>
              <a:rPr lang="en-US" sz="1200">
                <a:solidFill>
                  <a:srgbClr val="FFFF00"/>
                </a:solidFill>
              </a:rPr>
              <a:t>reduction in development effort</a:t>
            </a:r>
          </a:p>
        </p:txBody>
      </p:sp>
      <p:pic>
        <p:nvPicPr>
          <p:cNvPr id="6" name="Picture 5">
            <a:extLst>
              <a:ext uri="{FF2B5EF4-FFF2-40B4-BE49-F238E27FC236}">
                <a16:creationId xmlns:a16="http://schemas.microsoft.com/office/drawing/2014/main" id="{6015739C-19D7-9954-ABF2-007E5E4A60EE}"/>
              </a:ext>
            </a:extLst>
          </p:cNvPr>
          <p:cNvPicPr>
            <a:picLocks noChangeAspect="1"/>
          </p:cNvPicPr>
          <p:nvPr/>
        </p:nvPicPr>
        <p:blipFill>
          <a:blip r:embed="rId4"/>
          <a:stretch>
            <a:fillRect/>
          </a:stretch>
        </p:blipFill>
        <p:spPr>
          <a:xfrm>
            <a:off x="10427187" y="132224"/>
            <a:ext cx="1607676" cy="814793"/>
          </a:xfrm>
          <a:prstGeom prst="rect">
            <a:avLst/>
          </a:prstGeom>
          <a:ln>
            <a:noFill/>
          </a:ln>
          <a:effectLst>
            <a:outerShdw blurRad="292100" dist="139700" dir="2700000" algn="tl" rotWithShape="0">
              <a:srgbClr val="333333">
                <a:alpha val="65000"/>
              </a:srgbClr>
            </a:outerShdw>
          </a:effectLst>
        </p:spPr>
      </p:pic>
      <p:sp>
        <p:nvSpPr>
          <p:cNvPr id="7" name="Rectangle 6">
            <a:extLst>
              <a:ext uri="{FF2B5EF4-FFF2-40B4-BE49-F238E27FC236}">
                <a16:creationId xmlns:a16="http://schemas.microsoft.com/office/drawing/2014/main" id="{DEAF349F-405B-3F14-BED1-9FEE4CD55240}"/>
              </a:ext>
            </a:extLst>
          </p:cNvPr>
          <p:cNvSpPr/>
          <p:nvPr/>
        </p:nvSpPr>
        <p:spPr>
          <a:xfrm>
            <a:off x="10842172" y="468086"/>
            <a:ext cx="315686" cy="543425"/>
          </a:xfrm>
          <a:prstGeom prst="rect">
            <a:avLst/>
          </a:prstGeom>
          <a:noFill/>
          <a:ln w="38100">
            <a:solidFill>
              <a:srgbClr val="FFC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602453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FEA27-C84D-7925-111E-A1F97DCDFBF0}"/>
            </a:ext>
          </a:extLst>
        </p:cNvPr>
        <p:cNvGrpSpPr/>
        <p:nvPr/>
      </p:nvGrpSpPr>
      <p:grpSpPr>
        <a:xfrm>
          <a:off x="0" y="0"/>
          <a:ext cx="0" cy="0"/>
          <a:chOff x="0" y="0"/>
          <a:chExt cx="0" cy="0"/>
        </a:xfrm>
      </p:grpSpPr>
      <p:sp>
        <p:nvSpPr>
          <p:cNvPr id="5" name="Freeform: Shape 4">
            <a:extLst>
              <a:ext uri="{FF2B5EF4-FFF2-40B4-BE49-F238E27FC236}">
                <a16:creationId xmlns:a16="http://schemas.microsoft.com/office/drawing/2014/main" id="{23BCE873-2B33-1D74-AAE8-249311E6FCF2}"/>
              </a:ext>
            </a:extLst>
          </p:cNvPr>
          <p:cNvSpPr/>
          <p:nvPr/>
        </p:nvSpPr>
        <p:spPr>
          <a:xfrm rot="1984612" flipH="1" flipV="1">
            <a:off x="11057799" y="4261252"/>
            <a:ext cx="1232345" cy="2694731"/>
          </a:xfrm>
          <a:custGeom>
            <a:avLst/>
            <a:gdLst>
              <a:gd name="connsiteX0" fmla="*/ 0 w 1643127"/>
              <a:gd name="connsiteY0" fmla="*/ 1070196 h 3592974"/>
              <a:gd name="connsiteX1" fmla="*/ 1643127 w 1643127"/>
              <a:gd name="connsiteY1" fmla="*/ 0 h 3592974"/>
              <a:gd name="connsiteX2" fmla="*/ 1643127 w 1643127"/>
              <a:gd name="connsiteY2" fmla="*/ 3592974 h 3592974"/>
            </a:gdLst>
            <a:ahLst/>
            <a:cxnLst>
              <a:cxn ang="0">
                <a:pos x="connsiteX0" y="connsiteY0"/>
              </a:cxn>
              <a:cxn ang="0">
                <a:pos x="connsiteX1" y="connsiteY1"/>
              </a:cxn>
              <a:cxn ang="0">
                <a:pos x="connsiteX2" y="connsiteY2"/>
              </a:cxn>
            </a:cxnLst>
            <a:rect l="l" t="t" r="r" b="b"/>
            <a:pathLst>
              <a:path w="1643127" h="3592974">
                <a:moveTo>
                  <a:pt x="0" y="1070196"/>
                </a:moveTo>
                <a:lnTo>
                  <a:pt x="1643127" y="0"/>
                </a:lnTo>
                <a:lnTo>
                  <a:pt x="1643127" y="359297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Freeform: Shape 6">
            <a:extLst>
              <a:ext uri="{FF2B5EF4-FFF2-40B4-BE49-F238E27FC236}">
                <a16:creationId xmlns:a16="http://schemas.microsoft.com/office/drawing/2014/main" id="{5EC4A7BE-4D28-FD8B-A2D9-CE4EA439C866}"/>
              </a:ext>
            </a:extLst>
          </p:cNvPr>
          <p:cNvSpPr/>
          <p:nvPr/>
        </p:nvSpPr>
        <p:spPr>
          <a:xfrm rot="1984612">
            <a:off x="-396059" y="389044"/>
            <a:ext cx="1232345" cy="2694731"/>
          </a:xfrm>
          <a:custGeom>
            <a:avLst/>
            <a:gdLst>
              <a:gd name="connsiteX0" fmla="*/ 0 w 1643127"/>
              <a:gd name="connsiteY0" fmla="*/ 1070196 h 3592974"/>
              <a:gd name="connsiteX1" fmla="*/ 1643127 w 1643127"/>
              <a:gd name="connsiteY1" fmla="*/ 0 h 3592974"/>
              <a:gd name="connsiteX2" fmla="*/ 1643127 w 1643127"/>
              <a:gd name="connsiteY2" fmla="*/ 3592974 h 3592974"/>
            </a:gdLst>
            <a:ahLst/>
            <a:cxnLst>
              <a:cxn ang="0">
                <a:pos x="connsiteX0" y="connsiteY0"/>
              </a:cxn>
              <a:cxn ang="0">
                <a:pos x="connsiteX1" y="connsiteY1"/>
              </a:cxn>
              <a:cxn ang="0">
                <a:pos x="connsiteX2" y="connsiteY2"/>
              </a:cxn>
            </a:cxnLst>
            <a:rect l="l" t="t" r="r" b="b"/>
            <a:pathLst>
              <a:path w="1643127" h="3592974">
                <a:moveTo>
                  <a:pt x="0" y="1070196"/>
                </a:moveTo>
                <a:lnTo>
                  <a:pt x="1643127" y="0"/>
                </a:lnTo>
                <a:lnTo>
                  <a:pt x="1643127" y="359297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9544071F-1B3B-F7CA-38E9-AEC1197DE9F5}"/>
              </a:ext>
            </a:extLst>
          </p:cNvPr>
          <p:cNvSpPr>
            <a:spLocks noGrp="1"/>
          </p:cNvSpPr>
          <p:nvPr>
            <p:ph type="title"/>
          </p:nvPr>
        </p:nvSpPr>
        <p:spPr/>
        <p:txBody>
          <a:bodyPr vert="horz" lIns="0" tIns="34290" rIns="68580" bIns="34290" rtlCol="0" anchor="ctr">
            <a:normAutofit/>
          </a:bodyPr>
          <a:lstStyle/>
          <a:p>
            <a:r>
              <a:rPr lang="en-US"/>
              <a:t>Building Trust: </a:t>
            </a:r>
            <a:r>
              <a:rPr lang="en-US">
                <a:solidFill>
                  <a:schemeClr val="accent2">
                    <a:lumMod val="75000"/>
                  </a:schemeClr>
                </a:solidFill>
              </a:rPr>
              <a:t>The Responsible AI</a:t>
            </a:r>
          </a:p>
        </p:txBody>
      </p:sp>
      <p:sp>
        <p:nvSpPr>
          <p:cNvPr id="4" name="TextBox 3">
            <a:extLst>
              <a:ext uri="{FF2B5EF4-FFF2-40B4-BE49-F238E27FC236}">
                <a16:creationId xmlns:a16="http://schemas.microsoft.com/office/drawing/2014/main" id="{FB007F58-A5A4-5651-33B8-39CECEEC42B7}"/>
              </a:ext>
            </a:extLst>
          </p:cNvPr>
          <p:cNvSpPr txBox="1"/>
          <p:nvPr/>
        </p:nvSpPr>
        <p:spPr>
          <a:xfrm>
            <a:off x="481530" y="3683724"/>
            <a:ext cx="3592286" cy="1200329"/>
          </a:xfrm>
          <a:prstGeom prst="rect">
            <a:avLst/>
          </a:prstGeom>
          <a:noFill/>
        </p:spPr>
        <p:txBody>
          <a:bodyPr wrap="square">
            <a:spAutoFit/>
          </a:bodyPr>
          <a:lstStyle/>
          <a:p>
            <a:r>
              <a:rPr lang="en-US" sz="1200" i="1">
                <a:solidFill>
                  <a:srgbClr val="002060"/>
                </a:solidFill>
              </a:rPr>
              <a:t>Responsible AI refers to the design, development, and deployment of AI systems that are explainable, ethical, transparent, fair, and accountable. It ensures AI technologies align with legal standards, societal values, and organizational integrity.</a:t>
            </a:r>
          </a:p>
        </p:txBody>
      </p:sp>
      <p:pic>
        <p:nvPicPr>
          <p:cNvPr id="3" name="Picture 2">
            <a:extLst>
              <a:ext uri="{FF2B5EF4-FFF2-40B4-BE49-F238E27FC236}">
                <a16:creationId xmlns:a16="http://schemas.microsoft.com/office/drawing/2014/main" id="{F8934EEE-08EE-A5E5-0309-5B0D27998647}"/>
              </a:ext>
            </a:extLst>
          </p:cNvPr>
          <p:cNvPicPr>
            <a:picLocks noChangeAspect="1"/>
          </p:cNvPicPr>
          <p:nvPr/>
        </p:nvPicPr>
        <p:blipFill>
          <a:blip r:embed="rId2"/>
          <a:stretch>
            <a:fillRect/>
          </a:stretch>
        </p:blipFill>
        <p:spPr>
          <a:xfrm>
            <a:off x="481531" y="1131024"/>
            <a:ext cx="3421976" cy="2065033"/>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A9D4B990-B182-EA7D-F59C-3A69EAEC319D}"/>
              </a:ext>
            </a:extLst>
          </p:cNvPr>
          <p:cNvPicPr>
            <a:picLocks noChangeAspect="1"/>
          </p:cNvPicPr>
          <p:nvPr/>
        </p:nvPicPr>
        <p:blipFill>
          <a:blip r:embed="rId3"/>
          <a:stretch>
            <a:fillRect/>
          </a:stretch>
        </p:blipFill>
        <p:spPr>
          <a:xfrm>
            <a:off x="4638757" y="1131907"/>
            <a:ext cx="6811571" cy="4942322"/>
          </a:xfrm>
          <a:prstGeom prst="rect">
            <a:avLst/>
          </a:prstGeom>
        </p:spPr>
      </p:pic>
      <p:sp>
        <p:nvSpPr>
          <p:cNvPr id="11" name="Rectangle 10">
            <a:extLst>
              <a:ext uri="{FF2B5EF4-FFF2-40B4-BE49-F238E27FC236}">
                <a16:creationId xmlns:a16="http://schemas.microsoft.com/office/drawing/2014/main" id="{671DBED2-2ACE-09F2-47E5-6EAEB521677A}"/>
              </a:ext>
            </a:extLst>
          </p:cNvPr>
          <p:cNvSpPr/>
          <p:nvPr/>
        </p:nvSpPr>
        <p:spPr>
          <a:xfrm>
            <a:off x="4918900" y="1404389"/>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TextBox 11">
            <a:extLst>
              <a:ext uri="{FF2B5EF4-FFF2-40B4-BE49-F238E27FC236}">
                <a16:creationId xmlns:a16="http://schemas.microsoft.com/office/drawing/2014/main" id="{069EC4B5-57E2-2E8D-04E4-21128EDD7797}"/>
              </a:ext>
            </a:extLst>
          </p:cNvPr>
          <p:cNvSpPr txBox="1"/>
          <p:nvPr/>
        </p:nvSpPr>
        <p:spPr>
          <a:xfrm>
            <a:off x="4968264" y="1437544"/>
            <a:ext cx="2890035" cy="2123658"/>
          </a:xfrm>
          <a:prstGeom prst="rect">
            <a:avLst/>
          </a:prstGeom>
          <a:noFill/>
        </p:spPr>
        <p:txBody>
          <a:bodyPr wrap="square">
            <a:spAutoFit/>
          </a:bodyPr>
          <a:lstStyle/>
          <a:p>
            <a:pPr algn="l"/>
            <a:r>
              <a:rPr lang="en-US" sz="1200" b="1">
                <a:solidFill>
                  <a:schemeClr val="bg1"/>
                </a:solidFill>
              </a:rPr>
              <a:t>Virtual Assistant Compliance &amp; Cost Control for Pet Supplies Major</a:t>
            </a:r>
          </a:p>
          <a:p>
            <a:pPr algn="l"/>
            <a:endParaRPr lang="en-US" sz="1200" b="1">
              <a:solidFill>
                <a:schemeClr val="bg1"/>
              </a:solidFill>
            </a:endParaRPr>
          </a:p>
          <a:p>
            <a:pPr algn="l"/>
            <a:endParaRPr lang="en-US" sz="1200" b="1">
              <a:solidFill>
                <a:schemeClr val="bg1"/>
              </a:solidFill>
            </a:endParaRPr>
          </a:p>
          <a:p>
            <a:pPr algn="l"/>
            <a:r>
              <a:rPr lang="en-US" sz="1200">
                <a:solidFill>
                  <a:schemeClr val="bg1"/>
                </a:solidFill>
              </a:rPr>
              <a:t>Integrated Coforge </a:t>
            </a:r>
            <a:r>
              <a:rPr lang="en-US" sz="1200" err="1">
                <a:solidFill>
                  <a:schemeClr val="bg1"/>
                </a:solidFill>
              </a:rPr>
              <a:t>TrustAI</a:t>
            </a:r>
            <a:r>
              <a:rPr lang="en-US" sz="1200">
                <a:solidFill>
                  <a:schemeClr val="bg1"/>
                </a:solidFill>
              </a:rPr>
              <a:t> with internal virtual assistant to enforce PII guardrails</a:t>
            </a:r>
          </a:p>
          <a:p>
            <a:pPr algn="l"/>
            <a:endParaRPr lang="en-US" sz="1200">
              <a:solidFill>
                <a:schemeClr val="bg1"/>
              </a:solidFill>
            </a:endParaRPr>
          </a:p>
          <a:p>
            <a:pPr algn="l"/>
            <a:endParaRPr lang="en-US" sz="1200">
              <a:solidFill>
                <a:schemeClr val="bg1"/>
              </a:solidFill>
            </a:endParaRPr>
          </a:p>
          <a:p>
            <a:pPr algn="l"/>
            <a:r>
              <a:rPr lang="en-US" sz="1200" b="1">
                <a:solidFill>
                  <a:srgbClr val="FFFF00"/>
                </a:solidFill>
              </a:rPr>
              <a:t>15%  </a:t>
            </a:r>
            <a:r>
              <a:rPr lang="en-US" sz="1200">
                <a:solidFill>
                  <a:srgbClr val="FFFF00"/>
                </a:solidFill>
              </a:rPr>
              <a:t>reduction in LLM usage based Enabled user-level quota management</a:t>
            </a:r>
          </a:p>
        </p:txBody>
      </p:sp>
      <p:sp>
        <p:nvSpPr>
          <p:cNvPr id="16" name="Rectangle 15">
            <a:extLst>
              <a:ext uri="{FF2B5EF4-FFF2-40B4-BE49-F238E27FC236}">
                <a16:creationId xmlns:a16="http://schemas.microsoft.com/office/drawing/2014/main" id="{A26522D5-E8ED-8280-4625-D171A0BDA317}"/>
              </a:ext>
            </a:extLst>
          </p:cNvPr>
          <p:cNvSpPr/>
          <p:nvPr/>
        </p:nvSpPr>
        <p:spPr>
          <a:xfrm>
            <a:off x="8145554" y="1404389"/>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TextBox 16">
            <a:extLst>
              <a:ext uri="{FF2B5EF4-FFF2-40B4-BE49-F238E27FC236}">
                <a16:creationId xmlns:a16="http://schemas.microsoft.com/office/drawing/2014/main" id="{B1B03040-C3C8-B92D-6F34-C580C1A30D4D}"/>
              </a:ext>
            </a:extLst>
          </p:cNvPr>
          <p:cNvSpPr txBox="1"/>
          <p:nvPr/>
        </p:nvSpPr>
        <p:spPr>
          <a:xfrm>
            <a:off x="8183171" y="1429793"/>
            <a:ext cx="3017521" cy="2123658"/>
          </a:xfrm>
          <a:prstGeom prst="rect">
            <a:avLst/>
          </a:prstGeom>
          <a:noFill/>
        </p:spPr>
        <p:txBody>
          <a:bodyPr wrap="square">
            <a:spAutoFit/>
          </a:bodyPr>
          <a:lstStyle>
            <a:defPPr>
              <a:defRPr lang="en-US"/>
            </a:defPPr>
            <a:lvl1pPr>
              <a:defRPr sz="1600" b="1">
                <a:solidFill>
                  <a:schemeClr val="bg1"/>
                </a:solidFill>
              </a:defRPr>
            </a:lvl1pPr>
          </a:lstStyle>
          <a:p>
            <a:r>
              <a:rPr lang="en-US" sz="1200"/>
              <a:t>Bias Auditing &amp; Model Transparency for Western EU Government</a:t>
            </a:r>
          </a:p>
          <a:p>
            <a:endParaRPr lang="en-US" sz="1200"/>
          </a:p>
          <a:p>
            <a:r>
              <a:rPr lang="en-US" sz="1200" b="0"/>
              <a:t>Enabled deep bias detection (inter/intra, temporal) in foreign affairs models</a:t>
            </a:r>
          </a:p>
          <a:p>
            <a:r>
              <a:rPr lang="en-US" sz="1200" b="0"/>
              <a:t>Delivered comprehensive bias audit reports to Parliament, aligned with regulatory standards</a:t>
            </a:r>
          </a:p>
          <a:p>
            <a:endParaRPr lang="en-US" sz="1200" b="0"/>
          </a:p>
          <a:p>
            <a:r>
              <a:rPr lang="en-US" sz="1200" b="0">
                <a:solidFill>
                  <a:srgbClr val="FFFF00"/>
                </a:solidFill>
              </a:rPr>
              <a:t>Increased model accountability </a:t>
            </a:r>
          </a:p>
          <a:p>
            <a:r>
              <a:rPr lang="en-US" sz="1200" b="0">
                <a:solidFill>
                  <a:srgbClr val="FFFF00"/>
                </a:solidFill>
              </a:rPr>
              <a:t>Enabled targeted interventions</a:t>
            </a:r>
          </a:p>
        </p:txBody>
      </p:sp>
      <p:sp>
        <p:nvSpPr>
          <p:cNvPr id="18" name="Rectangle 17">
            <a:extLst>
              <a:ext uri="{FF2B5EF4-FFF2-40B4-BE49-F238E27FC236}">
                <a16:creationId xmlns:a16="http://schemas.microsoft.com/office/drawing/2014/main" id="{9D9758E2-E47B-FA80-5B42-0A1EA46CA81E}"/>
              </a:ext>
            </a:extLst>
          </p:cNvPr>
          <p:cNvSpPr/>
          <p:nvPr/>
        </p:nvSpPr>
        <p:spPr>
          <a:xfrm>
            <a:off x="4918900" y="3731395"/>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Rectangle 18">
            <a:extLst>
              <a:ext uri="{FF2B5EF4-FFF2-40B4-BE49-F238E27FC236}">
                <a16:creationId xmlns:a16="http://schemas.microsoft.com/office/drawing/2014/main" id="{F60A858D-5906-412D-A605-BC44B25A3870}"/>
              </a:ext>
            </a:extLst>
          </p:cNvPr>
          <p:cNvSpPr/>
          <p:nvPr/>
        </p:nvSpPr>
        <p:spPr>
          <a:xfrm>
            <a:off x="8145554" y="3731395"/>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TextBox 19">
            <a:extLst>
              <a:ext uri="{FF2B5EF4-FFF2-40B4-BE49-F238E27FC236}">
                <a16:creationId xmlns:a16="http://schemas.microsoft.com/office/drawing/2014/main" id="{41BA5946-13D1-A208-AEF5-AFD25B1FBBFA}"/>
              </a:ext>
            </a:extLst>
          </p:cNvPr>
          <p:cNvSpPr txBox="1"/>
          <p:nvPr/>
        </p:nvSpPr>
        <p:spPr>
          <a:xfrm>
            <a:off x="8211530" y="3828254"/>
            <a:ext cx="2885567" cy="1938992"/>
          </a:xfrm>
          <a:prstGeom prst="rect">
            <a:avLst/>
          </a:prstGeom>
          <a:noFill/>
        </p:spPr>
        <p:txBody>
          <a:bodyPr wrap="square">
            <a:spAutoFit/>
          </a:bodyPr>
          <a:lstStyle/>
          <a:p>
            <a:pPr algn="l"/>
            <a:r>
              <a:rPr lang="en-US" sz="1200" b="1">
                <a:solidFill>
                  <a:schemeClr val="bg1"/>
                </a:solidFill>
              </a:rPr>
              <a:t>Responsible AI for Detection &amp; Redaction – Healthcare &amp; Legal</a:t>
            </a:r>
          </a:p>
          <a:p>
            <a:pPr algn="l"/>
            <a:r>
              <a:rPr lang="en-US" sz="1200" b="1">
                <a:solidFill>
                  <a:schemeClr val="bg1"/>
                </a:solidFill>
              </a:rPr>
              <a:t> </a:t>
            </a:r>
          </a:p>
          <a:p>
            <a:pPr algn="l"/>
            <a:r>
              <a:rPr lang="en-US" sz="1200">
                <a:solidFill>
                  <a:schemeClr val="bg1"/>
                </a:solidFill>
              </a:rPr>
              <a:t>Combines GenAI and policy filters for privacy compliance</a:t>
            </a:r>
          </a:p>
          <a:p>
            <a:pPr algn="l"/>
            <a:endParaRPr lang="en-US" sz="1200">
              <a:solidFill>
                <a:schemeClr val="bg1"/>
              </a:solidFill>
            </a:endParaRPr>
          </a:p>
          <a:p>
            <a:pPr algn="l"/>
            <a:endParaRPr lang="en-US" sz="1200">
              <a:solidFill>
                <a:schemeClr val="bg1"/>
              </a:solidFill>
            </a:endParaRPr>
          </a:p>
          <a:p>
            <a:pPr algn="l"/>
            <a:endParaRPr lang="en-US" sz="1200">
              <a:solidFill>
                <a:schemeClr val="bg1"/>
              </a:solidFill>
            </a:endParaRPr>
          </a:p>
          <a:p>
            <a:pPr algn="l"/>
            <a:r>
              <a:rPr lang="en-US" sz="1200">
                <a:solidFill>
                  <a:srgbClr val="FFFF00"/>
                </a:solidFill>
              </a:rPr>
              <a:t>Preserves conversational flow, ensures compliance</a:t>
            </a:r>
          </a:p>
        </p:txBody>
      </p:sp>
      <p:sp>
        <p:nvSpPr>
          <p:cNvPr id="21" name="TextBox 20">
            <a:extLst>
              <a:ext uri="{FF2B5EF4-FFF2-40B4-BE49-F238E27FC236}">
                <a16:creationId xmlns:a16="http://schemas.microsoft.com/office/drawing/2014/main" id="{8ADEF464-B262-0C92-0C42-7918F80D7983}"/>
              </a:ext>
            </a:extLst>
          </p:cNvPr>
          <p:cNvSpPr txBox="1"/>
          <p:nvPr/>
        </p:nvSpPr>
        <p:spPr>
          <a:xfrm>
            <a:off x="4967211" y="3877375"/>
            <a:ext cx="2966880" cy="1938992"/>
          </a:xfrm>
          <a:prstGeom prst="rect">
            <a:avLst/>
          </a:prstGeom>
          <a:noFill/>
        </p:spPr>
        <p:txBody>
          <a:bodyPr wrap="square">
            <a:spAutoFit/>
          </a:bodyPr>
          <a:lstStyle/>
          <a:p>
            <a:pPr algn="l"/>
            <a:r>
              <a:rPr lang="en-US" sz="1200" b="1">
                <a:solidFill>
                  <a:schemeClr val="bg1"/>
                </a:solidFill>
              </a:rPr>
              <a:t>AI for PII Redaction in Text &amp; Audio </a:t>
            </a:r>
          </a:p>
          <a:p>
            <a:pPr algn="l"/>
            <a:endParaRPr lang="en-US" sz="1200">
              <a:solidFill>
                <a:schemeClr val="bg1"/>
              </a:solidFill>
            </a:endParaRPr>
          </a:p>
          <a:p>
            <a:pPr algn="l"/>
            <a:r>
              <a:rPr lang="en-US" sz="1200">
                <a:solidFill>
                  <a:schemeClr val="bg1"/>
                </a:solidFill>
              </a:rPr>
              <a:t>Legal-grade redaction, preserving context and privacy</a:t>
            </a:r>
          </a:p>
          <a:p>
            <a:pPr algn="l"/>
            <a:endParaRPr lang="en-US" sz="1200">
              <a:solidFill>
                <a:schemeClr val="bg1"/>
              </a:solidFill>
            </a:endParaRPr>
          </a:p>
          <a:p>
            <a:pPr algn="l"/>
            <a:endParaRPr lang="en-US" sz="1200">
              <a:solidFill>
                <a:schemeClr val="bg1"/>
              </a:solidFill>
            </a:endParaRPr>
          </a:p>
          <a:p>
            <a:pPr algn="l"/>
            <a:endParaRPr lang="en-US" sz="1200">
              <a:solidFill>
                <a:schemeClr val="bg1"/>
              </a:solidFill>
            </a:endParaRPr>
          </a:p>
          <a:p>
            <a:pPr algn="l"/>
            <a:endParaRPr lang="en-US" sz="1200">
              <a:solidFill>
                <a:schemeClr val="bg1"/>
              </a:solidFill>
            </a:endParaRPr>
          </a:p>
          <a:p>
            <a:pPr algn="l"/>
            <a:r>
              <a:rPr lang="en-US" sz="1200">
                <a:solidFill>
                  <a:srgbClr val="FFFF00"/>
                </a:solidFill>
              </a:rPr>
              <a:t>Reduced breach costs, improved compliance</a:t>
            </a:r>
          </a:p>
        </p:txBody>
      </p:sp>
      <p:pic>
        <p:nvPicPr>
          <p:cNvPr id="22" name="Picture 21">
            <a:extLst>
              <a:ext uri="{FF2B5EF4-FFF2-40B4-BE49-F238E27FC236}">
                <a16:creationId xmlns:a16="http://schemas.microsoft.com/office/drawing/2014/main" id="{82BE8DC1-8231-C68A-B5BB-24DAB5D35165}"/>
              </a:ext>
            </a:extLst>
          </p:cNvPr>
          <p:cNvPicPr>
            <a:picLocks noChangeAspect="1"/>
          </p:cNvPicPr>
          <p:nvPr/>
        </p:nvPicPr>
        <p:blipFill>
          <a:blip r:embed="rId4"/>
          <a:stretch>
            <a:fillRect/>
          </a:stretch>
        </p:blipFill>
        <p:spPr>
          <a:xfrm>
            <a:off x="10427187" y="132224"/>
            <a:ext cx="1607676" cy="814793"/>
          </a:xfrm>
          <a:prstGeom prst="rect">
            <a:avLst/>
          </a:prstGeom>
          <a:ln>
            <a:noFill/>
          </a:ln>
          <a:effectLst>
            <a:outerShdw blurRad="292100" dist="139700" dir="2700000" algn="tl" rotWithShape="0">
              <a:srgbClr val="333333">
                <a:alpha val="65000"/>
              </a:srgbClr>
            </a:outerShdw>
          </a:effectLst>
        </p:spPr>
      </p:pic>
      <p:sp>
        <p:nvSpPr>
          <p:cNvPr id="6" name="Rectangle 5">
            <a:extLst>
              <a:ext uri="{FF2B5EF4-FFF2-40B4-BE49-F238E27FC236}">
                <a16:creationId xmlns:a16="http://schemas.microsoft.com/office/drawing/2014/main" id="{42318EA9-C01E-3B99-E7F4-90E05CB72A4E}"/>
              </a:ext>
            </a:extLst>
          </p:cNvPr>
          <p:cNvSpPr/>
          <p:nvPr/>
        </p:nvSpPr>
        <p:spPr>
          <a:xfrm>
            <a:off x="11114315" y="402773"/>
            <a:ext cx="315686" cy="543425"/>
          </a:xfrm>
          <a:prstGeom prst="rect">
            <a:avLst/>
          </a:prstGeom>
          <a:noFill/>
          <a:ln w="38100">
            <a:solidFill>
              <a:srgbClr val="FFC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792994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1F855-28EE-94A0-892E-6FB77F07A4CF}"/>
            </a:ext>
          </a:extLst>
        </p:cNvPr>
        <p:cNvGrpSpPr/>
        <p:nvPr/>
      </p:nvGrpSpPr>
      <p:grpSpPr>
        <a:xfrm>
          <a:off x="0" y="0"/>
          <a:ext cx="0" cy="0"/>
          <a:chOff x="0" y="0"/>
          <a:chExt cx="0" cy="0"/>
        </a:xfrm>
      </p:grpSpPr>
      <p:sp>
        <p:nvSpPr>
          <p:cNvPr id="9" name="Freeform: Shape 8">
            <a:extLst>
              <a:ext uri="{FF2B5EF4-FFF2-40B4-BE49-F238E27FC236}">
                <a16:creationId xmlns:a16="http://schemas.microsoft.com/office/drawing/2014/main" id="{36B35EA3-D176-3A3D-C4A3-0A6580EBDAF1}"/>
              </a:ext>
            </a:extLst>
          </p:cNvPr>
          <p:cNvSpPr/>
          <p:nvPr/>
        </p:nvSpPr>
        <p:spPr>
          <a:xfrm rot="1984612" flipH="1" flipV="1">
            <a:off x="11057799" y="4261252"/>
            <a:ext cx="1232345" cy="2694731"/>
          </a:xfrm>
          <a:custGeom>
            <a:avLst/>
            <a:gdLst>
              <a:gd name="connsiteX0" fmla="*/ 0 w 1643127"/>
              <a:gd name="connsiteY0" fmla="*/ 1070196 h 3592974"/>
              <a:gd name="connsiteX1" fmla="*/ 1643127 w 1643127"/>
              <a:gd name="connsiteY1" fmla="*/ 0 h 3592974"/>
              <a:gd name="connsiteX2" fmla="*/ 1643127 w 1643127"/>
              <a:gd name="connsiteY2" fmla="*/ 3592974 h 3592974"/>
            </a:gdLst>
            <a:ahLst/>
            <a:cxnLst>
              <a:cxn ang="0">
                <a:pos x="connsiteX0" y="connsiteY0"/>
              </a:cxn>
              <a:cxn ang="0">
                <a:pos x="connsiteX1" y="connsiteY1"/>
              </a:cxn>
              <a:cxn ang="0">
                <a:pos x="connsiteX2" y="connsiteY2"/>
              </a:cxn>
            </a:cxnLst>
            <a:rect l="l" t="t" r="r" b="b"/>
            <a:pathLst>
              <a:path w="1643127" h="3592974">
                <a:moveTo>
                  <a:pt x="0" y="1070196"/>
                </a:moveTo>
                <a:lnTo>
                  <a:pt x="1643127" y="0"/>
                </a:lnTo>
                <a:lnTo>
                  <a:pt x="1643127" y="359297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Freeform: Shape 13">
            <a:extLst>
              <a:ext uri="{FF2B5EF4-FFF2-40B4-BE49-F238E27FC236}">
                <a16:creationId xmlns:a16="http://schemas.microsoft.com/office/drawing/2014/main" id="{20084E01-6FE1-AEBF-2169-9CC3264C40F0}"/>
              </a:ext>
            </a:extLst>
          </p:cNvPr>
          <p:cNvSpPr/>
          <p:nvPr/>
        </p:nvSpPr>
        <p:spPr>
          <a:xfrm rot="1984612">
            <a:off x="-396059" y="389044"/>
            <a:ext cx="1232345" cy="2694731"/>
          </a:xfrm>
          <a:custGeom>
            <a:avLst/>
            <a:gdLst>
              <a:gd name="connsiteX0" fmla="*/ 0 w 1643127"/>
              <a:gd name="connsiteY0" fmla="*/ 1070196 h 3592974"/>
              <a:gd name="connsiteX1" fmla="*/ 1643127 w 1643127"/>
              <a:gd name="connsiteY1" fmla="*/ 0 h 3592974"/>
              <a:gd name="connsiteX2" fmla="*/ 1643127 w 1643127"/>
              <a:gd name="connsiteY2" fmla="*/ 3592974 h 3592974"/>
            </a:gdLst>
            <a:ahLst/>
            <a:cxnLst>
              <a:cxn ang="0">
                <a:pos x="connsiteX0" y="connsiteY0"/>
              </a:cxn>
              <a:cxn ang="0">
                <a:pos x="connsiteX1" y="connsiteY1"/>
              </a:cxn>
              <a:cxn ang="0">
                <a:pos x="connsiteX2" y="connsiteY2"/>
              </a:cxn>
            </a:cxnLst>
            <a:rect l="l" t="t" r="r" b="b"/>
            <a:pathLst>
              <a:path w="1643127" h="3592974">
                <a:moveTo>
                  <a:pt x="0" y="1070196"/>
                </a:moveTo>
                <a:lnTo>
                  <a:pt x="1643127" y="0"/>
                </a:lnTo>
                <a:lnTo>
                  <a:pt x="1643127" y="359297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E7B83EDE-6235-C7BD-8A48-69617565BA5A}"/>
              </a:ext>
            </a:extLst>
          </p:cNvPr>
          <p:cNvSpPr>
            <a:spLocks noGrp="1"/>
          </p:cNvSpPr>
          <p:nvPr>
            <p:ph type="title"/>
          </p:nvPr>
        </p:nvSpPr>
        <p:spPr/>
        <p:txBody>
          <a:bodyPr vert="horz" lIns="0" tIns="34290" rIns="68580" bIns="34290" rtlCol="0" anchor="ctr">
            <a:normAutofit/>
          </a:bodyPr>
          <a:lstStyle/>
          <a:p>
            <a:r>
              <a:rPr lang="en-US"/>
              <a:t>Taking Action: </a:t>
            </a:r>
            <a:r>
              <a:rPr lang="en-US">
                <a:solidFill>
                  <a:schemeClr val="accent2">
                    <a:lumMod val="75000"/>
                  </a:schemeClr>
                </a:solidFill>
              </a:rPr>
              <a:t>The Leap to Agentic AI</a:t>
            </a:r>
          </a:p>
        </p:txBody>
      </p:sp>
      <p:sp>
        <p:nvSpPr>
          <p:cNvPr id="4" name="TextBox 3">
            <a:extLst>
              <a:ext uri="{FF2B5EF4-FFF2-40B4-BE49-F238E27FC236}">
                <a16:creationId xmlns:a16="http://schemas.microsoft.com/office/drawing/2014/main" id="{6E49C4AF-C93E-BA59-0693-D21C9D5ABC49}"/>
              </a:ext>
            </a:extLst>
          </p:cNvPr>
          <p:cNvSpPr txBox="1"/>
          <p:nvPr/>
        </p:nvSpPr>
        <p:spPr>
          <a:xfrm>
            <a:off x="481530" y="3683724"/>
            <a:ext cx="3592286" cy="1384995"/>
          </a:xfrm>
          <a:prstGeom prst="rect">
            <a:avLst/>
          </a:prstGeom>
          <a:noFill/>
        </p:spPr>
        <p:txBody>
          <a:bodyPr wrap="square">
            <a:spAutoFit/>
          </a:bodyPr>
          <a:lstStyle/>
          <a:p>
            <a:r>
              <a:rPr lang="en-US" sz="1200" i="1">
                <a:solidFill>
                  <a:srgbClr val="002060"/>
                </a:solidFill>
              </a:rPr>
              <a:t>Agentic AI refers to autonomous AI systems that can perceive, reason, decide, and act independently to achieve defined goals—often across dynamic and multi-step workflows. Unlike traditional automation, which is rule based, Agentic AI exhibits goal-directed behavior and can adapt to changing contexts.</a:t>
            </a:r>
          </a:p>
        </p:txBody>
      </p:sp>
      <p:pic>
        <p:nvPicPr>
          <p:cNvPr id="8" name="Picture 7">
            <a:extLst>
              <a:ext uri="{FF2B5EF4-FFF2-40B4-BE49-F238E27FC236}">
                <a16:creationId xmlns:a16="http://schemas.microsoft.com/office/drawing/2014/main" id="{BB26D2EE-3ECD-1BB5-17C9-0B378E6AAEBF}"/>
              </a:ext>
            </a:extLst>
          </p:cNvPr>
          <p:cNvPicPr>
            <a:picLocks noChangeAspect="1"/>
          </p:cNvPicPr>
          <p:nvPr/>
        </p:nvPicPr>
        <p:blipFill>
          <a:blip r:embed="rId2"/>
          <a:stretch>
            <a:fillRect/>
          </a:stretch>
        </p:blipFill>
        <p:spPr>
          <a:xfrm>
            <a:off x="568701" y="1131908"/>
            <a:ext cx="3505115" cy="1880177"/>
          </a:xfrm>
          <a:prstGeom prst="rect">
            <a:avLst/>
          </a:prstGeom>
        </p:spPr>
      </p:pic>
      <p:pic>
        <p:nvPicPr>
          <p:cNvPr id="15" name="Picture 14">
            <a:extLst>
              <a:ext uri="{FF2B5EF4-FFF2-40B4-BE49-F238E27FC236}">
                <a16:creationId xmlns:a16="http://schemas.microsoft.com/office/drawing/2014/main" id="{B577F48C-9A2B-5AA6-0463-3BC5D366D571}"/>
              </a:ext>
            </a:extLst>
          </p:cNvPr>
          <p:cNvPicPr>
            <a:picLocks noChangeAspect="1"/>
          </p:cNvPicPr>
          <p:nvPr/>
        </p:nvPicPr>
        <p:blipFill>
          <a:blip r:embed="rId3"/>
          <a:stretch>
            <a:fillRect/>
          </a:stretch>
        </p:blipFill>
        <p:spPr>
          <a:xfrm>
            <a:off x="4638757" y="1131907"/>
            <a:ext cx="6811571" cy="4942322"/>
          </a:xfrm>
          <a:prstGeom prst="rect">
            <a:avLst/>
          </a:prstGeom>
        </p:spPr>
      </p:pic>
      <p:sp>
        <p:nvSpPr>
          <p:cNvPr id="18" name="Rectangle 17">
            <a:extLst>
              <a:ext uri="{FF2B5EF4-FFF2-40B4-BE49-F238E27FC236}">
                <a16:creationId xmlns:a16="http://schemas.microsoft.com/office/drawing/2014/main" id="{78DD77B4-2F55-D5A2-5766-0A3733353492}"/>
              </a:ext>
            </a:extLst>
          </p:cNvPr>
          <p:cNvSpPr/>
          <p:nvPr/>
        </p:nvSpPr>
        <p:spPr>
          <a:xfrm>
            <a:off x="4918900" y="1404389"/>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TextBox 18">
            <a:extLst>
              <a:ext uri="{FF2B5EF4-FFF2-40B4-BE49-F238E27FC236}">
                <a16:creationId xmlns:a16="http://schemas.microsoft.com/office/drawing/2014/main" id="{69CCA543-0A45-2563-3255-C33F31A606FF}"/>
              </a:ext>
            </a:extLst>
          </p:cNvPr>
          <p:cNvSpPr txBox="1"/>
          <p:nvPr/>
        </p:nvSpPr>
        <p:spPr>
          <a:xfrm>
            <a:off x="4968264" y="1601757"/>
            <a:ext cx="2768692" cy="1754326"/>
          </a:xfrm>
          <a:prstGeom prst="rect">
            <a:avLst/>
          </a:prstGeom>
          <a:noFill/>
        </p:spPr>
        <p:txBody>
          <a:bodyPr wrap="square">
            <a:spAutoFit/>
          </a:bodyPr>
          <a:lstStyle/>
          <a:p>
            <a:pPr algn="l"/>
            <a:r>
              <a:rPr lang="en-US" sz="1200" b="1">
                <a:solidFill>
                  <a:schemeClr val="bg1"/>
                </a:solidFill>
              </a:rPr>
              <a:t>Self-Healing Infrastructure Agent – Insurance Sector</a:t>
            </a:r>
          </a:p>
          <a:p>
            <a:pPr algn="l"/>
            <a:endParaRPr lang="en-US" sz="1200" b="1">
              <a:solidFill>
                <a:schemeClr val="bg1"/>
              </a:solidFill>
            </a:endParaRPr>
          </a:p>
          <a:p>
            <a:pPr algn="l"/>
            <a:r>
              <a:rPr lang="en-US" sz="1200">
                <a:solidFill>
                  <a:schemeClr val="bg1"/>
                </a:solidFill>
              </a:rPr>
              <a:t>Automated self-healing actions like service restarts, traffic rerouting, and configuration adjustments</a:t>
            </a:r>
          </a:p>
          <a:p>
            <a:pPr algn="l"/>
            <a:endParaRPr lang="en-US" sz="1200">
              <a:solidFill>
                <a:schemeClr val="bg1"/>
              </a:solidFill>
            </a:endParaRPr>
          </a:p>
          <a:p>
            <a:pPr algn="l"/>
            <a:r>
              <a:rPr lang="en-US" sz="1200" b="1">
                <a:solidFill>
                  <a:srgbClr val="FFFF00"/>
                </a:solidFill>
              </a:rPr>
              <a:t>70% </a:t>
            </a:r>
            <a:r>
              <a:rPr lang="en-US" sz="1200">
                <a:solidFill>
                  <a:srgbClr val="FFFF00"/>
                </a:solidFill>
              </a:rPr>
              <a:t>reduced downtime</a:t>
            </a:r>
          </a:p>
          <a:p>
            <a:pPr algn="l"/>
            <a:r>
              <a:rPr lang="en-US" sz="1200">
                <a:solidFill>
                  <a:srgbClr val="FFFF00"/>
                </a:solidFill>
              </a:rPr>
              <a:t>Increased operational efficiency</a:t>
            </a:r>
          </a:p>
        </p:txBody>
      </p:sp>
      <p:sp>
        <p:nvSpPr>
          <p:cNvPr id="20" name="Rectangle 19">
            <a:extLst>
              <a:ext uri="{FF2B5EF4-FFF2-40B4-BE49-F238E27FC236}">
                <a16:creationId xmlns:a16="http://schemas.microsoft.com/office/drawing/2014/main" id="{BD66E9C6-11C7-47ED-6189-ADD9EF287D0B}"/>
              </a:ext>
            </a:extLst>
          </p:cNvPr>
          <p:cNvSpPr/>
          <p:nvPr/>
        </p:nvSpPr>
        <p:spPr>
          <a:xfrm>
            <a:off x="8145554" y="1404389"/>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TextBox 20">
            <a:extLst>
              <a:ext uri="{FF2B5EF4-FFF2-40B4-BE49-F238E27FC236}">
                <a16:creationId xmlns:a16="http://schemas.microsoft.com/office/drawing/2014/main" id="{8D43D082-050B-A7D7-3300-8E9488B37571}"/>
              </a:ext>
            </a:extLst>
          </p:cNvPr>
          <p:cNvSpPr txBox="1"/>
          <p:nvPr/>
        </p:nvSpPr>
        <p:spPr>
          <a:xfrm>
            <a:off x="8145553" y="1437544"/>
            <a:ext cx="2946512" cy="2308324"/>
          </a:xfrm>
          <a:prstGeom prst="rect">
            <a:avLst/>
          </a:prstGeom>
          <a:noFill/>
        </p:spPr>
        <p:txBody>
          <a:bodyPr wrap="square">
            <a:spAutoFit/>
          </a:bodyPr>
          <a:lstStyle>
            <a:defPPr>
              <a:defRPr lang="en-US"/>
            </a:defPPr>
            <a:lvl1pPr>
              <a:defRPr sz="1600" b="1">
                <a:solidFill>
                  <a:schemeClr val="bg1"/>
                </a:solidFill>
              </a:defRPr>
            </a:lvl1pPr>
          </a:lstStyle>
          <a:p>
            <a:r>
              <a:rPr lang="en-US" sz="1200"/>
              <a:t>AI-Augmented Sales Agent for Product Intelligence</a:t>
            </a:r>
          </a:p>
          <a:p>
            <a:endParaRPr lang="en-US" sz="1200"/>
          </a:p>
          <a:p>
            <a:r>
              <a:rPr lang="en-US" sz="1200" b="0"/>
              <a:t>GenAI agent built using Vertex AI (Vision, Embedding, LLM) to process multimodal product data (pdf, mp4, doc, etc.)</a:t>
            </a:r>
          </a:p>
          <a:p>
            <a:r>
              <a:rPr lang="en-US" sz="1200" b="0"/>
              <a:t>Guardrails ensure scope control, recency, and safe responses</a:t>
            </a:r>
          </a:p>
          <a:p>
            <a:endParaRPr lang="en-US" sz="1200" b="0"/>
          </a:p>
          <a:p>
            <a:r>
              <a:rPr lang="en-US" sz="1200">
                <a:solidFill>
                  <a:srgbClr val="FFFF00"/>
                </a:solidFill>
              </a:rPr>
              <a:t>30% </a:t>
            </a:r>
            <a:r>
              <a:rPr lang="en-US" sz="1200" b="0">
                <a:solidFill>
                  <a:srgbClr val="FFFF00"/>
                </a:solidFill>
              </a:rPr>
              <a:t>Faster query resolution</a:t>
            </a:r>
          </a:p>
          <a:p>
            <a:r>
              <a:rPr lang="en-US" sz="1200">
                <a:solidFill>
                  <a:srgbClr val="FFFF00"/>
                </a:solidFill>
              </a:rPr>
              <a:t>25% </a:t>
            </a:r>
            <a:r>
              <a:rPr lang="en-US" sz="1200" b="0">
                <a:solidFill>
                  <a:srgbClr val="FFFF00"/>
                </a:solidFill>
              </a:rPr>
              <a:t>Increase in conversions through</a:t>
            </a:r>
          </a:p>
        </p:txBody>
      </p:sp>
      <p:sp>
        <p:nvSpPr>
          <p:cNvPr id="22" name="Rectangle 21">
            <a:extLst>
              <a:ext uri="{FF2B5EF4-FFF2-40B4-BE49-F238E27FC236}">
                <a16:creationId xmlns:a16="http://schemas.microsoft.com/office/drawing/2014/main" id="{CCB5AE88-4556-7505-8C40-F78C3490B5DE}"/>
              </a:ext>
            </a:extLst>
          </p:cNvPr>
          <p:cNvSpPr/>
          <p:nvPr/>
        </p:nvSpPr>
        <p:spPr>
          <a:xfrm>
            <a:off x="4918900" y="3731395"/>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 name="Rectangle 22">
            <a:extLst>
              <a:ext uri="{FF2B5EF4-FFF2-40B4-BE49-F238E27FC236}">
                <a16:creationId xmlns:a16="http://schemas.microsoft.com/office/drawing/2014/main" id="{0F9F86B1-849C-E592-A65F-EB4CA57FB790}"/>
              </a:ext>
            </a:extLst>
          </p:cNvPr>
          <p:cNvSpPr/>
          <p:nvPr/>
        </p:nvSpPr>
        <p:spPr>
          <a:xfrm>
            <a:off x="8145554" y="3731395"/>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TextBox 23">
            <a:extLst>
              <a:ext uri="{FF2B5EF4-FFF2-40B4-BE49-F238E27FC236}">
                <a16:creationId xmlns:a16="http://schemas.microsoft.com/office/drawing/2014/main" id="{D402BB72-89DD-CB31-FF1D-7C173E46977C}"/>
              </a:ext>
            </a:extLst>
          </p:cNvPr>
          <p:cNvSpPr txBox="1"/>
          <p:nvPr/>
        </p:nvSpPr>
        <p:spPr>
          <a:xfrm>
            <a:off x="8216562" y="3886378"/>
            <a:ext cx="2918791" cy="2123658"/>
          </a:xfrm>
          <a:prstGeom prst="rect">
            <a:avLst/>
          </a:prstGeom>
          <a:noFill/>
        </p:spPr>
        <p:txBody>
          <a:bodyPr wrap="square">
            <a:spAutoFit/>
          </a:bodyPr>
          <a:lstStyle/>
          <a:p>
            <a:pPr algn="l"/>
            <a:r>
              <a:rPr lang="en-US" sz="1200" b="1">
                <a:solidFill>
                  <a:schemeClr val="bg1"/>
                </a:solidFill>
              </a:rPr>
              <a:t>Advisor Copilot – Wealth Management</a:t>
            </a:r>
          </a:p>
          <a:p>
            <a:pPr algn="l"/>
            <a:endParaRPr lang="en-US" sz="1200" b="1">
              <a:solidFill>
                <a:schemeClr val="bg1"/>
              </a:solidFill>
            </a:endParaRPr>
          </a:p>
          <a:p>
            <a:pPr algn="l"/>
            <a:r>
              <a:rPr lang="en-US" sz="1200">
                <a:solidFill>
                  <a:schemeClr val="bg1"/>
                </a:solidFill>
              </a:rPr>
              <a:t>Multilingual GenAI assistant for earnings calls, IPO, and trend feedback</a:t>
            </a:r>
          </a:p>
          <a:p>
            <a:pPr algn="l"/>
            <a:endParaRPr lang="en-US" sz="1200">
              <a:solidFill>
                <a:schemeClr val="bg1"/>
              </a:solidFill>
            </a:endParaRPr>
          </a:p>
          <a:p>
            <a:pPr algn="l"/>
            <a:endParaRPr lang="en-US" sz="1200">
              <a:solidFill>
                <a:schemeClr val="bg1"/>
              </a:solidFill>
            </a:endParaRPr>
          </a:p>
          <a:p>
            <a:pPr algn="l"/>
            <a:endParaRPr lang="en-US" sz="1200">
              <a:solidFill>
                <a:schemeClr val="bg1"/>
              </a:solidFill>
            </a:endParaRPr>
          </a:p>
          <a:p>
            <a:pPr algn="l"/>
            <a:r>
              <a:rPr lang="en-US" sz="1200" b="1">
                <a:solidFill>
                  <a:srgbClr val="FFFF00"/>
                </a:solidFill>
              </a:rPr>
              <a:t>60% </a:t>
            </a:r>
            <a:r>
              <a:rPr lang="en-US" sz="1200">
                <a:solidFill>
                  <a:srgbClr val="FFFF00"/>
                </a:solidFill>
              </a:rPr>
              <a:t>reduced prep time</a:t>
            </a:r>
          </a:p>
          <a:p>
            <a:pPr algn="l"/>
            <a:r>
              <a:rPr lang="en-US" sz="1200">
                <a:solidFill>
                  <a:srgbClr val="FFFF00"/>
                </a:solidFill>
              </a:rPr>
              <a:t>Enhanced UX</a:t>
            </a:r>
          </a:p>
          <a:p>
            <a:pPr algn="l"/>
            <a:endParaRPr lang="en-US" sz="1200">
              <a:solidFill>
                <a:schemeClr val="bg1"/>
              </a:solidFill>
            </a:endParaRPr>
          </a:p>
        </p:txBody>
      </p:sp>
      <p:sp>
        <p:nvSpPr>
          <p:cNvPr id="25" name="TextBox 24">
            <a:extLst>
              <a:ext uri="{FF2B5EF4-FFF2-40B4-BE49-F238E27FC236}">
                <a16:creationId xmlns:a16="http://schemas.microsoft.com/office/drawing/2014/main" id="{F0D18989-8DEA-404D-492E-F7DE018717B4}"/>
              </a:ext>
            </a:extLst>
          </p:cNvPr>
          <p:cNvSpPr txBox="1"/>
          <p:nvPr/>
        </p:nvSpPr>
        <p:spPr>
          <a:xfrm>
            <a:off x="4911788" y="3928763"/>
            <a:ext cx="2918791" cy="1938992"/>
          </a:xfrm>
          <a:prstGeom prst="rect">
            <a:avLst/>
          </a:prstGeom>
          <a:noFill/>
        </p:spPr>
        <p:txBody>
          <a:bodyPr wrap="square">
            <a:spAutoFit/>
          </a:bodyPr>
          <a:lstStyle/>
          <a:p>
            <a:pPr algn="l"/>
            <a:r>
              <a:rPr lang="en-US" sz="1200" b="1">
                <a:solidFill>
                  <a:schemeClr val="bg1"/>
                </a:solidFill>
              </a:rPr>
              <a:t>Agentic AI for Recruitment – Investment Firm  </a:t>
            </a:r>
          </a:p>
          <a:p>
            <a:pPr algn="l"/>
            <a:endParaRPr lang="en-US" sz="1200" b="1">
              <a:solidFill>
                <a:schemeClr val="bg1"/>
              </a:solidFill>
            </a:endParaRPr>
          </a:p>
          <a:p>
            <a:pPr algn="l"/>
            <a:r>
              <a:rPr lang="en-US" sz="1200">
                <a:solidFill>
                  <a:schemeClr val="bg1"/>
                </a:solidFill>
              </a:rPr>
              <a:t>110 AI agents deployed, including for job profiling, matching</a:t>
            </a:r>
          </a:p>
          <a:p>
            <a:pPr algn="l"/>
            <a:endParaRPr lang="en-US" sz="1200">
              <a:solidFill>
                <a:schemeClr val="bg1"/>
              </a:solidFill>
            </a:endParaRPr>
          </a:p>
          <a:p>
            <a:pPr algn="l"/>
            <a:endParaRPr lang="en-US" sz="1200">
              <a:solidFill>
                <a:schemeClr val="bg1"/>
              </a:solidFill>
            </a:endParaRPr>
          </a:p>
          <a:p>
            <a:pPr algn="l"/>
            <a:endParaRPr lang="en-US" sz="1200">
              <a:solidFill>
                <a:schemeClr val="bg1"/>
              </a:solidFill>
            </a:endParaRPr>
          </a:p>
          <a:p>
            <a:pPr algn="l"/>
            <a:r>
              <a:rPr lang="en-US" sz="1200" b="1">
                <a:solidFill>
                  <a:srgbClr val="FFFF00"/>
                </a:solidFill>
              </a:rPr>
              <a:t>25% </a:t>
            </a:r>
            <a:r>
              <a:rPr lang="en-US" sz="1200">
                <a:solidFill>
                  <a:srgbClr val="FFFF00"/>
                </a:solidFill>
              </a:rPr>
              <a:t>faster hiring</a:t>
            </a:r>
          </a:p>
          <a:p>
            <a:pPr algn="l"/>
            <a:r>
              <a:rPr lang="en-US" sz="1200" b="1">
                <a:solidFill>
                  <a:srgbClr val="FFFF00"/>
                </a:solidFill>
              </a:rPr>
              <a:t>35% </a:t>
            </a:r>
            <a:r>
              <a:rPr lang="en-US" sz="1200">
                <a:solidFill>
                  <a:srgbClr val="FFFF00"/>
                </a:solidFill>
              </a:rPr>
              <a:t>increase in match accuracy</a:t>
            </a:r>
          </a:p>
        </p:txBody>
      </p:sp>
      <p:pic>
        <p:nvPicPr>
          <p:cNvPr id="3" name="Picture 2">
            <a:extLst>
              <a:ext uri="{FF2B5EF4-FFF2-40B4-BE49-F238E27FC236}">
                <a16:creationId xmlns:a16="http://schemas.microsoft.com/office/drawing/2014/main" id="{1B708081-9468-F76B-9ADB-1BD34D8E34FA}"/>
              </a:ext>
            </a:extLst>
          </p:cNvPr>
          <p:cNvPicPr>
            <a:picLocks noChangeAspect="1"/>
          </p:cNvPicPr>
          <p:nvPr/>
        </p:nvPicPr>
        <p:blipFill>
          <a:blip r:embed="rId4"/>
          <a:stretch>
            <a:fillRect/>
          </a:stretch>
        </p:blipFill>
        <p:spPr>
          <a:xfrm>
            <a:off x="10427187" y="132224"/>
            <a:ext cx="1607676" cy="814793"/>
          </a:xfrm>
          <a:prstGeom prst="rect">
            <a:avLst/>
          </a:prstGeom>
          <a:ln>
            <a:noFill/>
          </a:ln>
          <a:effectLst>
            <a:outerShdw blurRad="292100" dist="139700" dir="2700000" algn="tl" rotWithShape="0">
              <a:srgbClr val="333333">
                <a:alpha val="65000"/>
              </a:srgbClr>
            </a:outerShdw>
          </a:effectLst>
        </p:spPr>
      </p:pic>
      <p:sp>
        <p:nvSpPr>
          <p:cNvPr id="5" name="Rectangle 4">
            <a:extLst>
              <a:ext uri="{FF2B5EF4-FFF2-40B4-BE49-F238E27FC236}">
                <a16:creationId xmlns:a16="http://schemas.microsoft.com/office/drawing/2014/main" id="{DDC7BA58-3FBD-E486-F1A6-61FA51655D05}"/>
              </a:ext>
            </a:extLst>
          </p:cNvPr>
          <p:cNvSpPr/>
          <p:nvPr/>
        </p:nvSpPr>
        <p:spPr>
          <a:xfrm>
            <a:off x="11342913" y="261257"/>
            <a:ext cx="315686" cy="543425"/>
          </a:xfrm>
          <a:prstGeom prst="rect">
            <a:avLst/>
          </a:prstGeom>
          <a:noFill/>
          <a:ln w="38100">
            <a:solidFill>
              <a:srgbClr val="FFC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5238523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C7063-B698-5F1C-3A63-D436D5AA0F3A}"/>
            </a:ext>
          </a:extLst>
        </p:cNvPr>
        <p:cNvGrpSpPr/>
        <p:nvPr/>
      </p:nvGrpSpPr>
      <p:grpSpPr>
        <a:xfrm>
          <a:off x="0" y="0"/>
          <a:ext cx="0" cy="0"/>
          <a:chOff x="0" y="0"/>
          <a:chExt cx="0" cy="0"/>
        </a:xfrm>
      </p:grpSpPr>
      <p:sp>
        <p:nvSpPr>
          <p:cNvPr id="7" name="Freeform: Shape 6">
            <a:extLst>
              <a:ext uri="{FF2B5EF4-FFF2-40B4-BE49-F238E27FC236}">
                <a16:creationId xmlns:a16="http://schemas.microsoft.com/office/drawing/2014/main" id="{1427AD9A-B73E-0603-8B19-0E4ABC921285}"/>
              </a:ext>
            </a:extLst>
          </p:cNvPr>
          <p:cNvSpPr/>
          <p:nvPr/>
        </p:nvSpPr>
        <p:spPr>
          <a:xfrm rot="1984612" flipH="1" flipV="1">
            <a:off x="11057799" y="4261252"/>
            <a:ext cx="1232345" cy="2694731"/>
          </a:xfrm>
          <a:custGeom>
            <a:avLst/>
            <a:gdLst>
              <a:gd name="connsiteX0" fmla="*/ 0 w 1643127"/>
              <a:gd name="connsiteY0" fmla="*/ 1070196 h 3592974"/>
              <a:gd name="connsiteX1" fmla="*/ 1643127 w 1643127"/>
              <a:gd name="connsiteY1" fmla="*/ 0 h 3592974"/>
              <a:gd name="connsiteX2" fmla="*/ 1643127 w 1643127"/>
              <a:gd name="connsiteY2" fmla="*/ 3592974 h 3592974"/>
            </a:gdLst>
            <a:ahLst/>
            <a:cxnLst>
              <a:cxn ang="0">
                <a:pos x="connsiteX0" y="connsiteY0"/>
              </a:cxn>
              <a:cxn ang="0">
                <a:pos x="connsiteX1" y="connsiteY1"/>
              </a:cxn>
              <a:cxn ang="0">
                <a:pos x="connsiteX2" y="connsiteY2"/>
              </a:cxn>
            </a:cxnLst>
            <a:rect l="l" t="t" r="r" b="b"/>
            <a:pathLst>
              <a:path w="1643127" h="3592974">
                <a:moveTo>
                  <a:pt x="0" y="1070196"/>
                </a:moveTo>
                <a:lnTo>
                  <a:pt x="1643127" y="0"/>
                </a:lnTo>
                <a:lnTo>
                  <a:pt x="1643127" y="359297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Freeform: Shape 8">
            <a:extLst>
              <a:ext uri="{FF2B5EF4-FFF2-40B4-BE49-F238E27FC236}">
                <a16:creationId xmlns:a16="http://schemas.microsoft.com/office/drawing/2014/main" id="{6CBA218B-89D9-7F13-3839-3D19B5E0A8B3}"/>
              </a:ext>
            </a:extLst>
          </p:cNvPr>
          <p:cNvSpPr/>
          <p:nvPr/>
        </p:nvSpPr>
        <p:spPr>
          <a:xfrm rot="1984612">
            <a:off x="-396059" y="389044"/>
            <a:ext cx="1232345" cy="2694731"/>
          </a:xfrm>
          <a:custGeom>
            <a:avLst/>
            <a:gdLst>
              <a:gd name="connsiteX0" fmla="*/ 0 w 1643127"/>
              <a:gd name="connsiteY0" fmla="*/ 1070196 h 3592974"/>
              <a:gd name="connsiteX1" fmla="*/ 1643127 w 1643127"/>
              <a:gd name="connsiteY1" fmla="*/ 0 h 3592974"/>
              <a:gd name="connsiteX2" fmla="*/ 1643127 w 1643127"/>
              <a:gd name="connsiteY2" fmla="*/ 3592974 h 3592974"/>
            </a:gdLst>
            <a:ahLst/>
            <a:cxnLst>
              <a:cxn ang="0">
                <a:pos x="connsiteX0" y="connsiteY0"/>
              </a:cxn>
              <a:cxn ang="0">
                <a:pos x="connsiteX1" y="connsiteY1"/>
              </a:cxn>
              <a:cxn ang="0">
                <a:pos x="connsiteX2" y="connsiteY2"/>
              </a:cxn>
            </a:cxnLst>
            <a:rect l="l" t="t" r="r" b="b"/>
            <a:pathLst>
              <a:path w="1643127" h="3592974">
                <a:moveTo>
                  <a:pt x="0" y="1070196"/>
                </a:moveTo>
                <a:lnTo>
                  <a:pt x="1643127" y="0"/>
                </a:lnTo>
                <a:lnTo>
                  <a:pt x="1643127" y="359297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0D709A94-E468-BD44-9D87-57C2D9A82D27}"/>
              </a:ext>
            </a:extLst>
          </p:cNvPr>
          <p:cNvSpPr>
            <a:spLocks noGrp="1"/>
          </p:cNvSpPr>
          <p:nvPr>
            <p:ph type="title"/>
          </p:nvPr>
        </p:nvSpPr>
        <p:spPr>
          <a:xfrm>
            <a:off x="481530" y="163730"/>
            <a:ext cx="10132042" cy="945514"/>
          </a:xfrm>
        </p:spPr>
        <p:txBody>
          <a:bodyPr vert="horz" lIns="0" tIns="34290" rIns="68580" bIns="34290" rtlCol="0" anchor="ctr">
            <a:normAutofit/>
          </a:bodyPr>
          <a:lstStyle/>
          <a:p>
            <a:r>
              <a:rPr lang="en-US"/>
              <a:t>Embodied Intelligence: </a:t>
            </a:r>
            <a:r>
              <a:rPr lang="en-US">
                <a:solidFill>
                  <a:schemeClr val="accent2">
                    <a:lumMod val="75000"/>
                  </a:schemeClr>
                </a:solidFill>
              </a:rPr>
              <a:t>The Emergence of Physical (Multimodal) AI</a:t>
            </a:r>
          </a:p>
        </p:txBody>
      </p:sp>
      <p:sp>
        <p:nvSpPr>
          <p:cNvPr id="4" name="TextBox 3">
            <a:extLst>
              <a:ext uri="{FF2B5EF4-FFF2-40B4-BE49-F238E27FC236}">
                <a16:creationId xmlns:a16="http://schemas.microsoft.com/office/drawing/2014/main" id="{A59A4365-B488-FFB0-E29F-1B93A43D41F8}"/>
              </a:ext>
            </a:extLst>
          </p:cNvPr>
          <p:cNvSpPr txBox="1"/>
          <p:nvPr/>
        </p:nvSpPr>
        <p:spPr>
          <a:xfrm>
            <a:off x="481530" y="3683724"/>
            <a:ext cx="3592286" cy="1384995"/>
          </a:xfrm>
          <a:prstGeom prst="rect">
            <a:avLst/>
          </a:prstGeom>
          <a:noFill/>
        </p:spPr>
        <p:txBody>
          <a:bodyPr wrap="square">
            <a:spAutoFit/>
          </a:bodyPr>
          <a:lstStyle/>
          <a:p>
            <a:r>
              <a:rPr lang="en-US" sz="1200" i="1">
                <a:solidFill>
                  <a:srgbClr val="002060"/>
                </a:solidFill>
              </a:rPr>
              <a:t>Physical AI refers to the integration of artificial intelligence with robotic systems and physical environments, enabling machines to perceive, interact, and operate in the real world. It combines computer vision, sensor fusion, motion planning, and autonomous control(multimodal) to bridge the digital-physical divide.</a:t>
            </a:r>
          </a:p>
        </p:txBody>
      </p:sp>
      <p:pic>
        <p:nvPicPr>
          <p:cNvPr id="5" name="Picture 4">
            <a:extLst>
              <a:ext uri="{FF2B5EF4-FFF2-40B4-BE49-F238E27FC236}">
                <a16:creationId xmlns:a16="http://schemas.microsoft.com/office/drawing/2014/main" id="{D71BAC58-EE42-5F37-A18A-2CC583F125FF}"/>
              </a:ext>
            </a:extLst>
          </p:cNvPr>
          <p:cNvPicPr>
            <a:picLocks noChangeAspect="1"/>
          </p:cNvPicPr>
          <p:nvPr/>
        </p:nvPicPr>
        <p:blipFill>
          <a:blip r:embed="rId2"/>
          <a:stretch>
            <a:fillRect/>
          </a:stretch>
        </p:blipFill>
        <p:spPr>
          <a:xfrm>
            <a:off x="626284" y="1131908"/>
            <a:ext cx="3259916" cy="1994697"/>
          </a:xfrm>
          <a:prstGeom prst="rect">
            <a:avLst/>
          </a:prstGeom>
        </p:spPr>
      </p:pic>
      <p:pic>
        <p:nvPicPr>
          <p:cNvPr id="23" name="Picture 22">
            <a:extLst>
              <a:ext uri="{FF2B5EF4-FFF2-40B4-BE49-F238E27FC236}">
                <a16:creationId xmlns:a16="http://schemas.microsoft.com/office/drawing/2014/main" id="{616BC9A8-A6E6-EA20-1172-EBC2B6DB6A60}"/>
              </a:ext>
            </a:extLst>
          </p:cNvPr>
          <p:cNvPicPr>
            <a:picLocks noChangeAspect="1"/>
          </p:cNvPicPr>
          <p:nvPr/>
        </p:nvPicPr>
        <p:blipFill>
          <a:blip r:embed="rId3"/>
          <a:stretch>
            <a:fillRect/>
          </a:stretch>
        </p:blipFill>
        <p:spPr>
          <a:xfrm>
            <a:off x="4638757" y="1131907"/>
            <a:ext cx="6811571" cy="4942322"/>
          </a:xfrm>
          <a:prstGeom prst="rect">
            <a:avLst/>
          </a:prstGeom>
        </p:spPr>
      </p:pic>
      <p:sp>
        <p:nvSpPr>
          <p:cNvPr id="24" name="Rectangle 23">
            <a:extLst>
              <a:ext uri="{FF2B5EF4-FFF2-40B4-BE49-F238E27FC236}">
                <a16:creationId xmlns:a16="http://schemas.microsoft.com/office/drawing/2014/main" id="{E4F1BCD1-EA64-43FB-360F-657FCA127299}"/>
              </a:ext>
            </a:extLst>
          </p:cNvPr>
          <p:cNvSpPr/>
          <p:nvPr/>
        </p:nvSpPr>
        <p:spPr>
          <a:xfrm>
            <a:off x="4918900" y="1404389"/>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TextBox 24">
            <a:extLst>
              <a:ext uri="{FF2B5EF4-FFF2-40B4-BE49-F238E27FC236}">
                <a16:creationId xmlns:a16="http://schemas.microsoft.com/office/drawing/2014/main" id="{01604024-FF00-7430-21E1-4BEB80E56D2B}"/>
              </a:ext>
            </a:extLst>
          </p:cNvPr>
          <p:cNvSpPr txBox="1"/>
          <p:nvPr/>
        </p:nvSpPr>
        <p:spPr>
          <a:xfrm>
            <a:off x="4930371" y="1508470"/>
            <a:ext cx="2927928" cy="1938992"/>
          </a:xfrm>
          <a:prstGeom prst="rect">
            <a:avLst/>
          </a:prstGeom>
          <a:noFill/>
        </p:spPr>
        <p:txBody>
          <a:bodyPr wrap="square">
            <a:spAutoFit/>
          </a:bodyPr>
          <a:lstStyle/>
          <a:p>
            <a:pPr algn="l"/>
            <a:r>
              <a:rPr lang="en-US" sz="1200" b="1">
                <a:solidFill>
                  <a:schemeClr val="bg1"/>
                </a:solidFill>
              </a:rPr>
              <a:t>3D Wayfinding for Airports &amp; Malls</a:t>
            </a:r>
          </a:p>
          <a:p>
            <a:pPr algn="l"/>
            <a:r>
              <a:rPr lang="en-US" sz="1200" b="1">
                <a:solidFill>
                  <a:schemeClr val="bg1"/>
                </a:solidFill>
              </a:rPr>
              <a:t> </a:t>
            </a:r>
          </a:p>
          <a:p>
            <a:pPr algn="l"/>
            <a:r>
              <a:rPr lang="en-US" sz="1200">
                <a:solidFill>
                  <a:schemeClr val="bg1"/>
                </a:solidFill>
              </a:rPr>
              <a:t>3D visualization + indoor positioning (GPS, Wi-Fi, Beacons) to help users navigate complex environments with real-time, AR-supported direction.</a:t>
            </a:r>
          </a:p>
          <a:p>
            <a:pPr algn="l"/>
            <a:endParaRPr lang="en-US" sz="1200">
              <a:solidFill>
                <a:schemeClr val="bg1"/>
              </a:solidFill>
            </a:endParaRPr>
          </a:p>
          <a:p>
            <a:pPr algn="l"/>
            <a:endParaRPr lang="en-US" sz="1200">
              <a:solidFill>
                <a:schemeClr val="bg1"/>
              </a:solidFill>
            </a:endParaRPr>
          </a:p>
          <a:p>
            <a:pPr algn="l"/>
            <a:r>
              <a:rPr lang="en-US" sz="1200">
                <a:solidFill>
                  <a:srgbClr val="FFFF00"/>
                </a:solidFill>
              </a:rPr>
              <a:t>Reduced navigation confusion</a:t>
            </a:r>
          </a:p>
          <a:p>
            <a:pPr algn="l"/>
            <a:r>
              <a:rPr lang="en-US" sz="1200">
                <a:solidFill>
                  <a:srgbClr val="FFFF00"/>
                </a:solidFill>
              </a:rPr>
              <a:t>Increased footfall conversion</a:t>
            </a:r>
          </a:p>
        </p:txBody>
      </p:sp>
      <p:sp>
        <p:nvSpPr>
          <p:cNvPr id="26" name="Rectangle 25">
            <a:extLst>
              <a:ext uri="{FF2B5EF4-FFF2-40B4-BE49-F238E27FC236}">
                <a16:creationId xmlns:a16="http://schemas.microsoft.com/office/drawing/2014/main" id="{F24E0778-36CA-FF1E-A4A9-7058862633FE}"/>
              </a:ext>
            </a:extLst>
          </p:cNvPr>
          <p:cNvSpPr/>
          <p:nvPr/>
        </p:nvSpPr>
        <p:spPr>
          <a:xfrm>
            <a:off x="8145554" y="1404389"/>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TextBox 26">
            <a:extLst>
              <a:ext uri="{FF2B5EF4-FFF2-40B4-BE49-F238E27FC236}">
                <a16:creationId xmlns:a16="http://schemas.microsoft.com/office/drawing/2014/main" id="{DF8A3AAD-81FB-737E-ACCA-A00E0D742CA3}"/>
              </a:ext>
            </a:extLst>
          </p:cNvPr>
          <p:cNvSpPr txBox="1"/>
          <p:nvPr/>
        </p:nvSpPr>
        <p:spPr>
          <a:xfrm>
            <a:off x="8216563" y="1508470"/>
            <a:ext cx="2886843" cy="1938992"/>
          </a:xfrm>
          <a:prstGeom prst="rect">
            <a:avLst/>
          </a:prstGeom>
          <a:noFill/>
        </p:spPr>
        <p:txBody>
          <a:bodyPr wrap="square">
            <a:spAutoFit/>
          </a:bodyPr>
          <a:lstStyle/>
          <a:p>
            <a:pPr algn="l"/>
            <a:r>
              <a:rPr lang="en-US" sz="1200" b="1">
                <a:solidFill>
                  <a:schemeClr val="bg1"/>
                </a:solidFill>
              </a:rPr>
              <a:t>Aircraft Turnaround Monitoring Using Computer Vision</a:t>
            </a:r>
          </a:p>
          <a:p>
            <a:pPr algn="l"/>
            <a:endParaRPr lang="en-US" sz="1200" b="1">
              <a:solidFill>
                <a:schemeClr val="bg1"/>
              </a:solidFill>
            </a:endParaRPr>
          </a:p>
          <a:p>
            <a:pPr algn="l"/>
            <a:r>
              <a:rPr lang="en-US" sz="1200">
                <a:solidFill>
                  <a:schemeClr val="bg1"/>
                </a:solidFill>
              </a:rPr>
              <a:t>Open-source CV tool monitored key turnaround events in real time, connected to camera feeds, and worked on cloud/on-premise infrastructure..</a:t>
            </a:r>
          </a:p>
          <a:p>
            <a:pPr algn="l"/>
            <a:endParaRPr lang="en-US" sz="1200">
              <a:solidFill>
                <a:schemeClr val="bg1"/>
              </a:solidFill>
            </a:endParaRPr>
          </a:p>
          <a:p>
            <a:pPr algn="l"/>
            <a:r>
              <a:rPr lang="en-US" sz="1200">
                <a:solidFill>
                  <a:srgbClr val="FFFF00"/>
                </a:solidFill>
              </a:rPr>
              <a:t>Optimized runway and stand utilization</a:t>
            </a:r>
          </a:p>
          <a:p>
            <a:pPr algn="l"/>
            <a:r>
              <a:rPr lang="en-US" sz="1200">
                <a:solidFill>
                  <a:srgbClr val="FFFF00"/>
                </a:solidFill>
              </a:rPr>
              <a:t>Increased operational efficiency</a:t>
            </a:r>
          </a:p>
        </p:txBody>
      </p:sp>
      <p:sp>
        <p:nvSpPr>
          <p:cNvPr id="28" name="Rectangle 27">
            <a:extLst>
              <a:ext uri="{FF2B5EF4-FFF2-40B4-BE49-F238E27FC236}">
                <a16:creationId xmlns:a16="http://schemas.microsoft.com/office/drawing/2014/main" id="{BD473D33-EB62-D569-BF5D-97C242758278}"/>
              </a:ext>
            </a:extLst>
          </p:cNvPr>
          <p:cNvSpPr/>
          <p:nvPr/>
        </p:nvSpPr>
        <p:spPr>
          <a:xfrm>
            <a:off x="4918900" y="3731395"/>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 name="Rectangle 29">
            <a:extLst>
              <a:ext uri="{FF2B5EF4-FFF2-40B4-BE49-F238E27FC236}">
                <a16:creationId xmlns:a16="http://schemas.microsoft.com/office/drawing/2014/main" id="{F2C64E15-54D8-6C28-C129-FCA5FFF4BCD2}"/>
              </a:ext>
            </a:extLst>
          </p:cNvPr>
          <p:cNvSpPr/>
          <p:nvPr/>
        </p:nvSpPr>
        <p:spPr>
          <a:xfrm>
            <a:off x="8145554" y="3731395"/>
            <a:ext cx="3017520" cy="2125980"/>
          </a:xfrm>
          <a:prstGeom prst="rect">
            <a:avLst/>
          </a:prstGeom>
          <a:solidFill>
            <a:srgbClr val="00206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TextBox 30">
            <a:extLst>
              <a:ext uri="{FF2B5EF4-FFF2-40B4-BE49-F238E27FC236}">
                <a16:creationId xmlns:a16="http://schemas.microsoft.com/office/drawing/2014/main" id="{6132238B-959B-E8C1-6BE6-EE8AAA5A59D6}"/>
              </a:ext>
            </a:extLst>
          </p:cNvPr>
          <p:cNvSpPr txBox="1"/>
          <p:nvPr/>
        </p:nvSpPr>
        <p:spPr>
          <a:xfrm>
            <a:off x="8145554" y="3791127"/>
            <a:ext cx="3017520" cy="2123658"/>
          </a:xfrm>
          <a:prstGeom prst="rect">
            <a:avLst/>
          </a:prstGeom>
          <a:noFill/>
        </p:spPr>
        <p:txBody>
          <a:bodyPr wrap="square">
            <a:spAutoFit/>
          </a:bodyPr>
          <a:lstStyle/>
          <a:p>
            <a:pPr algn="l"/>
            <a:r>
              <a:rPr lang="en-US" sz="1200" b="1">
                <a:solidFill>
                  <a:schemeClr val="bg1"/>
                </a:solidFill>
              </a:rPr>
              <a:t>AI-Powered Mobile App for Airway Bill Extraction from Cargo Labels</a:t>
            </a:r>
          </a:p>
          <a:p>
            <a:pPr algn="l"/>
            <a:endParaRPr lang="en-US" sz="1200" b="1">
              <a:solidFill>
                <a:schemeClr val="bg1"/>
              </a:solidFill>
            </a:endParaRPr>
          </a:p>
          <a:p>
            <a:pPr algn="l"/>
            <a:r>
              <a:rPr lang="en-US" sz="1200">
                <a:solidFill>
                  <a:schemeClr val="bg1"/>
                </a:solidFill>
              </a:rPr>
              <a:t>On-device Computer Vision to extract Airway Bill (AWB) info in real time.</a:t>
            </a:r>
          </a:p>
          <a:p>
            <a:pPr algn="l"/>
            <a:r>
              <a:rPr lang="en-US" sz="1200">
                <a:solidFill>
                  <a:schemeClr val="bg1"/>
                </a:solidFill>
              </a:rPr>
              <a:t>Used Google ML Kit for native Android integration.</a:t>
            </a:r>
          </a:p>
          <a:p>
            <a:pPr algn="l"/>
            <a:endParaRPr lang="en-US" sz="1200">
              <a:solidFill>
                <a:schemeClr val="bg1"/>
              </a:solidFill>
            </a:endParaRPr>
          </a:p>
          <a:p>
            <a:pPr algn="l"/>
            <a:endParaRPr lang="en-US" sz="1200">
              <a:solidFill>
                <a:schemeClr val="bg1"/>
              </a:solidFill>
            </a:endParaRPr>
          </a:p>
          <a:p>
            <a:pPr algn="l"/>
            <a:r>
              <a:rPr lang="en-US" sz="1200" b="1">
                <a:solidFill>
                  <a:srgbClr val="FFFF00"/>
                </a:solidFill>
              </a:rPr>
              <a:t>~95% </a:t>
            </a:r>
            <a:r>
              <a:rPr lang="en-US" sz="1200">
                <a:solidFill>
                  <a:srgbClr val="FFFF00"/>
                </a:solidFill>
              </a:rPr>
              <a:t>accuracy for page level details</a:t>
            </a:r>
          </a:p>
          <a:p>
            <a:pPr algn="l"/>
            <a:endParaRPr lang="en-US" sz="1200">
              <a:solidFill>
                <a:schemeClr val="bg1"/>
              </a:solidFill>
            </a:endParaRPr>
          </a:p>
        </p:txBody>
      </p:sp>
      <p:sp>
        <p:nvSpPr>
          <p:cNvPr id="32" name="TextBox 31">
            <a:extLst>
              <a:ext uri="{FF2B5EF4-FFF2-40B4-BE49-F238E27FC236}">
                <a16:creationId xmlns:a16="http://schemas.microsoft.com/office/drawing/2014/main" id="{B092FA3B-36DB-72AB-3A08-1CC641E5B758}"/>
              </a:ext>
            </a:extLst>
          </p:cNvPr>
          <p:cNvSpPr txBox="1"/>
          <p:nvPr/>
        </p:nvSpPr>
        <p:spPr>
          <a:xfrm>
            <a:off x="4968264" y="3756799"/>
            <a:ext cx="2918791" cy="2308324"/>
          </a:xfrm>
          <a:prstGeom prst="rect">
            <a:avLst/>
          </a:prstGeom>
          <a:noFill/>
        </p:spPr>
        <p:txBody>
          <a:bodyPr wrap="square">
            <a:spAutoFit/>
          </a:bodyPr>
          <a:lstStyle/>
          <a:p>
            <a:pPr algn="l"/>
            <a:r>
              <a:rPr lang="en-US" sz="1200" b="1">
                <a:solidFill>
                  <a:schemeClr val="bg1"/>
                </a:solidFill>
              </a:rPr>
              <a:t>Edge Analytics for Predictive Maintenance in Agri-Tech Equipment</a:t>
            </a:r>
          </a:p>
          <a:p>
            <a:pPr algn="l"/>
            <a:endParaRPr lang="en-US" sz="1200" b="1">
              <a:solidFill>
                <a:schemeClr val="bg1"/>
              </a:solidFill>
            </a:endParaRPr>
          </a:p>
          <a:p>
            <a:pPr algn="l"/>
            <a:r>
              <a:rPr lang="en-US" sz="1200">
                <a:solidFill>
                  <a:schemeClr val="bg1"/>
                </a:solidFill>
              </a:rPr>
              <a:t>Real-time machine telemetry integrated into Azure Cloud; expert alert engine and usage-life prediction models enabled proactive servicing.</a:t>
            </a:r>
          </a:p>
          <a:p>
            <a:pPr algn="l"/>
            <a:r>
              <a:rPr lang="en-US" sz="1200">
                <a:solidFill>
                  <a:schemeClr val="bg1"/>
                </a:solidFill>
              </a:rPr>
              <a:t> </a:t>
            </a:r>
          </a:p>
          <a:p>
            <a:pPr algn="l"/>
            <a:r>
              <a:rPr lang="en-US" sz="1200" b="1">
                <a:solidFill>
                  <a:srgbClr val="FFFF00"/>
                </a:solidFill>
              </a:rPr>
              <a:t>25% </a:t>
            </a:r>
            <a:r>
              <a:rPr lang="en-US" sz="1200">
                <a:solidFill>
                  <a:srgbClr val="FFFF00"/>
                </a:solidFill>
              </a:rPr>
              <a:t>reduction in machine failures</a:t>
            </a:r>
          </a:p>
          <a:p>
            <a:pPr algn="l"/>
            <a:r>
              <a:rPr lang="en-US" sz="1200" b="1">
                <a:solidFill>
                  <a:srgbClr val="FFFF00"/>
                </a:solidFill>
              </a:rPr>
              <a:t>75% </a:t>
            </a:r>
            <a:r>
              <a:rPr lang="en-US" sz="1200">
                <a:solidFill>
                  <a:srgbClr val="FFFF00"/>
                </a:solidFill>
              </a:rPr>
              <a:t>uplift in aftermarket parts revenue</a:t>
            </a:r>
          </a:p>
        </p:txBody>
      </p:sp>
      <p:pic>
        <p:nvPicPr>
          <p:cNvPr id="3" name="Picture 2">
            <a:extLst>
              <a:ext uri="{FF2B5EF4-FFF2-40B4-BE49-F238E27FC236}">
                <a16:creationId xmlns:a16="http://schemas.microsoft.com/office/drawing/2014/main" id="{C41A1260-2284-44B5-496D-CC32D0D57393}"/>
              </a:ext>
            </a:extLst>
          </p:cNvPr>
          <p:cNvPicPr>
            <a:picLocks noChangeAspect="1"/>
          </p:cNvPicPr>
          <p:nvPr/>
        </p:nvPicPr>
        <p:blipFill>
          <a:blip r:embed="rId4"/>
          <a:stretch>
            <a:fillRect/>
          </a:stretch>
        </p:blipFill>
        <p:spPr>
          <a:xfrm>
            <a:off x="10427187" y="132224"/>
            <a:ext cx="1607676" cy="814793"/>
          </a:xfrm>
          <a:prstGeom prst="rect">
            <a:avLst/>
          </a:prstGeom>
          <a:ln>
            <a:noFill/>
          </a:ln>
          <a:effectLst>
            <a:outerShdw blurRad="292100" dist="139700" dir="2700000" algn="tl" rotWithShape="0">
              <a:srgbClr val="333333">
                <a:alpha val="65000"/>
              </a:srgbClr>
            </a:outerShdw>
          </a:effectLst>
        </p:spPr>
      </p:pic>
      <p:sp>
        <p:nvSpPr>
          <p:cNvPr id="6" name="Rectangle 5">
            <a:extLst>
              <a:ext uri="{FF2B5EF4-FFF2-40B4-BE49-F238E27FC236}">
                <a16:creationId xmlns:a16="http://schemas.microsoft.com/office/drawing/2014/main" id="{631BBE20-7FB0-E3EC-B0D6-496B3D810806}"/>
              </a:ext>
            </a:extLst>
          </p:cNvPr>
          <p:cNvSpPr/>
          <p:nvPr/>
        </p:nvSpPr>
        <p:spPr>
          <a:xfrm>
            <a:off x="11495316" y="32659"/>
            <a:ext cx="315686" cy="543425"/>
          </a:xfrm>
          <a:prstGeom prst="rect">
            <a:avLst/>
          </a:prstGeom>
          <a:noFill/>
          <a:ln w="38100">
            <a:solidFill>
              <a:srgbClr val="FFC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2206938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0E718-6924-0914-2843-93EC4D781F4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4C375F7-5D0C-B207-B26D-70A5EE8507C2}"/>
              </a:ext>
            </a:extLst>
          </p:cNvPr>
          <p:cNvSpPr>
            <a:spLocks noGrp="1"/>
          </p:cNvSpPr>
          <p:nvPr>
            <p:ph type="title"/>
          </p:nvPr>
        </p:nvSpPr>
        <p:spPr/>
        <p:txBody>
          <a:bodyPr>
            <a:normAutofit/>
          </a:bodyPr>
          <a:lstStyle/>
          <a:p>
            <a:r>
              <a:rPr lang="en-US"/>
              <a:t>Coforge Builds Beyond Business Solutions – Accelerating Transformation with </a:t>
            </a:r>
            <a:r>
              <a:rPr lang="en-US">
                <a:solidFill>
                  <a:schemeClr val="accent2">
                    <a:lumMod val="75000"/>
                  </a:schemeClr>
                </a:solidFill>
              </a:rPr>
              <a:t>AI-Powered SDLC, IT Delivery &amp; Data Intelligence</a:t>
            </a:r>
          </a:p>
        </p:txBody>
      </p:sp>
      <p:sp>
        <p:nvSpPr>
          <p:cNvPr id="12" name="Rectangle 11">
            <a:extLst>
              <a:ext uri="{FF2B5EF4-FFF2-40B4-BE49-F238E27FC236}">
                <a16:creationId xmlns:a16="http://schemas.microsoft.com/office/drawing/2014/main" id="{3B9E046B-00C6-CAD0-D4F2-DFA19CDED93E}"/>
              </a:ext>
            </a:extLst>
          </p:cNvPr>
          <p:cNvSpPr/>
          <p:nvPr/>
        </p:nvSpPr>
        <p:spPr>
          <a:xfrm>
            <a:off x="622417" y="7028651"/>
            <a:ext cx="2523642" cy="36101"/>
          </a:xfrm>
          <a:prstGeom prst="rect">
            <a:avLst/>
          </a:prstGeom>
          <a:solidFill>
            <a:srgbClr val="0F1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18">
              <a:latin typeface="+mj-lt"/>
            </a:endParaRPr>
          </a:p>
        </p:txBody>
      </p:sp>
      <p:sp>
        <p:nvSpPr>
          <p:cNvPr id="5" name="Rectangle 4">
            <a:extLst>
              <a:ext uri="{FF2B5EF4-FFF2-40B4-BE49-F238E27FC236}">
                <a16:creationId xmlns:a16="http://schemas.microsoft.com/office/drawing/2014/main" id="{481B438B-9DC5-F932-36BA-B201A22C49EB}"/>
              </a:ext>
            </a:extLst>
          </p:cNvPr>
          <p:cNvSpPr/>
          <p:nvPr/>
        </p:nvSpPr>
        <p:spPr>
          <a:xfrm>
            <a:off x="0" y="5640404"/>
            <a:ext cx="12192000" cy="1192780"/>
          </a:xfrm>
          <a:prstGeom prst="rect">
            <a:avLst/>
          </a:prstGeom>
          <a:solidFill>
            <a:srgbClr val="E8F2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4E13F7A0-117C-602A-B31E-A7E626F7E0A4}"/>
              </a:ext>
            </a:extLst>
          </p:cNvPr>
          <p:cNvSpPr/>
          <p:nvPr/>
        </p:nvSpPr>
        <p:spPr>
          <a:xfrm>
            <a:off x="664395" y="1232259"/>
            <a:ext cx="1371600" cy="731520"/>
          </a:xfrm>
          <a:prstGeom prst="roundRect">
            <a:avLst/>
          </a:prstGeom>
          <a:solidFill>
            <a:schemeClr val="accent1"/>
          </a:solidFill>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bg1"/>
                </a:solidFill>
              </a:rPr>
              <a:t>Software Development Lifecycle(SDLC)</a:t>
            </a:r>
          </a:p>
        </p:txBody>
      </p:sp>
      <p:sp>
        <p:nvSpPr>
          <p:cNvPr id="8" name="Rectangle: Rounded Corners 7">
            <a:extLst>
              <a:ext uri="{FF2B5EF4-FFF2-40B4-BE49-F238E27FC236}">
                <a16:creationId xmlns:a16="http://schemas.microsoft.com/office/drawing/2014/main" id="{EBE1BDE0-AC73-A3A5-9CBF-375C624737D7}"/>
              </a:ext>
            </a:extLst>
          </p:cNvPr>
          <p:cNvSpPr/>
          <p:nvPr/>
        </p:nvSpPr>
        <p:spPr>
          <a:xfrm>
            <a:off x="2575780" y="1232259"/>
            <a:ext cx="1371600" cy="731520"/>
          </a:xfrm>
          <a:prstGeom prst="roundRect">
            <a:avLst/>
          </a:prstGeom>
          <a:solidFill>
            <a:schemeClr val="accent1"/>
          </a:solidFill>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bg1"/>
                </a:solidFill>
              </a:rPr>
              <a:t>IT Service Management (ITSM) and IT Operations</a:t>
            </a:r>
          </a:p>
        </p:txBody>
      </p:sp>
      <p:sp>
        <p:nvSpPr>
          <p:cNvPr id="13" name="Rectangle: Rounded Corners 12">
            <a:extLst>
              <a:ext uri="{FF2B5EF4-FFF2-40B4-BE49-F238E27FC236}">
                <a16:creationId xmlns:a16="http://schemas.microsoft.com/office/drawing/2014/main" id="{A0F408E7-2A81-BA49-727F-EB12EF0C5E50}"/>
              </a:ext>
            </a:extLst>
          </p:cNvPr>
          <p:cNvSpPr/>
          <p:nvPr/>
        </p:nvSpPr>
        <p:spPr>
          <a:xfrm>
            <a:off x="4487165" y="1232260"/>
            <a:ext cx="1371600" cy="731520"/>
          </a:xfrm>
          <a:prstGeom prst="roundRect">
            <a:avLst/>
          </a:prstGeom>
          <a:solidFill>
            <a:schemeClr val="accent1"/>
          </a:solidFill>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bg1"/>
                </a:solidFill>
              </a:rPr>
              <a:t>DevOps </a:t>
            </a:r>
          </a:p>
          <a:p>
            <a:pPr algn="ctr"/>
            <a:r>
              <a:rPr lang="en-US" sz="900" b="1">
                <a:solidFill>
                  <a:schemeClr val="bg1"/>
                </a:solidFill>
              </a:rPr>
              <a:t>CI &amp; CD</a:t>
            </a:r>
          </a:p>
        </p:txBody>
      </p:sp>
      <p:sp>
        <p:nvSpPr>
          <p:cNvPr id="14" name="Rectangle: Rounded Corners 13">
            <a:extLst>
              <a:ext uri="{FF2B5EF4-FFF2-40B4-BE49-F238E27FC236}">
                <a16:creationId xmlns:a16="http://schemas.microsoft.com/office/drawing/2014/main" id="{48B56355-F96C-97F7-BBB8-DCDA0DF39E21}"/>
              </a:ext>
            </a:extLst>
          </p:cNvPr>
          <p:cNvSpPr/>
          <p:nvPr/>
        </p:nvSpPr>
        <p:spPr>
          <a:xfrm>
            <a:off x="6398550" y="1232259"/>
            <a:ext cx="1371600" cy="731520"/>
          </a:xfrm>
          <a:prstGeom prst="roundRect">
            <a:avLst/>
          </a:prstGeom>
          <a:solidFill>
            <a:schemeClr val="accent1"/>
          </a:solidFill>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it-IT" sz="900" b="1">
                <a:solidFill>
                  <a:schemeClr val="bg1"/>
                </a:solidFill>
              </a:rPr>
              <a:t>Data Management &amp; Governance</a:t>
            </a:r>
            <a:endParaRPr lang="en-US" sz="900" b="1">
              <a:solidFill>
                <a:schemeClr val="bg1"/>
              </a:solidFill>
            </a:endParaRPr>
          </a:p>
        </p:txBody>
      </p:sp>
      <p:sp>
        <p:nvSpPr>
          <p:cNvPr id="16" name="Rectangle: Rounded Corners 15">
            <a:extLst>
              <a:ext uri="{FF2B5EF4-FFF2-40B4-BE49-F238E27FC236}">
                <a16:creationId xmlns:a16="http://schemas.microsoft.com/office/drawing/2014/main" id="{24F9FA02-E8E1-1BAF-5124-AB3D81717475}"/>
              </a:ext>
            </a:extLst>
          </p:cNvPr>
          <p:cNvSpPr/>
          <p:nvPr/>
        </p:nvSpPr>
        <p:spPr>
          <a:xfrm>
            <a:off x="10221319" y="1232259"/>
            <a:ext cx="1371600" cy="731520"/>
          </a:xfrm>
          <a:prstGeom prst="roundRect">
            <a:avLst/>
          </a:prstGeom>
          <a:solidFill>
            <a:schemeClr val="accent1"/>
          </a:solidFill>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bg1"/>
                </a:solidFill>
              </a:rPr>
              <a:t>Compliance &amp; Security in Software &amp; IT Infrastructure</a:t>
            </a:r>
          </a:p>
        </p:txBody>
      </p:sp>
      <p:sp>
        <p:nvSpPr>
          <p:cNvPr id="17" name="Rectangle: Rounded Corners 16">
            <a:extLst>
              <a:ext uri="{FF2B5EF4-FFF2-40B4-BE49-F238E27FC236}">
                <a16:creationId xmlns:a16="http://schemas.microsoft.com/office/drawing/2014/main" id="{A9B06A53-97A3-3705-B6D8-5C20472B9E19}"/>
              </a:ext>
            </a:extLst>
          </p:cNvPr>
          <p:cNvSpPr/>
          <p:nvPr/>
        </p:nvSpPr>
        <p:spPr>
          <a:xfrm>
            <a:off x="8309935" y="1232259"/>
            <a:ext cx="1371600" cy="731520"/>
          </a:xfrm>
          <a:prstGeom prst="roundRect">
            <a:avLst/>
          </a:prstGeom>
          <a:solidFill>
            <a:schemeClr val="accent1"/>
          </a:solidFill>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bg1"/>
                </a:solidFill>
              </a:rPr>
              <a:t>Intelligent Data Analytics &amp; Decision Making</a:t>
            </a:r>
          </a:p>
        </p:txBody>
      </p:sp>
      <p:sp>
        <p:nvSpPr>
          <p:cNvPr id="18" name="Rectangle: Rounded Corners 17">
            <a:extLst>
              <a:ext uri="{FF2B5EF4-FFF2-40B4-BE49-F238E27FC236}">
                <a16:creationId xmlns:a16="http://schemas.microsoft.com/office/drawing/2014/main" id="{85A54FBC-6F41-2821-5AF4-3CE14FACE94B}"/>
              </a:ext>
            </a:extLst>
          </p:cNvPr>
          <p:cNvSpPr/>
          <p:nvPr/>
        </p:nvSpPr>
        <p:spPr>
          <a:xfrm>
            <a:off x="664395" y="2145679"/>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tx2"/>
                </a:solidFill>
              </a:rPr>
              <a:t>AI Coding Assistants</a:t>
            </a:r>
          </a:p>
        </p:txBody>
      </p:sp>
      <p:sp>
        <p:nvSpPr>
          <p:cNvPr id="23" name="Rectangle: Rounded Corners 22">
            <a:extLst>
              <a:ext uri="{FF2B5EF4-FFF2-40B4-BE49-F238E27FC236}">
                <a16:creationId xmlns:a16="http://schemas.microsoft.com/office/drawing/2014/main" id="{B4725AF5-8766-7EC1-4B01-35F55D626162}"/>
              </a:ext>
            </a:extLst>
          </p:cNvPr>
          <p:cNvSpPr/>
          <p:nvPr/>
        </p:nvSpPr>
        <p:spPr>
          <a:xfrm>
            <a:off x="664395" y="3099186"/>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tx2"/>
                </a:solidFill>
              </a:rPr>
              <a:t>Automated Code Review &amp; Security </a:t>
            </a:r>
          </a:p>
        </p:txBody>
      </p:sp>
      <p:sp>
        <p:nvSpPr>
          <p:cNvPr id="24" name="Rectangle: Rounded Corners 23">
            <a:extLst>
              <a:ext uri="{FF2B5EF4-FFF2-40B4-BE49-F238E27FC236}">
                <a16:creationId xmlns:a16="http://schemas.microsoft.com/office/drawing/2014/main" id="{2B33D790-8898-D183-F4CC-BC8423B8C137}"/>
              </a:ext>
            </a:extLst>
          </p:cNvPr>
          <p:cNvSpPr/>
          <p:nvPr/>
        </p:nvSpPr>
        <p:spPr>
          <a:xfrm>
            <a:off x="664395" y="3976491"/>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tx2"/>
                </a:solidFill>
              </a:rPr>
              <a:t>AI-Powered Testing </a:t>
            </a:r>
          </a:p>
        </p:txBody>
      </p:sp>
      <p:sp>
        <p:nvSpPr>
          <p:cNvPr id="25" name="TextBox 24">
            <a:extLst>
              <a:ext uri="{FF2B5EF4-FFF2-40B4-BE49-F238E27FC236}">
                <a16:creationId xmlns:a16="http://schemas.microsoft.com/office/drawing/2014/main" id="{A7BC40C9-028A-C7BA-DD17-B86810595E4A}"/>
              </a:ext>
            </a:extLst>
          </p:cNvPr>
          <p:cNvSpPr txBox="1"/>
          <p:nvPr/>
        </p:nvSpPr>
        <p:spPr>
          <a:xfrm>
            <a:off x="692579" y="2624179"/>
            <a:ext cx="1645920" cy="415498"/>
          </a:xfrm>
          <a:prstGeom prst="rect">
            <a:avLst/>
          </a:prstGeom>
          <a:noFill/>
        </p:spPr>
        <p:txBody>
          <a:bodyPr wrap="square">
            <a:spAutoFit/>
          </a:bodyPr>
          <a:lstStyle/>
          <a:p>
            <a:r>
              <a:rPr lang="en-US" sz="700">
                <a:solidFill>
                  <a:schemeClr val="tx2"/>
                </a:solidFill>
              </a:rPr>
              <a:t>Automating code completion, bug fixes, and best practice recommendations</a:t>
            </a:r>
          </a:p>
        </p:txBody>
      </p:sp>
      <p:sp>
        <p:nvSpPr>
          <p:cNvPr id="26" name="Rectangle: Rounded Corners 25">
            <a:extLst>
              <a:ext uri="{FF2B5EF4-FFF2-40B4-BE49-F238E27FC236}">
                <a16:creationId xmlns:a16="http://schemas.microsoft.com/office/drawing/2014/main" id="{45DDFED4-12A8-FCC8-E04E-4A9B501CB234}"/>
              </a:ext>
            </a:extLst>
          </p:cNvPr>
          <p:cNvSpPr/>
          <p:nvPr/>
        </p:nvSpPr>
        <p:spPr>
          <a:xfrm>
            <a:off x="2575780" y="2145679"/>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tx2"/>
                </a:solidFill>
              </a:rPr>
              <a:t>Automated Ticketing &amp; Resolution </a:t>
            </a:r>
          </a:p>
        </p:txBody>
      </p:sp>
      <p:sp>
        <p:nvSpPr>
          <p:cNvPr id="27" name="TextBox 26">
            <a:extLst>
              <a:ext uri="{FF2B5EF4-FFF2-40B4-BE49-F238E27FC236}">
                <a16:creationId xmlns:a16="http://schemas.microsoft.com/office/drawing/2014/main" id="{D3EDB1BC-A2AB-1D51-EBD8-F5EDD273EC98}"/>
              </a:ext>
            </a:extLst>
          </p:cNvPr>
          <p:cNvSpPr txBox="1"/>
          <p:nvPr/>
        </p:nvSpPr>
        <p:spPr>
          <a:xfrm>
            <a:off x="701974" y="3592178"/>
            <a:ext cx="1516934" cy="415498"/>
          </a:xfrm>
          <a:prstGeom prst="rect">
            <a:avLst/>
          </a:prstGeom>
          <a:noFill/>
        </p:spPr>
        <p:txBody>
          <a:bodyPr wrap="square">
            <a:spAutoFit/>
          </a:bodyPr>
          <a:lstStyle>
            <a:defPPr>
              <a:defRPr lang="en-US"/>
            </a:defPPr>
            <a:lvl1pPr>
              <a:defRPr sz="800"/>
            </a:lvl1pPr>
          </a:lstStyle>
          <a:p>
            <a:r>
              <a:rPr lang="en-US" sz="700">
                <a:solidFill>
                  <a:schemeClr val="tx2"/>
                </a:solidFill>
              </a:rPr>
              <a:t>AI-driven scanning for vulnerabilities and compliance gaps</a:t>
            </a:r>
          </a:p>
        </p:txBody>
      </p:sp>
      <p:sp>
        <p:nvSpPr>
          <p:cNvPr id="28" name="Rectangle: Rounded Corners 27">
            <a:extLst>
              <a:ext uri="{FF2B5EF4-FFF2-40B4-BE49-F238E27FC236}">
                <a16:creationId xmlns:a16="http://schemas.microsoft.com/office/drawing/2014/main" id="{C7EF6213-426D-95A5-D2E8-51C5702AF356}"/>
              </a:ext>
            </a:extLst>
          </p:cNvPr>
          <p:cNvSpPr/>
          <p:nvPr/>
        </p:nvSpPr>
        <p:spPr>
          <a:xfrm>
            <a:off x="2575780" y="3099186"/>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tx2"/>
                </a:solidFill>
              </a:rPr>
              <a:t>Proactive IT Monitoring </a:t>
            </a:r>
          </a:p>
        </p:txBody>
      </p:sp>
      <p:sp>
        <p:nvSpPr>
          <p:cNvPr id="29" name="TextBox 28">
            <a:extLst>
              <a:ext uri="{FF2B5EF4-FFF2-40B4-BE49-F238E27FC236}">
                <a16:creationId xmlns:a16="http://schemas.microsoft.com/office/drawing/2014/main" id="{7E5E27BB-F579-4301-F1DF-1A4C9E81275C}"/>
              </a:ext>
            </a:extLst>
          </p:cNvPr>
          <p:cNvSpPr txBox="1"/>
          <p:nvPr/>
        </p:nvSpPr>
        <p:spPr>
          <a:xfrm>
            <a:off x="701973" y="4460560"/>
            <a:ext cx="1645920" cy="415498"/>
          </a:xfrm>
          <a:prstGeom prst="rect">
            <a:avLst/>
          </a:prstGeom>
          <a:noFill/>
        </p:spPr>
        <p:txBody>
          <a:bodyPr wrap="square">
            <a:spAutoFit/>
          </a:bodyPr>
          <a:lstStyle>
            <a:defPPr>
              <a:defRPr lang="en-US"/>
            </a:defPPr>
            <a:lvl1pPr>
              <a:defRPr sz="800"/>
            </a:lvl1pPr>
          </a:lstStyle>
          <a:p>
            <a:r>
              <a:rPr lang="en-US" sz="700">
                <a:solidFill>
                  <a:schemeClr val="tx2"/>
                </a:solidFill>
              </a:rPr>
              <a:t>Automated test case generation, defect prediction, and regression testing</a:t>
            </a:r>
          </a:p>
        </p:txBody>
      </p:sp>
      <p:sp>
        <p:nvSpPr>
          <p:cNvPr id="30" name="Rectangle: Rounded Corners 29">
            <a:extLst>
              <a:ext uri="{FF2B5EF4-FFF2-40B4-BE49-F238E27FC236}">
                <a16:creationId xmlns:a16="http://schemas.microsoft.com/office/drawing/2014/main" id="{C5933FC6-DAEF-F524-E52A-389773FDC80B}"/>
              </a:ext>
            </a:extLst>
          </p:cNvPr>
          <p:cNvSpPr/>
          <p:nvPr/>
        </p:nvSpPr>
        <p:spPr>
          <a:xfrm>
            <a:off x="2575780" y="3976491"/>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tx2"/>
                </a:solidFill>
              </a:rPr>
              <a:t>AI-Driven Root Cause Analysis </a:t>
            </a:r>
          </a:p>
        </p:txBody>
      </p:sp>
      <p:sp>
        <p:nvSpPr>
          <p:cNvPr id="31" name="TextBox 30">
            <a:extLst>
              <a:ext uri="{FF2B5EF4-FFF2-40B4-BE49-F238E27FC236}">
                <a16:creationId xmlns:a16="http://schemas.microsoft.com/office/drawing/2014/main" id="{1FB6BB7B-E818-FEE0-C26C-BE66F250EA74}"/>
              </a:ext>
            </a:extLst>
          </p:cNvPr>
          <p:cNvSpPr txBox="1"/>
          <p:nvPr/>
        </p:nvSpPr>
        <p:spPr>
          <a:xfrm>
            <a:off x="350036" y="5668588"/>
            <a:ext cx="1920240" cy="728405"/>
          </a:xfrm>
          <a:prstGeom prst="rect">
            <a:avLst/>
          </a:prstGeom>
          <a:noFill/>
        </p:spPr>
        <p:txBody>
          <a:bodyPr wrap="square">
            <a:spAutoFit/>
          </a:bodyPr>
          <a:lstStyle/>
          <a:p>
            <a:pPr marL="128588" indent="-128588">
              <a:spcAft>
                <a:spcPts val="450"/>
              </a:spcAft>
              <a:buFont typeface="Arial" panose="020B0604020202020204" pitchFamily="34" charset="0"/>
              <a:buChar char="•"/>
            </a:pPr>
            <a:r>
              <a:rPr lang="en-US" sz="825" b="1">
                <a:solidFill>
                  <a:schemeClr val="bg2">
                    <a:lumMod val="10000"/>
                  </a:schemeClr>
                </a:solidFill>
              </a:rPr>
              <a:t>Reduced development time by ~30%</a:t>
            </a:r>
          </a:p>
          <a:p>
            <a:pPr marL="128588" indent="-128588">
              <a:spcAft>
                <a:spcPts val="450"/>
              </a:spcAft>
              <a:buFont typeface="Arial" panose="020B0604020202020204" pitchFamily="34" charset="0"/>
              <a:buChar char="•"/>
            </a:pPr>
            <a:r>
              <a:rPr lang="en-US" sz="825" b="1">
                <a:solidFill>
                  <a:schemeClr val="bg2">
                    <a:lumMod val="10000"/>
                  </a:schemeClr>
                </a:solidFill>
              </a:rPr>
              <a:t>Improved code quality</a:t>
            </a:r>
          </a:p>
          <a:p>
            <a:pPr marL="128588" indent="-128588">
              <a:spcAft>
                <a:spcPts val="450"/>
              </a:spcAft>
              <a:buFont typeface="Arial" panose="020B0604020202020204" pitchFamily="34" charset="0"/>
              <a:buChar char="•"/>
            </a:pPr>
            <a:r>
              <a:rPr lang="en-US" sz="825" b="1">
                <a:solidFill>
                  <a:schemeClr val="bg2">
                    <a:lumMod val="10000"/>
                  </a:schemeClr>
                </a:solidFill>
              </a:rPr>
              <a:t>Decreased security risks</a:t>
            </a:r>
          </a:p>
        </p:txBody>
      </p:sp>
      <p:sp>
        <p:nvSpPr>
          <p:cNvPr id="32" name="TextBox 31">
            <a:extLst>
              <a:ext uri="{FF2B5EF4-FFF2-40B4-BE49-F238E27FC236}">
                <a16:creationId xmlns:a16="http://schemas.microsoft.com/office/drawing/2014/main" id="{D09916CC-D8F4-09D4-EEB5-1775AE75E8D2}"/>
              </a:ext>
            </a:extLst>
          </p:cNvPr>
          <p:cNvSpPr txBox="1"/>
          <p:nvPr/>
        </p:nvSpPr>
        <p:spPr>
          <a:xfrm>
            <a:off x="2636621" y="2624179"/>
            <a:ext cx="1645920" cy="307777"/>
          </a:xfrm>
          <a:prstGeom prst="rect">
            <a:avLst/>
          </a:prstGeom>
          <a:noFill/>
        </p:spPr>
        <p:txBody>
          <a:bodyPr wrap="square">
            <a:spAutoFit/>
          </a:bodyPr>
          <a:lstStyle>
            <a:defPPr>
              <a:defRPr lang="en-US"/>
            </a:defPPr>
            <a:lvl1pPr>
              <a:defRPr sz="800"/>
            </a:lvl1pPr>
          </a:lstStyle>
          <a:p>
            <a:r>
              <a:rPr lang="en-US" sz="700">
                <a:solidFill>
                  <a:schemeClr val="tx2"/>
                </a:solidFill>
              </a:rPr>
              <a:t>AI categorizes, prioritizes, and resolves tickets in real time</a:t>
            </a:r>
          </a:p>
        </p:txBody>
      </p:sp>
      <p:sp>
        <p:nvSpPr>
          <p:cNvPr id="33" name="TextBox 32">
            <a:extLst>
              <a:ext uri="{FF2B5EF4-FFF2-40B4-BE49-F238E27FC236}">
                <a16:creationId xmlns:a16="http://schemas.microsoft.com/office/drawing/2014/main" id="{0DBCFACF-6461-B888-F28A-8A1B91C209B0}"/>
              </a:ext>
            </a:extLst>
          </p:cNvPr>
          <p:cNvSpPr txBox="1"/>
          <p:nvPr/>
        </p:nvSpPr>
        <p:spPr>
          <a:xfrm>
            <a:off x="2608438" y="3592178"/>
            <a:ext cx="1537046" cy="415498"/>
          </a:xfrm>
          <a:prstGeom prst="rect">
            <a:avLst/>
          </a:prstGeom>
          <a:noFill/>
        </p:spPr>
        <p:txBody>
          <a:bodyPr wrap="square">
            <a:spAutoFit/>
          </a:bodyPr>
          <a:lstStyle>
            <a:defPPr>
              <a:defRPr lang="en-US"/>
            </a:defPPr>
            <a:lvl1pPr>
              <a:defRPr sz="800"/>
            </a:lvl1pPr>
          </a:lstStyle>
          <a:p>
            <a:r>
              <a:rPr lang="en-US" sz="700">
                <a:solidFill>
                  <a:schemeClr val="tx2"/>
                </a:solidFill>
              </a:rPr>
              <a:t>AI detects anomalies and prevents system failures before they occur</a:t>
            </a:r>
          </a:p>
        </p:txBody>
      </p:sp>
      <p:sp>
        <p:nvSpPr>
          <p:cNvPr id="34" name="TextBox 33">
            <a:extLst>
              <a:ext uri="{FF2B5EF4-FFF2-40B4-BE49-F238E27FC236}">
                <a16:creationId xmlns:a16="http://schemas.microsoft.com/office/drawing/2014/main" id="{B67D3CE1-73DF-F701-2E85-64DA8F75F6BC}"/>
              </a:ext>
            </a:extLst>
          </p:cNvPr>
          <p:cNvSpPr txBox="1"/>
          <p:nvPr/>
        </p:nvSpPr>
        <p:spPr>
          <a:xfrm>
            <a:off x="2646016" y="4460560"/>
            <a:ext cx="1645920" cy="307777"/>
          </a:xfrm>
          <a:prstGeom prst="rect">
            <a:avLst/>
          </a:prstGeom>
          <a:noFill/>
        </p:spPr>
        <p:txBody>
          <a:bodyPr wrap="square">
            <a:spAutoFit/>
          </a:bodyPr>
          <a:lstStyle>
            <a:defPPr>
              <a:defRPr lang="en-US"/>
            </a:defPPr>
            <a:lvl1pPr>
              <a:defRPr sz="800"/>
            </a:lvl1pPr>
          </a:lstStyle>
          <a:p>
            <a:r>
              <a:rPr lang="en-US" sz="700">
                <a:solidFill>
                  <a:schemeClr val="tx2"/>
                </a:solidFill>
              </a:rPr>
              <a:t>Identifies patterns in incidents to suggest permanent fixes</a:t>
            </a:r>
          </a:p>
        </p:txBody>
      </p:sp>
      <p:sp>
        <p:nvSpPr>
          <p:cNvPr id="35" name="TextBox 34">
            <a:extLst>
              <a:ext uri="{FF2B5EF4-FFF2-40B4-BE49-F238E27FC236}">
                <a16:creationId xmlns:a16="http://schemas.microsoft.com/office/drawing/2014/main" id="{38F49D8F-EB05-B733-6F48-7024A137C80E}"/>
              </a:ext>
            </a:extLst>
          </p:cNvPr>
          <p:cNvSpPr txBox="1"/>
          <p:nvPr/>
        </p:nvSpPr>
        <p:spPr>
          <a:xfrm>
            <a:off x="2272252" y="5668587"/>
            <a:ext cx="1965372" cy="550151"/>
          </a:xfrm>
          <a:prstGeom prst="rect">
            <a:avLst/>
          </a:prstGeom>
          <a:noFill/>
        </p:spPr>
        <p:txBody>
          <a:bodyPr wrap="square">
            <a:spAutoFit/>
          </a:bodyPr>
          <a:lstStyle>
            <a:defPPr>
              <a:defRPr lang="en-US"/>
            </a:defPPr>
            <a:lvl1pPr marL="171450" indent="-171450">
              <a:spcAft>
                <a:spcPts val="600"/>
              </a:spcAft>
              <a:buFont typeface="Arial" panose="020B0604020202020204" pitchFamily="34" charset="0"/>
              <a:buChar char="•"/>
              <a:defRPr sz="1100" b="1">
                <a:solidFill>
                  <a:schemeClr val="bg2">
                    <a:lumMod val="10000"/>
                  </a:schemeClr>
                </a:solidFill>
              </a:defRPr>
            </a:lvl1pPr>
          </a:lstStyle>
          <a:p>
            <a:r>
              <a:rPr lang="en-US" sz="825"/>
              <a:t>Enhanced IT support efficiency by 40%</a:t>
            </a:r>
          </a:p>
          <a:p>
            <a:r>
              <a:rPr lang="en-US" sz="825"/>
              <a:t>Reduced downtime</a:t>
            </a:r>
          </a:p>
        </p:txBody>
      </p:sp>
      <p:sp>
        <p:nvSpPr>
          <p:cNvPr id="36" name="Rectangle: Rounded Corners 35">
            <a:extLst>
              <a:ext uri="{FF2B5EF4-FFF2-40B4-BE49-F238E27FC236}">
                <a16:creationId xmlns:a16="http://schemas.microsoft.com/office/drawing/2014/main" id="{E9CCB8C4-0309-E083-32DF-8D4F005597B6}"/>
              </a:ext>
            </a:extLst>
          </p:cNvPr>
          <p:cNvSpPr/>
          <p:nvPr/>
        </p:nvSpPr>
        <p:spPr>
          <a:xfrm>
            <a:off x="4480780" y="2145679"/>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tx2"/>
                </a:solidFill>
              </a:rPr>
              <a:t>AI-Powered Deployment Automation </a:t>
            </a:r>
          </a:p>
        </p:txBody>
      </p:sp>
      <p:sp>
        <p:nvSpPr>
          <p:cNvPr id="37" name="TextBox 36">
            <a:extLst>
              <a:ext uri="{FF2B5EF4-FFF2-40B4-BE49-F238E27FC236}">
                <a16:creationId xmlns:a16="http://schemas.microsoft.com/office/drawing/2014/main" id="{FC626FEB-0410-2566-AC9A-508481005DC9}"/>
              </a:ext>
            </a:extLst>
          </p:cNvPr>
          <p:cNvSpPr txBox="1"/>
          <p:nvPr/>
        </p:nvSpPr>
        <p:spPr>
          <a:xfrm>
            <a:off x="4530736" y="2624179"/>
            <a:ext cx="1645920" cy="307777"/>
          </a:xfrm>
          <a:prstGeom prst="rect">
            <a:avLst/>
          </a:prstGeom>
          <a:noFill/>
        </p:spPr>
        <p:txBody>
          <a:bodyPr wrap="square">
            <a:spAutoFit/>
          </a:bodyPr>
          <a:lstStyle/>
          <a:p>
            <a:r>
              <a:rPr lang="en-US" sz="700">
                <a:solidFill>
                  <a:schemeClr val="tx2"/>
                </a:solidFill>
              </a:rPr>
              <a:t>Predicts failures and optimizes release processes</a:t>
            </a:r>
          </a:p>
        </p:txBody>
      </p:sp>
      <p:sp>
        <p:nvSpPr>
          <p:cNvPr id="38" name="Rectangle: Rounded Corners 37">
            <a:extLst>
              <a:ext uri="{FF2B5EF4-FFF2-40B4-BE49-F238E27FC236}">
                <a16:creationId xmlns:a16="http://schemas.microsoft.com/office/drawing/2014/main" id="{F1CF38BC-CF96-5ED0-F4CF-9683E9672C25}"/>
              </a:ext>
            </a:extLst>
          </p:cNvPr>
          <p:cNvSpPr/>
          <p:nvPr/>
        </p:nvSpPr>
        <p:spPr>
          <a:xfrm>
            <a:off x="4480780" y="3099186"/>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tx2"/>
                </a:solidFill>
              </a:rPr>
              <a:t>Intelligent Resource Allocation </a:t>
            </a:r>
          </a:p>
        </p:txBody>
      </p:sp>
      <p:sp>
        <p:nvSpPr>
          <p:cNvPr id="39" name="TextBox 38">
            <a:extLst>
              <a:ext uri="{FF2B5EF4-FFF2-40B4-BE49-F238E27FC236}">
                <a16:creationId xmlns:a16="http://schemas.microsoft.com/office/drawing/2014/main" id="{6D830329-9420-DB59-17B1-3A49A3F95B07}"/>
              </a:ext>
            </a:extLst>
          </p:cNvPr>
          <p:cNvSpPr txBox="1"/>
          <p:nvPr/>
        </p:nvSpPr>
        <p:spPr>
          <a:xfrm>
            <a:off x="4540130" y="3592178"/>
            <a:ext cx="1645920" cy="307777"/>
          </a:xfrm>
          <a:prstGeom prst="rect">
            <a:avLst/>
          </a:prstGeom>
          <a:noFill/>
        </p:spPr>
        <p:txBody>
          <a:bodyPr wrap="square">
            <a:spAutoFit/>
          </a:bodyPr>
          <a:lstStyle>
            <a:defPPr>
              <a:defRPr lang="en-US"/>
            </a:defPPr>
            <a:lvl1pPr>
              <a:defRPr sz="800"/>
            </a:lvl1pPr>
          </a:lstStyle>
          <a:p>
            <a:r>
              <a:rPr lang="en-US" sz="700">
                <a:solidFill>
                  <a:schemeClr val="tx2"/>
                </a:solidFill>
              </a:rPr>
              <a:t>AI dynamically manages cloud workloads and computing resources</a:t>
            </a:r>
          </a:p>
        </p:txBody>
      </p:sp>
      <p:sp>
        <p:nvSpPr>
          <p:cNvPr id="40" name="Rectangle: Rounded Corners 39">
            <a:extLst>
              <a:ext uri="{FF2B5EF4-FFF2-40B4-BE49-F238E27FC236}">
                <a16:creationId xmlns:a16="http://schemas.microsoft.com/office/drawing/2014/main" id="{100421E6-8876-4ACA-9C72-034D65A685B2}"/>
              </a:ext>
            </a:extLst>
          </p:cNvPr>
          <p:cNvSpPr/>
          <p:nvPr/>
        </p:nvSpPr>
        <p:spPr>
          <a:xfrm>
            <a:off x="4480780" y="3976491"/>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tx2"/>
                </a:solidFill>
              </a:rPr>
              <a:t>AI-Driven Log Analysis </a:t>
            </a:r>
          </a:p>
        </p:txBody>
      </p:sp>
      <p:sp>
        <p:nvSpPr>
          <p:cNvPr id="41" name="TextBox 40">
            <a:extLst>
              <a:ext uri="{FF2B5EF4-FFF2-40B4-BE49-F238E27FC236}">
                <a16:creationId xmlns:a16="http://schemas.microsoft.com/office/drawing/2014/main" id="{E061C490-03C3-572C-3EED-76F8019406E4}"/>
              </a:ext>
            </a:extLst>
          </p:cNvPr>
          <p:cNvSpPr txBox="1"/>
          <p:nvPr/>
        </p:nvSpPr>
        <p:spPr>
          <a:xfrm>
            <a:off x="4540130" y="4460560"/>
            <a:ext cx="1645920" cy="307777"/>
          </a:xfrm>
          <a:prstGeom prst="rect">
            <a:avLst/>
          </a:prstGeom>
          <a:noFill/>
        </p:spPr>
        <p:txBody>
          <a:bodyPr wrap="square">
            <a:spAutoFit/>
          </a:bodyPr>
          <a:lstStyle>
            <a:defPPr>
              <a:defRPr lang="en-US"/>
            </a:defPPr>
            <a:lvl1pPr>
              <a:defRPr sz="800"/>
            </a:lvl1pPr>
          </a:lstStyle>
          <a:p>
            <a:r>
              <a:rPr lang="en-US" sz="700">
                <a:solidFill>
                  <a:schemeClr val="tx2"/>
                </a:solidFill>
              </a:rPr>
              <a:t>Identifies operational inefficiencies and security threats</a:t>
            </a:r>
          </a:p>
        </p:txBody>
      </p:sp>
      <p:sp>
        <p:nvSpPr>
          <p:cNvPr id="42" name="Rectangle: Rounded Corners 41">
            <a:extLst>
              <a:ext uri="{FF2B5EF4-FFF2-40B4-BE49-F238E27FC236}">
                <a16:creationId xmlns:a16="http://schemas.microsoft.com/office/drawing/2014/main" id="{94426753-45FE-DE00-99A1-C7695276D8D0}"/>
              </a:ext>
            </a:extLst>
          </p:cNvPr>
          <p:cNvSpPr/>
          <p:nvPr/>
        </p:nvSpPr>
        <p:spPr>
          <a:xfrm>
            <a:off x="6402843" y="2125103"/>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tx2"/>
                </a:solidFill>
              </a:rPr>
              <a:t>Automated Data Quality Checks </a:t>
            </a:r>
          </a:p>
        </p:txBody>
      </p:sp>
      <p:sp>
        <p:nvSpPr>
          <p:cNvPr id="43" name="TextBox 42">
            <a:extLst>
              <a:ext uri="{FF2B5EF4-FFF2-40B4-BE49-F238E27FC236}">
                <a16:creationId xmlns:a16="http://schemas.microsoft.com/office/drawing/2014/main" id="{97584B11-D83E-A4C3-69E4-62B0899097AF}"/>
              </a:ext>
            </a:extLst>
          </p:cNvPr>
          <p:cNvSpPr txBox="1"/>
          <p:nvPr/>
        </p:nvSpPr>
        <p:spPr>
          <a:xfrm>
            <a:off x="6463685" y="2624179"/>
            <a:ext cx="1645920" cy="307777"/>
          </a:xfrm>
          <a:prstGeom prst="rect">
            <a:avLst/>
          </a:prstGeom>
          <a:noFill/>
        </p:spPr>
        <p:txBody>
          <a:bodyPr wrap="square">
            <a:spAutoFit/>
          </a:bodyPr>
          <a:lstStyle/>
          <a:p>
            <a:r>
              <a:rPr lang="en-US" sz="700">
                <a:solidFill>
                  <a:schemeClr val="tx2"/>
                </a:solidFill>
              </a:rPr>
              <a:t>AI ensures data integrity and accuracy</a:t>
            </a:r>
          </a:p>
        </p:txBody>
      </p:sp>
      <p:sp>
        <p:nvSpPr>
          <p:cNvPr id="44" name="Rectangle: Rounded Corners 43">
            <a:extLst>
              <a:ext uri="{FF2B5EF4-FFF2-40B4-BE49-F238E27FC236}">
                <a16:creationId xmlns:a16="http://schemas.microsoft.com/office/drawing/2014/main" id="{A4BB2C3E-E0C8-9295-0BC2-DB95FD1E275D}"/>
              </a:ext>
            </a:extLst>
          </p:cNvPr>
          <p:cNvSpPr/>
          <p:nvPr/>
        </p:nvSpPr>
        <p:spPr>
          <a:xfrm>
            <a:off x="6402843" y="3078610"/>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tx2"/>
                </a:solidFill>
              </a:rPr>
              <a:t>AI-Driven Data Cleansing &amp; Deduplication </a:t>
            </a:r>
          </a:p>
        </p:txBody>
      </p:sp>
      <p:sp>
        <p:nvSpPr>
          <p:cNvPr id="45" name="TextBox 44">
            <a:extLst>
              <a:ext uri="{FF2B5EF4-FFF2-40B4-BE49-F238E27FC236}">
                <a16:creationId xmlns:a16="http://schemas.microsoft.com/office/drawing/2014/main" id="{FA5354EA-2228-477B-6BF8-449423460750}"/>
              </a:ext>
            </a:extLst>
          </p:cNvPr>
          <p:cNvSpPr txBox="1"/>
          <p:nvPr/>
        </p:nvSpPr>
        <p:spPr>
          <a:xfrm>
            <a:off x="6473079" y="3592178"/>
            <a:ext cx="1645920" cy="307777"/>
          </a:xfrm>
          <a:prstGeom prst="rect">
            <a:avLst/>
          </a:prstGeom>
          <a:noFill/>
        </p:spPr>
        <p:txBody>
          <a:bodyPr wrap="square">
            <a:spAutoFit/>
          </a:bodyPr>
          <a:lstStyle>
            <a:defPPr>
              <a:defRPr lang="en-US"/>
            </a:defPPr>
            <a:lvl1pPr>
              <a:defRPr sz="800"/>
            </a:lvl1pPr>
          </a:lstStyle>
          <a:p>
            <a:r>
              <a:rPr lang="en-US" sz="700">
                <a:solidFill>
                  <a:schemeClr val="tx2"/>
                </a:solidFill>
              </a:rPr>
              <a:t>Eliminates inconsistencies for better analytics</a:t>
            </a:r>
          </a:p>
        </p:txBody>
      </p:sp>
      <p:sp>
        <p:nvSpPr>
          <p:cNvPr id="46" name="Rectangle: Rounded Corners 45">
            <a:extLst>
              <a:ext uri="{FF2B5EF4-FFF2-40B4-BE49-F238E27FC236}">
                <a16:creationId xmlns:a16="http://schemas.microsoft.com/office/drawing/2014/main" id="{724CEC7B-C109-A5C1-3A71-1C34D6BC16B5}"/>
              </a:ext>
            </a:extLst>
          </p:cNvPr>
          <p:cNvSpPr/>
          <p:nvPr/>
        </p:nvSpPr>
        <p:spPr>
          <a:xfrm>
            <a:off x="6402843" y="3955915"/>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tx2"/>
                </a:solidFill>
              </a:rPr>
              <a:t>AI-Powered Metadata Management </a:t>
            </a:r>
          </a:p>
        </p:txBody>
      </p:sp>
      <p:sp>
        <p:nvSpPr>
          <p:cNvPr id="47" name="TextBox 46">
            <a:extLst>
              <a:ext uri="{FF2B5EF4-FFF2-40B4-BE49-F238E27FC236}">
                <a16:creationId xmlns:a16="http://schemas.microsoft.com/office/drawing/2014/main" id="{1C65D8E2-3A40-A093-2CC9-8B7A784D4B5E}"/>
              </a:ext>
            </a:extLst>
          </p:cNvPr>
          <p:cNvSpPr txBox="1"/>
          <p:nvPr/>
        </p:nvSpPr>
        <p:spPr>
          <a:xfrm>
            <a:off x="6473079" y="4460560"/>
            <a:ext cx="1645920" cy="307777"/>
          </a:xfrm>
          <a:prstGeom prst="rect">
            <a:avLst/>
          </a:prstGeom>
          <a:noFill/>
        </p:spPr>
        <p:txBody>
          <a:bodyPr wrap="square">
            <a:spAutoFit/>
          </a:bodyPr>
          <a:lstStyle>
            <a:defPPr>
              <a:defRPr lang="en-US"/>
            </a:defPPr>
            <a:lvl1pPr>
              <a:defRPr sz="800"/>
            </a:lvl1pPr>
          </a:lstStyle>
          <a:p>
            <a:r>
              <a:rPr lang="en-US" sz="700">
                <a:solidFill>
                  <a:schemeClr val="tx2"/>
                </a:solidFill>
              </a:rPr>
              <a:t>Enhances discoverability and compliance in enterprise data lakes</a:t>
            </a:r>
          </a:p>
        </p:txBody>
      </p:sp>
      <p:sp>
        <p:nvSpPr>
          <p:cNvPr id="48" name="Rectangle: Rounded Corners 47">
            <a:extLst>
              <a:ext uri="{FF2B5EF4-FFF2-40B4-BE49-F238E27FC236}">
                <a16:creationId xmlns:a16="http://schemas.microsoft.com/office/drawing/2014/main" id="{7167F3D3-97E6-DDD0-9B6C-7B9F93CFF9EA}"/>
              </a:ext>
            </a:extLst>
          </p:cNvPr>
          <p:cNvSpPr/>
          <p:nvPr/>
        </p:nvSpPr>
        <p:spPr>
          <a:xfrm>
            <a:off x="8324906" y="2125103"/>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tx2"/>
                </a:solidFill>
              </a:rPr>
              <a:t>Automated Data Insights Generation </a:t>
            </a:r>
          </a:p>
        </p:txBody>
      </p:sp>
      <p:sp>
        <p:nvSpPr>
          <p:cNvPr id="49" name="TextBox 48">
            <a:extLst>
              <a:ext uri="{FF2B5EF4-FFF2-40B4-BE49-F238E27FC236}">
                <a16:creationId xmlns:a16="http://schemas.microsoft.com/office/drawing/2014/main" id="{3C9FD22A-E1AC-CBBD-D9C3-B1F62DA38E84}"/>
              </a:ext>
            </a:extLst>
          </p:cNvPr>
          <p:cNvSpPr txBox="1"/>
          <p:nvPr/>
        </p:nvSpPr>
        <p:spPr>
          <a:xfrm>
            <a:off x="8353090" y="2624179"/>
            <a:ext cx="1645920" cy="307777"/>
          </a:xfrm>
          <a:prstGeom prst="rect">
            <a:avLst/>
          </a:prstGeom>
          <a:noFill/>
        </p:spPr>
        <p:txBody>
          <a:bodyPr wrap="square">
            <a:spAutoFit/>
          </a:bodyPr>
          <a:lstStyle/>
          <a:p>
            <a:r>
              <a:rPr lang="en-US" sz="700">
                <a:solidFill>
                  <a:schemeClr val="tx2"/>
                </a:solidFill>
              </a:rPr>
              <a:t>AI identifies patterns, trends, and correlations in data</a:t>
            </a:r>
          </a:p>
        </p:txBody>
      </p:sp>
      <p:sp>
        <p:nvSpPr>
          <p:cNvPr id="50" name="Rectangle: Rounded Corners 49">
            <a:extLst>
              <a:ext uri="{FF2B5EF4-FFF2-40B4-BE49-F238E27FC236}">
                <a16:creationId xmlns:a16="http://schemas.microsoft.com/office/drawing/2014/main" id="{9E7D9163-A213-FEED-B3CB-D45405702B85}"/>
              </a:ext>
            </a:extLst>
          </p:cNvPr>
          <p:cNvSpPr/>
          <p:nvPr/>
        </p:nvSpPr>
        <p:spPr>
          <a:xfrm>
            <a:off x="8324906" y="3078610"/>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tx2"/>
                </a:solidFill>
              </a:rPr>
              <a:t>AI-Powered Predictive Analytics </a:t>
            </a:r>
          </a:p>
        </p:txBody>
      </p:sp>
      <p:sp>
        <p:nvSpPr>
          <p:cNvPr id="51" name="TextBox 50">
            <a:extLst>
              <a:ext uri="{FF2B5EF4-FFF2-40B4-BE49-F238E27FC236}">
                <a16:creationId xmlns:a16="http://schemas.microsoft.com/office/drawing/2014/main" id="{31FB2639-3D3A-26C4-CDED-BF61A6AFC7B8}"/>
              </a:ext>
            </a:extLst>
          </p:cNvPr>
          <p:cNvSpPr txBox="1"/>
          <p:nvPr/>
        </p:nvSpPr>
        <p:spPr>
          <a:xfrm>
            <a:off x="8362485" y="3592178"/>
            <a:ext cx="1645920" cy="307777"/>
          </a:xfrm>
          <a:prstGeom prst="rect">
            <a:avLst/>
          </a:prstGeom>
          <a:noFill/>
        </p:spPr>
        <p:txBody>
          <a:bodyPr wrap="square">
            <a:spAutoFit/>
          </a:bodyPr>
          <a:lstStyle>
            <a:defPPr>
              <a:defRPr lang="en-US"/>
            </a:defPPr>
            <a:lvl1pPr>
              <a:defRPr sz="800"/>
            </a:lvl1pPr>
          </a:lstStyle>
          <a:p>
            <a:r>
              <a:rPr lang="en-US" sz="700">
                <a:solidFill>
                  <a:schemeClr val="tx2"/>
                </a:solidFill>
              </a:rPr>
              <a:t>Forecasting trends for proactive decision-making</a:t>
            </a:r>
          </a:p>
        </p:txBody>
      </p:sp>
      <p:sp>
        <p:nvSpPr>
          <p:cNvPr id="52" name="Rectangle: Rounded Corners 51">
            <a:extLst>
              <a:ext uri="{FF2B5EF4-FFF2-40B4-BE49-F238E27FC236}">
                <a16:creationId xmlns:a16="http://schemas.microsoft.com/office/drawing/2014/main" id="{2AD9F780-9820-41E9-8B21-C085D4964564}"/>
              </a:ext>
            </a:extLst>
          </p:cNvPr>
          <p:cNvSpPr/>
          <p:nvPr/>
        </p:nvSpPr>
        <p:spPr>
          <a:xfrm>
            <a:off x="8324906" y="3955915"/>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it-IT" sz="900" b="1">
                <a:solidFill>
                  <a:schemeClr val="tx2"/>
                </a:solidFill>
              </a:rPr>
              <a:t>Conversational AI for BI &amp; Reporting </a:t>
            </a:r>
            <a:endParaRPr lang="en-US" sz="900" b="1">
              <a:solidFill>
                <a:schemeClr val="tx2"/>
              </a:solidFill>
            </a:endParaRPr>
          </a:p>
        </p:txBody>
      </p:sp>
      <p:sp>
        <p:nvSpPr>
          <p:cNvPr id="53" name="TextBox 52">
            <a:extLst>
              <a:ext uri="{FF2B5EF4-FFF2-40B4-BE49-F238E27FC236}">
                <a16:creationId xmlns:a16="http://schemas.microsoft.com/office/drawing/2014/main" id="{94DD26CA-3663-5E6A-1193-24F8FE57AF97}"/>
              </a:ext>
            </a:extLst>
          </p:cNvPr>
          <p:cNvSpPr txBox="1"/>
          <p:nvPr/>
        </p:nvSpPr>
        <p:spPr>
          <a:xfrm>
            <a:off x="8362485" y="4460560"/>
            <a:ext cx="1645920" cy="307777"/>
          </a:xfrm>
          <a:prstGeom prst="rect">
            <a:avLst/>
          </a:prstGeom>
          <a:noFill/>
        </p:spPr>
        <p:txBody>
          <a:bodyPr wrap="square">
            <a:spAutoFit/>
          </a:bodyPr>
          <a:lstStyle>
            <a:defPPr>
              <a:defRPr lang="en-US"/>
            </a:defPPr>
            <a:lvl1pPr>
              <a:defRPr sz="800"/>
            </a:lvl1pPr>
          </a:lstStyle>
          <a:p>
            <a:r>
              <a:rPr lang="en-US" sz="700">
                <a:solidFill>
                  <a:schemeClr val="tx2"/>
                </a:solidFill>
              </a:rPr>
              <a:t>AI-powered chatbots enable real-time access to data insights</a:t>
            </a:r>
          </a:p>
        </p:txBody>
      </p:sp>
      <p:sp>
        <p:nvSpPr>
          <p:cNvPr id="54" name="Rectangle: Rounded Corners 53">
            <a:extLst>
              <a:ext uri="{FF2B5EF4-FFF2-40B4-BE49-F238E27FC236}">
                <a16:creationId xmlns:a16="http://schemas.microsoft.com/office/drawing/2014/main" id="{D09A67C7-1F24-7098-0A47-63A48A3ABF8C}"/>
              </a:ext>
            </a:extLst>
          </p:cNvPr>
          <p:cNvSpPr/>
          <p:nvPr/>
        </p:nvSpPr>
        <p:spPr>
          <a:xfrm>
            <a:off x="10219228" y="2125103"/>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tx2"/>
                </a:solidFill>
              </a:rPr>
              <a:t>AI-Powered Risk Assessment</a:t>
            </a:r>
          </a:p>
        </p:txBody>
      </p:sp>
      <p:sp>
        <p:nvSpPr>
          <p:cNvPr id="55" name="TextBox 54">
            <a:extLst>
              <a:ext uri="{FF2B5EF4-FFF2-40B4-BE49-F238E27FC236}">
                <a16:creationId xmlns:a16="http://schemas.microsoft.com/office/drawing/2014/main" id="{A2308194-DEE9-2622-22DA-CF6434FA445B}"/>
              </a:ext>
            </a:extLst>
          </p:cNvPr>
          <p:cNvSpPr txBox="1"/>
          <p:nvPr/>
        </p:nvSpPr>
        <p:spPr>
          <a:xfrm>
            <a:off x="10247411" y="2624179"/>
            <a:ext cx="1645920" cy="307777"/>
          </a:xfrm>
          <a:prstGeom prst="rect">
            <a:avLst/>
          </a:prstGeom>
          <a:noFill/>
        </p:spPr>
        <p:txBody>
          <a:bodyPr wrap="square">
            <a:spAutoFit/>
          </a:bodyPr>
          <a:lstStyle/>
          <a:p>
            <a:r>
              <a:rPr lang="en-US" sz="700">
                <a:solidFill>
                  <a:schemeClr val="tx2"/>
                </a:solidFill>
              </a:rPr>
              <a:t>AI identifies compliance gaps and security vulnerabilities</a:t>
            </a:r>
          </a:p>
        </p:txBody>
      </p:sp>
      <p:sp>
        <p:nvSpPr>
          <p:cNvPr id="56" name="Rectangle: Rounded Corners 55">
            <a:extLst>
              <a:ext uri="{FF2B5EF4-FFF2-40B4-BE49-F238E27FC236}">
                <a16:creationId xmlns:a16="http://schemas.microsoft.com/office/drawing/2014/main" id="{8AD7FF13-A75A-5F52-59E9-603E336A0372}"/>
              </a:ext>
            </a:extLst>
          </p:cNvPr>
          <p:cNvSpPr/>
          <p:nvPr/>
        </p:nvSpPr>
        <p:spPr>
          <a:xfrm>
            <a:off x="10219228" y="3078610"/>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tx2"/>
                </a:solidFill>
              </a:rPr>
              <a:t>Threat Intelligence &amp; Anomaly Detection </a:t>
            </a:r>
          </a:p>
        </p:txBody>
      </p:sp>
      <p:sp>
        <p:nvSpPr>
          <p:cNvPr id="57" name="TextBox 56">
            <a:extLst>
              <a:ext uri="{FF2B5EF4-FFF2-40B4-BE49-F238E27FC236}">
                <a16:creationId xmlns:a16="http://schemas.microsoft.com/office/drawing/2014/main" id="{8094A2CC-09E6-1C2C-5E91-578E91CDA16E}"/>
              </a:ext>
            </a:extLst>
          </p:cNvPr>
          <p:cNvSpPr txBox="1"/>
          <p:nvPr/>
        </p:nvSpPr>
        <p:spPr>
          <a:xfrm>
            <a:off x="10256806" y="3592178"/>
            <a:ext cx="1645920" cy="307777"/>
          </a:xfrm>
          <a:prstGeom prst="rect">
            <a:avLst/>
          </a:prstGeom>
          <a:noFill/>
        </p:spPr>
        <p:txBody>
          <a:bodyPr wrap="square">
            <a:spAutoFit/>
          </a:bodyPr>
          <a:lstStyle>
            <a:defPPr>
              <a:defRPr lang="en-US"/>
            </a:defPPr>
            <a:lvl1pPr>
              <a:defRPr sz="800"/>
            </a:lvl1pPr>
          </a:lstStyle>
          <a:p>
            <a:r>
              <a:rPr lang="en-US" sz="700">
                <a:solidFill>
                  <a:schemeClr val="tx2"/>
                </a:solidFill>
              </a:rPr>
              <a:t>AI-powered cybersecurity solutions prevent data breaches</a:t>
            </a:r>
          </a:p>
        </p:txBody>
      </p:sp>
      <p:sp>
        <p:nvSpPr>
          <p:cNvPr id="58" name="Rectangle: Rounded Corners 57">
            <a:extLst>
              <a:ext uri="{FF2B5EF4-FFF2-40B4-BE49-F238E27FC236}">
                <a16:creationId xmlns:a16="http://schemas.microsoft.com/office/drawing/2014/main" id="{3101C8BC-D344-4C44-92F7-5C6ACC8DE939}"/>
              </a:ext>
            </a:extLst>
          </p:cNvPr>
          <p:cNvSpPr/>
          <p:nvPr/>
        </p:nvSpPr>
        <p:spPr>
          <a:xfrm>
            <a:off x="10219228" y="3955915"/>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tx2"/>
                </a:solidFill>
              </a:rPr>
              <a:t>Automated Policy Enforcement </a:t>
            </a:r>
          </a:p>
        </p:txBody>
      </p:sp>
      <p:sp>
        <p:nvSpPr>
          <p:cNvPr id="59" name="TextBox 58">
            <a:extLst>
              <a:ext uri="{FF2B5EF4-FFF2-40B4-BE49-F238E27FC236}">
                <a16:creationId xmlns:a16="http://schemas.microsoft.com/office/drawing/2014/main" id="{8E9DD2F1-B15E-F930-952E-9B1A2FDF0E21}"/>
              </a:ext>
            </a:extLst>
          </p:cNvPr>
          <p:cNvSpPr txBox="1"/>
          <p:nvPr/>
        </p:nvSpPr>
        <p:spPr>
          <a:xfrm>
            <a:off x="10256806" y="4460560"/>
            <a:ext cx="1645920" cy="307777"/>
          </a:xfrm>
          <a:prstGeom prst="rect">
            <a:avLst/>
          </a:prstGeom>
          <a:noFill/>
        </p:spPr>
        <p:txBody>
          <a:bodyPr wrap="square">
            <a:spAutoFit/>
          </a:bodyPr>
          <a:lstStyle>
            <a:defPPr>
              <a:defRPr lang="en-US"/>
            </a:defPPr>
            <a:lvl1pPr>
              <a:defRPr sz="800"/>
            </a:lvl1pPr>
          </a:lstStyle>
          <a:p>
            <a:r>
              <a:rPr lang="en-US" sz="700">
                <a:solidFill>
                  <a:schemeClr val="tx2"/>
                </a:solidFill>
              </a:rPr>
              <a:t>AI ensures IT infrastructure adheres to security policies</a:t>
            </a:r>
          </a:p>
        </p:txBody>
      </p:sp>
      <p:sp>
        <p:nvSpPr>
          <p:cNvPr id="60" name="TextBox 59">
            <a:extLst>
              <a:ext uri="{FF2B5EF4-FFF2-40B4-BE49-F238E27FC236}">
                <a16:creationId xmlns:a16="http://schemas.microsoft.com/office/drawing/2014/main" id="{1FB6BC72-C376-499A-349E-D8B62577DA86}"/>
              </a:ext>
            </a:extLst>
          </p:cNvPr>
          <p:cNvSpPr txBox="1"/>
          <p:nvPr/>
        </p:nvSpPr>
        <p:spPr>
          <a:xfrm>
            <a:off x="4338178" y="5668587"/>
            <a:ext cx="1788931" cy="804066"/>
          </a:xfrm>
          <a:prstGeom prst="rect">
            <a:avLst/>
          </a:prstGeom>
          <a:noFill/>
        </p:spPr>
        <p:txBody>
          <a:bodyPr wrap="square">
            <a:spAutoFit/>
          </a:bodyPr>
          <a:lstStyle>
            <a:defPPr>
              <a:defRPr lang="en-US"/>
            </a:defPPr>
            <a:lvl1pPr marL="171450" indent="-171450">
              <a:spcAft>
                <a:spcPts val="600"/>
              </a:spcAft>
              <a:buFont typeface="Arial" panose="020B0604020202020204" pitchFamily="34" charset="0"/>
              <a:buChar char="•"/>
              <a:defRPr sz="1100" b="1">
                <a:solidFill>
                  <a:schemeClr val="bg2">
                    <a:lumMod val="10000"/>
                  </a:schemeClr>
                </a:solidFill>
              </a:defRPr>
            </a:lvl1pPr>
          </a:lstStyle>
          <a:p>
            <a:r>
              <a:rPr lang="en-US" sz="825"/>
              <a:t>Reduced deployment failures by ~50%</a:t>
            </a:r>
          </a:p>
          <a:p>
            <a:r>
              <a:rPr lang="en-US" sz="825"/>
              <a:t>Optimized IT resource utilization, reducing cloud costs</a:t>
            </a:r>
          </a:p>
        </p:txBody>
      </p:sp>
      <p:sp>
        <p:nvSpPr>
          <p:cNvPr id="61" name="Rectangle: Rounded Corners 60">
            <a:extLst>
              <a:ext uri="{FF2B5EF4-FFF2-40B4-BE49-F238E27FC236}">
                <a16:creationId xmlns:a16="http://schemas.microsoft.com/office/drawing/2014/main" id="{95F5DF72-3F98-B478-578E-C8FE939FFB27}"/>
              </a:ext>
            </a:extLst>
          </p:cNvPr>
          <p:cNvSpPr/>
          <p:nvPr/>
        </p:nvSpPr>
        <p:spPr>
          <a:xfrm>
            <a:off x="6382978" y="4810174"/>
            <a:ext cx="1371600" cy="457200"/>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900" b="1">
                <a:solidFill>
                  <a:schemeClr val="tx2"/>
                </a:solidFill>
              </a:rPr>
              <a:t>Predictive Data Governance </a:t>
            </a:r>
          </a:p>
        </p:txBody>
      </p:sp>
      <p:sp>
        <p:nvSpPr>
          <p:cNvPr id="62" name="TextBox 61">
            <a:extLst>
              <a:ext uri="{FF2B5EF4-FFF2-40B4-BE49-F238E27FC236}">
                <a16:creationId xmlns:a16="http://schemas.microsoft.com/office/drawing/2014/main" id="{2E514F81-D9ED-5B32-61F6-FB51F23FA846}"/>
              </a:ext>
            </a:extLst>
          </p:cNvPr>
          <p:cNvSpPr txBox="1"/>
          <p:nvPr/>
        </p:nvSpPr>
        <p:spPr>
          <a:xfrm>
            <a:off x="6473079" y="5300477"/>
            <a:ext cx="1645920" cy="461665"/>
          </a:xfrm>
          <a:prstGeom prst="rect">
            <a:avLst/>
          </a:prstGeom>
          <a:noFill/>
        </p:spPr>
        <p:txBody>
          <a:bodyPr wrap="square">
            <a:spAutoFit/>
          </a:bodyPr>
          <a:lstStyle>
            <a:defPPr>
              <a:defRPr lang="en-US"/>
            </a:defPPr>
            <a:lvl1pPr>
              <a:defRPr sz="800">
                <a:solidFill>
                  <a:schemeClr val="bg2">
                    <a:lumMod val="10000"/>
                  </a:schemeClr>
                </a:solidFill>
              </a:defRPr>
            </a:lvl1pPr>
          </a:lstStyle>
          <a:p>
            <a:r>
              <a:rPr lang="en-US">
                <a:solidFill>
                  <a:schemeClr val="tx2"/>
                </a:solidFill>
              </a:rPr>
              <a:t>Automates regulatory compliance and data access control</a:t>
            </a:r>
          </a:p>
        </p:txBody>
      </p:sp>
      <p:sp>
        <p:nvSpPr>
          <p:cNvPr id="63" name="TextBox 62">
            <a:extLst>
              <a:ext uri="{FF2B5EF4-FFF2-40B4-BE49-F238E27FC236}">
                <a16:creationId xmlns:a16="http://schemas.microsoft.com/office/drawing/2014/main" id="{354D2BF3-D480-6083-AFC8-4C925120F794}"/>
              </a:ext>
            </a:extLst>
          </p:cNvPr>
          <p:cNvSpPr txBox="1"/>
          <p:nvPr/>
        </p:nvSpPr>
        <p:spPr>
          <a:xfrm>
            <a:off x="6212888" y="5668588"/>
            <a:ext cx="1806615" cy="677108"/>
          </a:xfrm>
          <a:prstGeom prst="rect">
            <a:avLst/>
          </a:prstGeom>
          <a:noFill/>
        </p:spPr>
        <p:txBody>
          <a:bodyPr wrap="square">
            <a:spAutoFit/>
          </a:bodyPr>
          <a:lstStyle>
            <a:defPPr>
              <a:defRPr lang="en-US"/>
            </a:defPPr>
            <a:lvl1pPr marL="171450" indent="-171450">
              <a:spcAft>
                <a:spcPts val="600"/>
              </a:spcAft>
              <a:buFont typeface="Arial" panose="020B0604020202020204" pitchFamily="34" charset="0"/>
              <a:buChar char="•"/>
              <a:defRPr sz="1100" b="1">
                <a:solidFill>
                  <a:schemeClr val="bg2">
                    <a:lumMod val="10000"/>
                  </a:schemeClr>
                </a:solidFill>
              </a:defRPr>
            </a:lvl1pPr>
          </a:lstStyle>
          <a:p>
            <a:r>
              <a:rPr lang="en-US" sz="825"/>
              <a:t>Improved data accuracy for insights</a:t>
            </a:r>
          </a:p>
          <a:p>
            <a:r>
              <a:rPr lang="en-US" sz="825"/>
              <a:t>Reduced manual data preparation efforts by 60%</a:t>
            </a:r>
          </a:p>
        </p:txBody>
      </p:sp>
      <p:sp>
        <p:nvSpPr>
          <p:cNvPr id="64" name="TextBox 63">
            <a:extLst>
              <a:ext uri="{FF2B5EF4-FFF2-40B4-BE49-F238E27FC236}">
                <a16:creationId xmlns:a16="http://schemas.microsoft.com/office/drawing/2014/main" id="{94BDFAA7-33AE-4690-5C9D-C2298D697388}"/>
              </a:ext>
            </a:extLst>
          </p:cNvPr>
          <p:cNvSpPr txBox="1"/>
          <p:nvPr/>
        </p:nvSpPr>
        <p:spPr>
          <a:xfrm>
            <a:off x="8118999" y="5668587"/>
            <a:ext cx="1771539" cy="804066"/>
          </a:xfrm>
          <a:prstGeom prst="rect">
            <a:avLst/>
          </a:prstGeom>
          <a:noFill/>
        </p:spPr>
        <p:txBody>
          <a:bodyPr wrap="square">
            <a:spAutoFit/>
          </a:bodyPr>
          <a:lstStyle>
            <a:defPPr>
              <a:defRPr lang="en-US"/>
            </a:defPPr>
            <a:lvl1pPr marL="171450" indent="-171450">
              <a:spcAft>
                <a:spcPts val="600"/>
              </a:spcAft>
              <a:buFont typeface="Arial" panose="020B0604020202020204" pitchFamily="34" charset="0"/>
              <a:buChar char="•"/>
              <a:defRPr sz="1100" b="1">
                <a:solidFill>
                  <a:schemeClr val="bg2">
                    <a:lumMod val="10000"/>
                  </a:schemeClr>
                </a:solidFill>
              </a:defRPr>
            </a:lvl1pPr>
          </a:lstStyle>
          <a:p>
            <a:r>
              <a:rPr lang="en-US" sz="825"/>
              <a:t>Enhanced data-driven decision-making</a:t>
            </a:r>
          </a:p>
          <a:p>
            <a:r>
              <a:rPr lang="en-US" sz="825"/>
              <a:t>Increased business intelligence reporting efficiency by 45%</a:t>
            </a:r>
          </a:p>
        </p:txBody>
      </p:sp>
      <p:sp>
        <p:nvSpPr>
          <p:cNvPr id="65" name="TextBox 64">
            <a:extLst>
              <a:ext uri="{FF2B5EF4-FFF2-40B4-BE49-F238E27FC236}">
                <a16:creationId xmlns:a16="http://schemas.microsoft.com/office/drawing/2014/main" id="{8627D083-6E6A-FA93-8B32-67EF5A478EFB}"/>
              </a:ext>
            </a:extLst>
          </p:cNvPr>
          <p:cNvSpPr txBox="1"/>
          <p:nvPr/>
        </p:nvSpPr>
        <p:spPr>
          <a:xfrm>
            <a:off x="9961514" y="5668588"/>
            <a:ext cx="1920240" cy="804066"/>
          </a:xfrm>
          <a:prstGeom prst="rect">
            <a:avLst/>
          </a:prstGeom>
          <a:noFill/>
        </p:spPr>
        <p:txBody>
          <a:bodyPr wrap="square">
            <a:spAutoFit/>
          </a:bodyPr>
          <a:lstStyle>
            <a:defPPr>
              <a:defRPr lang="en-US"/>
            </a:defPPr>
            <a:lvl1pPr marL="171450" indent="-171450">
              <a:spcAft>
                <a:spcPts val="600"/>
              </a:spcAft>
              <a:buFont typeface="Arial" panose="020B0604020202020204" pitchFamily="34" charset="0"/>
              <a:buChar char="•"/>
              <a:defRPr sz="1100" b="1">
                <a:solidFill>
                  <a:schemeClr val="bg2">
                    <a:lumMod val="10000"/>
                  </a:schemeClr>
                </a:solidFill>
              </a:defRPr>
            </a:lvl1pPr>
          </a:lstStyle>
          <a:p>
            <a:r>
              <a:rPr lang="en-US" sz="825"/>
              <a:t>Decreased security breaches by 70%</a:t>
            </a:r>
          </a:p>
          <a:p>
            <a:r>
              <a:rPr lang="en-US" sz="825"/>
              <a:t>Ensured continuous compliance with global regulations</a:t>
            </a:r>
          </a:p>
        </p:txBody>
      </p:sp>
      <p:cxnSp>
        <p:nvCxnSpPr>
          <p:cNvPr id="66" name="Straight Connector 65">
            <a:extLst>
              <a:ext uri="{FF2B5EF4-FFF2-40B4-BE49-F238E27FC236}">
                <a16:creationId xmlns:a16="http://schemas.microsoft.com/office/drawing/2014/main" id="{EE4C614C-4B12-058A-8C92-5BB622987BCF}"/>
              </a:ext>
            </a:extLst>
          </p:cNvPr>
          <p:cNvCxnSpPr>
            <a:cxnSpLocks/>
          </p:cNvCxnSpPr>
          <p:nvPr/>
        </p:nvCxnSpPr>
        <p:spPr>
          <a:xfrm flipH="1">
            <a:off x="2291937" y="1307483"/>
            <a:ext cx="0" cy="5212080"/>
          </a:xfrm>
          <a:prstGeom prst="line">
            <a:avLst/>
          </a:prstGeom>
          <a:ln>
            <a:solidFill>
              <a:schemeClr val="tx1"/>
            </a:solidFill>
            <a:prstDash val="dashDot"/>
          </a:ln>
        </p:spPr>
        <p:style>
          <a:lnRef idx="1">
            <a:schemeClr val="accent6"/>
          </a:lnRef>
          <a:fillRef idx="0">
            <a:schemeClr val="accent6"/>
          </a:fillRef>
          <a:effectRef idx="0">
            <a:schemeClr val="accent6"/>
          </a:effectRef>
          <a:fontRef idx="minor">
            <a:schemeClr val="tx1"/>
          </a:fontRef>
        </p:style>
      </p:cxnSp>
      <p:cxnSp>
        <p:nvCxnSpPr>
          <p:cNvPr id="67" name="Straight Connector 66">
            <a:extLst>
              <a:ext uri="{FF2B5EF4-FFF2-40B4-BE49-F238E27FC236}">
                <a16:creationId xmlns:a16="http://schemas.microsoft.com/office/drawing/2014/main" id="{6FE1EE75-04B0-BFCC-F84E-1485028FE56F}"/>
              </a:ext>
            </a:extLst>
          </p:cNvPr>
          <p:cNvCxnSpPr>
            <a:cxnSpLocks/>
          </p:cNvCxnSpPr>
          <p:nvPr/>
        </p:nvCxnSpPr>
        <p:spPr>
          <a:xfrm flipH="1">
            <a:off x="4267202" y="1307483"/>
            <a:ext cx="0" cy="5212080"/>
          </a:xfrm>
          <a:prstGeom prst="line">
            <a:avLst/>
          </a:prstGeom>
          <a:ln>
            <a:solidFill>
              <a:schemeClr val="tx1"/>
            </a:solidFill>
            <a:prstDash val="dashDot"/>
          </a:ln>
        </p:spPr>
        <p:style>
          <a:lnRef idx="1">
            <a:schemeClr val="accent6"/>
          </a:lnRef>
          <a:fillRef idx="0">
            <a:schemeClr val="accent6"/>
          </a:fillRef>
          <a:effectRef idx="0">
            <a:schemeClr val="accent6"/>
          </a:effectRef>
          <a:fontRef idx="minor">
            <a:schemeClr val="tx1"/>
          </a:fontRef>
        </p:style>
      </p:cxnSp>
      <p:cxnSp>
        <p:nvCxnSpPr>
          <p:cNvPr id="68" name="Straight Connector 67">
            <a:extLst>
              <a:ext uri="{FF2B5EF4-FFF2-40B4-BE49-F238E27FC236}">
                <a16:creationId xmlns:a16="http://schemas.microsoft.com/office/drawing/2014/main" id="{6F35E537-94D7-A9C6-7D65-2D979340B247}"/>
              </a:ext>
            </a:extLst>
          </p:cNvPr>
          <p:cNvCxnSpPr>
            <a:cxnSpLocks/>
          </p:cNvCxnSpPr>
          <p:nvPr/>
        </p:nvCxnSpPr>
        <p:spPr>
          <a:xfrm flipH="1">
            <a:off x="6145482" y="1307483"/>
            <a:ext cx="0" cy="5212080"/>
          </a:xfrm>
          <a:prstGeom prst="line">
            <a:avLst/>
          </a:prstGeom>
          <a:ln>
            <a:solidFill>
              <a:schemeClr val="tx1"/>
            </a:solidFill>
            <a:prstDash val="dashDot"/>
          </a:ln>
        </p:spPr>
        <p:style>
          <a:lnRef idx="1">
            <a:schemeClr val="accent6"/>
          </a:lnRef>
          <a:fillRef idx="0">
            <a:schemeClr val="accent6"/>
          </a:fillRef>
          <a:effectRef idx="0">
            <a:schemeClr val="accent6"/>
          </a:effectRef>
          <a:fontRef idx="minor">
            <a:schemeClr val="tx1"/>
          </a:fontRef>
        </p:style>
      </p:cxnSp>
      <p:cxnSp>
        <p:nvCxnSpPr>
          <p:cNvPr id="69" name="Straight Connector 68">
            <a:extLst>
              <a:ext uri="{FF2B5EF4-FFF2-40B4-BE49-F238E27FC236}">
                <a16:creationId xmlns:a16="http://schemas.microsoft.com/office/drawing/2014/main" id="{CF898940-0997-D5BD-6F5F-83591721405D}"/>
              </a:ext>
            </a:extLst>
          </p:cNvPr>
          <p:cNvCxnSpPr>
            <a:cxnSpLocks/>
          </p:cNvCxnSpPr>
          <p:nvPr/>
        </p:nvCxnSpPr>
        <p:spPr>
          <a:xfrm flipH="1">
            <a:off x="8072028" y="1307483"/>
            <a:ext cx="0" cy="5212080"/>
          </a:xfrm>
          <a:prstGeom prst="line">
            <a:avLst/>
          </a:prstGeom>
          <a:ln>
            <a:solidFill>
              <a:schemeClr val="tx1"/>
            </a:solidFill>
            <a:prstDash val="dashDot"/>
          </a:ln>
        </p:spPr>
        <p:style>
          <a:lnRef idx="1">
            <a:schemeClr val="accent6"/>
          </a:lnRef>
          <a:fillRef idx="0">
            <a:schemeClr val="accent6"/>
          </a:fillRef>
          <a:effectRef idx="0">
            <a:schemeClr val="accent6"/>
          </a:effectRef>
          <a:fontRef idx="minor">
            <a:schemeClr val="tx1"/>
          </a:fontRef>
        </p:style>
      </p:cxnSp>
      <p:cxnSp>
        <p:nvCxnSpPr>
          <p:cNvPr id="70" name="Straight Connector 69">
            <a:extLst>
              <a:ext uri="{FF2B5EF4-FFF2-40B4-BE49-F238E27FC236}">
                <a16:creationId xmlns:a16="http://schemas.microsoft.com/office/drawing/2014/main" id="{0DD17858-698C-DC06-019B-CFC80C544101}"/>
              </a:ext>
            </a:extLst>
          </p:cNvPr>
          <p:cNvCxnSpPr>
            <a:cxnSpLocks/>
          </p:cNvCxnSpPr>
          <p:nvPr/>
        </p:nvCxnSpPr>
        <p:spPr>
          <a:xfrm flipH="1">
            <a:off x="9890538" y="1307483"/>
            <a:ext cx="0" cy="5212080"/>
          </a:xfrm>
          <a:prstGeom prst="line">
            <a:avLst/>
          </a:prstGeom>
          <a:ln>
            <a:solidFill>
              <a:schemeClr val="tx1"/>
            </a:solidFill>
            <a:prstDash val="dashDot"/>
          </a:ln>
        </p:spPr>
        <p:style>
          <a:lnRef idx="1">
            <a:schemeClr val="accent6"/>
          </a:lnRef>
          <a:fillRef idx="0">
            <a:schemeClr val="accent6"/>
          </a:fillRef>
          <a:effectRef idx="0">
            <a:schemeClr val="accent6"/>
          </a:effectRef>
          <a:fontRef idx="minor">
            <a:schemeClr val="tx1"/>
          </a:fontRef>
        </p:style>
      </p:cxnSp>
      <p:cxnSp>
        <p:nvCxnSpPr>
          <p:cNvPr id="71" name="Straight Connector 70">
            <a:extLst>
              <a:ext uri="{FF2B5EF4-FFF2-40B4-BE49-F238E27FC236}">
                <a16:creationId xmlns:a16="http://schemas.microsoft.com/office/drawing/2014/main" id="{49023ED0-DB20-1749-3040-71BE217393C8}"/>
              </a:ext>
            </a:extLst>
          </p:cNvPr>
          <p:cNvCxnSpPr>
            <a:cxnSpLocks/>
          </p:cNvCxnSpPr>
          <p:nvPr/>
        </p:nvCxnSpPr>
        <p:spPr>
          <a:xfrm>
            <a:off x="533406" y="2048905"/>
            <a:ext cx="11155680" cy="0"/>
          </a:xfrm>
          <a:prstGeom prst="line">
            <a:avLst/>
          </a:prstGeom>
          <a:ln>
            <a:solidFill>
              <a:schemeClr val="tx1"/>
            </a:solidFill>
            <a:prstDash val="dashDot"/>
          </a:ln>
        </p:spPr>
        <p:style>
          <a:lnRef idx="1">
            <a:schemeClr val="accent6"/>
          </a:lnRef>
          <a:fillRef idx="0">
            <a:schemeClr val="accent6"/>
          </a:fillRef>
          <a:effectRef idx="0">
            <a:schemeClr val="accent6"/>
          </a:effectRef>
          <a:fontRef idx="minor">
            <a:schemeClr val="tx1"/>
          </a:fontRef>
        </p:style>
      </p:cxnSp>
      <p:sp>
        <p:nvSpPr>
          <p:cNvPr id="72" name="TextBox 71">
            <a:extLst>
              <a:ext uri="{FF2B5EF4-FFF2-40B4-BE49-F238E27FC236}">
                <a16:creationId xmlns:a16="http://schemas.microsoft.com/office/drawing/2014/main" id="{03F22AF1-4BFB-259F-121B-B42DE55FC78E}"/>
              </a:ext>
            </a:extLst>
          </p:cNvPr>
          <p:cNvSpPr txBox="1"/>
          <p:nvPr/>
        </p:nvSpPr>
        <p:spPr>
          <a:xfrm>
            <a:off x="10035924" y="6660380"/>
            <a:ext cx="1280160" cy="215444"/>
          </a:xfrm>
          <a:prstGeom prst="rect">
            <a:avLst/>
          </a:prstGeom>
          <a:noFill/>
        </p:spPr>
        <p:txBody>
          <a:bodyPr wrap="square">
            <a:spAutoFit/>
          </a:bodyPr>
          <a:lstStyle>
            <a:defPPr>
              <a:defRPr lang="en-US"/>
            </a:defPPr>
            <a:lvl1pPr>
              <a:defRPr sz="800"/>
            </a:lvl1pPr>
          </a:lstStyle>
          <a:p>
            <a:r>
              <a:rPr lang="en-US">
                <a:solidFill>
                  <a:schemeClr val="bg2">
                    <a:lumMod val="10000"/>
                  </a:schemeClr>
                </a:solidFill>
              </a:rPr>
              <a:t> </a:t>
            </a:r>
          </a:p>
        </p:txBody>
      </p:sp>
    </p:spTree>
    <p:extLst>
      <p:ext uri="{BB962C8B-B14F-4D97-AF65-F5344CB8AC3E}">
        <p14:creationId xmlns:p14="http://schemas.microsoft.com/office/powerpoint/2010/main" val="2466140234"/>
      </p:ext>
    </p:extLst>
  </p:cSld>
  <p:clrMapOvr>
    <a:masterClrMapping/>
  </p:clrMapOvr>
</p:sld>
</file>

<file path=ppt/theme/theme1.xml><?xml version="1.0" encoding="utf-8"?>
<a:theme xmlns:a="http://schemas.openxmlformats.org/drawingml/2006/main" name="TexasCapitalBank Theme">
  <a:themeElements>
    <a:clrScheme name="Coforge_color_2023">
      <a:dk1>
        <a:srgbClr val="505050"/>
      </a:dk1>
      <a:lt1>
        <a:sysClr val="window" lastClr="FFFFFF"/>
      </a:lt1>
      <a:dk2>
        <a:srgbClr val="141414"/>
      </a:dk2>
      <a:lt2>
        <a:srgbClr val="E7E6E6"/>
      </a:lt2>
      <a:accent1>
        <a:srgbClr val="082340"/>
      </a:accent1>
      <a:accent2>
        <a:srgbClr val="F15B40"/>
      </a:accent2>
      <a:accent3>
        <a:srgbClr val="00A792"/>
      </a:accent3>
      <a:accent4>
        <a:srgbClr val="F68B28"/>
      </a:accent4>
      <a:accent5>
        <a:srgbClr val="5F8AC7"/>
      </a:accent5>
      <a:accent6>
        <a:srgbClr val="F68D76"/>
      </a:accent6>
      <a:hlink>
        <a:srgbClr val="5F8AC7"/>
      </a:hlink>
      <a:folHlink>
        <a:srgbClr val="F15B40"/>
      </a:folHlink>
    </a:clrScheme>
    <a:fontScheme name="Tahoma">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Green-Medium">
      <a:srgbClr val="4CC0AD"/>
    </a:custClr>
    <a:custClr name="Green-MediumLight">
      <a:srgbClr val="AADCD7"/>
    </a:custClr>
    <a:custClr name="Green-Light">
      <a:srgbClr val="E6F5F0"/>
    </a:custClr>
    <a:custClr name="DeepYellow-Medium">
      <a:srgbClr val="FAA85F"/>
    </a:custClr>
    <a:custClr name="DeepYellow-MediumLight">
      <a:srgbClr val="FFDCB4"/>
    </a:custClr>
    <a:custClr name="DeepYellow-Light">
      <a:srgbClr val="FFF5E1"/>
    </a:custClr>
    <a:custClr name="SecondaryBlue-Medium">
      <a:srgbClr val="8CAAD7"/>
    </a:custClr>
    <a:custClr name="SecondaryBlue-MediumLight">
      <a:srgbClr val="BBC9E7"/>
    </a:custClr>
    <a:custClr name="SecondaryBlue-Light">
      <a:srgbClr val="E1E8F5"/>
    </a:custClr>
    <a:custClr name="SecondaryPeach-Medium">
      <a:srgbClr val="FAAF96"/>
    </a:custClr>
    <a:custClr name="SecondaryPeach-MediumLight">
      <a:srgbClr val="FBC9BC"/>
    </a:custClr>
    <a:custClr name="SecondaryPeach-Light">
      <a:srgbClr val="FFEBE6"/>
    </a:custClr>
    <a:custClr name="SecondaryPurple-Medium">
      <a:srgbClr val="B19ACA"/>
    </a:custClr>
    <a:custClr name="SecondaryPurple-MediumLight">
      <a:srgbClr val="C7BBDC"/>
    </a:custClr>
    <a:custClr name="SecondaryPurple-Light">
      <a:srgbClr val="F0E6F0"/>
    </a:custClr>
    <a:custClr name="SecondaryBrown-Medium">
      <a:srgbClr val="E4BE92"/>
    </a:custClr>
    <a:custClr name="SecondaryBrown-MediumLight">
      <a:srgbClr val="F0D6B4"/>
    </a:custClr>
    <a:custClr name="SecondaryBrown-Light">
      <a:srgbClr val="FFF5E6"/>
    </a:custClr>
    <a:custClr name="SecondaryGray-Medium">
      <a:srgbClr val="A0A1A2"/>
    </a:custClr>
    <a:custClr name="SecondaryGray-MediumLight">
      <a:srgbClr val="CDCDCD"/>
    </a:custClr>
    <a:custClr name="SecondaryGray-Light">
      <a:srgbClr val="EBEBEB"/>
    </a:custClr>
  </a:custClrLst>
  <a:extLst>
    <a:ext uri="{05A4C25C-085E-4340-85A3-A5531E510DB2}">
      <thm15:themeFamily xmlns:thm15="http://schemas.microsoft.com/office/thememl/2012/main" name="TexasCapitalBank Theme" id="{80295797-EBD9-4FA0-A27C-AE49B3098DBF}" vid="{F3A0F7A2-BA81-4EC1-9B1F-C2B48FB6A9DF}"/>
    </a:ext>
  </a:extLst>
</a:theme>
</file>

<file path=ppt/theme/theme2.xml><?xml version="1.0" encoding="utf-8"?>
<a:theme xmlns:a="http://schemas.openxmlformats.org/drawingml/2006/main" name="1_TexasCapitalBank Theme">
  <a:themeElements>
    <a:clrScheme name="Coforge_color_2023">
      <a:dk1>
        <a:srgbClr val="505050"/>
      </a:dk1>
      <a:lt1>
        <a:sysClr val="window" lastClr="FFFFFF"/>
      </a:lt1>
      <a:dk2>
        <a:srgbClr val="141414"/>
      </a:dk2>
      <a:lt2>
        <a:srgbClr val="E7E6E6"/>
      </a:lt2>
      <a:accent1>
        <a:srgbClr val="082340"/>
      </a:accent1>
      <a:accent2>
        <a:srgbClr val="F15B40"/>
      </a:accent2>
      <a:accent3>
        <a:srgbClr val="00A792"/>
      </a:accent3>
      <a:accent4>
        <a:srgbClr val="F68B28"/>
      </a:accent4>
      <a:accent5>
        <a:srgbClr val="5F8AC7"/>
      </a:accent5>
      <a:accent6>
        <a:srgbClr val="F68D76"/>
      </a:accent6>
      <a:hlink>
        <a:srgbClr val="5F8AC7"/>
      </a:hlink>
      <a:folHlink>
        <a:srgbClr val="F15B40"/>
      </a:folHlink>
    </a:clrScheme>
    <a:fontScheme name="Tahoma">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Green-Medium">
      <a:srgbClr val="4CC0AD"/>
    </a:custClr>
    <a:custClr name="Green-MediumLight">
      <a:srgbClr val="AADCD7"/>
    </a:custClr>
    <a:custClr name="Green-Light">
      <a:srgbClr val="E6F5F0"/>
    </a:custClr>
    <a:custClr name="DeepYellow-Medium">
      <a:srgbClr val="FAA85F"/>
    </a:custClr>
    <a:custClr name="DeepYellow-MediumLight">
      <a:srgbClr val="FFDCB4"/>
    </a:custClr>
    <a:custClr name="DeepYellow-Light">
      <a:srgbClr val="FFF5E1"/>
    </a:custClr>
    <a:custClr name="SecondaryBlue-Medium">
      <a:srgbClr val="8CAAD7"/>
    </a:custClr>
    <a:custClr name="SecondaryBlue-MediumLight">
      <a:srgbClr val="BBC9E7"/>
    </a:custClr>
    <a:custClr name="SecondaryBlue-Light">
      <a:srgbClr val="E1E8F5"/>
    </a:custClr>
    <a:custClr name="SecondaryPeach-Medium">
      <a:srgbClr val="FAAF96"/>
    </a:custClr>
    <a:custClr name="SecondaryPeach-MediumLight">
      <a:srgbClr val="FBC9BC"/>
    </a:custClr>
    <a:custClr name="SecondaryPeach-Light">
      <a:srgbClr val="FFEBE6"/>
    </a:custClr>
    <a:custClr name="SecondaryPurple-Medium">
      <a:srgbClr val="B19ACA"/>
    </a:custClr>
    <a:custClr name="SecondaryPurple-MediumLight">
      <a:srgbClr val="C7BBDC"/>
    </a:custClr>
    <a:custClr name="SecondaryPurple-Light">
      <a:srgbClr val="F0E6F0"/>
    </a:custClr>
    <a:custClr name="SecondaryBrown-Medium">
      <a:srgbClr val="E4BE92"/>
    </a:custClr>
    <a:custClr name="SecondaryBrown-MediumLight">
      <a:srgbClr val="F0D6B4"/>
    </a:custClr>
    <a:custClr name="SecondaryBrown-Light">
      <a:srgbClr val="FFF5E6"/>
    </a:custClr>
    <a:custClr name="SecondaryGray-Medium">
      <a:srgbClr val="A0A1A2"/>
    </a:custClr>
    <a:custClr name="SecondaryGray-MediumLight">
      <a:srgbClr val="CDCDCD"/>
    </a:custClr>
    <a:custClr name="SecondaryGray-Light">
      <a:srgbClr val="EBEBEB"/>
    </a:custClr>
  </a:custClrLst>
  <a:extLst>
    <a:ext uri="{05A4C25C-085E-4340-85A3-A5531E510DB2}">
      <thm15:themeFamily xmlns:thm15="http://schemas.microsoft.com/office/thememl/2012/main" name="TexasCapitalBank Theme" id="{80295797-EBD9-4FA0-A27C-AE49B3098DBF}" vid="{F3A0F7A2-BA81-4EC1-9B1F-C2B48FB6A9D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95C290350C4D45A9053924D4FE8F0C" ma:contentTypeVersion="7" ma:contentTypeDescription="Create a new document." ma:contentTypeScope="" ma:versionID="5a1c8c97a77924298f51a8dd1bea1804">
  <xsd:schema xmlns:xsd="http://www.w3.org/2001/XMLSchema" xmlns:xs="http://www.w3.org/2001/XMLSchema" xmlns:p="http://schemas.microsoft.com/office/2006/metadata/properties" xmlns:ns2="5fda0ab4-3902-4db1-8d3d-cbb95f5c5407" targetNamespace="http://schemas.microsoft.com/office/2006/metadata/properties" ma:root="true" ma:fieldsID="495a284d8642232657f5a1a964c77eba" ns2:_="">
    <xsd:import namespace="5fda0ab4-3902-4db1-8d3d-cbb95f5c540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da0ab4-3902-4db1-8d3d-cbb95f5c54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63268DF-35C7-47A1-977F-A7E9819159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da0ab4-3902-4db1-8d3d-cbb95f5c540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3A4A7CE-B241-47E0-BDDD-75FDDABBAB56}">
  <ds:schemaRefs>
    <ds:schemaRef ds:uri="5fda0ab4-3902-4db1-8d3d-cbb95f5c540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243F860-097D-46B5-8D6A-E4335E246218}">
  <ds:schemaRefs>
    <ds:schemaRef ds:uri="http://schemas.microsoft.com/sharepoint/v3/contenttype/forms"/>
  </ds:schemaRefs>
</ds:datastoreItem>
</file>

<file path=docMetadata/LabelInfo.xml><?xml version="1.0" encoding="utf-8"?>
<clbl:labelList xmlns:clbl="http://schemas.microsoft.com/office/2020/mipLabelMetadata">
  <clbl:label id="{b727a530-a0d5-4fb8-bd40-d8f9763e97db}" enabled="0" method="" siteId="{b727a530-a0d5-4fb8-bd40-d8f9763e97db}"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28</Slides>
  <Notes>6</Notes>
  <HiddenSlides>0</HiddenSlides>
  <ScaleCrop>false</ScaleCrop>
  <HeadingPairs>
    <vt:vector size="4" baseType="variant">
      <vt:variant>
        <vt:lpstr>Theme</vt:lpstr>
      </vt:variant>
      <vt:variant>
        <vt:i4>2</vt:i4>
      </vt:variant>
      <vt:variant>
        <vt:lpstr>Slide Titles</vt:lpstr>
      </vt:variant>
      <vt:variant>
        <vt:i4>28</vt:i4>
      </vt:variant>
    </vt:vector>
  </HeadingPairs>
  <TitlesOfParts>
    <vt:vector size="30" baseType="lpstr">
      <vt:lpstr>TexasCapitalBank Theme</vt:lpstr>
      <vt:lpstr>1_TexasCapitalBank Theme</vt:lpstr>
      <vt:lpstr>PowerPoint Presentation</vt:lpstr>
      <vt:lpstr>We are fusing our DNA of deep engineering and industry domain expertise with AI engineering skills to drive AI adoption at scale</vt:lpstr>
      <vt:lpstr>Coforge AI Spectrum: Perception. Generation. Autonomy. Execution</vt:lpstr>
      <vt:lpstr>To continue driving our advantage, we are focusing our AI services strategy around 5 strategic pillars</vt:lpstr>
      <vt:lpstr>AI Driven Enterprise Transformation  AI Driven Enterprise Transformation  We’re bringing these eight AI capabilities to help drive faster, scalable adoption of AI across the enterprise</vt:lpstr>
      <vt:lpstr>Coforge Foundational AI Assets which will help enterprise adopt AI at Scale</vt:lpstr>
      <vt:lpstr>Outcome-led AI Roadmap: Our approach to help establish a value-based AI roadmap</vt:lpstr>
      <vt:lpstr>AI Foundation: Our areas of focus in setting up the AI foundation</vt:lpstr>
      <vt:lpstr>We have codified our experience into ‘Quasar’, a platform that houses AI Accelerators to help fast track AI adoption</vt:lpstr>
      <vt:lpstr>PowerPoint Presentation</vt:lpstr>
      <vt:lpstr>Agentic Frameworks &amp; Solutions: Our approach to enable agentic AI on the bedrock of predictive &amp; generative AI foundation</vt:lpstr>
      <vt:lpstr>Model Lifecycle as a Service (MLaaS): Our AI model management services handles lifecycle of AI/ML models helping scale efficiently and at lower cost of operations</vt:lpstr>
      <vt:lpstr>Inference Acceleration: Optimizing and speeding up the execution of AI models to scale AI solutions  </vt:lpstr>
      <vt:lpstr>Responsible AI (RAI): Our framework establishes AI guardrails that evolves with industry-specific regulatory requirements, ensuring ethical, secure, and compliant Data &amp; AI solutions</vt:lpstr>
      <vt:lpstr>RAI Solutions: Our robust suite of responsible AI assets and accelerators to help organizations build, deploy, and scale AI solutions ethically, transparently, and with proper governance</vt:lpstr>
      <vt:lpstr>AI Adoption &amp; Governance: We offer a range of professional services designed to address functional, technical &amp; cultural transformation underpinned by governance</vt:lpstr>
      <vt:lpstr>How Can We Help to Realize AI Vision</vt:lpstr>
      <vt:lpstr>Our goal is value creation leveraging AI technologies across key measurable dimensions</vt:lpstr>
      <vt:lpstr>We’ve used a three-pronged approach to deliver our AI capabilities with focus and impact</vt:lpstr>
      <vt:lpstr>We apply a Value vs. Cost framework to identify and prioritize high-ROI use cases in industry verticals (Ex: Retail)</vt:lpstr>
      <vt:lpstr>Value – Time - Effort Prioritization Matrix</vt:lpstr>
      <vt:lpstr>Case Examples</vt:lpstr>
      <vt:lpstr>Laying the Foundation: Machine Learning Beginnings</vt:lpstr>
      <vt:lpstr>Embracing Creativity: The Rise of Generative AI</vt:lpstr>
      <vt:lpstr>Building Trust: The Responsible AI</vt:lpstr>
      <vt:lpstr>Taking Action: The Leap to Agentic AI</vt:lpstr>
      <vt:lpstr>Embodied Intelligence: The Emergence of Physical (Multimodal) AI</vt:lpstr>
      <vt:lpstr>Coforge Builds Beyond Business Solutions – Accelerating Transformation with AI-Powered SDLC, IT Delivery &amp; Data Intelligence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Deepak Bagchi</dc:creator>
  <cp:revision>3</cp:revision>
  <dcterms:created xsi:type="dcterms:W3CDTF">2025-07-01T09:13:52Z</dcterms:created>
  <dcterms:modified xsi:type="dcterms:W3CDTF">2026-09-09T10:37:26Z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0x010100AA95C290350C4D45A9053924D4FE8F0C</vt:lpwstr>
  </property>
</Properties>
</file>